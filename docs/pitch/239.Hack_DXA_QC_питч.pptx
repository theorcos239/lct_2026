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365" r:id="rId2"/>
    <p:sldId id="368" r:id="rId7"/>
    <p:sldId id="369" r:id="rId8"/>
    <p:sldId id="373" r:id="rId12"/>
    <p:sldId id="378" r:id="rId17"/>
    <p:sldId id="380" r:id="rId19"/>
    <p:sldId id="382" r:id="rId21"/>
    <p:sldId id="388" r:id="rId27"/>
    <p:sldId id="389" r:id="rId38"/>
    <p:sldId id="390" r:id="rId39"/>
    <p:sldId id="391" r:id="rId40"/>
    <p:sldId id="392" r:id="rId41"/>
    <p:sldId id="393" r:id="rId42"/>
  </p:sldIdLst>
  <p:sldSz cx="12192000" cy="6858000"/>
  <p:notesSz cx="6858000" cy="9144000"/>
  <p:embeddedFontLst>
    <p:embeddedFont>
      <p:font typeface="Montserrat" pitchFamily="2" charset="-52"/>
      <p:regular r:id="rId30"/>
      <p:bold r:id="rId31"/>
      <p:italic r:id="rId32"/>
      <p:boldItalic r:id="rId33"/>
    </p:embeddedFont>
  </p:embeddedFontLst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</p14:sldIdLst>
        </p14:section>
        <p14:section name="Информация" id="{9FA27940-A45B-471D-96EC-3FCE80AE8A9B}">
          <p14:sldIdLst>
            <p14:sldId id="367"/>
          </p14:sldIdLst>
        </p14:section>
        <p14:section name="Материалы" id="{0F84D0DE-CEB1-417E-B269-8B3EB04B5FA6}">
          <p14:sldIdLst>
            <p14:sldId id="368"/>
          </p14:sldIdLst>
        </p14:section>
        <p14:section name="Шаблоны слайдов" id="{24401F80-F81B-49C3-8D55-70A14F0BF8FF}">
          <p14:sldIdLst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3" autoAdjust="0"/>
    <p:restoredTop sz="95839"/>
  </p:normalViewPr>
  <p:slideViewPr>
    <p:cSldViewPr snapToGrid="0" showGuides="1">
      <p:cViewPr varScale="1">
        <p:scale>
          <a:sx n="106" d="100"/>
          <a:sy n="106" d="100"/>
        </p:scale>
        <p:origin x="248" y="7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2" Type="http://schemas.openxmlformats.org/officeDocument/2006/relationships/slide" Target="slides/slide4.xml"/><Relationship Id="rId17" Type="http://schemas.openxmlformats.org/officeDocument/2006/relationships/slide" Target="slides/slide5.xml"/><Relationship Id="rId19" Type="http://schemas.openxmlformats.org/officeDocument/2006/relationships/slide" Target="slides/slide6.xml"/><Relationship Id="rId21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moscow_medic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246888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4813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постановщик задачи — Департамент здравоохранения Москвы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Контроль качества DXA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2628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Локальное приложение и защищённый сервер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532120"/>
            <a:ext cx="548640" cy="3810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5669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239.Hack · ЛЦТ 2026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059935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КЛИНИЧЕСКАЯ 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Ошибку укладки дешевле поймать, пока пациент на аппарате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2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346075" y="1828800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ПОЧЕМУ ЭТО ВАЖНО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346075" y="2148840"/>
            <a:ext cx="557784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Наклон позвоночника, поворот бедра или предмет в кадре меняют измерение плотности кости. Ошибку важно заметить до ухода пациента.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</a:p>
        </p:txBody>
      </p:sp>
      <p:sp>
        <p:nvSpPr>
          <p:cNvPr id="905" name="Rounded Rectangle 904"/>
          <p:cNvSpPr/>
          <p:nvPr/>
        </p:nvSpPr>
        <p:spPr>
          <a:xfrm>
            <a:off x="346075" y="4114800"/>
            <a:ext cx="2743200" cy="214884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7" name="TextBox 906"/>
          <p:cNvSpPr txBox="1"/>
          <p:nvPr/>
        </p:nvSpPr>
        <p:spPr>
          <a:xfrm>
            <a:off x="492379" y="5998464"/>
            <a:ext cx="2450592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норма: костный ориентир виден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3199003" y="4114800"/>
            <a:ext cx="2743200" cy="214884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0" name="TextBox 909"/>
          <p:cNvSpPr txBox="1"/>
          <p:nvPr/>
        </p:nvSpPr>
        <p:spPr>
          <a:xfrm>
            <a:off x="3345307" y="5998464"/>
            <a:ext cx="2450592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поворот: ориентир смещён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6355080" y="182880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ЧТО ДЕЛАЕТ СЕРВИС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355080" y="219456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217627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Проверяет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6949440" y="2542032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Пять критериев для позвоночника и бедра.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6355080" y="356616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49440" y="354787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Объясняет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13632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Угол и отступы в мм; причина отмечена на снимке.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355080" y="493776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949440" y="491947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Передаёт человеку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49440" y="5285232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Лаборанту — подсказка сразу, врачу — запись в архиве клиники.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836181" y="4114800"/>
            <a:ext cx="1762988" cy="1819656"/>
          </a:xfrm>
          <a:prstGeom prst="roundRect">
            <a:avLst/>
          </a:prstGeom>
          <a:solidFill>
            <a:srgbClr val="190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TextBox 921"/>
          <p:cNvSpPr txBox="1"/>
          <p:nvPr/>
        </p:nvSpPr>
        <p:spPr>
          <a:xfrm>
            <a:off x="1012479" y="4333158"/>
            <a:ext cx="1410392" cy="4003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EDEB0"/>
                </a:solidFill>
                <a:latin typeface="Montserrat"/>
              </a:rPr>
              <a:t>НОРМА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2479" y="5042824"/>
            <a:ext cx="1410392" cy="145572"/>
          </a:xfrm>
          <a:prstGeom prst="roundRect">
            <a:avLst/>
          </a:prstGeom>
          <a:solidFill>
            <a:srgbClr val="5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2035012" y="4897252"/>
            <a:ext cx="436717" cy="436717"/>
          </a:xfrm>
          <a:prstGeom prst="ellipse">
            <a:avLst/>
          </a:prstGeom>
          <a:solidFill>
            <a:srgbClr val="5ED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1012479" y="5370362"/>
            <a:ext cx="1410392" cy="4003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Montserrat"/>
              </a:rPr>
              <a:t>ориентир виден</a:t>
            </a:r>
          </a:p>
        </p:txBody>
      </p:sp>
      <p:sp>
        <p:nvSpPr>
          <p:cNvPr id="926" name="Rounded Rectangle 925"/>
          <p:cNvSpPr/>
          <p:nvPr/>
        </p:nvSpPr>
        <p:spPr>
          <a:xfrm>
            <a:off x="3486553" y="4114800"/>
            <a:ext cx="2168100" cy="1819656"/>
          </a:xfrm>
          <a:prstGeom prst="roundRect">
            <a:avLst/>
          </a:prstGeom>
          <a:solidFill>
            <a:srgbClr val="190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TextBox 926"/>
          <p:cNvSpPr txBox="1"/>
          <p:nvPr/>
        </p:nvSpPr>
        <p:spPr>
          <a:xfrm>
            <a:off x="3703363" y="4333158"/>
            <a:ext cx="1734480" cy="4003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FF769E"/>
                </a:solidFill>
                <a:latin typeface="Montserrat"/>
              </a:rPr>
              <a:t>ПОВОРОТ</a:t>
            </a:r>
          </a:p>
        </p:txBody>
      </p:sp>
      <p:sp>
        <p:nvSpPr>
          <p:cNvPr id="928" name="Rounded Rectangle 927"/>
          <p:cNvSpPr/>
          <p:nvPr/>
        </p:nvSpPr>
        <p:spPr>
          <a:xfrm>
            <a:off x="3703363" y="5042824"/>
            <a:ext cx="1734480" cy="145572"/>
          </a:xfrm>
          <a:prstGeom prst="roundRect">
            <a:avLst/>
          </a:prstGeom>
          <a:solidFill>
            <a:srgbClr val="5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Oval 928"/>
          <p:cNvSpPr/>
          <p:nvPr/>
        </p:nvSpPr>
        <p:spPr>
          <a:xfrm>
            <a:off x="3876811" y="4897252"/>
            <a:ext cx="436717" cy="436717"/>
          </a:xfrm>
          <a:prstGeom prst="ellipse">
            <a:avLst/>
          </a:prstGeom>
          <a:solidFill>
            <a:srgbClr val="FF0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TextBox 929"/>
          <p:cNvSpPr txBox="1"/>
          <p:nvPr/>
        </p:nvSpPr>
        <p:spPr>
          <a:xfrm>
            <a:off x="3703363" y="5370362"/>
            <a:ext cx="1734480" cy="4003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Montserrat"/>
              </a:rPr>
              <a:t>12 мм²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434840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 ПРОВЕРЯЕМ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Пять критериев из задания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3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347472" y="1865376"/>
            <a:ext cx="3429000" cy="1536192"/>
          </a:xfrm>
          <a:prstGeom prst="roundRect">
            <a:avLst/>
          </a:prstGeom>
          <a:solidFill>
            <a:srgbClr val="F5F0FA"/>
          </a:solidFill>
          <a:ln>
            <a:solidFill>
              <a:srgbClr val="D8C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557784" y="20299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0062"/>
                </a:solidFill>
                <a:latin typeface="Montserrat"/>
              </a:rPr>
              <a:t>01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557784" y="2377440"/>
            <a:ext cx="3026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30" b="1">
                <a:solidFill>
                  <a:srgbClr val="520977"/>
                </a:solidFill>
                <a:latin typeface="Montserrat"/>
              </a:rPr>
              <a:t>Укладка позвоночника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557784" y="2862072"/>
            <a:ext cx="3026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A4458"/>
                </a:solidFill>
                <a:latin typeface="Montserrat"/>
              </a:rPr>
              <a:t>Видны таз и верх позвоночника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4379976" y="1865376"/>
            <a:ext cx="3429000" cy="1536192"/>
          </a:xfrm>
          <a:prstGeom prst="roundRect">
            <a:avLst/>
          </a:prstGeom>
          <a:solidFill>
            <a:srgbClr val="F5F0FA"/>
          </a:solidFill>
          <a:ln>
            <a:solidFill>
              <a:srgbClr val="D8C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TextBox 907"/>
          <p:cNvSpPr txBox="1"/>
          <p:nvPr/>
        </p:nvSpPr>
        <p:spPr>
          <a:xfrm>
            <a:off x="4590288" y="20299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0062"/>
                </a:solidFill>
                <a:latin typeface="Montserrat"/>
              </a:rPr>
              <a:t>02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590288" y="2377440"/>
            <a:ext cx="3026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30" b="1">
                <a:solidFill>
                  <a:srgbClr val="520977"/>
                </a:solidFill>
                <a:latin typeface="Montserrat"/>
              </a:rPr>
              <a:t>Наклон оси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4590288" y="2862072"/>
            <a:ext cx="3026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A4458"/>
                </a:solidFill>
                <a:latin typeface="Montserrat"/>
              </a:rPr>
              <a:t>Не более 5°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412480" y="1865376"/>
            <a:ext cx="3429000" cy="1536192"/>
          </a:xfrm>
          <a:prstGeom prst="roundRect">
            <a:avLst/>
          </a:prstGeom>
          <a:solidFill>
            <a:srgbClr val="F5F0FA"/>
          </a:solidFill>
          <a:ln>
            <a:solidFill>
              <a:srgbClr val="D8C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TextBox 911"/>
          <p:cNvSpPr txBox="1"/>
          <p:nvPr/>
        </p:nvSpPr>
        <p:spPr>
          <a:xfrm>
            <a:off x="8622792" y="20299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0062"/>
                </a:solidFill>
                <a:latin typeface="Montserrat"/>
              </a:rPr>
              <a:t>03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8622792" y="2377440"/>
            <a:ext cx="3026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30" b="1">
                <a:solidFill>
                  <a:srgbClr val="520977"/>
                </a:solidFill>
                <a:latin typeface="Montserrat"/>
              </a:rPr>
              <a:t>Посторонние предметы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622792" y="2862072"/>
            <a:ext cx="3026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A4458"/>
                </a:solidFill>
                <a:latin typeface="Montserrat"/>
              </a:rPr>
              <a:t>Ничего лишнего в кадре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2368296" y="3776472"/>
            <a:ext cx="3429000" cy="1536192"/>
          </a:xfrm>
          <a:prstGeom prst="roundRect">
            <a:avLst/>
          </a:prstGeom>
          <a:solidFill>
            <a:srgbClr val="F5F0FA"/>
          </a:solidFill>
          <a:ln>
            <a:solidFill>
              <a:srgbClr val="D8C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TextBox 915"/>
          <p:cNvSpPr txBox="1"/>
          <p:nvPr/>
        </p:nvSpPr>
        <p:spPr>
          <a:xfrm>
            <a:off x="2578608" y="3941063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0062"/>
                </a:solidFill>
                <a:latin typeface="Montserrat"/>
              </a:rPr>
              <a:t>04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2578608" y="4288536"/>
            <a:ext cx="3026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30" b="1">
                <a:solidFill>
                  <a:srgbClr val="520977"/>
                </a:solidFill>
                <a:latin typeface="Montserrat"/>
              </a:rPr>
              <a:t>Поворот бедра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2578608" y="4773168"/>
            <a:ext cx="3026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A4458"/>
                </a:solidFill>
                <a:latin typeface="Montserrat"/>
              </a:rPr>
              <a:t>По костному ориентиру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6400800" y="3776472"/>
            <a:ext cx="3429000" cy="1536192"/>
          </a:xfrm>
          <a:prstGeom prst="roundRect">
            <a:avLst/>
          </a:prstGeom>
          <a:solidFill>
            <a:srgbClr val="F5F0FA"/>
          </a:solidFill>
          <a:ln>
            <a:solidFill>
              <a:srgbClr val="D8C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TextBox 919"/>
          <p:cNvSpPr txBox="1"/>
          <p:nvPr/>
        </p:nvSpPr>
        <p:spPr>
          <a:xfrm>
            <a:off x="6611112" y="3941063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0062"/>
                </a:solidFill>
                <a:latin typeface="Montserrat"/>
              </a:rPr>
              <a:t>05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611112" y="4288536"/>
            <a:ext cx="3026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30" b="1">
                <a:solidFill>
                  <a:srgbClr val="520977"/>
                </a:solidFill>
                <a:latin typeface="Montserrat"/>
              </a:rPr>
              <a:t>Область измерения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611112" y="4773168"/>
            <a:ext cx="3026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A4458"/>
                </a:solidFill>
                <a:latin typeface="Montserrat"/>
              </a:rPr>
              <a:t>Отступы 30 / 30 / 20 мм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747772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От файла с аппарата до понятного ответа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4</a:t>
            </a:r>
          </a:p>
        </p:txBody>
      </p:sp>
      <p:cxnSp>
        <p:nvCxnSpPr>
          <p:cNvPr id="903" name="Connector 902"/>
          <p:cNvCxnSpPr/>
          <p:nvPr/>
        </p:nvCxnSpPr>
        <p:spPr>
          <a:xfrm>
            <a:off x="556387" y="2039112"/>
            <a:ext cx="9183888" cy="0"/>
          </a:xfrm>
          <a:prstGeom prst="line">
            <a:avLst/>
          </a:prstGeom>
          <a:ln w="15875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" name="Rounded Rectangle 903"/>
          <p:cNvSpPr/>
          <p:nvPr/>
        </p:nvSpPr>
        <p:spPr>
          <a:xfrm>
            <a:off x="346075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346075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файл с аппарата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346075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снимки из архива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2642047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2642047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подготовка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2642047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исправляем формат и повторы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4938019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4938019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тип снимка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4938019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позвоночник или бедро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7233991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7233991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проверки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233991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измерения и модели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529963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9529963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ответ и отчёт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529963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итог и причина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346075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565531" y="347472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Что получает клиника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565531" y="3977640"/>
            <a:ext cx="331012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Таблица, отметки и заключение для архива.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4204843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3" name="TextBox 922"/>
          <p:cNvSpPr txBox="1"/>
          <p:nvPr/>
        </p:nvSpPr>
        <p:spPr>
          <a:xfrm>
            <a:off x="4424299" y="3474720"/>
            <a:ext cx="3310127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Где смотреть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4424299" y="3771900"/>
            <a:ext cx="3310127" cy="6812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Защищённый сайт, локальная версия, подключение к системе клиники.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8063611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6" name="TextBox 925"/>
          <p:cNvSpPr txBox="1"/>
          <p:nvPr/>
        </p:nvSpPr>
        <p:spPr>
          <a:xfrm>
            <a:off x="8283067" y="3474720"/>
            <a:ext cx="3310127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Как запускается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283067" y="3771900"/>
            <a:ext cx="3310127" cy="6812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Обычный компьютер, без видеокарты и внешних сервисов.</a:t>
            </a:r>
          </a:p>
        </p:txBody>
      </p:sp>
      <p:sp>
        <p:nvSpPr>
          <p:cNvPr id="928" name="Rounded Rectangle 927"/>
          <p:cNvSpPr/>
          <p:nvPr/>
        </p:nvSpPr>
        <p:spPr>
          <a:xfrm>
            <a:off x="347472" y="4782312"/>
            <a:ext cx="11475720" cy="960120"/>
          </a:xfrm>
          <a:prstGeom prst="roundRect">
            <a:avLst/>
          </a:prstGeom>
          <a:solidFill>
            <a:srgbClr val="F6EFFA"/>
          </a:solidFill>
          <a:ln>
            <a:solidFill>
              <a:srgbClr val="D8C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TextBox 928"/>
          <p:cNvSpPr txBox="1"/>
          <p:nvPr/>
        </p:nvSpPr>
        <p:spPr>
          <a:xfrm>
            <a:off x="667512" y="5001768"/>
            <a:ext cx="108813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20977"/>
                </a:solidFill>
                <a:latin typeface="Montserrat"/>
              </a:rPr>
              <a:t>Итог: что не так → насколько вышло за норму → где это видно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247388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РЕЗУЛЬТАТЫ 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Что показала проверка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5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347472" y="2103120"/>
            <a:ext cx="3429000" cy="2523744"/>
          </a:xfrm>
          <a:prstGeom prst="roundRect">
            <a:avLst/>
          </a:prstGeom>
          <a:solidFill>
            <a:srgbClr val="F5F0FA"/>
          </a:solidFill>
          <a:ln>
            <a:solidFill>
              <a:srgbClr val="D8C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557784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520977"/>
                </a:solidFill>
                <a:latin typeface="Montserrat"/>
              </a:rPr>
              <a:t>252 / 252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557784" y="3191256"/>
            <a:ext cx="2999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1335"/>
                </a:solidFill>
                <a:latin typeface="Montserrat"/>
              </a:rPr>
              <a:t>область снимка определена верно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557784" y="4069080"/>
            <a:ext cx="29900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55D6B"/>
                </a:solidFill>
                <a:latin typeface="Montserrat"/>
              </a:rPr>
              <a:t>Исходный набор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4379976" y="2103120"/>
            <a:ext cx="3429000" cy="2523744"/>
          </a:xfrm>
          <a:prstGeom prst="roundRect">
            <a:avLst/>
          </a:prstGeom>
          <a:solidFill>
            <a:srgbClr val="F5F0FA"/>
          </a:solidFill>
          <a:ln>
            <a:solidFill>
              <a:srgbClr val="D8C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TextBox 907"/>
          <p:cNvSpPr txBox="1"/>
          <p:nvPr/>
        </p:nvSpPr>
        <p:spPr>
          <a:xfrm>
            <a:off x="4590288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520977"/>
                </a:solidFill>
                <a:latin typeface="Montserrat"/>
              </a:rPr>
              <a:t>0,82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590288" y="3191256"/>
            <a:ext cx="2999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1335"/>
                </a:solidFill>
                <a:latin typeface="Montserrat"/>
              </a:rPr>
              <a:t>отличаем поворот от нормы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4590288" y="4069080"/>
            <a:ext cx="29900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55D6B"/>
                </a:solidFill>
                <a:latin typeface="Montserrat"/>
              </a:rPr>
              <a:t>ROC-AUC · 150 кадров · проверка по частям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412480" y="2103120"/>
            <a:ext cx="3429000" cy="2523744"/>
          </a:xfrm>
          <a:prstGeom prst="roundRect">
            <a:avLst/>
          </a:prstGeom>
          <a:solidFill>
            <a:srgbClr val="F5F0FA"/>
          </a:solidFill>
          <a:ln>
            <a:solidFill>
              <a:srgbClr val="D8C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TextBox 911"/>
          <p:cNvSpPr txBox="1"/>
          <p:nvPr/>
        </p:nvSpPr>
        <p:spPr>
          <a:xfrm>
            <a:off x="8622792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520977"/>
                </a:solidFill>
                <a:latin typeface="Montserrat"/>
              </a:rPr>
              <a:t>1,27 мм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8622792" y="3191256"/>
            <a:ext cx="2999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1335"/>
                </a:solidFill>
                <a:latin typeface="Montserrat"/>
              </a:rPr>
              <a:t>ошибка опорных точек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622792" y="4069080"/>
            <a:ext cx="29900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55D6B"/>
                </a:solidFill>
                <a:latin typeface="Montserrat"/>
              </a:rPr>
              <a:t>медиана · 4 части данных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429768" y="5111496"/>
            <a:ext cx="112471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A4458"/>
                </a:solidFill>
                <a:latin typeface="Montserrat"/>
              </a:rPr>
              <a:t>Числа получены в разных проверках. После изменения правила отступов общую оценку системы нужно повторить.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1623060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ПРИМЕРЫ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Три нарушения — три понятных объяснения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6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1097280" y="1828800"/>
            <a:ext cx="2753379" cy="416052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5" name="TextBox 904"/>
          <p:cNvSpPr txBox="1"/>
          <p:nvPr/>
        </p:nvSpPr>
        <p:spPr>
          <a:xfrm>
            <a:off x="1243584" y="5413248"/>
            <a:ext cx="246077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Ось 8,7° при норме до 5°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4718304" y="1828800"/>
            <a:ext cx="2753379" cy="416052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4864608" y="5413248"/>
            <a:ext cx="246077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Посторонний предмет в кадре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8339327" y="1828800"/>
            <a:ext cx="2753379" cy="4160520"/>
          </a:xfrm>
          <a:prstGeom prst="roundRect">
            <a:avLst>
              <a:gd name="adj" fmla="val 4000"/>
            </a:avLst>
          </a:prstGeom>
          <a:solidFill>
            <a:srgbClr val="120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1" name="TextBox 910"/>
          <p:cNvSpPr txBox="1"/>
          <p:nvPr/>
        </p:nvSpPr>
        <p:spPr>
          <a:xfrm>
            <a:off x="8485631" y="5413248"/>
            <a:ext cx="246077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D9D2E6"/>
                </a:solidFill>
                <a:latin typeface="Montserrat"/>
                <a:ea typeface="Montserrat"/>
                <a:cs typeface="Montserrat"/>
              </a:rPr>
              <a:t>Костный ориентир: 12 мм² при норме 96–272. Бедро повёрнуто.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1097280" y="2134318"/>
            <a:ext cx="2753379" cy="2909403"/>
          </a:xfrm>
          <a:prstGeom prst="roundRect">
            <a:avLst/>
          </a:prstGeom>
          <a:solidFill>
            <a:srgbClr val="180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3" name="Connector 912"/>
          <p:cNvCxnSpPr/>
          <p:nvPr/>
        </p:nvCxnSpPr>
        <p:spPr>
          <a:xfrm>
            <a:off x="2253699" y="2570728"/>
            <a:ext cx="0" cy="1832924"/>
          </a:xfrm>
          <a:prstGeom prst="line">
            <a:avLst/>
          </a:prstGeom>
          <a:ln w="25400">
            <a:solidFill>
              <a:srgbClr val="918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1840692" y="2658010"/>
            <a:ext cx="908614" cy="1716548"/>
          </a:xfrm>
          <a:prstGeom prst="line">
            <a:avLst/>
          </a:prstGeom>
          <a:ln w="50800">
            <a:solidFill>
              <a:srgbClr val="FF00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5" name="TextBox 914"/>
          <p:cNvSpPr txBox="1"/>
          <p:nvPr/>
        </p:nvSpPr>
        <p:spPr>
          <a:xfrm>
            <a:off x="1372617" y="4520028"/>
            <a:ext cx="2202703" cy="4364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Ось: 8,7°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4718304" y="2143496"/>
            <a:ext cx="2753379" cy="2891047"/>
          </a:xfrm>
          <a:prstGeom prst="roundRect">
            <a:avLst/>
          </a:prstGeom>
          <a:solidFill>
            <a:srgbClr val="180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ounded Rectangle 916"/>
          <p:cNvSpPr/>
          <p:nvPr/>
        </p:nvSpPr>
        <p:spPr>
          <a:xfrm>
            <a:off x="5186378" y="2663884"/>
            <a:ext cx="1817231" cy="1387702"/>
          </a:xfrm>
          <a:prstGeom prst="roundRect">
            <a:avLst/>
          </a:prstGeom>
          <a:solidFill>
            <a:srgbClr val="37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8" name="Connector 917"/>
          <p:cNvCxnSpPr/>
          <p:nvPr/>
        </p:nvCxnSpPr>
        <p:spPr>
          <a:xfrm>
            <a:off x="5929790" y="2866257"/>
            <a:ext cx="660811" cy="867314"/>
          </a:xfrm>
          <a:prstGeom prst="line">
            <a:avLst/>
          </a:prstGeom>
          <a:ln w="76200">
            <a:solidFill>
              <a:srgbClr val="FF00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9" name="TextBox 918"/>
          <p:cNvSpPr txBox="1"/>
          <p:nvPr/>
        </p:nvSpPr>
        <p:spPr>
          <a:xfrm>
            <a:off x="4966108" y="4427423"/>
            <a:ext cx="2257770" cy="4914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Montserrat"/>
              </a:rPr>
              <a:t>Обнаружен предмет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8339327" y="2433584"/>
            <a:ext cx="2753379" cy="2310871"/>
          </a:xfrm>
          <a:prstGeom prst="roundRect">
            <a:avLst/>
          </a:prstGeom>
          <a:solidFill>
            <a:srgbClr val="190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8614664" y="2710888"/>
            <a:ext cx="2202705" cy="5083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 b="1">
                <a:solidFill>
                  <a:srgbClr val="FF769E"/>
                </a:solidFill>
                <a:latin typeface="Montserrat"/>
              </a:rPr>
              <a:t>ПОВОРОТ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8614664" y="3612128"/>
            <a:ext cx="2202705" cy="184869"/>
          </a:xfrm>
          <a:prstGeom prst="roundRect">
            <a:avLst/>
          </a:prstGeom>
          <a:solidFill>
            <a:srgbClr val="54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Oval 922"/>
          <p:cNvSpPr/>
          <p:nvPr/>
        </p:nvSpPr>
        <p:spPr>
          <a:xfrm>
            <a:off x="8834935" y="3427259"/>
            <a:ext cx="554609" cy="554609"/>
          </a:xfrm>
          <a:prstGeom prst="ellipse">
            <a:avLst/>
          </a:prstGeom>
          <a:solidFill>
            <a:srgbClr val="FF0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TextBox 923"/>
          <p:cNvSpPr txBox="1"/>
          <p:nvPr/>
        </p:nvSpPr>
        <p:spPr>
          <a:xfrm>
            <a:off x="8614664" y="4028084"/>
            <a:ext cx="2202705" cy="5083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ontserrat"/>
              </a:rPr>
              <a:t>12 мм²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560320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ИНТЕРФЕЙСЫ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Один сервис — разные способы работы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7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644652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Oval 903"/>
          <p:cNvSpPr/>
          <p:nvPr/>
        </p:nvSpPr>
        <p:spPr>
          <a:xfrm>
            <a:off x="519811" y="1956816"/>
            <a:ext cx="109728" cy="10972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Oval 904"/>
          <p:cNvSpPr/>
          <p:nvPr/>
        </p:nvSpPr>
        <p:spPr>
          <a:xfrm>
            <a:off x="702691" y="1956816"/>
            <a:ext cx="109728" cy="109728"/>
          </a:xfrm>
          <a:prstGeom prst="ellipse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" name="Oval 905"/>
          <p:cNvSpPr/>
          <p:nvPr/>
        </p:nvSpPr>
        <p:spPr>
          <a:xfrm>
            <a:off x="885571" y="1956816"/>
            <a:ext cx="109728" cy="109728"/>
          </a:xfrm>
          <a:prstGeom prst="ellipse">
            <a:avLst/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Rounded Rectangle 906"/>
          <p:cNvSpPr/>
          <p:nvPr/>
        </p:nvSpPr>
        <p:spPr>
          <a:xfrm>
            <a:off x="1260475" y="1920240"/>
            <a:ext cx="5349240" cy="201168"/>
          </a:xfrm>
          <a:prstGeom prst="roundRect">
            <a:avLst>
              <a:gd name="adj" fmla="val 5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1397635" y="19293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https://89.208.196.172 — защищённое веб-приложение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995160" y="1828800"/>
            <a:ext cx="2148840" cy="4251960"/>
          </a:xfrm>
          <a:prstGeom prst="roundRect">
            <a:avLst>
              <a:gd name="adj" fmla="val 12000"/>
            </a:avLst>
          </a:prstGeom>
          <a:solidFill>
            <a:srgbClr val="2D1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2" name="Rounded Rectangle 911"/>
          <p:cNvSpPr/>
          <p:nvPr/>
        </p:nvSpPr>
        <p:spPr>
          <a:xfrm>
            <a:off x="7749540" y="1920240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3" name="Rounded Rectangle 912"/>
          <p:cNvSpPr/>
          <p:nvPr/>
        </p:nvSpPr>
        <p:spPr>
          <a:xfrm>
            <a:off x="9326880" y="1828800"/>
            <a:ext cx="2496312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4" name="TextBox 913"/>
          <p:cNvSpPr txBox="1"/>
          <p:nvPr/>
        </p:nvSpPr>
        <p:spPr>
          <a:xfrm>
            <a:off x="9546336" y="2011680"/>
            <a:ext cx="2057400" cy="175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Веб-приложение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546336" y="2278380"/>
            <a:ext cx="2057400" cy="4373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Загрузить исследование и получить понятный отчёт.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326880" y="2907792"/>
            <a:ext cx="2496312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7" name="TextBox 916"/>
          <p:cNvSpPr txBox="1"/>
          <p:nvPr/>
        </p:nvSpPr>
        <p:spPr>
          <a:xfrm>
            <a:off x="9546336" y="3090672"/>
            <a:ext cx="2057400" cy="175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Локальная версия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546336" y="3357372"/>
            <a:ext cx="2057400" cy="4373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Снимки остаются на компьютере.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9326880" y="3986784"/>
            <a:ext cx="2496312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9546336" y="4169664"/>
            <a:ext cx="2057400" cy="175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Демонстрация в чате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9546336" y="4436364"/>
            <a:ext cx="2057400" cy="4373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Тот же ответ на обезличенных данных.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9326880" y="5065776"/>
            <a:ext cx="2496312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3" name="TextBox 922"/>
          <p:cNvSpPr txBox="1"/>
          <p:nvPr/>
        </p:nvSpPr>
        <p:spPr>
          <a:xfrm>
            <a:off x="9546336" y="5248656"/>
            <a:ext cx="2057400" cy="175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Для системы клиники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9546336" y="5515356"/>
            <a:ext cx="2057400" cy="4373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Система получает ответ и заключение в архив.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419227" y="2259540"/>
            <a:ext cx="6300216" cy="3701376"/>
          </a:xfrm>
          <a:prstGeom prst="roundRect">
            <a:avLst/>
          </a:prstGeom>
          <a:solidFill>
            <a:srgbClr val="15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TextBox 925"/>
          <p:cNvSpPr txBox="1"/>
          <p:nvPr/>
        </p:nvSpPr>
        <p:spPr>
          <a:xfrm>
            <a:off x="671235" y="2389088"/>
            <a:ext cx="5796200" cy="37013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Montserrat"/>
              </a:rPr>
              <a:t>Контроль качества DXA</a:t>
            </a:r>
          </a:p>
        </p:txBody>
      </p:sp>
      <p:cxnSp>
        <p:nvCxnSpPr>
          <p:cNvPr id="927" name="Connector 926"/>
          <p:cNvCxnSpPr/>
          <p:nvPr/>
        </p:nvCxnSpPr>
        <p:spPr>
          <a:xfrm>
            <a:off x="671235" y="2777732"/>
            <a:ext cx="5796200" cy="0"/>
          </a:xfrm>
          <a:prstGeom prst="line">
            <a:avLst/>
          </a:prstGeom>
          <a:ln w="12700">
            <a:solidFill>
              <a:srgbClr val="46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8" name="Rounded Rectangle 927"/>
          <p:cNvSpPr/>
          <p:nvPr/>
        </p:nvSpPr>
        <p:spPr>
          <a:xfrm>
            <a:off x="671235" y="3110856"/>
            <a:ext cx="3717128" cy="473776"/>
          </a:xfrm>
          <a:prstGeom prst="roundRect">
            <a:avLst/>
          </a:prstGeom>
          <a:solidFill>
            <a:srgbClr val="2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TextBox 928"/>
          <p:cNvSpPr txBox="1"/>
          <p:nvPr/>
        </p:nvSpPr>
        <p:spPr>
          <a:xfrm>
            <a:off x="772038" y="3205611"/>
            <a:ext cx="1772880" cy="2842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ontserrat"/>
              </a:rPr>
              <a:t>Исследование A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2572010" y="3205611"/>
            <a:ext cx="1477400" cy="2842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59D7AA"/>
                </a:solidFill>
                <a:latin typeface="Montserrat"/>
              </a:rPr>
              <a:t>Проверено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671235" y="3703076"/>
            <a:ext cx="3717128" cy="473776"/>
          </a:xfrm>
          <a:prstGeom prst="roundRect">
            <a:avLst/>
          </a:prstGeom>
          <a:solidFill>
            <a:srgbClr val="2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72038" y="3797831"/>
            <a:ext cx="1772880" cy="2842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ontserrat"/>
              </a:rPr>
              <a:t>Исследование B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2572010" y="3797831"/>
            <a:ext cx="1477400" cy="2842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FF759D"/>
                </a:solidFill>
                <a:latin typeface="Montserrat"/>
              </a:rPr>
              <a:t>Проверить</a:t>
            </a:r>
          </a:p>
        </p:txBody>
      </p:sp>
      <p:sp>
        <p:nvSpPr>
          <p:cNvPr id="934" name="Rounded Rectangle 933"/>
          <p:cNvSpPr/>
          <p:nvPr/>
        </p:nvSpPr>
        <p:spPr>
          <a:xfrm>
            <a:off x="671235" y="4295296"/>
            <a:ext cx="3717128" cy="473776"/>
          </a:xfrm>
          <a:prstGeom prst="roundRect">
            <a:avLst/>
          </a:prstGeom>
          <a:solidFill>
            <a:srgbClr val="2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TextBox 934"/>
          <p:cNvSpPr txBox="1"/>
          <p:nvPr/>
        </p:nvSpPr>
        <p:spPr>
          <a:xfrm>
            <a:off x="772038" y="4390051"/>
            <a:ext cx="1772880" cy="2842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ontserrat"/>
              </a:rPr>
              <a:t>Исследование C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2572010" y="4390051"/>
            <a:ext cx="1477400" cy="2842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59D7AA"/>
                </a:solidFill>
                <a:latin typeface="Montserrat"/>
              </a:rPr>
              <a:t>Проверено</a:t>
            </a:r>
          </a:p>
        </p:txBody>
      </p:sp>
      <p:sp>
        <p:nvSpPr>
          <p:cNvPr id="937" name="Rounded Rectangle 936"/>
          <p:cNvSpPr/>
          <p:nvPr/>
        </p:nvSpPr>
        <p:spPr>
          <a:xfrm>
            <a:off x="4829378" y="3036828"/>
            <a:ext cx="1638056" cy="2183811"/>
          </a:xfrm>
          <a:prstGeom prst="roundRect">
            <a:avLst/>
          </a:prstGeom>
          <a:solidFill>
            <a:srgbClr val="27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TextBox 937"/>
          <p:cNvSpPr txBox="1"/>
          <p:nvPr/>
        </p:nvSpPr>
        <p:spPr>
          <a:xfrm>
            <a:off x="4942781" y="3258911"/>
            <a:ext cx="1386047" cy="55520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ontserrat"/>
              </a:rPr>
              <a:t>Вердикт</a:t>
            </a:r>
          </a:p>
        </p:txBody>
      </p:sp>
      <p:sp>
        <p:nvSpPr>
          <p:cNvPr id="939" name="TextBox 938"/>
          <p:cNvSpPr txBox="1"/>
          <p:nvPr/>
        </p:nvSpPr>
        <p:spPr>
          <a:xfrm>
            <a:off x="4942781" y="3925159"/>
            <a:ext cx="1386047" cy="88833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0">
                <a:solidFill>
                  <a:srgbClr val="FFB1CC"/>
                </a:solidFill>
                <a:latin typeface="Montserrat"/>
              </a:rPr>
              <a:t>1 из 3
требует проверки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671235" y="5405709"/>
            <a:ext cx="5796200" cy="3331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700" b="0">
                <a:solidFill>
                  <a:srgbClr val="AFA9C1"/>
                </a:solidFill>
                <a:latin typeface="Montserrat"/>
              </a:rPr>
              <a:t>Схема интерфейса · без клинических данных</a:t>
            </a:r>
          </a:p>
        </p:txBody>
      </p:sp>
      <p:sp>
        <p:nvSpPr>
          <p:cNvPr id="941" name="Rounded Rectangle 940"/>
          <p:cNvSpPr/>
          <p:nvPr/>
        </p:nvSpPr>
        <p:spPr>
          <a:xfrm>
            <a:off x="7109460" y="2103120"/>
            <a:ext cx="1920240" cy="3840480"/>
          </a:xfrm>
          <a:prstGeom prst="roundRect">
            <a:avLst/>
          </a:prstGeom>
          <a:solidFill>
            <a:srgbClr val="FAF8FD"/>
          </a:solidFill>
          <a:ln>
            <a:solidFill>
              <a:srgbClr val="624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Rounded Rectangle 941"/>
          <p:cNvSpPr/>
          <p:nvPr/>
        </p:nvSpPr>
        <p:spPr>
          <a:xfrm>
            <a:off x="7205472" y="2256739"/>
            <a:ext cx="1728216" cy="499262"/>
          </a:xfrm>
          <a:prstGeom prst="roundRect">
            <a:avLst/>
          </a:prstGeom>
          <a:solidFill>
            <a:srgbClr val="520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7301484" y="2371953"/>
            <a:ext cx="1536192" cy="30723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ontserrat"/>
              </a:rPr>
              <a:t>DXA · ответ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7282281" y="3024835"/>
            <a:ext cx="1536192" cy="499262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TextBox 944"/>
          <p:cNvSpPr txBox="1"/>
          <p:nvPr/>
        </p:nvSpPr>
        <p:spPr>
          <a:xfrm>
            <a:off x="7359091" y="3120847"/>
            <a:ext cx="1382572" cy="26883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27103F"/>
                </a:solidFill>
                <a:latin typeface="Montserrat"/>
              </a:rPr>
              <a:t>3 исследования</a:t>
            </a:r>
          </a:p>
        </p:txBody>
      </p:sp>
      <p:sp>
        <p:nvSpPr>
          <p:cNvPr id="946" name="Rounded Rectangle 945"/>
          <p:cNvSpPr/>
          <p:nvPr/>
        </p:nvSpPr>
        <p:spPr>
          <a:xfrm>
            <a:off x="7282281" y="3754526"/>
            <a:ext cx="1536192" cy="499262"/>
          </a:xfrm>
          <a:prstGeom prst="roundRect">
            <a:avLst/>
          </a:prstGeom>
          <a:solidFill>
            <a:srgbClr val="F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TextBox 946"/>
          <p:cNvSpPr txBox="1"/>
          <p:nvPr/>
        </p:nvSpPr>
        <p:spPr>
          <a:xfrm>
            <a:off x="7359091" y="3850538"/>
            <a:ext cx="1382572" cy="26883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27103F"/>
                </a:solidFill>
                <a:latin typeface="Montserrat"/>
              </a:rPr>
              <a:t>1 требует проверки</a:t>
            </a:r>
          </a:p>
        </p:txBody>
      </p:sp>
      <p:sp>
        <p:nvSpPr>
          <p:cNvPr id="948" name="Rounded Rectangle 947"/>
          <p:cNvSpPr/>
          <p:nvPr/>
        </p:nvSpPr>
        <p:spPr>
          <a:xfrm>
            <a:off x="7282281" y="4484217"/>
            <a:ext cx="1536192" cy="499262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7359091" y="4580229"/>
            <a:ext cx="1382572" cy="26883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27103F"/>
                </a:solidFill>
                <a:latin typeface="Montserrat"/>
              </a:rPr>
              <a:t>Отчёт готов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7263079" y="5444337"/>
            <a:ext cx="1613001" cy="34564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800" b="0">
                <a:solidFill>
                  <a:srgbClr val="695F71"/>
                </a:solidFill>
                <a:latin typeface="Montserrat"/>
              </a:rPr>
              <a:t>Без медицинских изображений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r>
              <a:t>8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548640" y="118872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Спасибо!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548640" y="228600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Готовы ответить на вопросы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548640" y="31546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РЕПОЗИТОРИЙ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548640" y="3392424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github.com/theorcos239/LCT_2026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548640" y="3813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ВЕБ-ДЕМОНСТРАЦИЯ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548640" y="4050792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https://89.208.196.172 — доступ по паролю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548640" y="4471416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TELEGRAM-БОТ (ДЕМОНСТРАЦИЯ)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548640" y="470916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@LCT_bone_density_research_bot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6537960" y="3154680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2" name="Picture 911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246120"/>
            <a:ext cx="1417320" cy="141732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6537960" y="484632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репозиторий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434840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ТАКСОНОМИЯ НАРУШЕНИЙ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Пять критериев ТЗ, у каждого — измерение в физических единицах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7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graphicFrame>
        <p:nvGraphicFramePr>
          <p:cNvPr id="903" name="Table 902"/>
          <p:cNvGraphicFramePr>
            <a:graphicFrameLocks noGrp="1"/>
          </p:cNvGraphicFramePr>
          <p:nvPr/>
        </p:nvGraphicFramePr>
        <p:xfrm>
          <a:off x="346075" y="1828800"/>
          <a:ext cx="7818118" cy="39684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14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3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1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КОД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КРИТЕРИЙ ТЗ 2.3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КАК ИЗМЕРЯЕМ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НОРМА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spine_position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видны верхние края подвздошных костей (таза)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гребни таза и видимая часть Th12 по точкам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гребни с двух сторон; Th12 ≥ половины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spine_axis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наклон оси до 5°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линия через центры позвонков; контроль — по краям позвоночника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≤ 5° (порог 4°)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spine_artifacts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нет посторонних предметов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яркие тонкие структуры вне кости (фильтр top-hat) + нейросеть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уверенность &lt; 0.17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hip_rotation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нет ротации (по малому вертелу)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выступ малого вертела — костного бугорка — над контуром кости, мм² + нейросеть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уверенность &lt; 0.24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hip_roi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отступы 3 / 3 / 2 см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отступы сверху, снизу и сбоку от кости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 30 / 30 / 20 мм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undetermined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область не определена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снимок не похож на денситометрию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ручной разбор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4" name="Rounded Rectangle 903"/>
          <p:cNvSpPr/>
          <p:nvPr/>
        </p:nvSpPr>
        <p:spPr>
          <a:xfrm>
            <a:off x="8412480" y="1828800"/>
            <a:ext cx="3410712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5" name="TextBox 904"/>
          <p:cNvSpPr txBox="1"/>
          <p:nvPr/>
        </p:nvSpPr>
        <p:spPr>
          <a:xfrm>
            <a:off x="8631936" y="2011680"/>
            <a:ext cx="2971800" cy="243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Несколько нарушений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8631936" y="2346960"/>
            <a:ext cx="2971800" cy="1493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 каждого пятого исследования нарушений несколько. Критерии проверяются независимо, в отчёт попадают все, например «spine_axis; spine_artifacts». Класс качества = 1 («есть нарушение»), если сработал хоть один.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8412480" y="4114800"/>
            <a:ext cx="341071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8631936" y="4297680"/>
            <a:ext cx="2971800" cy="243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Сбой чтения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631936" y="4632960"/>
            <a:ext cx="2971800" cy="899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Файл, который не удалось прочитать, попадает в отчёт строкой Failure с текстом ошибки; обработка не прерывается.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1810512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252 снимка, по каждому критерию всего 6–36 нарушений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FFFFFF"/>
                </a:solidFill>
                <a:latin typeface="Montserrat"/>
              </a:rPr>
              <a:t>8</a:t>
            </a:fld>
            <a:endParaRPr lang="ru-RU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557784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620395" y="205740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100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20395" y="25450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исследований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2357755" y="205740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499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2357755" y="25450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DICOM-файлов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4095115" y="2057400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252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095115" y="25450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уникальных снимков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620395" y="3154680"/>
            <a:ext cx="50292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Один снимок в выгрузке встречается по нескольку раз под разными идентификаторами. Повторы находим по совпадению изображения — ещё до деления данных на обучение и проверку.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Из них 99 снимков позвоночника, 79 левого и 74 правого бедра — до трёх снимков на исследование. У трёх снимков бедра нет полной оценки эксперта, поэтому метрики считаются на 249.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Все снимки с одного аппарата (GE Lunar Prodigy Advance). Размер пикселя в файлах не указан: масштаб 0.6 мм на пиксель восстановили по известной высоте «позвонок + диск».</a:t>
            </a:r>
          </a:p>
          <a:p>
            <a:pPr marL="219456" indent="-219456">
              <a:lnSpc>
                <a:spcPct val="112000"/>
              </a:lnSpc>
              <a:spcAft>
                <a:spcPts val="500"/>
              </a:spcAft>
              <a:buClr>
                <a:srgbClr val="FF0053"/>
              </a:buClr>
              <a:buFont typeface="Arial"/>
              <a:buChar char="▪"/>
            </a:pPr>
            <a:r>
              <a:rPr sz="11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Сделали собственную разметку: 242 снимка, по 29 опорных точек на каждом.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6126480" y="1828800"/>
            <a:ext cx="5696712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2" name="TextBox 911"/>
          <p:cNvSpPr txBox="1"/>
          <p:nvPr/>
        </p:nvSpPr>
        <p:spPr>
          <a:xfrm>
            <a:off x="6400800" y="20574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Нарушений мало, и они разные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400800" y="25603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Укладка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549640" y="2596896"/>
            <a:ext cx="1388059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5" name="Rounded Rectangle 914"/>
          <p:cNvSpPr/>
          <p:nvPr/>
        </p:nvSpPr>
        <p:spPr>
          <a:xfrm>
            <a:off x="8549640" y="2596896"/>
            <a:ext cx="84124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6" name="TextBox 915"/>
          <p:cNvSpPr txBox="1"/>
          <p:nvPr/>
        </p:nvSpPr>
        <p:spPr>
          <a:xfrm>
            <a:off x="10029139" y="2560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6 из 99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400800" y="29809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Наклон оси &gt; 5°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549640" y="3017520"/>
            <a:ext cx="1388059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9" name="Rounded Rectangle 918"/>
          <p:cNvSpPr/>
          <p:nvPr/>
        </p:nvSpPr>
        <p:spPr>
          <a:xfrm>
            <a:off x="8549640" y="3017520"/>
            <a:ext cx="140207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10029139" y="29809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10 из 99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400800" y="3401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Посторонние предметы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8549640" y="3438144"/>
            <a:ext cx="1388059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3" name="Rounded Rectangle 922"/>
          <p:cNvSpPr/>
          <p:nvPr/>
        </p:nvSpPr>
        <p:spPr>
          <a:xfrm>
            <a:off x="8549640" y="3438144"/>
            <a:ext cx="238353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4" name="TextBox 923"/>
          <p:cNvSpPr txBox="1"/>
          <p:nvPr/>
        </p:nvSpPr>
        <p:spPr>
          <a:xfrm>
            <a:off x="10029139" y="34015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17 из 99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400800" y="382219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Ротация бедра</a:t>
            </a:r>
          </a:p>
        </p:txBody>
      </p:sp>
      <p:sp>
        <p:nvSpPr>
          <p:cNvPr id="926" name="Rounded Rectangle 925"/>
          <p:cNvSpPr/>
          <p:nvPr/>
        </p:nvSpPr>
        <p:spPr>
          <a:xfrm>
            <a:off x="8549640" y="3858768"/>
            <a:ext cx="2103120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7" name="Rounded Rectangle 926"/>
          <p:cNvSpPr/>
          <p:nvPr/>
        </p:nvSpPr>
        <p:spPr>
          <a:xfrm>
            <a:off x="8549640" y="3858768"/>
            <a:ext cx="504748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8" name="TextBox 927"/>
          <p:cNvSpPr txBox="1"/>
          <p:nvPr/>
        </p:nvSpPr>
        <p:spPr>
          <a:xfrm>
            <a:off x="10744200" y="38221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36 из 150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6400800" y="42428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Отступы поля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8549640" y="4279392"/>
            <a:ext cx="2103120" cy="201168"/>
          </a:xfrm>
          <a:prstGeom prst="roundRect">
            <a:avLst>
              <a:gd name="adj" fmla="val 40000"/>
            </a:avLst>
          </a:prstGeom>
          <a:solidFill>
            <a:srgbClr val="FF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1" name="Rounded Rectangle 930"/>
          <p:cNvSpPr/>
          <p:nvPr/>
        </p:nvSpPr>
        <p:spPr>
          <a:xfrm>
            <a:off x="8549640" y="4279392"/>
            <a:ext cx="98145" cy="201168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2" name="TextBox 931"/>
          <p:cNvSpPr txBox="1"/>
          <p:nvPr/>
        </p:nvSpPr>
        <p:spPr>
          <a:xfrm>
            <a:off x="10744200" y="4242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7 из 150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6400800" y="484632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48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6400800" y="52730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исследований из 100
с нарушением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8183880" y="484632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8183880" y="52730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 двумя и более
нарушениями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9966960" y="484632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72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9966960" y="52730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снимка из 249 оценённых
с нарушением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4622292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МЫ ПРОВЕРЯЕМ СЕБЯ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Историческая OOF-оценка исходной версии; текущий ROI требует повторной проверки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9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903" name="TextBox 902"/>
          <p:cNvSpPr txBox="1"/>
          <p:nvPr/>
        </p:nvSpPr>
        <p:spPr>
          <a:xfrm>
            <a:off x="711835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1681099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2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2650363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3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3619627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4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4588891" y="1828800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часть 5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346075" y="219456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#1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711835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1681099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2650363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3619627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4588891" y="2121408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346075" y="2615184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#2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711835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1681099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2650363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3619627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4588891" y="2542032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346075" y="303580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#3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711835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1681099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2650363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3619627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4588891" y="2962656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346075" y="345643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#4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711835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8" name="Rounded Rectangle 927"/>
          <p:cNvSpPr/>
          <p:nvPr/>
        </p:nvSpPr>
        <p:spPr>
          <a:xfrm>
            <a:off x="1681099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29" name="Rounded Rectangle 928"/>
          <p:cNvSpPr/>
          <p:nvPr/>
        </p:nvSpPr>
        <p:spPr>
          <a:xfrm>
            <a:off x="2650363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3619627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4588891" y="3383280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346075" y="3877056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#5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711835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4" name="Rounded Rectangle 933"/>
          <p:cNvSpPr/>
          <p:nvPr/>
        </p:nvSpPr>
        <p:spPr>
          <a:xfrm>
            <a:off x="1681099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5" name="Rounded Rectangle 934"/>
          <p:cNvSpPr/>
          <p:nvPr/>
        </p:nvSpPr>
        <p:spPr>
          <a:xfrm>
            <a:off x="2650363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6" name="Rounded Rectangle 935"/>
          <p:cNvSpPr/>
          <p:nvPr/>
        </p:nvSpPr>
        <p:spPr>
          <a:xfrm>
            <a:off x="3619627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DC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0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937" name="Rounded Rectangle 936"/>
          <p:cNvSpPr/>
          <p:nvPr/>
        </p:nvSpPr>
        <p:spPr>
          <a:xfrm>
            <a:off x="4588891" y="3803904"/>
            <a:ext cx="896112" cy="338328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346075" y="438912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Исходные 100 исследований разделены на пять частей. Модели геометрии и CNN проверяли по очереди на части, которую они не видели. Кадры одного исследования оставались вместе. Модель точек с врачебными фрагментами обучена на фолдах 0–3; пятый фолд не обучался. После смены правила ROI и добавления Th12 полный сквозной OOF-прогон нужен заново.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6126480" y="182880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0" name="TextBox 939"/>
          <p:cNvSpPr txBox="1"/>
          <p:nvPr/>
        </p:nvSpPr>
        <p:spPr>
          <a:xfrm>
            <a:off x="6345936" y="2011680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Пациент целиком в одной части</a:t>
            </a:r>
          </a:p>
        </p:txBody>
      </p:sp>
      <p:sp>
        <p:nvSpPr>
          <p:cNvPr id="941" name="TextBox 940"/>
          <p:cNvSpPr txBox="1"/>
          <p:nvPr/>
        </p:nvSpPr>
        <p:spPr>
          <a:xfrm>
            <a:off x="6345936" y="2308860"/>
            <a:ext cx="5257800" cy="3886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Позвоночник и оба бедра одного человека всегда попадают в одну часть — иначе модель «узнавала» бы пациента, и оценка была бы завышена.</a:t>
            </a:r>
          </a:p>
        </p:txBody>
      </p:sp>
      <p:sp>
        <p:nvSpPr>
          <p:cNvPr id="942" name="Rounded Rectangle 941"/>
          <p:cNvSpPr/>
          <p:nvPr/>
        </p:nvSpPr>
        <p:spPr>
          <a:xfrm>
            <a:off x="6126480" y="292608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3" name="TextBox 942"/>
          <p:cNvSpPr txBox="1"/>
          <p:nvPr/>
        </p:nvSpPr>
        <p:spPr>
          <a:xfrm>
            <a:off x="6345936" y="3108960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Редкие нарушения — в каждой части</a:t>
            </a:r>
          </a:p>
        </p:txBody>
      </p:sp>
      <p:sp>
        <p:nvSpPr>
          <p:cNvPr id="944" name="TextBox 943"/>
          <p:cNvSpPr txBox="1"/>
          <p:nvPr/>
        </p:nvSpPr>
        <p:spPr>
          <a:xfrm>
            <a:off x="6345936" y="3406140"/>
            <a:ext cx="5257800" cy="3886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Деление сделано так, чтобы в каждой из пяти частей были примеры даже самых редких нарушений.</a:t>
            </a:r>
          </a:p>
        </p:txBody>
      </p:sp>
      <p:sp>
        <p:nvSpPr>
          <p:cNvPr id="945" name="Rounded Rectangle 944"/>
          <p:cNvSpPr/>
          <p:nvPr/>
        </p:nvSpPr>
        <p:spPr>
          <a:xfrm>
            <a:off x="6126480" y="402336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6" name="TextBox 945"/>
          <p:cNvSpPr txBox="1"/>
          <p:nvPr/>
        </p:nvSpPr>
        <p:spPr>
          <a:xfrm>
            <a:off x="6345936" y="4206240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Настройка — только на обучающих частях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6345936" y="4503420"/>
            <a:ext cx="5257800" cy="3886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Для исходной версии пороги и CNN настраивались на обучающих частях. Текущую сборку нужно проверить повторно на всех пяти частях.</a:t>
            </a:r>
          </a:p>
        </p:txBody>
      </p:sp>
      <p:sp>
        <p:nvSpPr>
          <p:cNvPr id="948" name="Rounded Rectangle 947"/>
          <p:cNvSpPr/>
          <p:nvPr/>
        </p:nvSpPr>
        <p:spPr>
          <a:xfrm>
            <a:off x="6126480" y="5120640"/>
            <a:ext cx="569671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9" name="TextBox 948"/>
          <p:cNvSpPr txBox="1"/>
          <p:nvPr/>
        </p:nvSpPr>
        <p:spPr>
          <a:xfrm>
            <a:off x="6345936" y="5303520"/>
            <a:ext cx="525780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Мало нарушений — широкие интервалы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6345936" y="5600700"/>
            <a:ext cx="5257800" cy="3886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На каждый тип нарушения всего 6–36 примеров, поэтому к каждому показателю приводим 95% доверительный интервал — диапазон, где он лежит при такой выборке.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1810512" cy="620919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ПОДХОД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Измерения там, где критерий — размер; нейросеть — там, где форма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FFFFFF"/>
                </a:solidFill>
                <a:latin typeface="Montserrat"/>
              </a:rPr>
              <a:t>10</a:t>
            </a:fld>
            <a:endParaRPr lang="ru-RU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03" name="Rounded Rectangle 902"/>
          <p:cNvSpPr/>
          <p:nvPr/>
        </p:nvSpPr>
        <p:spPr>
          <a:xfrm>
            <a:off x="346075" y="1828800"/>
            <a:ext cx="7040880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620395" y="2029968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Что пробовали для ротации бедра</a:t>
            </a:r>
          </a:p>
        </p:txBody>
      </p:sp>
      <p:graphicFrame>
        <p:nvGraphicFramePr>
          <p:cNvPr id="905" name="Table 904"/>
          <p:cNvGraphicFramePr>
            <a:graphicFrameLocks noGrp="1"/>
          </p:cNvGraphicFramePr>
          <p:nvPr/>
        </p:nvGraphicFramePr>
        <p:xfrm>
          <a:off x="620395" y="2423160"/>
          <a:ext cx="6492238" cy="30083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ЧТО ПРОБОВАЛИ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ROC-AUC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ВЫВОД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измерение выступа малого вертела по контуру кости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0.68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норма и нарушение отличаются на ≈ 2 мм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простая модель по всему снимку целиком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0.50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 лучше монетки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опорные точки, найденные нейросетью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—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ошибка до 2.2 мм при разнице классов 2.1 мм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одна нейросеть ResNet-34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0.77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результат плавает от запуска к запуску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три копии той же нейросети, ответы усреднены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0.80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стабильнее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нейросеть + измерение выступа → один вердикт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0.82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выбрано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6" name="TextBox 905"/>
          <p:cNvSpPr txBox="1"/>
          <p:nvPr/>
        </p:nvSpPr>
        <p:spPr>
          <a:xfrm>
            <a:off x="620395" y="5559552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ROC-AUC — насколько хорошо оценка отделяет нарушения от нормы: 0.5 — наугад, 1.0 — идеально.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7589520" y="1828800"/>
            <a:ext cx="4233672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8" name="TextBox 907"/>
          <p:cNvSpPr txBox="1"/>
          <p:nvPr/>
        </p:nvSpPr>
        <p:spPr>
          <a:xfrm>
            <a:off x="7808976" y="2011680"/>
            <a:ext cx="379476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Принцип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7808976" y="2308860"/>
            <a:ext cx="3794760" cy="6903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Вердикт можно проверить глазами: измерение оси в градусах и отступов ROI в миллиметрах.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7589520" y="3246120"/>
            <a:ext cx="4233672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1" name="TextBox 910"/>
          <p:cNvSpPr txBox="1"/>
          <p:nvPr/>
        </p:nvSpPr>
        <p:spPr>
          <a:xfrm>
            <a:off x="7808976" y="3429000"/>
            <a:ext cx="379476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Где измерения недостаточно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7808976" y="3726180"/>
            <a:ext cx="3794760" cy="6903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Ротация и посторонние предметы — это форма, а не размер. Здесь к измерению добавляем нейросеть и объединяем обе оценки; подсветка показывает, куда она смотрела.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7589520" y="4663440"/>
            <a:ext cx="4233672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4" name="TextBox 913"/>
          <p:cNvSpPr txBox="1"/>
          <p:nvPr/>
        </p:nvSpPr>
        <p:spPr>
          <a:xfrm>
            <a:off x="7808976" y="4846320"/>
            <a:ext cx="3794760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Где точки не заменяют контур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808976" y="5143500"/>
            <a:ext cx="3794760" cy="6903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Ось и отступы измеряем геометрически. Модель точек помогает проверить верхнюю границу по Th12 и разобраться со спорными кадрами.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6075" y="324562"/>
            <a:ext cx="2747772" cy="620919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0" rIns="182880" bIns="0" rtlCol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75" y="109728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2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Один контейнер, пять шагов; анализ снимка не требует внешних сервисов</a:t>
            </a:r>
          </a:p>
        </p:txBody>
      </p:sp>
      <p:sp>
        <p:nvSpPr>
          <p:cNvPr id="902" name="Номер слайда"/>
          <p:cNvSpPr>
            <a:spLocks noGrp="1"/>
          </p:cNvSpPr>
          <p:nvPr>
            <p:ph type="sldNum" sz="quarter" idx="4"/>
          </p:nvPr>
        </p:nvSpPr>
        <p:spPr>
          <a:xfrm>
            <a:off x="11064240" y="6355080"/>
            <a:ext cx="868680" cy="365760"/>
          </a:xfrm>
        </p:spPr>
        <p:txBody>
          <a:bodyPr/>
          <a:lstStyle/>
          <a:p>
            <a:pPr algn="r"/>
            <a:fld id="{52DCC5B9-D646-4B76-891F-6FF4E74E9CB4}" type="slidenum">
              <a:rPr lang="ru-RU" sz="1200">
                <a:solidFill>
                  <a:srgbClr val="520977"/>
                </a:solidFill>
                <a:latin typeface="Montserrat"/>
              </a:rPr>
              <a:t>11</a:t>
            </a:fld>
            <a:endParaRPr lang="ru-RU" sz="1200">
              <a:solidFill>
                <a:srgbClr val="520977"/>
              </a:solidFill>
              <a:latin typeface="Montserrat"/>
            </a:endParaRPr>
          </a:p>
        </p:txBody>
      </p:sp>
      <p:cxnSp>
        <p:nvCxnSpPr>
          <p:cNvPr id="903" name="Connector 902"/>
          <p:cNvCxnSpPr/>
          <p:nvPr/>
        </p:nvCxnSpPr>
        <p:spPr>
          <a:xfrm>
            <a:off x="556387" y="2039112"/>
            <a:ext cx="9183888" cy="0"/>
          </a:xfrm>
          <a:prstGeom prst="line">
            <a:avLst/>
          </a:prstGeom>
          <a:ln w="15875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" name="Rounded Rectangle 903"/>
          <p:cNvSpPr/>
          <p:nvPr/>
        </p:nvSpPr>
        <p:spPr>
          <a:xfrm>
            <a:off x="346075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346075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DICOM, zip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346075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снимки из архива клиники как есть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2642047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2642047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чтение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2642047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распаковка, разворот, дубликаты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4938019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4938019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область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4938019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позвоночник, бёдра, «не DXA»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7233991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7233991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критерии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233991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измерения + нейросеть, каждый отдельно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529963" y="182880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9529963" y="2377440"/>
            <a:ext cx="21130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вердикт и отчёт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529963" y="2697480"/>
            <a:ext cx="20673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класс, вероятности, заключение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346075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0" name="TextBox 919"/>
          <p:cNvSpPr txBox="1"/>
          <p:nvPr/>
        </p:nvSpPr>
        <p:spPr>
          <a:xfrm>
            <a:off x="565531" y="347472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Результат — ровно по ТЗ (п. 2.5, 2.7)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565531" y="3977640"/>
            <a:ext cx="331012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Таблица xlsx или csv (строка на снимок, восемь колонок ТЗ), zip со снимками с разметкой, zip с заключениями DICOM SR.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4204843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3" name="TextBox 922"/>
          <p:cNvSpPr txBox="1"/>
          <p:nvPr/>
        </p:nvSpPr>
        <p:spPr>
          <a:xfrm>
            <a:off x="4424299" y="3474720"/>
            <a:ext cx="3310127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Интерфейсы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4424299" y="3771900"/>
            <a:ext cx="3310127" cy="6812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Веб-приложение, приложение для Windows, программный интерфейс API и консоль; Telegram-бот — демонстрация.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8063611" y="3291840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6" name="TextBox 925"/>
          <p:cNvSpPr txBox="1"/>
          <p:nvPr/>
        </p:nvSpPr>
        <p:spPr>
          <a:xfrm>
            <a:off x="8283067" y="3474720"/>
            <a:ext cx="3310127" cy="205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Контейнер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283067" y="3771900"/>
            <a:ext cx="3310127" cy="6812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4458"/>
                </a:solidFill>
                <a:latin typeface="Montserrat"/>
                <a:ea typeface="Montserrat"/>
                <a:cs typeface="Montserrat"/>
              </a:rPr>
              <a:t>Python 3.11, версии пакетов зафиксированы, нейросеть на процессоре, один поток: повторный запуск даёт в точности тот же отчёт.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346075" y="4727448"/>
            <a:ext cx="114798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 spc="80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ФРАГМЕНТ НАСТОЯЩЕГО ОТЧЁТА: ВОСЕМЬ КОЛОНОК ТЗ 2.5</a:t>
            </a:r>
          </a:p>
        </p:txBody>
      </p:sp>
      <p:graphicFrame>
        <p:nvGraphicFramePr>
          <p:cNvPr id="929" name="Table 928"/>
          <p:cNvGraphicFramePr>
            <a:graphicFrameLocks noGrp="1"/>
          </p:cNvGraphicFramePr>
          <p:nvPr/>
        </p:nvGraphicFramePr>
        <p:xfrm>
          <a:off x="346075" y="4974336"/>
          <a:ext cx="11479859" cy="1280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0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2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9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14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2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2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PATH_TO_STUDY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STUDY_UID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IMAGE_UID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ANATOMICAL_REGION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QUALITY_CLASS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VIOLATION_TYPE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PROCESSING_STATUS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520977"/>
                          </a:solidFill>
                          <a:latin typeface="Montserrat"/>
                          <a:ea typeface="Montserrat"/>
                          <a:cs typeface="Montserrat"/>
                        </a:rPr>
                        <a:t>TIME_OF_PROCESSING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52097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…8683246248872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…4090106081007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…2140700150015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lh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0.9472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5209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…8683246248872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…4090106081007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…0150606100110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spine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1.2375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…8683246248872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…4090106081007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…3101101110913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rh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0.3429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…8814728642117</a:t>
                      </a:r>
                    </a:p>
                  </a:txBody>
                  <a:tcPr marL="45720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…3011205010113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…5070904121304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rh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hip_rotation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Success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0.4389</a:t>
                      </a:r>
                    </a:p>
                  </a:txBody>
                  <a:tcPr marL="64008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C3D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30" name="TextBox 929"/>
          <p:cNvSpPr txBox="1"/>
          <p:nvPr/>
        </p:nvSpPr>
        <p:spPr>
          <a:xfrm>
            <a:off x="346075" y="6309360"/>
            <a:ext cx="114798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8B8599"/>
                </a:solidFill>
                <a:latin typeface="Montserrat"/>
                <a:ea typeface="Montserrat"/>
                <a:cs typeface="Montserrat"/>
              </a:rPr>
              <a:t>lh / rh — левое и правое бедро, spine — позвоночник; класс 0 — качественный, 1 — есть нарушение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11047</TotalTime>
  <Words>4592</Words>
  <Application>Microsoft Office PowerPoint</Application>
  <PresentationFormat>Широкоэкранный</PresentationFormat>
  <Paragraphs>724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Montserrat</vt:lpstr>
      <vt:lpstr>Wingdings</vt:lpstr>
      <vt:lpstr>Для Академия инноваторов 16_9</vt:lpstr>
      <vt:lpstr>Презентация PowerPoint</vt:lpstr>
      <vt:lpstr>Команда 239.Hack</vt:lpstr>
      <vt:lpstr>КОМАНДА</vt:lpstr>
      <vt:lpstr>ИСТОРИЯ И ВЫЗОВЫ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UM</cp:lastModifiedBy>
  <cp:revision>97</cp:revision>
  <dcterms:created xsi:type="dcterms:W3CDTF">2023-05-15T07:36:23Z</dcterms:created>
  <dcterms:modified xsi:type="dcterms:W3CDTF">2026-10-20T17:07:02Z</dcterms:modified>
</cp:coreProperties>
</file>