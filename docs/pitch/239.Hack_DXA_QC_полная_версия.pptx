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</p:sldMasterIdLst>
  <p:notesMasterIdLst>
    <p:notesMasterId r:id="rId28"/>
  </p:notesMasterIdLst>
  <p:handoutMasterIdLst>
    <p:handoutMasterId r:id="rId29"/>
  </p:handoutMasterIdLst>
  <p:sldIdLst>
    <p:sldId id="365" r:id="rId2"/>
    <p:sldId id="366" r:id="rId3"/>
    <p:sldId id="362" r:id="rId4"/>
    <p:sldId id="364" r:id="rId5"/>
    <p:sldId id="367" r:id="rId6"/>
    <p:sldId id="368" r:id="rId7"/>
    <p:sldId id="369" r:id="rId8"/>
    <p:sldId id="370" r:id="rId9"/>
    <p:sldId id="371" r:id="rId10"/>
    <p:sldId id="372" r:id="rId11"/>
    <p:sldId id="373" r:id="rId12"/>
    <p:sldId id="380" r:id="rId19"/>
    <p:sldId id="382" r:id="rId21"/>
    <p:sldId id="383" r:id="rId22"/>
    <p:sldId id="385" r:id="rId24"/>
    <p:sldId id="376" r:id="rId15"/>
    <p:sldId id="377" r:id="rId16"/>
    <p:sldId id="374" r:id="rId13"/>
    <p:sldId id="384" r:id="rId23"/>
    <p:sldId id="388" r:id="rId27"/>
  </p:sldIdLst>
  <p:sldSz cx="12192000" cy="6858000"/>
  <p:notesSz cx="6858000" cy="9144000"/>
  <p:embeddedFontLst>
    <p:embeddedFont>
      <p:font typeface="Montserrat" pitchFamily="2" charset="-52"/>
      <p:regular r:id="rId30"/>
      <p:bold r:id="rId31"/>
      <p:italic r:id="rId32"/>
      <p:boldItalic r:id="rId33"/>
    </p:embeddedFont>
  </p:embeddedFontLst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</p14:sldIdLst>
        </p14:section>
        <p14:section name="Информация" id="{9FA27940-A45B-471D-96EC-3FCE80AE8A9B}">
          <p14:sldIdLst>
            <p14:sldId id="367"/>
          </p14:sldIdLst>
        </p14:section>
        <p14:section name="Материалы" id="{0F84D0DE-CEB1-417E-B269-8B3EB04B5FA6}">
          <p14:sldIdLst>
            <p14:sldId id="368"/>
          </p14:sldIdLst>
        </p14:section>
        <p14:section name="Шаблоны слайдов" id="{24401F80-F81B-49C3-8D55-70A14F0BF8FF}">
          <p14:sldIdLst>
            <p14:sldId id="369"/>
            <p14:sldId id="370"/>
            <p14:sldId id="371"/>
            <p14:sldId id="372"/>
            <p14:sldId id="373"/>
            <p14:sldId id="374"/>
            <p14:sldId id="375"/>
            <p14:sldId id="376"/>
            <p14:sldId id="377"/>
            <p14:sldId id="378"/>
            <p14:sldId id="379"/>
            <p14:sldId id="380"/>
            <p14:sldId id="381"/>
            <p14:sldId id="382"/>
            <p14:sldId id="383"/>
            <p14:sldId id="384"/>
            <p14:sldId id="385"/>
            <p14:sldId id="386"/>
            <p14:sldId id="387"/>
            <p14:sldId id="388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83" autoAdjust="0"/>
    <p:restoredTop sz="95839"/>
  </p:normalViewPr>
  <p:slideViewPr>
    <p:cSldViewPr snapToGrid="0" showGuides="1">
      <p:cViewPr varScale="1">
        <p:scale>
          <a:sx n="106" d="100"/>
          <a:sy n="106" d="100"/>
        </p:scale>
        <p:origin x="248" y="72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3" d="100"/>
        <a:sy n="33" d="100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8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9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9.xml"/><Relationship Id="rId24" Type="http://schemas.openxmlformats.org/officeDocument/2006/relationships/slide" Target="slides/slide15.xml"/><Relationship Id="rId27" Type="http://schemas.openxmlformats.org/officeDocument/2006/relationships/slide" Target="slides/slide20.xml"/><Relationship Id="rId28" Type="http://schemas.openxmlformats.org/officeDocument/2006/relationships/notesMaster" Target="notesMasters/notesMaster1.xml"/><Relationship Id="rId29" Type="http://schemas.openxmlformats.org/officeDocument/2006/relationships/handoutMaster" Target="handoutMasters/handoutMaster1.xml"/><Relationship Id="rId30" Type="http://schemas.openxmlformats.org/officeDocument/2006/relationships/font" Target="fonts/font1.fntdata"/><Relationship Id="rId31" Type="http://schemas.openxmlformats.org/officeDocument/2006/relationships/font" Target="fonts/font2.fntdata"/><Relationship Id="rId32" Type="http://schemas.openxmlformats.org/officeDocument/2006/relationships/font" Target="fonts/font3.fntdata"/><Relationship Id="rId33" Type="http://schemas.openxmlformats.org/officeDocument/2006/relationships/font" Target="fonts/font4.fntdata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выступ</c:v>
                </c:pt>
              </c:strCache>
            </c:strRef>
          </c:tx>
          <c:spPr>
            <a:ln w="12700">
              <a:solidFill>
                <a:srgbClr val="8A83D1"/>
              </a:solidFill>
              <a:prstDash val="dash"/>
            </a:ln>
          </c:spPr>
          <c:marker>
            <c:symbol val="none"/>
          </c:marker>
          <c:xVal>
            <c:numRef>
              <c:f>Sheet1!$A$2:$A$58</c:f>
              <c:numCache>
                <c:formatCode>General</c:formatCode>
                <c:ptCount val="57"/>
                <c:pt idx="0">
                  <c:v>0</c:v>
                </c:pt>
                <c:pt idx="1">
                  <c:v>0</c:v>
                </c:pt>
                <c:pt idx="2">
                  <c:v>8.771929824561403E-3</c:v>
                </c:pt>
                <c:pt idx="3">
                  <c:v>1.7543859649122806E-2</c:v>
                </c:pt>
                <c:pt idx="4">
                  <c:v>1.7543859649122806E-2</c:v>
                </c:pt>
                <c:pt idx="5">
                  <c:v>2.6315789473684209E-2</c:v>
                </c:pt>
                <c:pt idx="6">
                  <c:v>2.6315789473684209E-2</c:v>
                </c:pt>
                <c:pt idx="7">
                  <c:v>2.6315789473684209E-2</c:v>
                </c:pt>
                <c:pt idx="8">
                  <c:v>3.5087719298245612E-2</c:v>
                </c:pt>
                <c:pt idx="9">
                  <c:v>4.3859649122807015E-2</c:v>
                </c:pt>
                <c:pt idx="10">
                  <c:v>4.3859649122807015E-2</c:v>
                </c:pt>
                <c:pt idx="11">
                  <c:v>4.3859649122807015E-2</c:v>
                </c:pt>
                <c:pt idx="12">
                  <c:v>5.2631578947368418E-2</c:v>
                </c:pt>
                <c:pt idx="13">
                  <c:v>5.2631578947368418E-2</c:v>
                </c:pt>
                <c:pt idx="14">
                  <c:v>6.1403508771929821E-2</c:v>
                </c:pt>
                <c:pt idx="15">
                  <c:v>6.1403508771929821E-2</c:v>
                </c:pt>
                <c:pt idx="16">
                  <c:v>7.0175438596491224E-2</c:v>
                </c:pt>
                <c:pt idx="17">
                  <c:v>7.0175438596491224E-2</c:v>
                </c:pt>
                <c:pt idx="18">
                  <c:v>7.8947368421052627E-2</c:v>
                </c:pt>
                <c:pt idx="19">
                  <c:v>7.8947368421052627E-2</c:v>
                </c:pt>
                <c:pt idx="20">
                  <c:v>7.8947368421052627E-2</c:v>
                </c:pt>
                <c:pt idx="21">
                  <c:v>7.8947368421052627E-2</c:v>
                </c:pt>
                <c:pt idx="22">
                  <c:v>8.771929824561403E-2</c:v>
                </c:pt>
                <c:pt idx="23">
                  <c:v>9.6491228070175433E-2</c:v>
                </c:pt>
                <c:pt idx="24">
                  <c:v>9.6491228070175433E-2</c:v>
                </c:pt>
                <c:pt idx="25">
                  <c:v>9.6491228070175433E-2</c:v>
                </c:pt>
                <c:pt idx="26">
                  <c:v>9.6491228070175433E-2</c:v>
                </c:pt>
                <c:pt idx="27">
                  <c:v>0.10526315789473684</c:v>
                </c:pt>
                <c:pt idx="28">
                  <c:v>0.11403508771929824</c:v>
                </c:pt>
                <c:pt idx="29">
                  <c:v>0.12280701754385964</c:v>
                </c:pt>
                <c:pt idx="30">
                  <c:v>0.13157894736842105</c:v>
                </c:pt>
                <c:pt idx="31">
                  <c:v>0.14035087719298245</c:v>
                </c:pt>
                <c:pt idx="32">
                  <c:v>0.14912280701754385</c:v>
                </c:pt>
                <c:pt idx="33">
                  <c:v>0.15789473684210525</c:v>
                </c:pt>
                <c:pt idx="34">
                  <c:v>0.16666666666666666</c:v>
                </c:pt>
                <c:pt idx="35">
                  <c:v>0.17543859649122806</c:v>
                </c:pt>
                <c:pt idx="36">
                  <c:v>0.18421052631578946</c:v>
                </c:pt>
                <c:pt idx="37">
                  <c:v>0.19298245614035087</c:v>
                </c:pt>
                <c:pt idx="38">
                  <c:v>0.19298245614035087</c:v>
                </c:pt>
                <c:pt idx="39">
                  <c:v>0.20175438596491227</c:v>
                </c:pt>
                <c:pt idx="40">
                  <c:v>0.21052631578947367</c:v>
                </c:pt>
                <c:pt idx="41">
                  <c:v>0.21929824561403508</c:v>
                </c:pt>
                <c:pt idx="42">
                  <c:v>0.22807017543859648</c:v>
                </c:pt>
                <c:pt idx="43">
                  <c:v>0.23684210526315788</c:v>
                </c:pt>
                <c:pt idx="44">
                  <c:v>0.24561403508771928</c:v>
                </c:pt>
                <c:pt idx="45">
                  <c:v>0.24561403508771928</c:v>
                </c:pt>
                <c:pt idx="46">
                  <c:v>0.24561403508771928</c:v>
                </c:pt>
                <c:pt idx="47">
                  <c:v>0.24561403508771928</c:v>
                </c:pt>
                <c:pt idx="48">
                  <c:v>0.25438596491228072</c:v>
                </c:pt>
                <c:pt idx="49">
                  <c:v>0.25438596491228072</c:v>
                </c:pt>
                <c:pt idx="50">
                  <c:v>0.26315789473684209</c:v>
                </c:pt>
                <c:pt idx="51">
                  <c:v>0.27192982456140352</c:v>
                </c:pt>
                <c:pt idx="52">
                  <c:v>0.2807017543859649</c:v>
                </c:pt>
                <c:pt idx="53">
                  <c:v>0.2807017543859649</c:v>
                </c:pt>
                <c:pt idx="54">
                  <c:v>0.28947368421052633</c:v>
                </c:pt>
                <c:pt idx="55">
                  <c:v>0.2982456140350877</c:v>
                </c:pt>
                <c:pt idx="56">
                  <c:v>1</c:v>
                </c:pt>
              </c:numCache>
            </c:numRef>
          </c:xVal>
          <c:yVal>
            <c:numRef>
              <c:f>Sheet1!$B$2:$B$58</c:f>
              <c:numCache>
                <c:formatCode>General</c:formatCode>
                <c:ptCount val="57"/>
                <c:pt idx="0">
                  <c:v>0</c:v>
                </c:pt>
                <c:pt idx="1">
                  <c:v>2.7777777777777776E-2</c:v>
                </c:pt>
                <c:pt idx="2">
                  <c:v>2.7777777777777776E-2</c:v>
                </c:pt>
                <c:pt idx="3">
                  <c:v>2.7777777777777776E-2</c:v>
                </c:pt>
                <c:pt idx="4">
                  <c:v>5.5555555555555552E-2</c:v>
                </c:pt>
                <c:pt idx="5">
                  <c:v>5.5555555555555552E-2</c:v>
                </c:pt>
                <c:pt idx="6">
                  <c:v>8.3333333333333329E-2</c:v>
                </c:pt>
                <c:pt idx="7">
                  <c:v>0.1111111111111111</c:v>
                </c:pt>
                <c:pt idx="8">
                  <c:v>0.1388888888888889</c:v>
                </c:pt>
                <c:pt idx="9">
                  <c:v>0.1388888888888889</c:v>
                </c:pt>
                <c:pt idx="10">
                  <c:v>0.16666666666666666</c:v>
                </c:pt>
                <c:pt idx="11">
                  <c:v>0.19444444444444445</c:v>
                </c:pt>
                <c:pt idx="12">
                  <c:v>0.19444444444444445</c:v>
                </c:pt>
                <c:pt idx="13">
                  <c:v>0.22222222222222221</c:v>
                </c:pt>
                <c:pt idx="14">
                  <c:v>0.22222222222222221</c:v>
                </c:pt>
                <c:pt idx="15">
                  <c:v>0.25</c:v>
                </c:pt>
                <c:pt idx="16">
                  <c:v>0.25</c:v>
                </c:pt>
                <c:pt idx="17">
                  <c:v>0.27777777777777779</c:v>
                </c:pt>
                <c:pt idx="18">
                  <c:v>0.27777777777777779</c:v>
                </c:pt>
                <c:pt idx="19">
                  <c:v>0.30555555555555558</c:v>
                </c:pt>
                <c:pt idx="20">
                  <c:v>0.33333333333333331</c:v>
                </c:pt>
                <c:pt idx="21">
                  <c:v>0.3611111111111111</c:v>
                </c:pt>
                <c:pt idx="22">
                  <c:v>0.3611111111111111</c:v>
                </c:pt>
                <c:pt idx="23">
                  <c:v>0.3611111111111111</c:v>
                </c:pt>
                <c:pt idx="24">
                  <c:v>0.3888888888888889</c:v>
                </c:pt>
                <c:pt idx="25">
                  <c:v>0.41666666666666669</c:v>
                </c:pt>
                <c:pt idx="26">
                  <c:v>0.44444444444444442</c:v>
                </c:pt>
                <c:pt idx="27">
                  <c:v>0.44444444444444442</c:v>
                </c:pt>
                <c:pt idx="28">
                  <c:v>0.44444444444444442</c:v>
                </c:pt>
                <c:pt idx="29">
                  <c:v>0.44444444444444442</c:v>
                </c:pt>
                <c:pt idx="30">
                  <c:v>0.44444444444444442</c:v>
                </c:pt>
                <c:pt idx="31">
                  <c:v>0.44444444444444442</c:v>
                </c:pt>
                <c:pt idx="32">
                  <c:v>0.44444444444444442</c:v>
                </c:pt>
                <c:pt idx="33">
                  <c:v>0.44444444444444442</c:v>
                </c:pt>
                <c:pt idx="34">
                  <c:v>0.44444444444444442</c:v>
                </c:pt>
                <c:pt idx="35">
                  <c:v>0.44444444444444442</c:v>
                </c:pt>
                <c:pt idx="36">
                  <c:v>0.44444444444444442</c:v>
                </c:pt>
                <c:pt idx="37">
                  <c:v>0.44444444444444442</c:v>
                </c:pt>
                <c:pt idx="38">
                  <c:v>0.47222222222222221</c:v>
                </c:pt>
                <c:pt idx="39">
                  <c:v>0.47222222222222221</c:v>
                </c:pt>
                <c:pt idx="40">
                  <c:v>0.47222222222222221</c:v>
                </c:pt>
                <c:pt idx="41">
                  <c:v>0.47222222222222221</c:v>
                </c:pt>
                <c:pt idx="42">
                  <c:v>0.47222222222222221</c:v>
                </c:pt>
                <c:pt idx="43">
                  <c:v>0.47222222222222221</c:v>
                </c:pt>
                <c:pt idx="44">
                  <c:v>0.47222222222222221</c:v>
                </c:pt>
                <c:pt idx="45">
                  <c:v>0.5</c:v>
                </c:pt>
                <c:pt idx="46">
                  <c:v>0.52777777777777779</c:v>
                </c:pt>
                <c:pt idx="47">
                  <c:v>0.55555555555555558</c:v>
                </c:pt>
                <c:pt idx="48">
                  <c:v>0.55555555555555558</c:v>
                </c:pt>
                <c:pt idx="49">
                  <c:v>0.58333333333333337</c:v>
                </c:pt>
                <c:pt idx="50">
                  <c:v>0.58333333333333337</c:v>
                </c:pt>
                <c:pt idx="51">
                  <c:v>0.58333333333333337</c:v>
                </c:pt>
                <c:pt idx="52">
                  <c:v>0.58333333333333337</c:v>
                </c:pt>
                <c:pt idx="53">
                  <c:v>0.61111111111111116</c:v>
                </c:pt>
                <c:pt idx="54">
                  <c:v>0.61111111111111116</c:v>
                </c:pt>
                <c:pt idx="55">
                  <c:v>0.61111111111111116</c:v>
                </c:pt>
                <c:pt idx="56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D128-4408-AEF8-5CFE4AD7BABF}"/>
            </c:ext>
          </c:extLst>
        </c:ser>
        <c:ser>
          <c:idx val="1"/>
          <c:order val="1"/>
          <c:tx>
            <c:strRef>
              <c:f>Sheet1!$B$60</c:f>
              <c:strCache>
                <c:ptCount val="1"/>
                <c:pt idx="0">
                  <c:v>нейросеть</c:v>
                </c:pt>
              </c:strCache>
            </c:strRef>
          </c:tx>
          <c:spPr>
            <a:ln w="31750">
              <a:solidFill>
                <a:srgbClr val="FC3777"/>
              </a:solidFill>
            </a:ln>
          </c:spPr>
          <c:marker>
            <c:symbol val="none"/>
          </c:marker>
          <c:xVal>
            <c:numRef>
              <c:f>Sheet1!$A$61:$A$211</c:f>
              <c:numCache>
                <c:formatCode>General</c:formatCode>
                <c:ptCount val="15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8.771929824561403E-3</c:v>
                </c:pt>
                <c:pt idx="9">
                  <c:v>8.771929824561403E-3</c:v>
                </c:pt>
                <c:pt idx="10">
                  <c:v>1.7543859649122806E-2</c:v>
                </c:pt>
                <c:pt idx="11">
                  <c:v>1.7543859649122806E-2</c:v>
                </c:pt>
                <c:pt idx="12">
                  <c:v>2.6315789473684209E-2</c:v>
                </c:pt>
                <c:pt idx="13">
                  <c:v>3.5087719298245612E-2</c:v>
                </c:pt>
                <c:pt idx="14">
                  <c:v>3.5087719298245612E-2</c:v>
                </c:pt>
                <c:pt idx="15">
                  <c:v>3.5087719298245612E-2</c:v>
                </c:pt>
                <c:pt idx="16">
                  <c:v>4.3859649122807015E-2</c:v>
                </c:pt>
                <c:pt idx="17">
                  <c:v>5.2631578947368418E-2</c:v>
                </c:pt>
                <c:pt idx="18">
                  <c:v>6.1403508771929821E-2</c:v>
                </c:pt>
                <c:pt idx="19">
                  <c:v>6.1403508771929821E-2</c:v>
                </c:pt>
                <c:pt idx="20">
                  <c:v>6.1403508771929821E-2</c:v>
                </c:pt>
                <c:pt idx="21">
                  <c:v>6.1403508771929821E-2</c:v>
                </c:pt>
                <c:pt idx="22">
                  <c:v>7.0175438596491224E-2</c:v>
                </c:pt>
                <c:pt idx="23">
                  <c:v>7.8947368421052627E-2</c:v>
                </c:pt>
                <c:pt idx="24">
                  <c:v>8.771929824561403E-2</c:v>
                </c:pt>
                <c:pt idx="25">
                  <c:v>8.771929824561403E-2</c:v>
                </c:pt>
                <c:pt idx="26">
                  <c:v>8.771929824561403E-2</c:v>
                </c:pt>
                <c:pt idx="27">
                  <c:v>9.6491228070175433E-2</c:v>
                </c:pt>
                <c:pt idx="28">
                  <c:v>9.6491228070175433E-2</c:v>
                </c:pt>
                <c:pt idx="29">
                  <c:v>9.6491228070175433E-2</c:v>
                </c:pt>
                <c:pt idx="30">
                  <c:v>0.10526315789473684</c:v>
                </c:pt>
                <c:pt idx="31">
                  <c:v>0.11403508771929824</c:v>
                </c:pt>
                <c:pt idx="32">
                  <c:v>0.11403508771929824</c:v>
                </c:pt>
                <c:pt idx="33">
                  <c:v>0.12280701754385964</c:v>
                </c:pt>
                <c:pt idx="34">
                  <c:v>0.12280701754385964</c:v>
                </c:pt>
                <c:pt idx="35">
                  <c:v>0.13157894736842105</c:v>
                </c:pt>
                <c:pt idx="36">
                  <c:v>0.14035087719298245</c:v>
                </c:pt>
                <c:pt idx="37">
                  <c:v>0.14035087719298245</c:v>
                </c:pt>
                <c:pt idx="38">
                  <c:v>0.14912280701754385</c:v>
                </c:pt>
                <c:pt idx="39">
                  <c:v>0.15789473684210525</c:v>
                </c:pt>
                <c:pt idx="40">
                  <c:v>0.16666666666666666</c:v>
                </c:pt>
                <c:pt idx="41">
                  <c:v>0.16666666666666666</c:v>
                </c:pt>
                <c:pt idx="42">
                  <c:v>0.16666666666666666</c:v>
                </c:pt>
                <c:pt idx="43">
                  <c:v>0.16666666666666666</c:v>
                </c:pt>
                <c:pt idx="44">
                  <c:v>0.17543859649122806</c:v>
                </c:pt>
                <c:pt idx="45">
                  <c:v>0.18421052631578946</c:v>
                </c:pt>
                <c:pt idx="46">
                  <c:v>0.19298245614035087</c:v>
                </c:pt>
                <c:pt idx="47">
                  <c:v>0.19298245614035087</c:v>
                </c:pt>
                <c:pt idx="48">
                  <c:v>0.20175438596491227</c:v>
                </c:pt>
                <c:pt idx="49">
                  <c:v>0.21052631578947367</c:v>
                </c:pt>
                <c:pt idx="50">
                  <c:v>0.21052631578947367</c:v>
                </c:pt>
                <c:pt idx="51">
                  <c:v>0.21929824561403508</c:v>
                </c:pt>
                <c:pt idx="52">
                  <c:v>0.22807017543859648</c:v>
                </c:pt>
                <c:pt idx="53">
                  <c:v>0.23684210526315788</c:v>
                </c:pt>
                <c:pt idx="54">
                  <c:v>0.24561403508771928</c:v>
                </c:pt>
                <c:pt idx="55">
                  <c:v>0.25438596491228072</c:v>
                </c:pt>
                <c:pt idx="56">
                  <c:v>0.26315789473684209</c:v>
                </c:pt>
                <c:pt idx="57">
                  <c:v>0.26315789473684209</c:v>
                </c:pt>
                <c:pt idx="58">
                  <c:v>0.27192982456140352</c:v>
                </c:pt>
                <c:pt idx="59">
                  <c:v>0.2807017543859649</c:v>
                </c:pt>
                <c:pt idx="60">
                  <c:v>0.28947368421052633</c:v>
                </c:pt>
                <c:pt idx="61">
                  <c:v>0.2982456140350877</c:v>
                </c:pt>
                <c:pt idx="62">
                  <c:v>0.30701754385964913</c:v>
                </c:pt>
                <c:pt idx="63">
                  <c:v>0.31578947368421051</c:v>
                </c:pt>
                <c:pt idx="64">
                  <c:v>0.31578947368421051</c:v>
                </c:pt>
                <c:pt idx="65">
                  <c:v>0.32456140350877194</c:v>
                </c:pt>
                <c:pt idx="66">
                  <c:v>0.33333333333333331</c:v>
                </c:pt>
                <c:pt idx="67">
                  <c:v>0.34210526315789475</c:v>
                </c:pt>
                <c:pt idx="68">
                  <c:v>0.34210526315789475</c:v>
                </c:pt>
                <c:pt idx="69">
                  <c:v>0.35087719298245612</c:v>
                </c:pt>
                <c:pt idx="70">
                  <c:v>0.35964912280701755</c:v>
                </c:pt>
                <c:pt idx="71">
                  <c:v>0.36842105263157893</c:v>
                </c:pt>
                <c:pt idx="72">
                  <c:v>0.37719298245614036</c:v>
                </c:pt>
                <c:pt idx="73">
                  <c:v>0.38596491228070173</c:v>
                </c:pt>
                <c:pt idx="74">
                  <c:v>0.39473684210526316</c:v>
                </c:pt>
                <c:pt idx="75">
                  <c:v>0.40350877192982454</c:v>
                </c:pt>
                <c:pt idx="76">
                  <c:v>0.41228070175438597</c:v>
                </c:pt>
                <c:pt idx="77">
                  <c:v>0.42105263157894735</c:v>
                </c:pt>
                <c:pt idx="78">
                  <c:v>0.42982456140350878</c:v>
                </c:pt>
                <c:pt idx="79">
                  <c:v>0.43859649122807015</c:v>
                </c:pt>
                <c:pt idx="80">
                  <c:v>0.44736842105263158</c:v>
                </c:pt>
                <c:pt idx="81">
                  <c:v>0.45614035087719296</c:v>
                </c:pt>
                <c:pt idx="82">
                  <c:v>0.46491228070175439</c:v>
                </c:pt>
                <c:pt idx="83">
                  <c:v>0.47368421052631576</c:v>
                </c:pt>
                <c:pt idx="84">
                  <c:v>0.48245614035087719</c:v>
                </c:pt>
                <c:pt idx="85">
                  <c:v>0.49122807017543857</c:v>
                </c:pt>
                <c:pt idx="86">
                  <c:v>0.5</c:v>
                </c:pt>
                <c:pt idx="87">
                  <c:v>0.5</c:v>
                </c:pt>
                <c:pt idx="88">
                  <c:v>0.50877192982456143</c:v>
                </c:pt>
                <c:pt idx="89">
                  <c:v>0.51754385964912286</c:v>
                </c:pt>
                <c:pt idx="90">
                  <c:v>0.52631578947368418</c:v>
                </c:pt>
                <c:pt idx="91">
                  <c:v>0.52631578947368418</c:v>
                </c:pt>
                <c:pt idx="92">
                  <c:v>0.53508771929824561</c:v>
                </c:pt>
                <c:pt idx="93">
                  <c:v>0.53508771929824561</c:v>
                </c:pt>
                <c:pt idx="94">
                  <c:v>0.54385964912280704</c:v>
                </c:pt>
                <c:pt idx="95">
                  <c:v>0.55263157894736847</c:v>
                </c:pt>
                <c:pt idx="96">
                  <c:v>0.55263157894736847</c:v>
                </c:pt>
                <c:pt idx="97">
                  <c:v>0.55263157894736847</c:v>
                </c:pt>
                <c:pt idx="98">
                  <c:v>0.56140350877192979</c:v>
                </c:pt>
                <c:pt idx="99">
                  <c:v>0.57017543859649122</c:v>
                </c:pt>
                <c:pt idx="100">
                  <c:v>0.57894736842105265</c:v>
                </c:pt>
                <c:pt idx="101">
                  <c:v>0.58771929824561409</c:v>
                </c:pt>
                <c:pt idx="102">
                  <c:v>0.59649122807017541</c:v>
                </c:pt>
                <c:pt idx="103">
                  <c:v>0.60526315789473684</c:v>
                </c:pt>
                <c:pt idx="104">
                  <c:v>0.61403508771929827</c:v>
                </c:pt>
                <c:pt idx="105">
                  <c:v>0.6228070175438597</c:v>
                </c:pt>
                <c:pt idx="106">
                  <c:v>0.63157894736842102</c:v>
                </c:pt>
                <c:pt idx="107">
                  <c:v>0.64035087719298245</c:v>
                </c:pt>
                <c:pt idx="108">
                  <c:v>0.64912280701754388</c:v>
                </c:pt>
                <c:pt idx="109">
                  <c:v>0.65789473684210531</c:v>
                </c:pt>
                <c:pt idx="110">
                  <c:v>0.66666666666666663</c:v>
                </c:pt>
                <c:pt idx="111">
                  <c:v>0.67543859649122806</c:v>
                </c:pt>
                <c:pt idx="112">
                  <c:v>0.68421052631578949</c:v>
                </c:pt>
                <c:pt idx="113">
                  <c:v>0.69298245614035092</c:v>
                </c:pt>
                <c:pt idx="114">
                  <c:v>0.70175438596491224</c:v>
                </c:pt>
                <c:pt idx="115">
                  <c:v>0.71052631578947367</c:v>
                </c:pt>
                <c:pt idx="116">
                  <c:v>0.7192982456140351</c:v>
                </c:pt>
                <c:pt idx="117">
                  <c:v>0.72807017543859653</c:v>
                </c:pt>
                <c:pt idx="118">
                  <c:v>0.73684210526315785</c:v>
                </c:pt>
                <c:pt idx="119">
                  <c:v>0.74561403508771928</c:v>
                </c:pt>
                <c:pt idx="120">
                  <c:v>0.75438596491228072</c:v>
                </c:pt>
                <c:pt idx="121">
                  <c:v>0.75438596491228072</c:v>
                </c:pt>
                <c:pt idx="122">
                  <c:v>0.76315789473684215</c:v>
                </c:pt>
                <c:pt idx="123">
                  <c:v>0.77192982456140347</c:v>
                </c:pt>
                <c:pt idx="124">
                  <c:v>0.7807017543859649</c:v>
                </c:pt>
                <c:pt idx="125">
                  <c:v>0.7807017543859649</c:v>
                </c:pt>
                <c:pt idx="126">
                  <c:v>0.78947368421052633</c:v>
                </c:pt>
                <c:pt idx="127">
                  <c:v>0.79824561403508776</c:v>
                </c:pt>
                <c:pt idx="128">
                  <c:v>0.80701754385964908</c:v>
                </c:pt>
                <c:pt idx="129">
                  <c:v>0.81578947368421051</c:v>
                </c:pt>
                <c:pt idx="130">
                  <c:v>0.82456140350877194</c:v>
                </c:pt>
                <c:pt idx="131">
                  <c:v>0.83333333333333337</c:v>
                </c:pt>
                <c:pt idx="132">
                  <c:v>0.84210526315789469</c:v>
                </c:pt>
                <c:pt idx="133">
                  <c:v>0.85087719298245612</c:v>
                </c:pt>
                <c:pt idx="134">
                  <c:v>0.85964912280701755</c:v>
                </c:pt>
                <c:pt idx="135">
                  <c:v>0.86842105263157898</c:v>
                </c:pt>
                <c:pt idx="136">
                  <c:v>0.8771929824561403</c:v>
                </c:pt>
                <c:pt idx="137">
                  <c:v>0.88596491228070173</c:v>
                </c:pt>
                <c:pt idx="138">
                  <c:v>0.89473684210526316</c:v>
                </c:pt>
                <c:pt idx="139">
                  <c:v>0.90350877192982459</c:v>
                </c:pt>
                <c:pt idx="140">
                  <c:v>0.91228070175438591</c:v>
                </c:pt>
                <c:pt idx="141">
                  <c:v>0.92105263157894735</c:v>
                </c:pt>
                <c:pt idx="142">
                  <c:v>0.92982456140350878</c:v>
                </c:pt>
                <c:pt idx="143">
                  <c:v>0.93859649122807021</c:v>
                </c:pt>
                <c:pt idx="144">
                  <c:v>0.94736842105263153</c:v>
                </c:pt>
                <c:pt idx="145">
                  <c:v>0.95614035087719296</c:v>
                </c:pt>
                <c:pt idx="146">
                  <c:v>0.96491228070175439</c:v>
                </c:pt>
                <c:pt idx="147">
                  <c:v>0.97368421052631582</c:v>
                </c:pt>
                <c:pt idx="148">
                  <c:v>0.98245614035087714</c:v>
                </c:pt>
                <c:pt idx="149">
                  <c:v>0.99122807017543857</c:v>
                </c:pt>
                <c:pt idx="150">
                  <c:v>1</c:v>
                </c:pt>
              </c:numCache>
            </c:numRef>
          </c:xVal>
          <c:yVal>
            <c:numRef>
              <c:f>Sheet1!$B$61:$B$211</c:f>
              <c:numCache>
                <c:formatCode>General</c:formatCode>
                <c:ptCount val="151"/>
                <c:pt idx="0">
                  <c:v>0</c:v>
                </c:pt>
                <c:pt idx="1">
                  <c:v>2.7777777777777776E-2</c:v>
                </c:pt>
                <c:pt idx="2">
                  <c:v>5.5555555555555552E-2</c:v>
                </c:pt>
                <c:pt idx="3">
                  <c:v>8.3333333333333329E-2</c:v>
                </c:pt>
                <c:pt idx="4">
                  <c:v>0.1111111111111111</c:v>
                </c:pt>
                <c:pt idx="5">
                  <c:v>0.1388888888888889</c:v>
                </c:pt>
                <c:pt idx="6">
                  <c:v>0.16666666666666666</c:v>
                </c:pt>
                <c:pt idx="7">
                  <c:v>0.19444444444444445</c:v>
                </c:pt>
                <c:pt idx="8">
                  <c:v>0.19444444444444445</c:v>
                </c:pt>
                <c:pt idx="9">
                  <c:v>0.22222222222222221</c:v>
                </c:pt>
                <c:pt idx="10">
                  <c:v>0.22222222222222221</c:v>
                </c:pt>
                <c:pt idx="11">
                  <c:v>0.25</c:v>
                </c:pt>
                <c:pt idx="12">
                  <c:v>0.25</c:v>
                </c:pt>
                <c:pt idx="13">
                  <c:v>0.25</c:v>
                </c:pt>
                <c:pt idx="14">
                  <c:v>0.27777777777777779</c:v>
                </c:pt>
                <c:pt idx="15">
                  <c:v>0.30555555555555558</c:v>
                </c:pt>
                <c:pt idx="16">
                  <c:v>0.30555555555555558</c:v>
                </c:pt>
                <c:pt idx="17">
                  <c:v>0.30555555555555558</c:v>
                </c:pt>
                <c:pt idx="18">
                  <c:v>0.30555555555555558</c:v>
                </c:pt>
                <c:pt idx="19">
                  <c:v>0.33333333333333331</c:v>
                </c:pt>
                <c:pt idx="20">
                  <c:v>0.3611111111111111</c:v>
                </c:pt>
                <c:pt idx="21">
                  <c:v>0.3888888888888889</c:v>
                </c:pt>
                <c:pt idx="22">
                  <c:v>0.3888888888888889</c:v>
                </c:pt>
                <c:pt idx="23">
                  <c:v>0.3888888888888889</c:v>
                </c:pt>
                <c:pt idx="24">
                  <c:v>0.3888888888888889</c:v>
                </c:pt>
                <c:pt idx="25">
                  <c:v>0.41666666666666669</c:v>
                </c:pt>
                <c:pt idx="26">
                  <c:v>0.44444444444444442</c:v>
                </c:pt>
                <c:pt idx="27">
                  <c:v>0.44444444444444442</c:v>
                </c:pt>
                <c:pt idx="28">
                  <c:v>0.47222222222222221</c:v>
                </c:pt>
                <c:pt idx="29">
                  <c:v>0.5</c:v>
                </c:pt>
                <c:pt idx="30">
                  <c:v>0.5</c:v>
                </c:pt>
                <c:pt idx="31">
                  <c:v>0.5</c:v>
                </c:pt>
                <c:pt idx="32">
                  <c:v>0.52777777777777779</c:v>
                </c:pt>
                <c:pt idx="33">
                  <c:v>0.52777777777777779</c:v>
                </c:pt>
                <c:pt idx="34">
                  <c:v>0.55555555555555558</c:v>
                </c:pt>
                <c:pt idx="35">
                  <c:v>0.55555555555555558</c:v>
                </c:pt>
                <c:pt idx="36">
                  <c:v>0.55555555555555558</c:v>
                </c:pt>
                <c:pt idx="37">
                  <c:v>0.58333333333333337</c:v>
                </c:pt>
                <c:pt idx="38">
                  <c:v>0.58333333333333337</c:v>
                </c:pt>
                <c:pt idx="39">
                  <c:v>0.58333333333333337</c:v>
                </c:pt>
                <c:pt idx="40">
                  <c:v>0.58333333333333337</c:v>
                </c:pt>
                <c:pt idx="41">
                  <c:v>0.61111111111111116</c:v>
                </c:pt>
                <c:pt idx="42">
                  <c:v>0.63888888888888884</c:v>
                </c:pt>
                <c:pt idx="43">
                  <c:v>0.66666666666666663</c:v>
                </c:pt>
                <c:pt idx="44">
                  <c:v>0.66666666666666663</c:v>
                </c:pt>
                <c:pt idx="45">
                  <c:v>0.66666666666666663</c:v>
                </c:pt>
                <c:pt idx="46">
                  <c:v>0.66666666666666663</c:v>
                </c:pt>
                <c:pt idx="47">
                  <c:v>0.69444444444444442</c:v>
                </c:pt>
                <c:pt idx="48">
                  <c:v>0.69444444444444442</c:v>
                </c:pt>
                <c:pt idx="49">
                  <c:v>0.69444444444444442</c:v>
                </c:pt>
                <c:pt idx="50">
                  <c:v>0.72222222222222221</c:v>
                </c:pt>
                <c:pt idx="51">
                  <c:v>0.72222222222222221</c:v>
                </c:pt>
                <c:pt idx="52">
                  <c:v>0.72222222222222221</c:v>
                </c:pt>
                <c:pt idx="53">
                  <c:v>0.72222222222222221</c:v>
                </c:pt>
                <c:pt idx="54">
                  <c:v>0.72222222222222221</c:v>
                </c:pt>
                <c:pt idx="55">
                  <c:v>0.72222222222222221</c:v>
                </c:pt>
                <c:pt idx="56">
                  <c:v>0.72222222222222221</c:v>
                </c:pt>
                <c:pt idx="57">
                  <c:v>0.75</c:v>
                </c:pt>
                <c:pt idx="58">
                  <c:v>0.75</c:v>
                </c:pt>
                <c:pt idx="59">
                  <c:v>0.75</c:v>
                </c:pt>
                <c:pt idx="60">
                  <c:v>0.75</c:v>
                </c:pt>
                <c:pt idx="61">
                  <c:v>0.75</c:v>
                </c:pt>
                <c:pt idx="62">
                  <c:v>0.75</c:v>
                </c:pt>
                <c:pt idx="63">
                  <c:v>0.75</c:v>
                </c:pt>
                <c:pt idx="64">
                  <c:v>0.77777777777777779</c:v>
                </c:pt>
                <c:pt idx="65">
                  <c:v>0.77777777777777779</c:v>
                </c:pt>
                <c:pt idx="66">
                  <c:v>0.77777777777777779</c:v>
                </c:pt>
                <c:pt idx="67">
                  <c:v>0.77777777777777779</c:v>
                </c:pt>
                <c:pt idx="68">
                  <c:v>0.80555555555555558</c:v>
                </c:pt>
                <c:pt idx="69">
                  <c:v>0.80555555555555558</c:v>
                </c:pt>
                <c:pt idx="70">
                  <c:v>0.80555555555555558</c:v>
                </c:pt>
                <c:pt idx="71">
                  <c:v>0.80555555555555558</c:v>
                </c:pt>
                <c:pt idx="72">
                  <c:v>0.80555555555555558</c:v>
                </c:pt>
                <c:pt idx="73">
                  <c:v>0.80555555555555558</c:v>
                </c:pt>
                <c:pt idx="74">
                  <c:v>0.80555555555555558</c:v>
                </c:pt>
                <c:pt idx="75">
                  <c:v>0.80555555555555558</c:v>
                </c:pt>
                <c:pt idx="76">
                  <c:v>0.80555555555555558</c:v>
                </c:pt>
                <c:pt idx="77">
                  <c:v>0.80555555555555558</c:v>
                </c:pt>
                <c:pt idx="78">
                  <c:v>0.80555555555555558</c:v>
                </c:pt>
                <c:pt idx="79">
                  <c:v>0.80555555555555558</c:v>
                </c:pt>
                <c:pt idx="80">
                  <c:v>0.80555555555555558</c:v>
                </c:pt>
                <c:pt idx="81">
                  <c:v>0.80555555555555558</c:v>
                </c:pt>
                <c:pt idx="82">
                  <c:v>0.80555555555555558</c:v>
                </c:pt>
                <c:pt idx="83">
                  <c:v>0.80555555555555558</c:v>
                </c:pt>
                <c:pt idx="84">
                  <c:v>0.80555555555555558</c:v>
                </c:pt>
                <c:pt idx="85">
                  <c:v>0.80555555555555558</c:v>
                </c:pt>
                <c:pt idx="86">
                  <c:v>0.80555555555555558</c:v>
                </c:pt>
                <c:pt idx="87">
                  <c:v>0.83333333333333337</c:v>
                </c:pt>
                <c:pt idx="88">
                  <c:v>0.83333333333333337</c:v>
                </c:pt>
                <c:pt idx="89">
                  <c:v>0.83333333333333337</c:v>
                </c:pt>
                <c:pt idx="90">
                  <c:v>0.83333333333333337</c:v>
                </c:pt>
                <c:pt idx="91">
                  <c:v>0.86111111111111116</c:v>
                </c:pt>
                <c:pt idx="92">
                  <c:v>0.86111111111111116</c:v>
                </c:pt>
                <c:pt idx="93">
                  <c:v>0.88888888888888884</c:v>
                </c:pt>
                <c:pt idx="94">
                  <c:v>0.88888888888888884</c:v>
                </c:pt>
                <c:pt idx="95">
                  <c:v>0.88888888888888884</c:v>
                </c:pt>
                <c:pt idx="96">
                  <c:v>0.91666666666666663</c:v>
                </c:pt>
                <c:pt idx="97">
                  <c:v>0.94444444444444442</c:v>
                </c:pt>
                <c:pt idx="98">
                  <c:v>0.94444444444444442</c:v>
                </c:pt>
                <c:pt idx="99">
                  <c:v>0.94444444444444442</c:v>
                </c:pt>
                <c:pt idx="100">
                  <c:v>0.94444444444444442</c:v>
                </c:pt>
                <c:pt idx="101">
                  <c:v>0.94444444444444442</c:v>
                </c:pt>
                <c:pt idx="102">
                  <c:v>0.94444444444444442</c:v>
                </c:pt>
                <c:pt idx="103">
                  <c:v>0.94444444444444442</c:v>
                </c:pt>
                <c:pt idx="104">
                  <c:v>0.94444444444444442</c:v>
                </c:pt>
                <c:pt idx="105">
                  <c:v>0.94444444444444442</c:v>
                </c:pt>
                <c:pt idx="106">
                  <c:v>0.94444444444444442</c:v>
                </c:pt>
                <c:pt idx="107">
                  <c:v>0.94444444444444442</c:v>
                </c:pt>
                <c:pt idx="108">
                  <c:v>0.94444444444444442</c:v>
                </c:pt>
                <c:pt idx="109">
                  <c:v>0.94444444444444442</c:v>
                </c:pt>
                <c:pt idx="110">
                  <c:v>0.94444444444444442</c:v>
                </c:pt>
                <c:pt idx="111">
                  <c:v>0.94444444444444442</c:v>
                </c:pt>
                <c:pt idx="112">
                  <c:v>0.94444444444444442</c:v>
                </c:pt>
                <c:pt idx="113">
                  <c:v>0.94444444444444442</c:v>
                </c:pt>
                <c:pt idx="114">
                  <c:v>0.94444444444444442</c:v>
                </c:pt>
                <c:pt idx="115">
                  <c:v>0.94444444444444442</c:v>
                </c:pt>
                <c:pt idx="116">
                  <c:v>0.94444444444444442</c:v>
                </c:pt>
                <c:pt idx="117">
                  <c:v>0.94444444444444442</c:v>
                </c:pt>
                <c:pt idx="118">
                  <c:v>0.94444444444444442</c:v>
                </c:pt>
                <c:pt idx="119">
                  <c:v>0.94444444444444442</c:v>
                </c:pt>
                <c:pt idx="120">
                  <c:v>0.94444444444444442</c:v>
                </c:pt>
                <c:pt idx="121">
                  <c:v>0.97222222222222221</c:v>
                </c:pt>
                <c:pt idx="122">
                  <c:v>0.97222222222222221</c:v>
                </c:pt>
                <c:pt idx="123">
                  <c:v>0.97222222222222221</c:v>
                </c:pt>
                <c:pt idx="124">
                  <c:v>0.97222222222222221</c:v>
                </c:pt>
                <c:pt idx="125">
                  <c:v>1</c:v>
                </c:pt>
                <c:pt idx="126">
                  <c:v>1</c:v>
                </c:pt>
                <c:pt idx="127">
                  <c:v>1</c:v>
                </c:pt>
                <c:pt idx="128">
                  <c:v>1</c:v>
                </c:pt>
                <c:pt idx="129">
                  <c:v>1</c:v>
                </c:pt>
                <c:pt idx="130">
                  <c:v>1</c:v>
                </c:pt>
                <c:pt idx="131">
                  <c:v>1</c:v>
                </c:pt>
                <c:pt idx="132">
                  <c:v>1</c:v>
                </c:pt>
                <c:pt idx="133">
                  <c:v>1</c:v>
                </c:pt>
                <c:pt idx="134">
                  <c:v>1</c:v>
                </c:pt>
                <c:pt idx="135">
                  <c:v>1</c:v>
                </c:pt>
                <c:pt idx="136">
                  <c:v>1</c:v>
                </c:pt>
                <c:pt idx="137">
                  <c:v>1</c:v>
                </c:pt>
                <c:pt idx="138">
                  <c:v>1</c:v>
                </c:pt>
                <c:pt idx="139">
                  <c:v>1</c:v>
                </c:pt>
                <c:pt idx="140">
                  <c:v>1</c:v>
                </c:pt>
                <c:pt idx="141">
                  <c:v>1</c:v>
                </c:pt>
                <c:pt idx="142">
                  <c:v>1</c:v>
                </c:pt>
                <c:pt idx="143">
                  <c:v>1</c:v>
                </c:pt>
                <c:pt idx="144">
                  <c:v>1</c:v>
                </c:pt>
                <c:pt idx="145">
                  <c:v>1</c:v>
                </c:pt>
                <c:pt idx="146">
                  <c:v>1</c:v>
                </c:pt>
                <c:pt idx="147">
                  <c:v>1</c:v>
                </c:pt>
                <c:pt idx="148">
                  <c:v>1</c:v>
                </c:pt>
                <c:pt idx="149">
                  <c:v>1</c:v>
                </c:pt>
                <c:pt idx="150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D128-4408-AEF8-5CFE4AD7BABF}"/>
            </c:ext>
          </c:extLst>
        </c:ser>
        <c:ser>
          <c:idx val="2"/>
          <c:order val="2"/>
          <c:tx>
            <c:strRef>
              <c:f>Sheet1!$B$213</c:f>
              <c:strCache>
                <c:ptCount val="1"/>
                <c:pt idx="0">
                  <c:v>нейросеть + измерение</c:v>
                </c:pt>
              </c:strCache>
            </c:strRef>
          </c:tx>
          <c:spPr>
            <a:ln w="31750">
              <a:solidFill>
                <a:srgbClr val="520977"/>
              </a:solidFill>
            </a:ln>
          </c:spPr>
          <c:marker>
            <c:symbol val="none"/>
          </c:marker>
          <c:xVal>
            <c:numRef>
              <c:f>Sheet1!$A$214:$A$364</c:f>
              <c:numCache>
                <c:formatCode>General</c:formatCode>
                <c:ptCount val="15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8.771929824561403E-3</c:v>
                </c:pt>
                <c:pt idx="9">
                  <c:v>8.771929824561403E-3</c:v>
                </c:pt>
                <c:pt idx="10">
                  <c:v>8.771929824561403E-3</c:v>
                </c:pt>
                <c:pt idx="11">
                  <c:v>8.771929824561403E-3</c:v>
                </c:pt>
                <c:pt idx="12">
                  <c:v>1.7543859649122806E-2</c:v>
                </c:pt>
                <c:pt idx="13">
                  <c:v>2.6315789473684209E-2</c:v>
                </c:pt>
                <c:pt idx="14">
                  <c:v>3.5087719298245612E-2</c:v>
                </c:pt>
                <c:pt idx="15">
                  <c:v>3.5087719298245612E-2</c:v>
                </c:pt>
                <c:pt idx="16">
                  <c:v>3.5087719298245612E-2</c:v>
                </c:pt>
                <c:pt idx="17">
                  <c:v>4.3859649122807015E-2</c:v>
                </c:pt>
                <c:pt idx="18">
                  <c:v>4.3859649122807015E-2</c:v>
                </c:pt>
                <c:pt idx="19">
                  <c:v>4.3859649122807015E-2</c:v>
                </c:pt>
                <c:pt idx="20">
                  <c:v>4.3859649122807015E-2</c:v>
                </c:pt>
                <c:pt idx="21">
                  <c:v>5.2631578947368418E-2</c:v>
                </c:pt>
                <c:pt idx="22">
                  <c:v>6.1403508771929821E-2</c:v>
                </c:pt>
                <c:pt idx="23">
                  <c:v>7.0175438596491224E-2</c:v>
                </c:pt>
                <c:pt idx="24">
                  <c:v>7.0175438596491224E-2</c:v>
                </c:pt>
                <c:pt idx="25">
                  <c:v>7.8947368421052627E-2</c:v>
                </c:pt>
                <c:pt idx="26">
                  <c:v>8.771929824561403E-2</c:v>
                </c:pt>
                <c:pt idx="27">
                  <c:v>8.771929824561403E-2</c:v>
                </c:pt>
                <c:pt idx="28">
                  <c:v>8.771929824561403E-2</c:v>
                </c:pt>
                <c:pt idx="29">
                  <c:v>9.6491228070175433E-2</c:v>
                </c:pt>
                <c:pt idx="30">
                  <c:v>0.10526315789473684</c:v>
                </c:pt>
                <c:pt idx="31">
                  <c:v>0.11403508771929824</c:v>
                </c:pt>
                <c:pt idx="32">
                  <c:v>0.12280701754385964</c:v>
                </c:pt>
                <c:pt idx="33">
                  <c:v>0.13157894736842105</c:v>
                </c:pt>
                <c:pt idx="34">
                  <c:v>0.13157894736842105</c:v>
                </c:pt>
                <c:pt idx="35">
                  <c:v>0.14035087719298245</c:v>
                </c:pt>
                <c:pt idx="36">
                  <c:v>0.14912280701754385</c:v>
                </c:pt>
                <c:pt idx="37">
                  <c:v>0.15789473684210525</c:v>
                </c:pt>
                <c:pt idx="38">
                  <c:v>0.16666666666666666</c:v>
                </c:pt>
                <c:pt idx="39">
                  <c:v>0.16666666666666666</c:v>
                </c:pt>
                <c:pt idx="40">
                  <c:v>0.16666666666666666</c:v>
                </c:pt>
                <c:pt idx="41">
                  <c:v>0.17543859649122806</c:v>
                </c:pt>
                <c:pt idx="42">
                  <c:v>0.17543859649122806</c:v>
                </c:pt>
                <c:pt idx="43">
                  <c:v>0.17543859649122806</c:v>
                </c:pt>
                <c:pt idx="44">
                  <c:v>0.17543859649122806</c:v>
                </c:pt>
                <c:pt idx="45">
                  <c:v>0.18421052631578946</c:v>
                </c:pt>
                <c:pt idx="46">
                  <c:v>0.19298245614035087</c:v>
                </c:pt>
                <c:pt idx="47">
                  <c:v>0.20175438596491227</c:v>
                </c:pt>
                <c:pt idx="48">
                  <c:v>0.20175438596491227</c:v>
                </c:pt>
                <c:pt idx="49">
                  <c:v>0.20175438596491227</c:v>
                </c:pt>
                <c:pt idx="50">
                  <c:v>0.21052631578947367</c:v>
                </c:pt>
                <c:pt idx="51">
                  <c:v>0.21929824561403508</c:v>
                </c:pt>
                <c:pt idx="52">
                  <c:v>0.21929824561403508</c:v>
                </c:pt>
                <c:pt idx="53">
                  <c:v>0.22807017543859648</c:v>
                </c:pt>
                <c:pt idx="54">
                  <c:v>0.22807017543859648</c:v>
                </c:pt>
                <c:pt idx="55">
                  <c:v>0.23684210526315788</c:v>
                </c:pt>
                <c:pt idx="56">
                  <c:v>0.24561403508771928</c:v>
                </c:pt>
                <c:pt idx="57">
                  <c:v>0.25438596491228072</c:v>
                </c:pt>
                <c:pt idx="58">
                  <c:v>0.26315789473684209</c:v>
                </c:pt>
                <c:pt idx="59">
                  <c:v>0.27192982456140352</c:v>
                </c:pt>
                <c:pt idx="60">
                  <c:v>0.2807017543859649</c:v>
                </c:pt>
                <c:pt idx="61">
                  <c:v>0.28947368421052633</c:v>
                </c:pt>
                <c:pt idx="62">
                  <c:v>0.2982456140350877</c:v>
                </c:pt>
                <c:pt idx="63">
                  <c:v>0.30701754385964913</c:v>
                </c:pt>
                <c:pt idx="64">
                  <c:v>0.30701754385964913</c:v>
                </c:pt>
                <c:pt idx="65">
                  <c:v>0.31578947368421051</c:v>
                </c:pt>
                <c:pt idx="66">
                  <c:v>0.32456140350877194</c:v>
                </c:pt>
                <c:pt idx="67">
                  <c:v>0.33333333333333331</c:v>
                </c:pt>
                <c:pt idx="68">
                  <c:v>0.34210526315789475</c:v>
                </c:pt>
                <c:pt idx="69">
                  <c:v>0.35087719298245612</c:v>
                </c:pt>
                <c:pt idx="70">
                  <c:v>0.35964912280701755</c:v>
                </c:pt>
                <c:pt idx="71">
                  <c:v>0.35964912280701755</c:v>
                </c:pt>
                <c:pt idx="72">
                  <c:v>0.36842105263157893</c:v>
                </c:pt>
                <c:pt idx="73">
                  <c:v>0.37719298245614036</c:v>
                </c:pt>
                <c:pt idx="74">
                  <c:v>0.38596491228070173</c:v>
                </c:pt>
                <c:pt idx="75">
                  <c:v>0.39473684210526316</c:v>
                </c:pt>
                <c:pt idx="76">
                  <c:v>0.40350877192982454</c:v>
                </c:pt>
                <c:pt idx="77">
                  <c:v>0.41228070175438597</c:v>
                </c:pt>
                <c:pt idx="78">
                  <c:v>0.42105263157894735</c:v>
                </c:pt>
                <c:pt idx="79">
                  <c:v>0.42982456140350878</c:v>
                </c:pt>
                <c:pt idx="80">
                  <c:v>0.43859649122807015</c:v>
                </c:pt>
                <c:pt idx="81">
                  <c:v>0.44736842105263158</c:v>
                </c:pt>
                <c:pt idx="82">
                  <c:v>0.45614035087719296</c:v>
                </c:pt>
                <c:pt idx="83">
                  <c:v>0.46491228070175439</c:v>
                </c:pt>
                <c:pt idx="84">
                  <c:v>0.47368421052631576</c:v>
                </c:pt>
                <c:pt idx="85">
                  <c:v>0.48245614035087719</c:v>
                </c:pt>
                <c:pt idx="86">
                  <c:v>0.49122807017543857</c:v>
                </c:pt>
                <c:pt idx="87">
                  <c:v>0.5</c:v>
                </c:pt>
                <c:pt idx="88">
                  <c:v>0.50877192982456143</c:v>
                </c:pt>
                <c:pt idx="89">
                  <c:v>0.50877192982456143</c:v>
                </c:pt>
                <c:pt idx="90">
                  <c:v>0.51754385964912286</c:v>
                </c:pt>
                <c:pt idx="91">
                  <c:v>0.52631578947368418</c:v>
                </c:pt>
                <c:pt idx="92">
                  <c:v>0.53508771929824561</c:v>
                </c:pt>
                <c:pt idx="93">
                  <c:v>0.54385964912280704</c:v>
                </c:pt>
                <c:pt idx="94">
                  <c:v>0.55263157894736847</c:v>
                </c:pt>
                <c:pt idx="95">
                  <c:v>0.55263157894736847</c:v>
                </c:pt>
                <c:pt idx="96">
                  <c:v>0.56140350877192979</c:v>
                </c:pt>
                <c:pt idx="97">
                  <c:v>0.57017543859649122</c:v>
                </c:pt>
                <c:pt idx="98">
                  <c:v>0.57894736842105265</c:v>
                </c:pt>
                <c:pt idx="99">
                  <c:v>0.57894736842105265</c:v>
                </c:pt>
                <c:pt idx="100">
                  <c:v>0.58771929824561409</c:v>
                </c:pt>
                <c:pt idx="101">
                  <c:v>0.59649122807017541</c:v>
                </c:pt>
                <c:pt idx="102">
                  <c:v>0.59649122807017541</c:v>
                </c:pt>
                <c:pt idx="103">
                  <c:v>0.60526315789473684</c:v>
                </c:pt>
                <c:pt idx="104">
                  <c:v>0.61403508771929827</c:v>
                </c:pt>
                <c:pt idx="105">
                  <c:v>0.61403508771929827</c:v>
                </c:pt>
                <c:pt idx="106">
                  <c:v>0.6228070175438597</c:v>
                </c:pt>
                <c:pt idx="107">
                  <c:v>0.63157894736842102</c:v>
                </c:pt>
                <c:pt idx="108">
                  <c:v>0.64035087719298245</c:v>
                </c:pt>
                <c:pt idx="109">
                  <c:v>0.64912280701754388</c:v>
                </c:pt>
                <c:pt idx="110">
                  <c:v>0.65789473684210531</c:v>
                </c:pt>
                <c:pt idx="111">
                  <c:v>0.66666666666666663</c:v>
                </c:pt>
                <c:pt idx="112">
                  <c:v>0.67543859649122806</c:v>
                </c:pt>
                <c:pt idx="113">
                  <c:v>0.68421052631578949</c:v>
                </c:pt>
                <c:pt idx="114">
                  <c:v>0.69298245614035092</c:v>
                </c:pt>
                <c:pt idx="115">
                  <c:v>0.70175438596491224</c:v>
                </c:pt>
                <c:pt idx="116">
                  <c:v>0.71052631578947367</c:v>
                </c:pt>
                <c:pt idx="117">
                  <c:v>0.7192982456140351</c:v>
                </c:pt>
                <c:pt idx="118">
                  <c:v>0.72807017543859653</c:v>
                </c:pt>
                <c:pt idx="119">
                  <c:v>0.73684210526315785</c:v>
                </c:pt>
                <c:pt idx="120">
                  <c:v>0.74561403508771928</c:v>
                </c:pt>
                <c:pt idx="121">
                  <c:v>0.75438596491228072</c:v>
                </c:pt>
                <c:pt idx="122">
                  <c:v>0.76315789473684215</c:v>
                </c:pt>
                <c:pt idx="123">
                  <c:v>0.77192982456140347</c:v>
                </c:pt>
                <c:pt idx="124">
                  <c:v>0.7807017543859649</c:v>
                </c:pt>
                <c:pt idx="125">
                  <c:v>0.78947368421052633</c:v>
                </c:pt>
                <c:pt idx="126">
                  <c:v>0.79824561403508776</c:v>
                </c:pt>
                <c:pt idx="127">
                  <c:v>0.79824561403508776</c:v>
                </c:pt>
                <c:pt idx="128">
                  <c:v>0.80701754385964908</c:v>
                </c:pt>
                <c:pt idx="129">
                  <c:v>0.81578947368421051</c:v>
                </c:pt>
                <c:pt idx="130">
                  <c:v>0.82456140350877194</c:v>
                </c:pt>
                <c:pt idx="131">
                  <c:v>0.83333333333333337</c:v>
                </c:pt>
                <c:pt idx="132">
                  <c:v>0.84210526315789469</c:v>
                </c:pt>
                <c:pt idx="133">
                  <c:v>0.85087719298245612</c:v>
                </c:pt>
                <c:pt idx="134">
                  <c:v>0.85964912280701755</c:v>
                </c:pt>
                <c:pt idx="135">
                  <c:v>0.86842105263157898</c:v>
                </c:pt>
                <c:pt idx="136">
                  <c:v>0.8771929824561403</c:v>
                </c:pt>
                <c:pt idx="137">
                  <c:v>0.88596491228070173</c:v>
                </c:pt>
                <c:pt idx="138">
                  <c:v>0.89473684210526316</c:v>
                </c:pt>
                <c:pt idx="139">
                  <c:v>0.90350877192982459</c:v>
                </c:pt>
                <c:pt idx="140">
                  <c:v>0.91228070175438591</c:v>
                </c:pt>
                <c:pt idx="141">
                  <c:v>0.92105263157894735</c:v>
                </c:pt>
                <c:pt idx="142">
                  <c:v>0.92982456140350878</c:v>
                </c:pt>
                <c:pt idx="143">
                  <c:v>0.93859649122807021</c:v>
                </c:pt>
                <c:pt idx="144">
                  <c:v>0.94736842105263153</c:v>
                </c:pt>
                <c:pt idx="145">
                  <c:v>0.95614035087719296</c:v>
                </c:pt>
                <c:pt idx="146">
                  <c:v>0.96491228070175439</c:v>
                </c:pt>
                <c:pt idx="147">
                  <c:v>0.97368421052631582</c:v>
                </c:pt>
                <c:pt idx="148">
                  <c:v>0.98245614035087714</c:v>
                </c:pt>
                <c:pt idx="149">
                  <c:v>0.99122807017543857</c:v>
                </c:pt>
                <c:pt idx="150">
                  <c:v>1</c:v>
                </c:pt>
              </c:numCache>
            </c:numRef>
          </c:xVal>
          <c:yVal>
            <c:numRef>
              <c:f>Sheet1!$B$214:$B$364</c:f>
              <c:numCache>
                <c:formatCode>General</c:formatCode>
                <c:ptCount val="151"/>
                <c:pt idx="0">
                  <c:v>0</c:v>
                </c:pt>
                <c:pt idx="1">
                  <c:v>2.7777777777777776E-2</c:v>
                </c:pt>
                <c:pt idx="2">
                  <c:v>5.5555555555555552E-2</c:v>
                </c:pt>
                <c:pt idx="3">
                  <c:v>8.3333333333333329E-2</c:v>
                </c:pt>
                <c:pt idx="4">
                  <c:v>0.1111111111111111</c:v>
                </c:pt>
                <c:pt idx="5">
                  <c:v>0.1388888888888889</c:v>
                </c:pt>
                <c:pt idx="6">
                  <c:v>0.16666666666666666</c:v>
                </c:pt>
                <c:pt idx="7">
                  <c:v>0.19444444444444445</c:v>
                </c:pt>
                <c:pt idx="8">
                  <c:v>0.19444444444444445</c:v>
                </c:pt>
                <c:pt idx="9">
                  <c:v>0.22222222222222221</c:v>
                </c:pt>
                <c:pt idx="10">
                  <c:v>0.25</c:v>
                </c:pt>
                <c:pt idx="11">
                  <c:v>0.27777777777777779</c:v>
                </c:pt>
                <c:pt idx="12">
                  <c:v>0.27777777777777779</c:v>
                </c:pt>
                <c:pt idx="13">
                  <c:v>0.27777777777777779</c:v>
                </c:pt>
                <c:pt idx="14">
                  <c:v>0.27777777777777779</c:v>
                </c:pt>
                <c:pt idx="15">
                  <c:v>0.30555555555555558</c:v>
                </c:pt>
                <c:pt idx="16">
                  <c:v>0.33333333333333331</c:v>
                </c:pt>
                <c:pt idx="17">
                  <c:v>0.33333333333333331</c:v>
                </c:pt>
                <c:pt idx="18">
                  <c:v>0.3611111111111111</c:v>
                </c:pt>
                <c:pt idx="19">
                  <c:v>0.3888888888888889</c:v>
                </c:pt>
                <c:pt idx="20">
                  <c:v>0.41666666666666669</c:v>
                </c:pt>
                <c:pt idx="21">
                  <c:v>0.41666666666666669</c:v>
                </c:pt>
                <c:pt idx="22">
                  <c:v>0.41666666666666669</c:v>
                </c:pt>
                <c:pt idx="23">
                  <c:v>0.41666666666666669</c:v>
                </c:pt>
                <c:pt idx="24">
                  <c:v>0.44444444444444442</c:v>
                </c:pt>
                <c:pt idx="25">
                  <c:v>0.44444444444444442</c:v>
                </c:pt>
                <c:pt idx="26">
                  <c:v>0.44444444444444442</c:v>
                </c:pt>
                <c:pt idx="27">
                  <c:v>0.47222222222222221</c:v>
                </c:pt>
                <c:pt idx="28">
                  <c:v>0.5</c:v>
                </c:pt>
                <c:pt idx="29">
                  <c:v>0.5</c:v>
                </c:pt>
                <c:pt idx="30">
                  <c:v>0.5</c:v>
                </c:pt>
                <c:pt idx="31">
                  <c:v>0.5</c:v>
                </c:pt>
                <c:pt idx="32">
                  <c:v>0.5</c:v>
                </c:pt>
                <c:pt idx="33">
                  <c:v>0.5</c:v>
                </c:pt>
                <c:pt idx="34">
                  <c:v>0.52777777777777779</c:v>
                </c:pt>
                <c:pt idx="35">
                  <c:v>0.52777777777777779</c:v>
                </c:pt>
                <c:pt idx="36">
                  <c:v>0.52777777777777779</c:v>
                </c:pt>
                <c:pt idx="37">
                  <c:v>0.52777777777777779</c:v>
                </c:pt>
                <c:pt idx="38">
                  <c:v>0.52777777777777779</c:v>
                </c:pt>
                <c:pt idx="39">
                  <c:v>0.55555555555555558</c:v>
                </c:pt>
                <c:pt idx="40">
                  <c:v>0.58333333333333337</c:v>
                </c:pt>
                <c:pt idx="41">
                  <c:v>0.58333333333333337</c:v>
                </c:pt>
                <c:pt idx="42">
                  <c:v>0.61111111111111116</c:v>
                </c:pt>
                <c:pt idx="43">
                  <c:v>0.63888888888888884</c:v>
                </c:pt>
                <c:pt idx="44">
                  <c:v>0.66666666666666663</c:v>
                </c:pt>
                <c:pt idx="45">
                  <c:v>0.66666666666666663</c:v>
                </c:pt>
                <c:pt idx="46">
                  <c:v>0.66666666666666663</c:v>
                </c:pt>
                <c:pt idx="47">
                  <c:v>0.66666666666666663</c:v>
                </c:pt>
                <c:pt idx="48">
                  <c:v>0.69444444444444442</c:v>
                </c:pt>
                <c:pt idx="49">
                  <c:v>0.72222222222222221</c:v>
                </c:pt>
                <c:pt idx="50">
                  <c:v>0.72222222222222221</c:v>
                </c:pt>
                <c:pt idx="51">
                  <c:v>0.72222222222222221</c:v>
                </c:pt>
                <c:pt idx="52">
                  <c:v>0.75</c:v>
                </c:pt>
                <c:pt idx="53">
                  <c:v>0.75</c:v>
                </c:pt>
                <c:pt idx="54">
                  <c:v>0.77777777777777779</c:v>
                </c:pt>
                <c:pt idx="55">
                  <c:v>0.77777777777777779</c:v>
                </c:pt>
                <c:pt idx="56">
                  <c:v>0.77777777777777779</c:v>
                </c:pt>
                <c:pt idx="57">
                  <c:v>0.77777777777777779</c:v>
                </c:pt>
                <c:pt idx="58">
                  <c:v>0.77777777777777779</c:v>
                </c:pt>
                <c:pt idx="59">
                  <c:v>0.77777777777777779</c:v>
                </c:pt>
                <c:pt idx="60">
                  <c:v>0.77777777777777779</c:v>
                </c:pt>
                <c:pt idx="61">
                  <c:v>0.77777777777777779</c:v>
                </c:pt>
                <c:pt idx="62">
                  <c:v>0.77777777777777779</c:v>
                </c:pt>
                <c:pt idx="63">
                  <c:v>0.77777777777777779</c:v>
                </c:pt>
                <c:pt idx="64">
                  <c:v>0.80555555555555558</c:v>
                </c:pt>
                <c:pt idx="65">
                  <c:v>0.80555555555555558</c:v>
                </c:pt>
                <c:pt idx="66">
                  <c:v>0.80555555555555558</c:v>
                </c:pt>
                <c:pt idx="67">
                  <c:v>0.80555555555555558</c:v>
                </c:pt>
                <c:pt idx="68">
                  <c:v>0.80555555555555558</c:v>
                </c:pt>
                <c:pt idx="69">
                  <c:v>0.80555555555555558</c:v>
                </c:pt>
                <c:pt idx="70">
                  <c:v>0.80555555555555558</c:v>
                </c:pt>
                <c:pt idx="71">
                  <c:v>0.83333333333333337</c:v>
                </c:pt>
                <c:pt idx="72">
                  <c:v>0.83333333333333337</c:v>
                </c:pt>
                <c:pt idx="73">
                  <c:v>0.83333333333333337</c:v>
                </c:pt>
                <c:pt idx="74">
                  <c:v>0.83333333333333337</c:v>
                </c:pt>
                <c:pt idx="75">
                  <c:v>0.83333333333333337</c:v>
                </c:pt>
                <c:pt idx="76">
                  <c:v>0.83333333333333337</c:v>
                </c:pt>
                <c:pt idx="77">
                  <c:v>0.83333333333333337</c:v>
                </c:pt>
                <c:pt idx="78">
                  <c:v>0.83333333333333337</c:v>
                </c:pt>
                <c:pt idx="79">
                  <c:v>0.83333333333333337</c:v>
                </c:pt>
                <c:pt idx="80">
                  <c:v>0.83333333333333337</c:v>
                </c:pt>
                <c:pt idx="81">
                  <c:v>0.83333333333333337</c:v>
                </c:pt>
                <c:pt idx="82">
                  <c:v>0.83333333333333337</c:v>
                </c:pt>
                <c:pt idx="83">
                  <c:v>0.83333333333333337</c:v>
                </c:pt>
                <c:pt idx="84">
                  <c:v>0.83333333333333337</c:v>
                </c:pt>
                <c:pt idx="85">
                  <c:v>0.83333333333333337</c:v>
                </c:pt>
                <c:pt idx="86">
                  <c:v>0.83333333333333337</c:v>
                </c:pt>
                <c:pt idx="87">
                  <c:v>0.83333333333333337</c:v>
                </c:pt>
                <c:pt idx="88">
                  <c:v>0.83333333333333337</c:v>
                </c:pt>
                <c:pt idx="89">
                  <c:v>0.86111111111111116</c:v>
                </c:pt>
                <c:pt idx="90">
                  <c:v>0.86111111111111116</c:v>
                </c:pt>
                <c:pt idx="91">
                  <c:v>0.86111111111111116</c:v>
                </c:pt>
                <c:pt idx="92">
                  <c:v>0.86111111111111116</c:v>
                </c:pt>
                <c:pt idx="93">
                  <c:v>0.86111111111111116</c:v>
                </c:pt>
                <c:pt idx="94">
                  <c:v>0.86111111111111116</c:v>
                </c:pt>
                <c:pt idx="95">
                  <c:v>0.88888888888888884</c:v>
                </c:pt>
                <c:pt idx="96">
                  <c:v>0.88888888888888884</c:v>
                </c:pt>
                <c:pt idx="97">
                  <c:v>0.88888888888888884</c:v>
                </c:pt>
                <c:pt idx="98">
                  <c:v>0.88888888888888884</c:v>
                </c:pt>
                <c:pt idx="99">
                  <c:v>0.91666666666666663</c:v>
                </c:pt>
                <c:pt idx="100">
                  <c:v>0.91666666666666663</c:v>
                </c:pt>
                <c:pt idx="101">
                  <c:v>0.91666666666666663</c:v>
                </c:pt>
                <c:pt idx="102">
                  <c:v>0.94444444444444442</c:v>
                </c:pt>
                <c:pt idx="103">
                  <c:v>0.94444444444444442</c:v>
                </c:pt>
                <c:pt idx="104">
                  <c:v>0.94444444444444442</c:v>
                </c:pt>
                <c:pt idx="105">
                  <c:v>0.97222222222222221</c:v>
                </c:pt>
                <c:pt idx="106">
                  <c:v>0.97222222222222221</c:v>
                </c:pt>
                <c:pt idx="107">
                  <c:v>0.97222222222222221</c:v>
                </c:pt>
                <c:pt idx="108">
                  <c:v>0.97222222222222221</c:v>
                </c:pt>
                <c:pt idx="109">
                  <c:v>0.97222222222222221</c:v>
                </c:pt>
                <c:pt idx="110">
                  <c:v>0.97222222222222221</c:v>
                </c:pt>
                <c:pt idx="111">
                  <c:v>0.97222222222222221</c:v>
                </c:pt>
                <c:pt idx="112">
                  <c:v>0.97222222222222221</c:v>
                </c:pt>
                <c:pt idx="113">
                  <c:v>0.97222222222222221</c:v>
                </c:pt>
                <c:pt idx="114">
                  <c:v>0.97222222222222221</c:v>
                </c:pt>
                <c:pt idx="115">
                  <c:v>0.97222222222222221</c:v>
                </c:pt>
                <c:pt idx="116">
                  <c:v>0.97222222222222221</c:v>
                </c:pt>
                <c:pt idx="117">
                  <c:v>0.97222222222222221</c:v>
                </c:pt>
                <c:pt idx="118">
                  <c:v>0.97222222222222221</c:v>
                </c:pt>
                <c:pt idx="119">
                  <c:v>0.97222222222222221</c:v>
                </c:pt>
                <c:pt idx="120">
                  <c:v>0.97222222222222221</c:v>
                </c:pt>
                <c:pt idx="121">
                  <c:v>0.97222222222222221</c:v>
                </c:pt>
                <c:pt idx="122">
                  <c:v>0.97222222222222221</c:v>
                </c:pt>
                <c:pt idx="123">
                  <c:v>0.97222222222222221</c:v>
                </c:pt>
                <c:pt idx="124">
                  <c:v>0.97222222222222221</c:v>
                </c:pt>
                <c:pt idx="125">
                  <c:v>0.97222222222222221</c:v>
                </c:pt>
                <c:pt idx="126">
                  <c:v>0.97222222222222221</c:v>
                </c:pt>
                <c:pt idx="127">
                  <c:v>1</c:v>
                </c:pt>
                <c:pt idx="128">
                  <c:v>1</c:v>
                </c:pt>
                <c:pt idx="129">
                  <c:v>1</c:v>
                </c:pt>
                <c:pt idx="130">
                  <c:v>1</c:v>
                </c:pt>
                <c:pt idx="131">
                  <c:v>1</c:v>
                </c:pt>
                <c:pt idx="132">
                  <c:v>1</c:v>
                </c:pt>
                <c:pt idx="133">
                  <c:v>1</c:v>
                </c:pt>
                <c:pt idx="134">
                  <c:v>1</c:v>
                </c:pt>
                <c:pt idx="135">
                  <c:v>1</c:v>
                </c:pt>
                <c:pt idx="136">
                  <c:v>1</c:v>
                </c:pt>
                <c:pt idx="137">
                  <c:v>1</c:v>
                </c:pt>
                <c:pt idx="138">
                  <c:v>1</c:v>
                </c:pt>
                <c:pt idx="139">
                  <c:v>1</c:v>
                </c:pt>
                <c:pt idx="140">
                  <c:v>1</c:v>
                </c:pt>
                <c:pt idx="141">
                  <c:v>1</c:v>
                </c:pt>
                <c:pt idx="142">
                  <c:v>1</c:v>
                </c:pt>
                <c:pt idx="143">
                  <c:v>1</c:v>
                </c:pt>
                <c:pt idx="144">
                  <c:v>1</c:v>
                </c:pt>
                <c:pt idx="145">
                  <c:v>1</c:v>
                </c:pt>
                <c:pt idx="146">
                  <c:v>1</c:v>
                </c:pt>
                <c:pt idx="147">
                  <c:v>1</c:v>
                </c:pt>
                <c:pt idx="148">
                  <c:v>1</c:v>
                </c:pt>
                <c:pt idx="149">
                  <c:v>1</c:v>
                </c:pt>
                <c:pt idx="150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D128-4408-AEF8-5CFE4AD7BABF}"/>
            </c:ext>
          </c:extLst>
        </c:ser>
        <c:ser>
          <c:idx val="3"/>
          <c:order val="3"/>
          <c:tx>
            <c:strRef>
              <c:f>Sheet1!$B$366</c:f>
              <c:strCache>
                <c:ptCount val="1"/>
                <c:pt idx="0">
                  <c:v>случайно</c:v>
                </c:pt>
              </c:strCache>
            </c:strRef>
          </c:tx>
          <c:spPr>
            <a:ln w="12700">
              <a:solidFill>
                <a:srgbClr val="8B8599"/>
              </a:solidFill>
              <a:prstDash val="dash"/>
            </a:ln>
          </c:spPr>
          <c:marker>
            <c:symbol val="none"/>
          </c:marker>
          <c:xVal>
            <c:numRef>
              <c:f>Sheet1!$A$367:$A$368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xVal>
          <c:yVal>
            <c:numRef>
              <c:f>Sheet1!$B$367:$B$368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D128-4408-AEF8-5CFE4AD7BA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28940872"/>
        <c:axId val="-2129643912"/>
      </c:scatterChart>
      <c:valAx>
        <c:axId val="-2128940872"/>
        <c:scaling>
          <c:orientation val="minMax"/>
          <c:max val="1"/>
          <c:min val="0"/>
        </c:scaling>
        <c:delete val="0"/>
        <c:axPos val="b"/>
        <c:majorGridlines>
          <c:spPr>
            <a:ln>
              <a:solidFill>
                <a:srgbClr val="DCCEE4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solidFill>
              <a:srgbClr val="C9C3DA"/>
            </a:solidFill>
          </a:ln>
        </c:spPr>
        <c:crossAx val="-2129643912"/>
        <c:crosses val="autoZero"/>
        <c:crossBetween val="midCat"/>
        <c:majorUnit val="0.2"/>
      </c:valAx>
      <c:valAx>
        <c:axId val="-2129643912"/>
        <c:scaling>
          <c:orientation val="minMax"/>
          <c:max val="1"/>
          <c:min val="0"/>
        </c:scaling>
        <c:delete val="0"/>
        <c:axPos val="l"/>
        <c:majorGridlines>
          <c:spPr>
            <a:ln>
              <a:solidFill>
                <a:srgbClr val="DCCEE4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solidFill>
              <a:srgbClr val="C9C3DA"/>
            </a:solidFill>
          </a:ln>
        </c:spPr>
        <c:crossAx val="-2128940872"/>
        <c:crosses val="autoZero"/>
        <c:crossBetween val="midCat"/>
        <c:majorUnit val="0.2"/>
      </c:valAx>
    </c:plotArea>
    <c:plotVisOnly val="1"/>
    <c:dispBlanksAs val="gap"/>
    <c:showDLblsOverMax val="0"/>
  </c:chart>
  <c:txPr>
    <a:bodyPr/>
    <a:lstStyle/>
    <a:p>
      <a:pPr>
        <a:defRPr sz="1000">
          <a:solidFill>
            <a:srgbClr val="8B8599"/>
          </a:solidFill>
          <a:latin typeface="Montserrat"/>
        </a:defRPr>
      </a:pPr>
      <a:endParaRPr lang="ru-RU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top-hat</c:v>
                </c:pt>
              </c:strCache>
            </c:strRef>
          </c:tx>
          <c:spPr>
            <a:ln w="12700">
              <a:solidFill>
                <a:srgbClr val="8A83D1"/>
              </a:solidFill>
              <a:prstDash val="dash"/>
            </a:ln>
          </c:spPr>
          <c:marker>
            <c:symbol val="none"/>
          </c:marker>
          <c:xVal>
            <c:numRef>
              <c:f>Sheet1!$A$2:$A$98</c:f>
              <c:numCache>
                <c:formatCode>General</c:formatCode>
                <c:ptCount val="97"/>
                <c:pt idx="0">
                  <c:v>0</c:v>
                </c:pt>
                <c:pt idx="1">
                  <c:v>0</c:v>
                </c:pt>
                <c:pt idx="2">
                  <c:v>1.2195121951219513E-2</c:v>
                </c:pt>
                <c:pt idx="3">
                  <c:v>1.2195121951219513E-2</c:v>
                </c:pt>
                <c:pt idx="4">
                  <c:v>1.2195121951219513E-2</c:v>
                </c:pt>
                <c:pt idx="5">
                  <c:v>2.4390243902439025E-2</c:v>
                </c:pt>
                <c:pt idx="6">
                  <c:v>3.6585365853658534E-2</c:v>
                </c:pt>
                <c:pt idx="7">
                  <c:v>3.6585365853658534E-2</c:v>
                </c:pt>
                <c:pt idx="8">
                  <c:v>3.6585365853658534E-2</c:v>
                </c:pt>
                <c:pt idx="9">
                  <c:v>3.6585365853658534E-2</c:v>
                </c:pt>
                <c:pt idx="10">
                  <c:v>3.6585365853658534E-2</c:v>
                </c:pt>
                <c:pt idx="11">
                  <c:v>3.6585365853658534E-2</c:v>
                </c:pt>
                <c:pt idx="12">
                  <c:v>3.6585365853658534E-2</c:v>
                </c:pt>
                <c:pt idx="13">
                  <c:v>4.878048780487805E-2</c:v>
                </c:pt>
                <c:pt idx="14">
                  <c:v>4.878048780487805E-2</c:v>
                </c:pt>
                <c:pt idx="15">
                  <c:v>6.097560975609756E-2</c:v>
                </c:pt>
                <c:pt idx="16">
                  <c:v>7.3170731707317069E-2</c:v>
                </c:pt>
                <c:pt idx="17">
                  <c:v>8.5365853658536592E-2</c:v>
                </c:pt>
                <c:pt idx="18">
                  <c:v>9.7560975609756101E-2</c:v>
                </c:pt>
                <c:pt idx="19">
                  <c:v>0.10975609756097561</c:v>
                </c:pt>
                <c:pt idx="20">
                  <c:v>0.12195121951219512</c:v>
                </c:pt>
                <c:pt idx="21">
                  <c:v>0.12195121951219512</c:v>
                </c:pt>
                <c:pt idx="22">
                  <c:v>0.13414634146341464</c:v>
                </c:pt>
                <c:pt idx="23">
                  <c:v>0.14634146341463414</c:v>
                </c:pt>
                <c:pt idx="24">
                  <c:v>0.15853658536585366</c:v>
                </c:pt>
                <c:pt idx="25">
                  <c:v>0.17073170731707318</c:v>
                </c:pt>
                <c:pt idx="26">
                  <c:v>0.18292682926829268</c:v>
                </c:pt>
                <c:pt idx="27">
                  <c:v>0.1951219512195122</c:v>
                </c:pt>
                <c:pt idx="28">
                  <c:v>0.2073170731707317</c:v>
                </c:pt>
                <c:pt idx="29">
                  <c:v>0.21951219512195122</c:v>
                </c:pt>
                <c:pt idx="30">
                  <c:v>0.23170731707317074</c:v>
                </c:pt>
                <c:pt idx="31">
                  <c:v>0.24390243902439024</c:v>
                </c:pt>
                <c:pt idx="32">
                  <c:v>0.25609756097560976</c:v>
                </c:pt>
                <c:pt idx="33">
                  <c:v>0.26829268292682928</c:v>
                </c:pt>
                <c:pt idx="34">
                  <c:v>0.28048780487804881</c:v>
                </c:pt>
                <c:pt idx="35">
                  <c:v>0.29268292682926828</c:v>
                </c:pt>
                <c:pt idx="36">
                  <c:v>0.3048780487804878</c:v>
                </c:pt>
                <c:pt idx="37">
                  <c:v>0.31707317073170732</c:v>
                </c:pt>
                <c:pt idx="38">
                  <c:v>0.32926829268292684</c:v>
                </c:pt>
                <c:pt idx="39">
                  <c:v>0.32926829268292684</c:v>
                </c:pt>
                <c:pt idx="40">
                  <c:v>0.34146341463414637</c:v>
                </c:pt>
                <c:pt idx="41">
                  <c:v>0.35365853658536583</c:v>
                </c:pt>
                <c:pt idx="42">
                  <c:v>0.36585365853658536</c:v>
                </c:pt>
                <c:pt idx="43">
                  <c:v>0.37804878048780488</c:v>
                </c:pt>
                <c:pt idx="44">
                  <c:v>0.3902439024390244</c:v>
                </c:pt>
                <c:pt idx="45">
                  <c:v>0.40243902439024393</c:v>
                </c:pt>
                <c:pt idx="46">
                  <c:v>0.41463414634146339</c:v>
                </c:pt>
                <c:pt idx="47">
                  <c:v>0.42682926829268292</c:v>
                </c:pt>
                <c:pt idx="48">
                  <c:v>0.43902439024390244</c:v>
                </c:pt>
                <c:pt idx="49">
                  <c:v>0.43902439024390244</c:v>
                </c:pt>
                <c:pt idx="50">
                  <c:v>0.45121951219512196</c:v>
                </c:pt>
                <c:pt idx="51">
                  <c:v>0.45121951219512196</c:v>
                </c:pt>
                <c:pt idx="52">
                  <c:v>0.46341463414634149</c:v>
                </c:pt>
                <c:pt idx="53">
                  <c:v>0.47560975609756095</c:v>
                </c:pt>
                <c:pt idx="54">
                  <c:v>0.48780487804878048</c:v>
                </c:pt>
                <c:pt idx="55">
                  <c:v>0.5</c:v>
                </c:pt>
                <c:pt idx="56">
                  <c:v>0.51219512195121952</c:v>
                </c:pt>
                <c:pt idx="57">
                  <c:v>0.52439024390243905</c:v>
                </c:pt>
                <c:pt idx="58">
                  <c:v>0.53658536585365857</c:v>
                </c:pt>
                <c:pt idx="59">
                  <c:v>0.54878048780487809</c:v>
                </c:pt>
                <c:pt idx="60">
                  <c:v>0.56097560975609762</c:v>
                </c:pt>
                <c:pt idx="61">
                  <c:v>0.57317073170731703</c:v>
                </c:pt>
                <c:pt idx="62">
                  <c:v>0.58536585365853655</c:v>
                </c:pt>
                <c:pt idx="63">
                  <c:v>0.6097560975609756</c:v>
                </c:pt>
                <c:pt idx="64">
                  <c:v>0.62195121951219512</c:v>
                </c:pt>
                <c:pt idx="65">
                  <c:v>0.63414634146341464</c:v>
                </c:pt>
                <c:pt idx="66">
                  <c:v>0.64634146341463417</c:v>
                </c:pt>
                <c:pt idx="67">
                  <c:v>0.65853658536585369</c:v>
                </c:pt>
                <c:pt idx="68">
                  <c:v>0.67073170731707321</c:v>
                </c:pt>
                <c:pt idx="69">
                  <c:v>0.67073170731707321</c:v>
                </c:pt>
                <c:pt idx="70">
                  <c:v>0.68292682926829273</c:v>
                </c:pt>
                <c:pt idx="71">
                  <c:v>0.69512195121951215</c:v>
                </c:pt>
                <c:pt idx="72">
                  <c:v>0.70731707317073167</c:v>
                </c:pt>
                <c:pt idx="73">
                  <c:v>0.71951219512195119</c:v>
                </c:pt>
                <c:pt idx="74">
                  <c:v>0.73170731707317072</c:v>
                </c:pt>
                <c:pt idx="75">
                  <c:v>0.74390243902439024</c:v>
                </c:pt>
                <c:pt idx="76">
                  <c:v>0.75609756097560976</c:v>
                </c:pt>
                <c:pt idx="77">
                  <c:v>0.76829268292682928</c:v>
                </c:pt>
                <c:pt idx="78">
                  <c:v>0.78048780487804881</c:v>
                </c:pt>
                <c:pt idx="79">
                  <c:v>0.79268292682926833</c:v>
                </c:pt>
                <c:pt idx="80">
                  <c:v>0.80487804878048785</c:v>
                </c:pt>
                <c:pt idx="81">
                  <c:v>0.81707317073170727</c:v>
                </c:pt>
                <c:pt idx="82">
                  <c:v>0.82926829268292679</c:v>
                </c:pt>
                <c:pt idx="83">
                  <c:v>0.84146341463414631</c:v>
                </c:pt>
                <c:pt idx="84">
                  <c:v>0.85365853658536583</c:v>
                </c:pt>
                <c:pt idx="85">
                  <c:v>0.86585365853658536</c:v>
                </c:pt>
                <c:pt idx="86">
                  <c:v>0.87804878048780488</c:v>
                </c:pt>
                <c:pt idx="87">
                  <c:v>0.90243902439024393</c:v>
                </c:pt>
                <c:pt idx="88">
                  <c:v>0.91463414634146345</c:v>
                </c:pt>
                <c:pt idx="89">
                  <c:v>0.92682926829268297</c:v>
                </c:pt>
                <c:pt idx="90">
                  <c:v>0.93902439024390238</c:v>
                </c:pt>
                <c:pt idx="91">
                  <c:v>0.95121951219512191</c:v>
                </c:pt>
                <c:pt idx="92">
                  <c:v>0.96341463414634143</c:v>
                </c:pt>
                <c:pt idx="93">
                  <c:v>0.97560975609756095</c:v>
                </c:pt>
                <c:pt idx="94">
                  <c:v>0.97560975609756095</c:v>
                </c:pt>
                <c:pt idx="95">
                  <c:v>0.98780487804878048</c:v>
                </c:pt>
                <c:pt idx="96">
                  <c:v>1</c:v>
                </c:pt>
              </c:numCache>
            </c:numRef>
          </c:xVal>
          <c:yVal>
            <c:numRef>
              <c:f>Sheet1!$B$2:$B$98</c:f>
              <c:numCache>
                <c:formatCode>General</c:formatCode>
                <c:ptCount val="97"/>
                <c:pt idx="0">
                  <c:v>0</c:v>
                </c:pt>
                <c:pt idx="1">
                  <c:v>5.8823529411764705E-2</c:v>
                </c:pt>
                <c:pt idx="2">
                  <c:v>5.8823529411764705E-2</c:v>
                </c:pt>
                <c:pt idx="3">
                  <c:v>0.11764705882352941</c:v>
                </c:pt>
                <c:pt idx="4">
                  <c:v>0.17647058823529413</c:v>
                </c:pt>
                <c:pt idx="5">
                  <c:v>0.17647058823529413</c:v>
                </c:pt>
                <c:pt idx="6">
                  <c:v>0.17647058823529413</c:v>
                </c:pt>
                <c:pt idx="7">
                  <c:v>0.23529411764705882</c:v>
                </c:pt>
                <c:pt idx="8">
                  <c:v>0.29411764705882354</c:v>
                </c:pt>
                <c:pt idx="9">
                  <c:v>0.35294117647058826</c:v>
                </c:pt>
                <c:pt idx="10">
                  <c:v>0.41176470588235292</c:v>
                </c:pt>
                <c:pt idx="11">
                  <c:v>0.47058823529411764</c:v>
                </c:pt>
                <c:pt idx="12">
                  <c:v>0.52941176470588236</c:v>
                </c:pt>
                <c:pt idx="13">
                  <c:v>0.52941176470588236</c:v>
                </c:pt>
                <c:pt idx="14">
                  <c:v>0.58823529411764708</c:v>
                </c:pt>
                <c:pt idx="15">
                  <c:v>0.58823529411764708</c:v>
                </c:pt>
                <c:pt idx="16">
                  <c:v>0.58823529411764708</c:v>
                </c:pt>
                <c:pt idx="17">
                  <c:v>0.58823529411764708</c:v>
                </c:pt>
                <c:pt idx="18">
                  <c:v>0.58823529411764708</c:v>
                </c:pt>
                <c:pt idx="19">
                  <c:v>0.58823529411764708</c:v>
                </c:pt>
                <c:pt idx="20">
                  <c:v>0.58823529411764708</c:v>
                </c:pt>
                <c:pt idx="21">
                  <c:v>0.6470588235294118</c:v>
                </c:pt>
                <c:pt idx="22">
                  <c:v>0.6470588235294118</c:v>
                </c:pt>
                <c:pt idx="23">
                  <c:v>0.6470588235294118</c:v>
                </c:pt>
                <c:pt idx="24">
                  <c:v>0.6470588235294118</c:v>
                </c:pt>
                <c:pt idx="25">
                  <c:v>0.6470588235294118</c:v>
                </c:pt>
                <c:pt idx="26">
                  <c:v>0.6470588235294118</c:v>
                </c:pt>
                <c:pt idx="27">
                  <c:v>0.6470588235294118</c:v>
                </c:pt>
                <c:pt idx="28">
                  <c:v>0.6470588235294118</c:v>
                </c:pt>
                <c:pt idx="29">
                  <c:v>0.6470588235294118</c:v>
                </c:pt>
                <c:pt idx="30">
                  <c:v>0.70588235294117652</c:v>
                </c:pt>
                <c:pt idx="31">
                  <c:v>0.70588235294117652</c:v>
                </c:pt>
                <c:pt idx="32">
                  <c:v>0.70588235294117652</c:v>
                </c:pt>
                <c:pt idx="33">
                  <c:v>0.70588235294117652</c:v>
                </c:pt>
                <c:pt idx="34">
                  <c:v>0.70588235294117652</c:v>
                </c:pt>
                <c:pt idx="35">
                  <c:v>0.70588235294117652</c:v>
                </c:pt>
                <c:pt idx="36">
                  <c:v>0.70588235294117652</c:v>
                </c:pt>
                <c:pt idx="37">
                  <c:v>0.70588235294117652</c:v>
                </c:pt>
                <c:pt idx="38">
                  <c:v>0.70588235294117652</c:v>
                </c:pt>
                <c:pt idx="39">
                  <c:v>0.76470588235294112</c:v>
                </c:pt>
                <c:pt idx="40">
                  <c:v>0.76470588235294112</c:v>
                </c:pt>
                <c:pt idx="41">
                  <c:v>0.76470588235294112</c:v>
                </c:pt>
                <c:pt idx="42">
                  <c:v>0.76470588235294112</c:v>
                </c:pt>
                <c:pt idx="43">
                  <c:v>0.76470588235294112</c:v>
                </c:pt>
                <c:pt idx="44">
                  <c:v>0.76470588235294112</c:v>
                </c:pt>
                <c:pt idx="45">
                  <c:v>0.76470588235294112</c:v>
                </c:pt>
                <c:pt idx="46">
                  <c:v>0.76470588235294112</c:v>
                </c:pt>
                <c:pt idx="47">
                  <c:v>0.76470588235294112</c:v>
                </c:pt>
                <c:pt idx="48">
                  <c:v>0.76470588235294112</c:v>
                </c:pt>
                <c:pt idx="49">
                  <c:v>0.82352941176470584</c:v>
                </c:pt>
                <c:pt idx="50">
                  <c:v>0.82352941176470584</c:v>
                </c:pt>
                <c:pt idx="51">
                  <c:v>0.88235294117647056</c:v>
                </c:pt>
                <c:pt idx="52">
                  <c:v>0.88235294117647056</c:v>
                </c:pt>
                <c:pt idx="53">
                  <c:v>0.88235294117647056</c:v>
                </c:pt>
                <c:pt idx="54">
                  <c:v>0.88235294117647056</c:v>
                </c:pt>
                <c:pt idx="55">
                  <c:v>0.88235294117647056</c:v>
                </c:pt>
                <c:pt idx="56">
                  <c:v>0.88235294117647056</c:v>
                </c:pt>
                <c:pt idx="57">
                  <c:v>0.88235294117647056</c:v>
                </c:pt>
                <c:pt idx="58">
                  <c:v>0.88235294117647056</c:v>
                </c:pt>
                <c:pt idx="59">
                  <c:v>0.88235294117647056</c:v>
                </c:pt>
                <c:pt idx="60">
                  <c:v>0.88235294117647056</c:v>
                </c:pt>
                <c:pt idx="61">
                  <c:v>0.88235294117647056</c:v>
                </c:pt>
                <c:pt idx="62">
                  <c:v>0.88235294117647056</c:v>
                </c:pt>
                <c:pt idx="63">
                  <c:v>0.88235294117647056</c:v>
                </c:pt>
                <c:pt idx="64">
                  <c:v>0.88235294117647056</c:v>
                </c:pt>
                <c:pt idx="65">
                  <c:v>0.88235294117647056</c:v>
                </c:pt>
                <c:pt idx="66">
                  <c:v>0.88235294117647056</c:v>
                </c:pt>
                <c:pt idx="67">
                  <c:v>0.88235294117647056</c:v>
                </c:pt>
                <c:pt idx="68">
                  <c:v>0.88235294117647056</c:v>
                </c:pt>
                <c:pt idx="69">
                  <c:v>0.94117647058823528</c:v>
                </c:pt>
                <c:pt idx="70">
                  <c:v>0.94117647058823528</c:v>
                </c:pt>
                <c:pt idx="71">
                  <c:v>0.94117647058823528</c:v>
                </c:pt>
                <c:pt idx="72">
                  <c:v>0.94117647058823528</c:v>
                </c:pt>
                <c:pt idx="73">
                  <c:v>0.94117647058823528</c:v>
                </c:pt>
                <c:pt idx="74">
                  <c:v>0.94117647058823528</c:v>
                </c:pt>
                <c:pt idx="75">
                  <c:v>0.94117647058823528</c:v>
                </c:pt>
                <c:pt idx="76">
                  <c:v>0.94117647058823528</c:v>
                </c:pt>
                <c:pt idx="77">
                  <c:v>0.94117647058823528</c:v>
                </c:pt>
                <c:pt idx="78">
                  <c:v>0.94117647058823528</c:v>
                </c:pt>
                <c:pt idx="79">
                  <c:v>0.94117647058823528</c:v>
                </c:pt>
                <c:pt idx="80">
                  <c:v>0.94117647058823528</c:v>
                </c:pt>
                <c:pt idx="81">
                  <c:v>0.94117647058823528</c:v>
                </c:pt>
                <c:pt idx="82">
                  <c:v>0.94117647058823528</c:v>
                </c:pt>
                <c:pt idx="83">
                  <c:v>0.94117647058823528</c:v>
                </c:pt>
                <c:pt idx="84">
                  <c:v>0.94117647058823528</c:v>
                </c:pt>
                <c:pt idx="85">
                  <c:v>0.94117647058823528</c:v>
                </c:pt>
                <c:pt idx="86">
                  <c:v>0.94117647058823528</c:v>
                </c:pt>
                <c:pt idx="87">
                  <c:v>0.94117647058823528</c:v>
                </c:pt>
                <c:pt idx="88">
                  <c:v>0.94117647058823528</c:v>
                </c:pt>
                <c:pt idx="89">
                  <c:v>0.94117647058823528</c:v>
                </c:pt>
                <c:pt idx="90">
                  <c:v>0.94117647058823528</c:v>
                </c:pt>
                <c:pt idx="91">
                  <c:v>0.94117647058823528</c:v>
                </c:pt>
                <c:pt idx="92">
                  <c:v>0.94117647058823528</c:v>
                </c:pt>
                <c:pt idx="93">
                  <c:v>0.94117647058823528</c:v>
                </c:pt>
                <c:pt idx="94">
                  <c:v>1</c:v>
                </c:pt>
                <c:pt idx="95">
                  <c:v>1</c:v>
                </c:pt>
                <c:pt idx="96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12FE-4F7F-992B-6B33094EAFA2}"/>
            </c:ext>
          </c:extLst>
        </c:ser>
        <c:ser>
          <c:idx val="1"/>
          <c:order val="1"/>
          <c:tx>
            <c:strRef>
              <c:f>Sheet1!$B$100</c:f>
              <c:strCache>
                <c:ptCount val="1"/>
                <c:pt idx="0">
                  <c:v>нейросеть</c:v>
                </c:pt>
              </c:strCache>
            </c:strRef>
          </c:tx>
          <c:spPr>
            <a:ln w="31750">
              <a:solidFill>
                <a:srgbClr val="FC3777"/>
              </a:solidFill>
            </a:ln>
          </c:spPr>
          <c:marker>
            <c:symbol val="none"/>
          </c:marker>
          <c:xVal>
            <c:numRef>
              <c:f>Sheet1!$A$101:$A$200</c:f>
              <c:numCache>
                <c:formatCode>General</c:formatCode>
                <c:ptCount val="100"/>
                <c:pt idx="0">
                  <c:v>0</c:v>
                </c:pt>
                <c:pt idx="1">
                  <c:v>0</c:v>
                </c:pt>
                <c:pt idx="2">
                  <c:v>1.2195121951219513E-2</c:v>
                </c:pt>
                <c:pt idx="3">
                  <c:v>2.4390243902439025E-2</c:v>
                </c:pt>
                <c:pt idx="4">
                  <c:v>2.4390243902439025E-2</c:v>
                </c:pt>
                <c:pt idx="5">
                  <c:v>2.4390243902439025E-2</c:v>
                </c:pt>
                <c:pt idx="6">
                  <c:v>2.4390243902439025E-2</c:v>
                </c:pt>
                <c:pt idx="7">
                  <c:v>3.6585365853658534E-2</c:v>
                </c:pt>
                <c:pt idx="8">
                  <c:v>3.6585365853658534E-2</c:v>
                </c:pt>
                <c:pt idx="9">
                  <c:v>3.6585365853658534E-2</c:v>
                </c:pt>
                <c:pt idx="10">
                  <c:v>3.6585365853658534E-2</c:v>
                </c:pt>
                <c:pt idx="11">
                  <c:v>3.6585365853658534E-2</c:v>
                </c:pt>
                <c:pt idx="12">
                  <c:v>3.6585365853658534E-2</c:v>
                </c:pt>
                <c:pt idx="13">
                  <c:v>4.878048780487805E-2</c:v>
                </c:pt>
                <c:pt idx="14">
                  <c:v>6.097560975609756E-2</c:v>
                </c:pt>
                <c:pt idx="15">
                  <c:v>6.097560975609756E-2</c:v>
                </c:pt>
                <c:pt idx="16">
                  <c:v>7.3170731707317069E-2</c:v>
                </c:pt>
                <c:pt idx="17">
                  <c:v>7.3170731707317069E-2</c:v>
                </c:pt>
                <c:pt idx="18">
                  <c:v>8.5365853658536592E-2</c:v>
                </c:pt>
                <c:pt idx="19">
                  <c:v>9.7560975609756101E-2</c:v>
                </c:pt>
                <c:pt idx="20">
                  <c:v>0.10975609756097561</c:v>
                </c:pt>
                <c:pt idx="21">
                  <c:v>0.12195121951219512</c:v>
                </c:pt>
                <c:pt idx="22">
                  <c:v>0.13414634146341464</c:v>
                </c:pt>
                <c:pt idx="23">
                  <c:v>0.13414634146341464</c:v>
                </c:pt>
                <c:pt idx="24">
                  <c:v>0.14634146341463414</c:v>
                </c:pt>
                <c:pt idx="25">
                  <c:v>0.15853658536585366</c:v>
                </c:pt>
                <c:pt idx="26">
                  <c:v>0.15853658536585366</c:v>
                </c:pt>
                <c:pt idx="27">
                  <c:v>0.17073170731707318</c:v>
                </c:pt>
                <c:pt idx="28">
                  <c:v>0.18292682926829268</c:v>
                </c:pt>
                <c:pt idx="29">
                  <c:v>0.1951219512195122</c:v>
                </c:pt>
                <c:pt idx="30">
                  <c:v>0.2073170731707317</c:v>
                </c:pt>
                <c:pt idx="31">
                  <c:v>0.2073170731707317</c:v>
                </c:pt>
                <c:pt idx="32">
                  <c:v>0.21951219512195122</c:v>
                </c:pt>
                <c:pt idx="33">
                  <c:v>0.23170731707317074</c:v>
                </c:pt>
                <c:pt idx="34">
                  <c:v>0.24390243902439024</c:v>
                </c:pt>
                <c:pt idx="35">
                  <c:v>0.25609756097560976</c:v>
                </c:pt>
                <c:pt idx="36">
                  <c:v>0.26829268292682928</c:v>
                </c:pt>
                <c:pt idx="37">
                  <c:v>0.28048780487804881</c:v>
                </c:pt>
                <c:pt idx="38">
                  <c:v>0.29268292682926828</c:v>
                </c:pt>
                <c:pt idx="39">
                  <c:v>0.3048780487804878</c:v>
                </c:pt>
                <c:pt idx="40">
                  <c:v>0.31707317073170732</c:v>
                </c:pt>
                <c:pt idx="41">
                  <c:v>0.32926829268292684</c:v>
                </c:pt>
                <c:pt idx="42">
                  <c:v>0.34146341463414637</c:v>
                </c:pt>
                <c:pt idx="43">
                  <c:v>0.35365853658536583</c:v>
                </c:pt>
                <c:pt idx="44">
                  <c:v>0.36585365853658536</c:v>
                </c:pt>
                <c:pt idx="45">
                  <c:v>0.37804878048780488</c:v>
                </c:pt>
                <c:pt idx="46">
                  <c:v>0.3902439024390244</c:v>
                </c:pt>
                <c:pt idx="47">
                  <c:v>0.40243902439024393</c:v>
                </c:pt>
                <c:pt idx="48">
                  <c:v>0.41463414634146339</c:v>
                </c:pt>
                <c:pt idx="49">
                  <c:v>0.42682926829268292</c:v>
                </c:pt>
                <c:pt idx="50">
                  <c:v>0.43902439024390244</c:v>
                </c:pt>
                <c:pt idx="51">
                  <c:v>0.45121951219512196</c:v>
                </c:pt>
                <c:pt idx="52">
                  <c:v>0.46341463414634149</c:v>
                </c:pt>
                <c:pt idx="53">
                  <c:v>0.47560975609756095</c:v>
                </c:pt>
                <c:pt idx="54">
                  <c:v>0.48780487804878048</c:v>
                </c:pt>
                <c:pt idx="55">
                  <c:v>0.5</c:v>
                </c:pt>
                <c:pt idx="56">
                  <c:v>0.51219512195121952</c:v>
                </c:pt>
                <c:pt idx="57">
                  <c:v>0.52439024390243905</c:v>
                </c:pt>
                <c:pt idx="58">
                  <c:v>0.53658536585365857</c:v>
                </c:pt>
                <c:pt idx="59">
                  <c:v>0.54878048780487809</c:v>
                </c:pt>
                <c:pt idx="60">
                  <c:v>0.56097560975609762</c:v>
                </c:pt>
                <c:pt idx="61">
                  <c:v>0.56097560975609762</c:v>
                </c:pt>
                <c:pt idx="62">
                  <c:v>0.57317073170731703</c:v>
                </c:pt>
                <c:pt idx="63">
                  <c:v>0.58536585365853655</c:v>
                </c:pt>
                <c:pt idx="64">
                  <c:v>0.59756097560975607</c:v>
                </c:pt>
                <c:pt idx="65">
                  <c:v>0.6097560975609756</c:v>
                </c:pt>
                <c:pt idx="66">
                  <c:v>0.6097560975609756</c:v>
                </c:pt>
                <c:pt idx="67">
                  <c:v>0.62195121951219512</c:v>
                </c:pt>
                <c:pt idx="68">
                  <c:v>0.63414634146341464</c:v>
                </c:pt>
                <c:pt idx="69">
                  <c:v>0.64634146341463417</c:v>
                </c:pt>
                <c:pt idx="70">
                  <c:v>0.65853658536585369</c:v>
                </c:pt>
                <c:pt idx="71">
                  <c:v>0.67073170731707321</c:v>
                </c:pt>
                <c:pt idx="72">
                  <c:v>0.68292682926829273</c:v>
                </c:pt>
                <c:pt idx="73">
                  <c:v>0.69512195121951215</c:v>
                </c:pt>
                <c:pt idx="74">
                  <c:v>0.70731707317073167</c:v>
                </c:pt>
                <c:pt idx="75">
                  <c:v>0.71951219512195119</c:v>
                </c:pt>
                <c:pt idx="76">
                  <c:v>0.73170731707317072</c:v>
                </c:pt>
                <c:pt idx="77">
                  <c:v>0.74390243902439024</c:v>
                </c:pt>
                <c:pt idx="78">
                  <c:v>0.75609756097560976</c:v>
                </c:pt>
                <c:pt idx="79">
                  <c:v>0.75609756097560976</c:v>
                </c:pt>
                <c:pt idx="80">
                  <c:v>0.76829268292682928</c:v>
                </c:pt>
                <c:pt idx="81">
                  <c:v>0.78048780487804881</c:v>
                </c:pt>
                <c:pt idx="82">
                  <c:v>0.79268292682926833</c:v>
                </c:pt>
                <c:pt idx="83">
                  <c:v>0.80487804878048785</c:v>
                </c:pt>
                <c:pt idx="84">
                  <c:v>0.81707317073170727</c:v>
                </c:pt>
                <c:pt idx="85">
                  <c:v>0.82926829268292679</c:v>
                </c:pt>
                <c:pt idx="86">
                  <c:v>0.84146341463414631</c:v>
                </c:pt>
                <c:pt idx="87">
                  <c:v>0.85365853658536583</c:v>
                </c:pt>
                <c:pt idx="88">
                  <c:v>0.86585365853658536</c:v>
                </c:pt>
                <c:pt idx="89">
                  <c:v>0.87804878048780488</c:v>
                </c:pt>
                <c:pt idx="90">
                  <c:v>0.8902439024390244</c:v>
                </c:pt>
                <c:pt idx="91">
                  <c:v>0.90243902439024393</c:v>
                </c:pt>
                <c:pt idx="92">
                  <c:v>0.91463414634146345</c:v>
                </c:pt>
                <c:pt idx="93">
                  <c:v>0.92682926829268297</c:v>
                </c:pt>
                <c:pt idx="94">
                  <c:v>0.93902439024390238</c:v>
                </c:pt>
                <c:pt idx="95">
                  <c:v>0.95121951219512191</c:v>
                </c:pt>
                <c:pt idx="96">
                  <c:v>0.96341463414634143</c:v>
                </c:pt>
                <c:pt idx="97">
                  <c:v>0.97560975609756095</c:v>
                </c:pt>
                <c:pt idx="98">
                  <c:v>0.98780487804878048</c:v>
                </c:pt>
                <c:pt idx="99">
                  <c:v>1</c:v>
                </c:pt>
              </c:numCache>
            </c:numRef>
          </c:xVal>
          <c:yVal>
            <c:numRef>
              <c:f>Sheet1!$B$101:$B$200</c:f>
              <c:numCache>
                <c:formatCode>General</c:formatCode>
                <c:ptCount val="100"/>
                <c:pt idx="0">
                  <c:v>0</c:v>
                </c:pt>
                <c:pt idx="1">
                  <c:v>5.8823529411764705E-2</c:v>
                </c:pt>
                <c:pt idx="2">
                  <c:v>5.8823529411764705E-2</c:v>
                </c:pt>
                <c:pt idx="3">
                  <c:v>5.8823529411764705E-2</c:v>
                </c:pt>
                <c:pt idx="4">
                  <c:v>0.11764705882352941</c:v>
                </c:pt>
                <c:pt idx="5">
                  <c:v>0.17647058823529413</c:v>
                </c:pt>
                <c:pt idx="6">
                  <c:v>0.23529411764705882</c:v>
                </c:pt>
                <c:pt idx="7">
                  <c:v>0.23529411764705882</c:v>
                </c:pt>
                <c:pt idx="8">
                  <c:v>0.29411764705882354</c:v>
                </c:pt>
                <c:pt idx="9">
                  <c:v>0.35294117647058826</c:v>
                </c:pt>
                <c:pt idx="10">
                  <c:v>0.41176470588235292</c:v>
                </c:pt>
                <c:pt idx="11">
                  <c:v>0.47058823529411764</c:v>
                </c:pt>
                <c:pt idx="12">
                  <c:v>0.52941176470588236</c:v>
                </c:pt>
                <c:pt idx="13">
                  <c:v>0.52941176470588236</c:v>
                </c:pt>
                <c:pt idx="14">
                  <c:v>0.52941176470588236</c:v>
                </c:pt>
                <c:pt idx="15">
                  <c:v>0.58823529411764708</c:v>
                </c:pt>
                <c:pt idx="16">
                  <c:v>0.58823529411764708</c:v>
                </c:pt>
                <c:pt idx="17">
                  <c:v>0.6470588235294118</c:v>
                </c:pt>
                <c:pt idx="18">
                  <c:v>0.6470588235294118</c:v>
                </c:pt>
                <c:pt idx="19">
                  <c:v>0.6470588235294118</c:v>
                </c:pt>
                <c:pt idx="20">
                  <c:v>0.6470588235294118</c:v>
                </c:pt>
                <c:pt idx="21">
                  <c:v>0.6470588235294118</c:v>
                </c:pt>
                <c:pt idx="22">
                  <c:v>0.6470588235294118</c:v>
                </c:pt>
                <c:pt idx="23">
                  <c:v>0.70588235294117652</c:v>
                </c:pt>
                <c:pt idx="24">
                  <c:v>0.70588235294117652</c:v>
                </c:pt>
                <c:pt idx="25">
                  <c:v>0.70588235294117652</c:v>
                </c:pt>
                <c:pt idx="26">
                  <c:v>0.76470588235294112</c:v>
                </c:pt>
                <c:pt idx="27">
                  <c:v>0.76470588235294112</c:v>
                </c:pt>
                <c:pt idx="28">
                  <c:v>0.76470588235294112</c:v>
                </c:pt>
                <c:pt idx="29">
                  <c:v>0.76470588235294112</c:v>
                </c:pt>
                <c:pt idx="30">
                  <c:v>0.76470588235294112</c:v>
                </c:pt>
                <c:pt idx="31">
                  <c:v>0.82352941176470584</c:v>
                </c:pt>
                <c:pt idx="32">
                  <c:v>0.82352941176470584</c:v>
                </c:pt>
                <c:pt idx="33">
                  <c:v>0.82352941176470584</c:v>
                </c:pt>
                <c:pt idx="34">
                  <c:v>0.82352941176470584</c:v>
                </c:pt>
                <c:pt idx="35">
                  <c:v>0.82352941176470584</c:v>
                </c:pt>
                <c:pt idx="36">
                  <c:v>0.82352941176470584</c:v>
                </c:pt>
                <c:pt idx="37">
                  <c:v>0.82352941176470584</c:v>
                </c:pt>
                <c:pt idx="38">
                  <c:v>0.82352941176470584</c:v>
                </c:pt>
                <c:pt idx="39">
                  <c:v>0.82352941176470584</c:v>
                </c:pt>
                <c:pt idx="40">
                  <c:v>0.82352941176470584</c:v>
                </c:pt>
                <c:pt idx="41">
                  <c:v>0.82352941176470584</c:v>
                </c:pt>
                <c:pt idx="42">
                  <c:v>0.82352941176470584</c:v>
                </c:pt>
                <c:pt idx="43">
                  <c:v>0.82352941176470584</c:v>
                </c:pt>
                <c:pt idx="44">
                  <c:v>0.82352941176470584</c:v>
                </c:pt>
                <c:pt idx="45">
                  <c:v>0.82352941176470584</c:v>
                </c:pt>
                <c:pt idx="46">
                  <c:v>0.82352941176470584</c:v>
                </c:pt>
                <c:pt idx="47">
                  <c:v>0.82352941176470584</c:v>
                </c:pt>
                <c:pt idx="48">
                  <c:v>0.82352941176470584</c:v>
                </c:pt>
                <c:pt idx="49">
                  <c:v>0.82352941176470584</c:v>
                </c:pt>
                <c:pt idx="50">
                  <c:v>0.82352941176470584</c:v>
                </c:pt>
                <c:pt idx="51">
                  <c:v>0.82352941176470584</c:v>
                </c:pt>
                <c:pt idx="52">
                  <c:v>0.82352941176470584</c:v>
                </c:pt>
                <c:pt idx="53">
                  <c:v>0.82352941176470584</c:v>
                </c:pt>
                <c:pt idx="54">
                  <c:v>0.82352941176470584</c:v>
                </c:pt>
                <c:pt idx="55">
                  <c:v>0.82352941176470584</c:v>
                </c:pt>
                <c:pt idx="56">
                  <c:v>0.82352941176470584</c:v>
                </c:pt>
                <c:pt idx="57">
                  <c:v>0.82352941176470584</c:v>
                </c:pt>
                <c:pt idx="58">
                  <c:v>0.82352941176470584</c:v>
                </c:pt>
                <c:pt idx="59">
                  <c:v>0.82352941176470584</c:v>
                </c:pt>
                <c:pt idx="60">
                  <c:v>0.82352941176470584</c:v>
                </c:pt>
                <c:pt idx="61">
                  <c:v>0.88235294117647056</c:v>
                </c:pt>
                <c:pt idx="62">
                  <c:v>0.88235294117647056</c:v>
                </c:pt>
                <c:pt idx="63">
                  <c:v>0.88235294117647056</c:v>
                </c:pt>
                <c:pt idx="64">
                  <c:v>0.88235294117647056</c:v>
                </c:pt>
                <c:pt idx="65">
                  <c:v>0.88235294117647056</c:v>
                </c:pt>
                <c:pt idx="66">
                  <c:v>0.94117647058823528</c:v>
                </c:pt>
                <c:pt idx="67">
                  <c:v>0.94117647058823528</c:v>
                </c:pt>
                <c:pt idx="68">
                  <c:v>0.94117647058823528</c:v>
                </c:pt>
                <c:pt idx="69">
                  <c:v>0.94117647058823528</c:v>
                </c:pt>
                <c:pt idx="70">
                  <c:v>0.94117647058823528</c:v>
                </c:pt>
                <c:pt idx="71">
                  <c:v>0.94117647058823528</c:v>
                </c:pt>
                <c:pt idx="72">
                  <c:v>0.94117647058823528</c:v>
                </c:pt>
                <c:pt idx="73">
                  <c:v>0.94117647058823528</c:v>
                </c:pt>
                <c:pt idx="74">
                  <c:v>0.94117647058823528</c:v>
                </c:pt>
                <c:pt idx="75">
                  <c:v>0.94117647058823528</c:v>
                </c:pt>
                <c:pt idx="76">
                  <c:v>0.94117647058823528</c:v>
                </c:pt>
                <c:pt idx="77">
                  <c:v>0.94117647058823528</c:v>
                </c:pt>
                <c:pt idx="78">
                  <c:v>0.94117647058823528</c:v>
                </c:pt>
                <c:pt idx="79">
                  <c:v>1</c:v>
                </c:pt>
                <c:pt idx="80">
                  <c:v>1</c:v>
                </c:pt>
                <c:pt idx="81">
                  <c:v>1</c:v>
                </c:pt>
                <c:pt idx="82">
                  <c:v>1</c:v>
                </c:pt>
                <c:pt idx="83">
                  <c:v>1</c:v>
                </c:pt>
                <c:pt idx="84">
                  <c:v>1</c:v>
                </c:pt>
                <c:pt idx="85">
                  <c:v>1</c:v>
                </c:pt>
                <c:pt idx="86">
                  <c:v>1</c:v>
                </c:pt>
                <c:pt idx="87">
                  <c:v>1</c:v>
                </c:pt>
                <c:pt idx="88">
                  <c:v>1</c:v>
                </c:pt>
                <c:pt idx="89">
                  <c:v>1</c:v>
                </c:pt>
                <c:pt idx="90">
                  <c:v>1</c:v>
                </c:pt>
                <c:pt idx="91">
                  <c:v>1</c:v>
                </c:pt>
                <c:pt idx="92">
                  <c:v>1</c:v>
                </c:pt>
                <c:pt idx="93">
                  <c:v>1</c:v>
                </c:pt>
                <c:pt idx="94">
                  <c:v>1</c:v>
                </c:pt>
                <c:pt idx="95">
                  <c:v>1</c:v>
                </c:pt>
                <c:pt idx="96">
                  <c:v>1</c:v>
                </c:pt>
                <c:pt idx="97">
                  <c:v>1</c:v>
                </c:pt>
                <c:pt idx="98">
                  <c:v>1</c:v>
                </c:pt>
                <c:pt idx="99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12FE-4F7F-992B-6B33094EAFA2}"/>
            </c:ext>
          </c:extLst>
        </c:ser>
        <c:ser>
          <c:idx val="2"/>
          <c:order val="2"/>
          <c:tx>
            <c:strRef>
              <c:f>Sheet1!$B$202</c:f>
              <c:strCache>
                <c:ptCount val="1"/>
                <c:pt idx="0">
                  <c:v>нейросеть + измерение</c:v>
                </c:pt>
              </c:strCache>
            </c:strRef>
          </c:tx>
          <c:spPr>
            <a:ln w="31750">
              <a:solidFill>
                <a:srgbClr val="520977"/>
              </a:solidFill>
            </a:ln>
          </c:spPr>
          <c:marker>
            <c:symbol val="none"/>
          </c:marker>
          <c:xVal>
            <c:numRef>
              <c:f>Sheet1!$A$203:$A$302</c:f>
              <c:numCache>
                <c:formatCode>General</c:formatCode>
                <c:ptCount val="100"/>
                <c:pt idx="0">
                  <c:v>0</c:v>
                </c:pt>
                <c:pt idx="1">
                  <c:v>0</c:v>
                </c:pt>
                <c:pt idx="2">
                  <c:v>1.2195121951219513E-2</c:v>
                </c:pt>
                <c:pt idx="3">
                  <c:v>1.2195121951219513E-2</c:v>
                </c:pt>
                <c:pt idx="4">
                  <c:v>2.4390243902439025E-2</c:v>
                </c:pt>
                <c:pt idx="5">
                  <c:v>2.4390243902439025E-2</c:v>
                </c:pt>
                <c:pt idx="6">
                  <c:v>2.4390243902439025E-2</c:v>
                </c:pt>
                <c:pt idx="7">
                  <c:v>2.4390243902439025E-2</c:v>
                </c:pt>
                <c:pt idx="8">
                  <c:v>2.4390243902439025E-2</c:v>
                </c:pt>
                <c:pt idx="9">
                  <c:v>2.4390243902439025E-2</c:v>
                </c:pt>
                <c:pt idx="10">
                  <c:v>2.4390243902439025E-2</c:v>
                </c:pt>
                <c:pt idx="11">
                  <c:v>2.4390243902439025E-2</c:v>
                </c:pt>
                <c:pt idx="12">
                  <c:v>2.4390243902439025E-2</c:v>
                </c:pt>
                <c:pt idx="13">
                  <c:v>3.6585365853658534E-2</c:v>
                </c:pt>
                <c:pt idx="14">
                  <c:v>3.6585365853658534E-2</c:v>
                </c:pt>
                <c:pt idx="15">
                  <c:v>4.878048780487805E-2</c:v>
                </c:pt>
                <c:pt idx="16">
                  <c:v>6.097560975609756E-2</c:v>
                </c:pt>
                <c:pt idx="17">
                  <c:v>7.3170731707317069E-2</c:v>
                </c:pt>
                <c:pt idx="18">
                  <c:v>8.5365853658536592E-2</c:v>
                </c:pt>
                <c:pt idx="19">
                  <c:v>8.5365853658536592E-2</c:v>
                </c:pt>
                <c:pt idx="20">
                  <c:v>9.7560975609756101E-2</c:v>
                </c:pt>
                <c:pt idx="21">
                  <c:v>0.10975609756097561</c:v>
                </c:pt>
                <c:pt idx="22">
                  <c:v>0.12195121951219512</c:v>
                </c:pt>
                <c:pt idx="23">
                  <c:v>0.13414634146341464</c:v>
                </c:pt>
                <c:pt idx="24">
                  <c:v>0.14634146341463414</c:v>
                </c:pt>
                <c:pt idx="25">
                  <c:v>0.14634146341463414</c:v>
                </c:pt>
                <c:pt idx="26">
                  <c:v>0.15853658536585366</c:v>
                </c:pt>
                <c:pt idx="27">
                  <c:v>0.17073170731707318</c:v>
                </c:pt>
                <c:pt idx="28">
                  <c:v>0.18292682926829268</c:v>
                </c:pt>
                <c:pt idx="29">
                  <c:v>0.18292682926829268</c:v>
                </c:pt>
                <c:pt idx="30">
                  <c:v>0.1951219512195122</c:v>
                </c:pt>
                <c:pt idx="31">
                  <c:v>0.2073170731707317</c:v>
                </c:pt>
                <c:pt idx="32">
                  <c:v>0.21951219512195122</c:v>
                </c:pt>
                <c:pt idx="33">
                  <c:v>0.23170731707317074</c:v>
                </c:pt>
                <c:pt idx="34">
                  <c:v>0.24390243902439024</c:v>
                </c:pt>
                <c:pt idx="35">
                  <c:v>0.25609756097560976</c:v>
                </c:pt>
                <c:pt idx="36">
                  <c:v>0.26829268292682928</c:v>
                </c:pt>
                <c:pt idx="37">
                  <c:v>0.28048780487804881</c:v>
                </c:pt>
                <c:pt idx="38">
                  <c:v>0.29268292682926828</c:v>
                </c:pt>
                <c:pt idx="39">
                  <c:v>0.3048780487804878</c:v>
                </c:pt>
                <c:pt idx="40">
                  <c:v>0.31707317073170732</c:v>
                </c:pt>
                <c:pt idx="41">
                  <c:v>0.32926829268292684</c:v>
                </c:pt>
                <c:pt idx="42">
                  <c:v>0.34146341463414637</c:v>
                </c:pt>
                <c:pt idx="43">
                  <c:v>0.35365853658536583</c:v>
                </c:pt>
                <c:pt idx="44">
                  <c:v>0.36585365853658536</c:v>
                </c:pt>
                <c:pt idx="45">
                  <c:v>0.37804878048780488</c:v>
                </c:pt>
                <c:pt idx="46">
                  <c:v>0.3902439024390244</c:v>
                </c:pt>
                <c:pt idx="47">
                  <c:v>0.40243902439024393</c:v>
                </c:pt>
                <c:pt idx="48">
                  <c:v>0.41463414634146339</c:v>
                </c:pt>
                <c:pt idx="49">
                  <c:v>0.42682926829268292</c:v>
                </c:pt>
                <c:pt idx="50">
                  <c:v>0.43902439024390244</c:v>
                </c:pt>
                <c:pt idx="51">
                  <c:v>0.45121951219512196</c:v>
                </c:pt>
                <c:pt idx="52">
                  <c:v>0.46341463414634149</c:v>
                </c:pt>
                <c:pt idx="53">
                  <c:v>0.47560975609756095</c:v>
                </c:pt>
                <c:pt idx="54">
                  <c:v>0.48780487804878048</c:v>
                </c:pt>
                <c:pt idx="55">
                  <c:v>0.5</c:v>
                </c:pt>
                <c:pt idx="56">
                  <c:v>0.51219512195121952</c:v>
                </c:pt>
                <c:pt idx="57">
                  <c:v>0.52439024390243905</c:v>
                </c:pt>
                <c:pt idx="58">
                  <c:v>0.53658536585365857</c:v>
                </c:pt>
                <c:pt idx="59">
                  <c:v>0.54878048780487809</c:v>
                </c:pt>
                <c:pt idx="60">
                  <c:v>0.56097560975609762</c:v>
                </c:pt>
                <c:pt idx="61">
                  <c:v>0.57317073170731703</c:v>
                </c:pt>
                <c:pt idx="62">
                  <c:v>0.57317073170731703</c:v>
                </c:pt>
                <c:pt idx="63">
                  <c:v>0.58536585365853655</c:v>
                </c:pt>
                <c:pt idx="64">
                  <c:v>0.59756097560975607</c:v>
                </c:pt>
                <c:pt idx="65">
                  <c:v>0.6097560975609756</c:v>
                </c:pt>
                <c:pt idx="66">
                  <c:v>0.62195121951219512</c:v>
                </c:pt>
                <c:pt idx="67">
                  <c:v>0.63414634146341464</c:v>
                </c:pt>
                <c:pt idx="68">
                  <c:v>0.64634146341463417</c:v>
                </c:pt>
                <c:pt idx="69">
                  <c:v>0.65853658536585369</c:v>
                </c:pt>
                <c:pt idx="70">
                  <c:v>0.67073170731707321</c:v>
                </c:pt>
                <c:pt idx="71">
                  <c:v>0.68292682926829273</c:v>
                </c:pt>
                <c:pt idx="72">
                  <c:v>0.69512195121951215</c:v>
                </c:pt>
                <c:pt idx="73">
                  <c:v>0.69512195121951215</c:v>
                </c:pt>
                <c:pt idx="74">
                  <c:v>0.70731707317073167</c:v>
                </c:pt>
                <c:pt idx="75">
                  <c:v>0.70731707317073167</c:v>
                </c:pt>
                <c:pt idx="76">
                  <c:v>0.71951219512195119</c:v>
                </c:pt>
                <c:pt idx="77">
                  <c:v>0.73170731707317072</c:v>
                </c:pt>
                <c:pt idx="78">
                  <c:v>0.74390243902439024</c:v>
                </c:pt>
                <c:pt idx="79">
                  <c:v>0.75609756097560976</c:v>
                </c:pt>
                <c:pt idx="80">
                  <c:v>0.76829268292682928</c:v>
                </c:pt>
                <c:pt idx="81">
                  <c:v>0.78048780487804881</c:v>
                </c:pt>
                <c:pt idx="82">
                  <c:v>0.79268292682926833</c:v>
                </c:pt>
                <c:pt idx="83">
                  <c:v>0.80487804878048785</c:v>
                </c:pt>
                <c:pt idx="84">
                  <c:v>0.81707317073170727</c:v>
                </c:pt>
                <c:pt idx="85">
                  <c:v>0.82926829268292679</c:v>
                </c:pt>
                <c:pt idx="86">
                  <c:v>0.84146341463414631</c:v>
                </c:pt>
                <c:pt idx="87">
                  <c:v>0.85365853658536583</c:v>
                </c:pt>
                <c:pt idx="88">
                  <c:v>0.86585365853658536</c:v>
                </c:pt>
                <c:pt idx="89">
                  <c:v>0.87804878048780488</c:v>
                </c:pt>
                <c:pt idx="90">
                  <c:v>0.8902439024390244</c:v>
                </c:pt>
                <c:pt idx="91">
                  <c:v>0.90243902439024393</c:v>
                </c:pt>
                <c:pt idx="92">
                  <c:v>0.91463414634146345</c:v>
                </c:pt>
                <c:pt idx="93">
                  <c:v>0.92682926829268297</c:v>
                </c:pt>
                <c:pt idx="94">
                  <c:v>0.93902439024390238</c:v>
                </c:pt>
                <c:pt idx="95">
                  <c:v>0.95121951219512191</c:v>
                </c:pt>
                <c:pt idx="96">
                  <c:v>0.96341463414634143</c:v>
                </c:pt>
                <c:pt idx="97">
                  <c:v>0.97560975609756095</c:v>
                </c:pt>
                <c:pt idx="98">
                  <c:v>0.98780487804878048</c:v>
                </c:pt>
                <c:pt idx="99">
                  <c:v>1</c:v>
                </c:pt>
              </c:numCache>
            </c:numRef>
          </c:xVal>
          <c:yVal>
            <c:numRef>
              <c:f>Sheet1!$B$203:$B$302</c:f>
              <c:numCache>
                <c:formatCode>General</c:formatCode>
                <c:ptCount val="100"/>
                <c:pt idx="0">
                  <c:v>0</c:v>
                </c:pt>
                <c:pt idx="1">
                  <c:v>5.8823529411764705E-2</c:v>
                </c:pt>
                <c:pt idx="2">
                  <c:v>5.8823529411764705E-2</c:v>
                </c:pt>
                <c:pt idx="3">
                  <c:v>0.11764705882352941</c:v>
                </c:pt>
                <c:pt idx="4">
                  <c:v>0.11764705882352941</c:v>
                </c:pt>
                <c:pt idx="5">
                  <c:v>0.17647058823529413</c:v>
                </c:pt>
                <c:pt idx="6">
                  <c:v>0.23529411764705882</c:v>
                </c:pt>
                <c:pt idx="7">
                  <c:v>0.29411764705882354</c:v>
                </c:pt>
                <c:pt idx="8">
                  <c:v>0.35294117647058826</c:v>
                </c:pt>
                <c:pt idx="9">
                  <c:v>0.41176470588235292</c:v>
                </c:pt>
                <c:pt idx="10">
                  <c:v>0.47058823529411764</c:v>
                </c:pt>
                <c:pt idx="11">
                  <c:v>0.52941176470588236</c:v>
                </c:pt>
                <c:pt idx="12">
                  <c:v>0.58823529411764708</c:v>
                </c:pt>
                <c:pt idx="13">
                  <c:v>0.58823529411764708</c:v>
                </c:pt>
                <c:pt idx="14">
                  <c:v>0.6470588235294118</c:v>
                </c:pt>
                <c:pt idx="15">
                  <c:v>0.6470588235294118</c:v>
                </c:pt>
                <c:pt idx="16">
                  <c:v>0.6470588235294118</c:v>
                </c:pt>
                <c:pt idx="17">
                  <c:v>0.6470588235294118</c:v>
                </c:pt>
                <c:pt idx="18">
                  <c:v>0.6470588235294118</c:v>
                </c:pt>
                <c:pt idx="19">
                  <c:v>0.70588235294117652</c:v>
                </c:pt>
                <c:pt idx="20">
                  <c:v>0.70588235294117652</c:v>
                </c:pt>
                <c:pt idx="21">
                  <c:v>0.70588235294117652</c:v>
                </c:pt>
                <c:pt idx="22">
                  <c:v>0.70588235294117652</c:v>
                </c:pt>
                <c:pt idx="23">
                  <c:v>0.70588235294117652</c:v>
                </c:pt>
                <c:pt idx="24">
                  <c:v>0.70588235294117652</c:v>
                </c:pt>
                <c:pt idx="25">
                  <c:v>0.76470588235294112</c:v>
                </c:pt>
                <c:pt idx="26">
                  <c:v>0.76470588235294112</c:v>
                </c:pt>
                <c:pt idx="27">
                  <c:v>0.76470588235294112</c:v>
                </c:pt>
                <c:pt idx="28">
                  <c:v>0.76470588235294112</c:v>
                </c:pt>
                <c:pt idx="29">
                  <c:v>0.82352941176470584</c:v>
                </c:pt>
                <c:pt idx="30">
                  <c:v>0.82352941176470584</c:v>
                </c:pt>
                <c:pt idx="31">
                  <c:v>0.82352941176470584</c:v>
                </c:pt>
                <c:pt idx="32">
                  <c:v>0.82352941176470584</c:v>
                </c:pt>
                <c:pt idx="33">
                  <c:v>0.82352941176470584</c:v>
                </c:pt>
                <c:pt idx="34">
                  <c:v>0.82352941176470584</c:v>
                </c:pt>
                <c:pt idx="35">
                  <c:v>0.82352941176470584</c:v>
                </c:pt>
                <c:pt idx="36">
                  <c:v>0.82352941176470584</c:v>
                </c:pt>
                <c:pt idx="37">
                  <c:v>0.82352941176470584</c:v>
                </c:pt>
                <c:pt idx="38">
                  <c:v>0.82352941176470584</c:v>
                </c:pt>
                <c:pt idx="39">
                  <c:v>0.82352941176470584</c:v>
                </c:pt>
                <c:pt idx="40">
                  <c:v>0.82352941176470584</c:v>
                </c:pt>
                <c:pt idx="41">
                  <c:v>0.82352941176470584</c:v>
                </c:pt>
                <c:pt idx="42">
                  <c:v>0.82352941176470584</c:v>
                </c:pt>
                <c:pt idx="43">
                  <c:v>0.82352941176470584</c:v>
                </c:pt>
                <c:pt idx="44">
                  <c:v>0.82352941176470584</c:v>
                </c:pt>
                <c:pt idx="45">
                  <c:v>0.82352941176470584</c:v>
                </c:pt>
                <c:pt idx="46">
                  <c:v>0.82352941176470584</c:v>
                </c:pt>
                <c:pt idx="47">
                  <c:v>0.82352941176470584</c:v>
                </c:pt>
                <c:pt idx="48">
                  <c:v>0.82352941176470584</c:v>
                </c:pt>
                <c:pt idx="49">
                  <c:v>0.82352941176470584</c:v>
                </c:pt>
                <c:pt idx="50">
                  <c:v>0.82352941176470584</c:v>
                </c:pt>
                <c:pt idx="51">
                  <c:v>0.82352941176470584</c:v>
                </c:pt>
                <c:pt idx="52">
                  <c:v>0.82352941176470584</c:v>
                </c:pt>
                <c:pt idx="53">
                  <c:v>0.82352941176470584</c:v>
                </c:pt>
                <c:pt idx="54">
                  <c:v>0.82352941176470584</c:v>
                </c:pt>
                <c:pt idx="55">
                  <c:v>0.82352941176470584</c:v>
                </c:pt>
                <c:pt idx="56">
                  <c:v>0.82352941176470584</c:v>
                </c:pt>
                <c:pt idx="57">
                  <c:v>0.82352941176470584</c:v>
                </c:pt>
                <c:pt idx="58">
                  <c:v>0.82352941176470584</c:v>
                </c:pt>
                <c:pt idx="59">
                  <c:v>0.82352941176470584</c:v>
                </c:pt>
                <c:pt idx="60">
                  <c:v>0.82352941176470584</c:v>
                </c:pt>
                <c:pt idx="61">
                  <c:v>0.82352941176470584</c:v>
                </c:pt>
                <c:pt idx="62">
                  <c:v>0.88235294117647056</c:v>
                </c:pt>
                <c:pt idx="63">
                  <c:v>0.88235294117647056</c:v>
                </c:pt>
                <c:pt idx="64">
                  <c:v>0.88235294117647056</c:v>
                </c:pt>
                <c:pt idx="65">
                  <c:v>0.88235294117647056</c:v>
                </c:pt>
                <c:pt idx="66">
                  <c:v>0.88235294117647056</c:v>
                </c:pt>
                <c:pt idx="67">
                  <c:v>0.88235294117647056</c:v>
                </c:pt>
                <c:pt idx="68">
                  <c:v>0.88235294117647056</c:v>
                </c:pt>
                <c:pt idx="69">
                  <c:v>0.88235294117647056</c:v>
                </c:pt>
                <c:pt idx="70">
                  <c:v>0.88235294117647056</c:v>
                </c:pt>
                <c:pt idx="71">
                  <c:v>0.88235294117647056</c:v>
                </c:pt>
                <c:pt idx="72">
                  <c:v>0.88235294117647056</c:v>
                </c:pt>
                <c:pt idx="73">
                  <c:v>0.94117647058823528</c:v>
                </c:pt>
                <c:pt idx="74">
                  <c:v>0.94117647058823528</c:v>
                </c:pt>
                <c:pt idx="75">
                  <c:v>1</c:v>
                </c:pt>
                <c:pt idx="76">
                  <c:v>1</c:v>
                </c:pt>
                <c:pt idx="77">
                  <c:v>1</c:v>
                </c:pt>
                <c:pt idx="78">
                  <c:v>1</c:v>
                </c:pt>
                <c:pt idx="79">
                  <c:v>1</c:v>
                </c:pt>
                <c:pt idx="80">
                  <c:v>1</c:v>
                </c:pt>
                <c:pt idx="81">
                  <c:v>1</c:v>
                </c:pt>
                <c:pt idx="82">
                  <c:v>1</c:v>
                </c:pt>
                <c:pt idx="83">
                  <c:v>1</c:v>
                </c:pt>
                <c:pt idx="84">
                  <c:v>1</c:v>
                </c:pt>
                <c:pt idx="85">
                  <c:v>1</c:v>
                </c:pt>
                <c:pt idx="86">
                  <c:v>1</c:v>
                </c:pt>
                <c:pt idx="87">
                  <c:v>1</c:v>
                </c:pt>
                <c:pt idx="88">
                  <c:v>1</c:v>
                </c:pt>
                <c:pt idx="89">
                  <c:v>1</c:v>
                </c:pt>
                <c:pt idx="90">
                  <c:v>1</c:v>
                </c:pt>
                <c:pt idx="91">
                  <c:v>1</c:v>
                </c:pt>
                <c:pt idx="92">
                  <c:v>1</c:v>
                </c:pt>
                <c:pt idx="93">
                  <c:v>1</c:v>
                </c:pt>
                <c:pt idx="94">
                  <c:v>1</c:v>
                </c:pt>
                <c:pt idx="95">
                  <c:v>1</c:v>
                </c:pt>
                <c:pt idx="96">
                  <c:v>1</c:v>
                </c:pt>
                <c:pt idx="97">
                  <c:v>1</c:v>
                </c:pt>
                <c:pt idx="98">
                  <c:v>1</c:v>
                </c:pt>
                <c:pt idx="99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12FE-4F7F-992B-6B33094EAFA2}"/>
            </c:ext>
          </c:extLst>
        </c:ser>
        <c:ser>
          <c:idx val="3"/>
          <c:order val="3"/>
          <c:tx>
            <c:strRef>
              <c:f>Sheet1!$B$304</c:f>
              <c:strCache>
                <c:ptCount val="1"/>
                <c:pt idx="0">
                  <c:v>случайно</c:v>
                </c:pt>
              </c:strCache>
            </c:strRef>
          </c:tx>
          <c:spPr>
            <a:ln w="12700">
              <a:solidFill>
                <a:srgbClr val="8B8599"/>
              </a:solidFill>
              <a:prstDash val="dash"/>
            </a:ln>
          </c:spPr>
          <c:marker>
            <c:symbol val="none"/>
          </c:marker>
          <c:xVal>
            <c:numRef>
              <c:f>Sheet1!$A$305:$A$306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xVal>
          <c:yVal>
            <c:numRef>
              <c:f>Sheet1!$B$305:$B$306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12FE-4F7F-992B-6B33094EAFA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28940872"/>
        <c:axId val="-2129643912"/>
      </c:scatterChart>
      <c:valAx>
        <c:axId val="-2128940872"/>
        <c:scaling>
          <c:orientation val="minMax"/>
          <c:max val="1"/>
          <c:min val="0"/>
        </c:scaling>
        <c:delete val="0"/>
        <c:axPos val="b"/>
        <c:majorGridlines>
          <c:spPr>
            <a:ln>
              <a:solidFill>
                <a:srgbClr val="DCCEE4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solidFill>
              <a:srgbClr val="C9C3DA"/>
            </a:solidFill>
          </a:ln>
        </c:spPr>
        <c:crossAx val="-2129643912"/>
        <c:crosses val="autoZero"/>
        <c:crossBetween val="midCat"/>
        <c:majorUnit val="0.2"/>
      </c:valAx>
      <c:valAx>
        <c:axId val="-2129643912"/>
        <c:scaling>
          <c:orientation val="minMax"/>
          <c:max val="1"/>
          <c:min val="0"/>
        </c:scaling>
        <c:delete val="0"/>
        <c:axPos val="l"/>
        <c:majorGridlines>
          <c:spPr>
            <a:ln>
              <a:solidFill>
                <a:srgbClr val="DCCEE4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solidFill>
              <a:srgbClr val="C9C3DA"/>
            </a:solidFill>
          </a:ln>
        </c:spPr>
        <c:crossAx val="-2128940872"/>
        <c:crosses val="autoZero"/>
        <c:crossBetween val="midCat"/>
        <c:majorUnit val="0.2"/>
      </c:valAx>
    </c:plotArea>
    <c:plotVisOnly val="1"/>
    <c:dispBlanksAs val="gap"/>
    <c:showDLblsOverMax val="0"/>
  </c:chart>
  <c:txPr>
    <a:bodyPr/>
    <a:lstStyle/>
    <a:p>
      <a:pPr>
        <a:defRPr sz="1000">
          <a:solidFill>
            <a:srgbClr val="8B8599"/>
          </a:solidFill>
          <a:latin typeface="Montserrat"/>
        </a:defRPr>
      </a:pPr>
      <a:endParaRPr lang="ru-RU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29.09.2026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29.09.2026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29.09.2026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29.09.2026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29.09.2026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29.09.2026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29.09.2026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29.09.2026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29.09.2026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chart" Target="../charts/chart1.xml"/><Relationship Id="rId5" Type="http://schemas.openxmlformats.org/officeDocument/2006/relationships/chart" Target="../charts/char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6" name="Picture 5" descr="moscow_medicin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566928"/>
            <a:ext cx="2468880" cy="822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1481328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постановщик задачи — Департамент здравоохранения Москвы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94760"/>
            <a:ext cx="914400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2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Контроль качества DXA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526280"/>
            <a:ext cx="640080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Локальное приложение и защищённый сервер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532120"/>
            <a:ext cx="548640" cy="38100"/>
          </a:xfrm>
          <a:prstGeom prst="rect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56692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Команда 239.Hack · ЛЦТ 2026</a:t>
            </a: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Что делает сервис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13716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300" dirty="0">
                <a:solidFill>
                  <a:schemeClr val="tx1"/>
                </a:solidFill>
              </a:rPr>
              <a:t>Сервис показывает измерение и место нарушения. Работает локально и на защищённом сервере; для оси использует контур позвоночника, для верхней границы — опорные точки.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Урусов Михаил Алексеевич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b="0" dirty="0">
                <a:solidFill>
                  <a:schemeClr val="tx1"/>
                </a:solidFill>
              </a:rPr>
              <a:t>3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 </a:t>
            </a:r>
            <a:r>
              <a:rPr lang="ru-RU" b="0" dirty="0">
                <a:solidFill>
                  <a:schemeClr val="tx1"/>
                </a:solidFill>
              </a:rPr>
              <a:t>Москва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 sz="2200" b="1" i="0" dirty="0" err="1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Команда</a:t>
            </a:r>
            <a:r>
              <a:rPr sz="2200" b="1" i="0" dirty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2200" b="1" i="0" dirty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239.Hack</a:t>
            </a:r>
            <a:endParaRPr sz="2200" b="1" i="0" dirty="0">
              <a:solidFill>
                <a:srgbClr val="520977"/>
              </a:solidFill>
              <a:latin typeface="Montserrat"/>
              <a:ea typeface="Montserrat"/>
              <a:cs typeface="Montserra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Почему результат можно проверить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169164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300" dirty="0">
                <a:solidFill>
                  <a:schemeClr val="tx1"/>
                </a:solidFill>
              </a:rPr>
              <a:t>Сервис проверяет DXA-снимки позвоночника и бедра по пяти критериям задания. Показывает вердикт, измерение и место нарушения на снимке.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0" y="335267"/>
            <a:ext cx="6456363" cy="2971784"/>
          </a:xfrm>
          <a:prstGeom prst="roundRect">
            <a:avLst/>
          </a:prstGeom>
          <a:solidFill>
            <a:srgbClr val="1514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8254" y="439279"/>
            <a:ext cx="5939855" cy="29717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Montserrat"/>
              </a:rPr>
              <a:t>Контроль качества DXA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58254" y="751316"/>
            <a:ext cx="5939855" cy="0"/>
          </a:xfrm>
          <a:prstGeom prst="line">
            <a:avLst/>
          </a:prstGeom>
          <a:ln w="12700">
            <a:solidFill>
              <a:srgbClr val="463E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58254" y="1018777"/>
            <a:ext cx="3809255" cy="380388"/>
          </a:xfrm>
          <a:prstGeom prst="roundRect">
            <a:avLst/>
          </a:prstGeom>
          <a:solidFill>
            <a:srgbClr val="2423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1555" y="1094854"/>
            <a:ext cx="1816820" cy="228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000" b="0">
                <a:solidFill>
                  <a:srgbClr val="FFFFFF"/>
                </a:solidFill>
                <a:latin typeface="Montserrat"/>
              </a:rPr>
              <a:t>Исследование 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06139" y="1094854"/>
            <a:ext cx="1514017" cy="228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000" b="1">
                <a:solidFill>
                  <a:srgbClr val="59D7AA"/>
                </a:solidFill>
                <a:latin typeface="Montserrat"/>
              </a:rPr>
              <a:t>Проверено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58254" y="1494262"/>
            <a:ext cx="3809255" cy="380388"/>
          </a:xfrm>
          <a:prstGeom prst="roundRect">
            <a:avLst/>
          </a:prstGeom>
          <a:solidFill>
            <a:srgbClr val="2423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1555" y="1570339"/>
            <a:ext cx="1816820" cy="228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000" b="0">
                <a:solidFill>
                  <a:srgbClr val="FFFFFF"/>
                </a:solidFill>
                <a:latin typeface="Montserrat"/>
              </a:rPr>
              <a:t>Исследование 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06139" y="1570339"/>
            <a:ext cx="1514017" cy="228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000" b="1">
                <a:solidFill>
                  <a:srgbClr val="FF759D"/>
                </a:solidFill>
                <a:latin typeface="Montserrat"/>
              </a:rPr>
              <a:t>Проверить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58254" y="1969747"/>
            <a:ext cx="3809255" cy="380388"/>
          </a:xfrm>
          <a:prstGeom prst="roundRect">
            <a:avLst/>
          </a:prstGeom>
          <a:solidFill>
            <a:srgbClr val="2423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1555" y="2045824"/>
            <a:ext cx="1816820" cy="228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000" b="0">
                <a:solidFill>
                  <a:srgbClr val="FFFFFF"/>
                </a:solidFill>
                <a:latin typeface="Montserrat"/>
              </a:rPr>
              <a:t>Исследование 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06139" y="2045824"/>
            <a:ext cx="1514017" cy="228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000" b="1">
                <a:solidFill>
                  <a:srgbClr val="59D7AA"/>
                </a:solidFill>
                <a:latin typeface="Montserrat"/>
              </a:rPr>
              <a:t>Проверено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19454" y="959341"/>
            <a:ext cx="1678654" cy="1753352"/>
          </a:xfrm>
          <a:prstGeom prst="roundRect">
            <a:avLst/>
          </a:prstGeom>
          <a:solidFill>
            <a:srgbClr val="27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35668" y="1137648"/>
            <a:ext cx="1420399" cy="44576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Montserrat"/>
              </a:rPr>
              <a:t>Вердикт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35668" y="1672569"/>
            <a:ext cx="1420399" cy="71322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900" b="0">
                <a:solidFill>
                  <a:srgbClr val="FFB1CC"/>
                </a:solidFill>
                <a:latin typeface="Montserrat"/>
              </a:rPr>
              <a:t>1 из 3
требует проверки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8254" y="2861283"/>
            <a:ext cx="5939855" cy="2674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700" b="0">
                <a:solidFill>
                  <a:srgbClr val="AFA9C1"/>
                </a:solidFill>
                <a:latin typeface="Montserrat"/>
              </a:rPr>
              <a:t>Схема интерфейса · без клинических данных</a:t>
            </a: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4998567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5170851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ML-</a:t>
            </a:r>
            <a:r>
              <a:rPr lang="ru-RU" sz="1200" dirty="0">
                <a:solidFill>
                  <a:schemeClr val="tx1"/>
                </a:solidFill>
              </a:rPr>
              <a:t>инженер, бэкенд-программист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@theorcos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Студент 3 курса факультета </a:t>
            </a:r>
            <a:r>
              <a:rPr lang="en-US" sz="1200" dirty="0">
                <a:solidFill>
                  <a:schemeClr val="tx1"/>
                </a:solidFill>
              </a:rPr>
              <a:t>AI360, </a:t>
            </a:r>
            <a:r>
              <a:rPr lang="ru-RU" sz="1200" dirty="0">
                <a:solidFill>
                  <a:schemeClr val="tx1"/>
                </a:solidFill>
              </a:rPr>
              <a:t>МФТИ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5170850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Тимофей Ильин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7302855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7475139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Специалист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@alexa_skom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Студент 3 курса института клинической медицины им. Н.В. Склифосовского, Первого МГМУ им. И.М. Сеченова 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7475138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 err="1">
                <a:solidFill>
                  <a:schemeClr val="accent5"/>
                </a:solidFill>
              </a:rPr>
              <a:t>Скоморохова</a:t>
            </a:r>
            <a:r>
              <a:rPr lang="ru-RU" sz="1600" b="1" dirty="0">
                <a:solidFill>
                  <a:schemeClr val="accent5"/>
                </a:solidFill>
              </a:rPr>
              <a:t> Александра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2694279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t>КОМАНДА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2866563" y="4250027"/>
            <a:ext cx="1894354" cy="1994361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бэкенд-программист, </a:t>
            </a:r>
            <a:r>
              <a:rPr lang="ru-RU" sz="1200" dirty="0" err="1">
                <a:solidFill>
                  <a:schemeClr val="tx1"/>
                </a:solidFill>
              </a:rPr>
              <a:t>фронтенд</a:t>
            </a:r>
            <a:r>
              <a:rPr lang="ru-RU" sz="1200" dirty="0">
                <a:solidFill>
                  <a:schemeClr val="tx1"/>
                </a:solidFill>
              </a:rPr>
              <a:t>-программист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@Patricium239</a:t>
            </a: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Студент 3 курса факультета Математики и Компьютерных наук СПбГУ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286656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Михаил Урусов</a:t>
            </a:r>
          </a:p>
        </p:txBody>
      </p:sp>
      <p:sp>
        <p:nvSpPr>
          <p:cNvPr id="68" name="Oval 67"/>
          <p:cNvSpPr/>
          <p:nvPr/>
        </p:nvSpPr>
        <p:spPr>
          <a:xfrm>
            <a:off x="3174339" y="1897380"/>
            <a:ext cx="1234440" cy="1234440"/>
          </a:xfrm>
          <a:prstGeom prst="ellipse">
            <a:avLst/>
          </a:prstGeom>
          <a:solidFill>
            <a:srgbClr val="FFD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 i="0" dirty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?</a:t>
            </a:r>
          </a:p>
        </p:txBody>
      </p:sp>
      <p:sp>
        <p:nvSpPr>
          <p:cNvPr id="69" name="Oval 68"/>
          <p:cNvSpPr/>
          <p:nvPr/>
        </p:nvSpPr>
        <p:spPr>
          <a:xfrm>
            <a:off x="5478627" y="1897380"/>
            <a:ext cx="1234440" cy="1234440"/>
          </a:xfrm>
          <a:prstGeom prst="ellipse">
            <a:avLst/>
          </a:prstGeom>
          <a:solidFill>
            <a:srgbClr val="FFD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?</a:t>
            </a:r>
          </a:p>
        </p:txBody>
      </p:sp>
      <p:sp>
        <p:nvSpPr>
          <p:cNvPr id="70" name="Oval 69"/>
          <p:cNvSpPr/>
          <p:nvPr/>
        </p:nvSpPr>
        <p:spPr>
          <a:xfrm>
            <a:off x="7782915" y="1897380"/>
            <a:ext cx="1234440" cy="1234440"/>
          </a:xfrm>
          <a:prstGeom prst="ellipse">
            <a:avLst/>
          </a:prstGeom>
          <a:solidFill>
            <a:srgbClr val="FFD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?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8F3239E-B922-CE21-04EF-0CE7B32D6B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6769" y="1691704"/>
            <a:ext cx="1642152" cy="1642152"/>
          </a:xfrm>
          <a:prstGeom prst="flowChartConnector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762AEB89-1C6F-7FC7-B258-2FD598ED452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20401"/>
          <a:stretch/>
        </p:blipFill>
        <p:spPr>
          <a:xfrm>
            <a:off x="5355619" y="1686536"/>
            <a:ext cx="1499311" cy="1644333"/>
          </a:xfrm>
          <a:prstGeom prst="flowChartConnector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E1756D94-F4FB-15CC-319F-E95C7E58C6C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1590" t="28849" r="19286" b="19027"/>
          <a:stretch/>
        </p:blipFill>
        <p:spPr>
          <a:xfrm>
            <a:off x="7522239" y="1691704"/>
            <a:ext cx="1630300" cy="1639166"/>
          </a:xfrm>
          <a:prstGeom prst="flowChartConnector">
            <a:avLst/>
          </a:prstGeom>
        </p:spPr>
      </p:pic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t>ИСТОРИЯ И ВЫЗОВЫ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10241280" cy="1094539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Мы познакомились в лицее №239. Сейчас учимся математике, машинному обучению и медицине в разных университетах — поэтому собрались для этой задачи вместе.</a:t>
            </a:r>
            <a:r>
              <a:rPr lang="en-US" dirty="0">
                <a:solidFill>
                  <a:schemeClr val="tx1"/>
                </a:solidFill>
              </a:rPr>
              <a:t/>
            </a:r>
            <a:r>
              <a:rPr lang="ru-RU" dirty="0">
                <a:solidFill>
                  <a:schemeClr val="tx1"/>
                </a:solidFill>
              </a:rPr>
              <a:t/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10241280" cy="1143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Примеров нарушений мало. Поэтому делили данные по пациентам и проверяли решение на снимках, которых модель не видела. Отступы области измерения привели к требованиям задания.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9966960" cy="960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Неверная укладка меняет результат DXA, но её часто замечают уже после съёмки. Мы даём оператору проверяемую подсказку, пока пациент ещё на аппарате.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3872483" cy="620919"/>
          </a:xfrm>
          <a:prstGeom prst="roundRect">
            <a:avLst>
              <a:gd name="adj" fmla="val 187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КОРОТКО О РЕШЕНИИ</a:t>
            </a:r>
          </a:p>
        </p:txBody>
      </p:sp>
      <p:sp>
        <p:nvSpPr>
          <p:cNvPr id="901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r>
              <a:t>5</a:t>
            </a:r>
          </a:p>
        </p:txBody>
      </p:sp>
      <p:sp>
        <p:nvSpPr>
          <p:cNvPr id="902" name="Rounded Rectangle 901"/>
          <p:cNvSpPr/>
          <p:nvPr/>
        </p:nvSpPr>
        <p:spPr>
          <a:xfrm>
            <a:off x="346075" y="1207008"/>
            <a:ext cx="5440680" cy="499262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3" name="TextBox 902"/>
          <p:cNvSpPr txBox="1"/>
          <p:nvPr/>
        </p:nvSpPr>
        <p:spPr>
          <a:xfrm>
            <a:off x="620395" y="1481328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Как работает</a:t>
            </a:r>
          </a:p>
        </p:txBody>
      </p:sp>
      <p:sp>
        <p:nvSpPr>
          <p:cNvPr id="904" name="TextBox 903"/>
          <p:cNvSpPr txBox="1"/>
          <p:nvPr/>
        </p:nvSpPr>
        <p:spPr>
          <a:xfrm>
            <a:off x="620395" y="2029968"/>
            <a:ext cx="4892040" cy="4032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lnSpc>
                <a:spcPct val="112000"/>
              </a:lnSpc>
              <a:spcAft>
                <a:spcPts val="1700"/>
              </a:spcAft>
              <a:buNone/>
            </a:pPr>
            <a:r>
              <a:rPr sz="1700">
                <a:solidFill>
                  <a:srgbClr val="251335"/>
                </a:solidFill>
                <a:latin typeface="Montserrat"/>
              </a:rPr>
              <a:t>• Вход: DICOM, папка или zip; повторы удаляются по изображению.</a:t>
            </a:r>
          </a:p>
          <a:p>
            <a:pPr marL="0" indent="0">
              <a:spcAft>
                <a:spcPts val="1700"/>
              </a:spcAft>
              <a:buNone/>
            </a:pPr>
            <a:r>
              <a:rPr sz="1700">
                <a:solidFill>
                  <a:srgbClr val="251335"/>
                </a:solidFill>
                <a:latin typeface="Montserrat"/>
              </a:rPr>
              <a:t>• Пять критериев: углы и отступы измеряем, форму оценивают модели.</a:t>
            </a:r>
          </a:p>
          <a:p>
            <a:pPr marL="0" indent="0">
              <a:spcAft>
                <a:spcPts val="1700"/>
              </a:spcAft>
              <a:buNone/>
            </a:pPr>
            <a:r>
              <a:rPr sz="1700">
                <a:solidFill>
                  <a:srgbClr val="251335"/>
                </a:solidFill>
                <a:latin typeface="Montserrat"/>
              </a:rPr>
              <a:t>• Опорные точки помогают проверить видимую часть Th12.</a:t>
            </a:r>
          </a:p>
          <a:p>
            <a:pPr marL="0" indent="0">
              <a:spcAft>
                <a:spcPts val="1700"/>
              </a:spcAft>
              <a:buNone/>
            </a:pPr>
            <a:r>
              <a:rPr sz="1700">
                <a:solidFill>
                  <a:srgbClr val="251335"/>
                </a:solidFill>
                <a:latin typeface="Montserrat"/>
              </a:rPr>
              <a:t>• Выход: таблица по заданию, снимки с отметками и DICOM SR.</a:t>
            </a:r>
          </a:p>
        </p:txBody>
      </p:sp>
      <p:sp>
        <p:nvSpPr>
          <p:cNvPr id="905" name="Rounded Rectangle 904"/>
          <p:cNvSpPr/>
          <p:nvPr/>
        </p:nvSpPr>
        <p:spPr>
          <a:xfrm>
            <a:off x="6225667" y="1207008"/>
            <a:ext cx="5440680" cy="499262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6" name="TextBox 905"/>
          <p:cNvSpPr txBox="1"/>
          <p:nvPr/>
        </p:nvSpPr>
        <p:spPr>
          <a:xfrm>
            <a:off x="6499987" y="1481328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Польза и внедрение</a:t>
            </a:r>
          </a:p>
        </p:txBody>
      </p:sp>
      <p:sp>
        <p:nvSpPr>
          <p:cNvPr id="907" name="TextBox 906"/>
          <p:cNvSpPr txBox="1"/>
          <p:nvPr/>
        </p:nvSpPr>
        <p:spPr>
          <a:xfrm>
            <a:off x="6499987" y="2029968"/>
            <a:ext cx="4892040" cy="4032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lnSpc>
                <a:spcPct val="112000"/>
              </a:lnSpc>
              <a:spcAft>
                <a:spcPts val="1700"/>
              </a:spcAft>
              <a:buNone/>
            </a:pPr>
            <a:r>
              <a:rPr sz="1700">
                <a:solidFill>
                  <a:srgbClr val="251335"/>
                </a:solidFill>
                <a:latin typeface="Montserrat"/>
              </a:rPr>
              <a:t>• Для кого: лаборант, врач, служба контроля качества.</a:t>
            </a:r>
          </a:p>
          <a:p>
            <a:pPr marL="0" indent="0">
              <a:spcAft>
                <a:spcPts val="1700"/>
              </a:spcAft>
              <a:buNone/>
            </a:pPr>
            <a:r>
              <a:rPr sz="1700">
                <a:solidFill>
                  <a:srgbClr val="251335"/>
                </a:solidFill>
                <a:latin typeface="Montserrat"/>
              </a:rPr>
              <a:t>• Когда: сразу после съёмки, пока пациента можно поправить.</a:t>
            </a:r>
          </a:p>
          <a:p>
            <a:pPr marL="0" indent="0">
              <a:spcAft>
                <a:spcPts val="1700"/>
              </a:spcAft>
              <a:buNone/>
            </a:pPr>
            <a:r>
              <a:rPr sz="1700">
                <a:solidFill>
                  <a:srgbClr val="251335"/>
                </a:solidFill>
                <a:latin typeface="Montserrat"/>
              </a:rPr>
              <a:t>• Как внедрить: локально или на защищённом сервере через DICOM.</a:t>
            </a:r>
          </a:p>
          <a:p>
            <a:pPr marL="0" indent="0">
              <a:spcAft>
                <a:spcPts val="1700"/>
              </a:spcAft>
              <a:buNone/>
            </a:pPr>
            <a:r>
              <a:rPr sz="1700">
                <a:solidFill>
                  <a:srgbClr val="251335"/>
                </a:solidFill>
                <a:latin typeface="Montserrat"/>
              </a:rPr>
              <a:t>• Как проверить эффект: пилот параллельно с врачом.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4059935" cy="620919"/>
          </a:xfrm>
          <a:prstGeom prst="roundRect">
            <a:avLst>
              <a:gd name="adj" fmla="val 187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КЛИНИЧЕСКАЯ ЗАДАЧА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09728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2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Ошибку укладки дешевле поймать, пока пациент на аппарате</a:t>
            </a:r>
          </a:p>
        </p:txBody>
      </p:sp>
      <p:sp>
        <p:nvSpPr>
          <p:cNvPr id="902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r>
              <a:t>6</a:t>
            </a:r>
          </a:p>
        </p:txBody>
      </p:sp>
      <p:sp>
        <p:nvSpPr>
          <p:cNvPr id="903" name="TextBox 902"/>
          <p:cNvSpPr txBox="1"/>
          <p:nvPr/>
        </p:nvSpPr>
        <p:spPr>
          <a:xfrm>
            <a:off x="346075" y="1828800"/>
            <a:ext cx="530352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ПОЧЕМУ ЭТО ВАЖНО</a:t>
            </a:r>
          </a:p>
        </p:txBody>
      </p:sp>
      <p:sp>
        <p:nvSpPr>
          <p:cNvPr id="904" name="TextBox 903"/>
          <p:cNvSpPr txBox="1"/>
          <p:nvPr/>
        </p:nvSpPr>
        <p:spPr>
          <a:xfrm>
            <a:off x="346075" y="2148840"/>
            <a:ext cx="5577840" cy="1920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219456" indent="-219456" algn="l">
              <a:lnSpc>
                <a:spcPct val="112000"/>
              </a:lnSpc>
              <a:spcAft>
                <a:spcPts val="500"/>
              </a:spcAft>
              <a:buClr>
                <a:srgbClr val="FF0053"/>
              </a:buClr>
              <a:buFont typeface="Arial"/>
              <a:buChar char="▪"/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Наклон позвоночника, поворот бедра или предмет в кадре меняют измерение плотности кости. Ошибку важно заметить до ухода пациента.</a:t>
            </a:r>
          </a:p>
          <a:p>
            <a:pPr marL="219456" indent="-219456">
              <a:lnSpc>
                <a:spcPct val="112000"/>
              </a:lnSpc>
              <a:spcAft>
                <a:spcPts val="500"/>
              </a:spcAft>
              <a:buClr>
                <a:srgbClr val="FF0053"/>
              </a:buClr>
              <a:buFont typeface="Arial"/>
              <a:buChar char="▪"/>
            </a:pPr>
          </a:p>
          <a:p>
            <a:pPr marL="219456" indent="-219456">
              <a:lnSpc>
                <a:spcPct val="112000"/>
              </a:lnSpc>
              <a:spcAft>
                <a:spcPts val="500"/>
              </a:spcAft>
              <a:buClr>
                <a:srgbClr val="FF0053"/>
              </a:buClr>
              <a:buFont typeface="Arial"/>
              <a:buChar char="▪"/>
            </a:pPr>
          </a:p>
        </p:txBody>
      </p:sp>
      <p:sp>
        <p:nvSpPr>
          <p:cNvPr id="905" name="Rounded Rectangle 904"/>
          <p:cNvSpPr/>
          <p:nvPr/>
        </p:nvSpPr>
        <p:spPr>
          <a:xfrm>
            <a:off x="346075" y="4114800"/>
            <a:ext cx="2743200" cy="2148840"/>
          </a:xfrm>
          <a:prstGeom prst="roundRect">
            <a:avLst>
              <a:gd name="adj" fmla="val 4000"/>
            </a:avLst>
          </a:prstGeom>
          <a:solidFill>
            <a:srgbClr val="120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7" name="TextBox 906"/>
          <p:cNvSpPr txBox="1"/>
          <p:nvPr/>
        </p:nvSpPr>
        <p:spPr>
          <a:xfrm>
            <a:off x="492379" y="5998464"/>
            <a:ext cx="2450592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 i="0">
                <a:solidFill>
                  <a:srgbClr val="D9D2E6"/>
                </a:solidFill>
                <a:latin typeface="Montserrat"/>
                <a:ea typeface="Montserrat"/>
                <a:cs typeface="Montserrat"/>
              </a:rPr>
              <a:t>норма: малый вертел виден</a:t>
            </a:r>
          </a:p>
        </p:txBody>
      </p:sp>
      <p:sp>
        <p:nvSpPr>
          <p:cNvPr id="908" name="Rounded Rectangle 907"/>
          <p:cNvSpPr/>
          <p:nvPr/>
        </p:nvSpPr>
        <p:spPr>
          <a:xfrm>
            <a:off x="3199003" y="4114800"/>
            <a:ext cx="2743200" cy="2148840"/>
          </a:xfrm>
          <a:prstGeom prst="roundRect">
            <a:avLst>
              <a:gd name="adj" fmla="val 4000"/>
            </a:avLst>
          </a:prstGeom>
          <a:solidFill>
            <a:srgbClr val="120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0" name="TextBox 909"/>
          <p:cNvSpPr txBox="1"/>
          <p:nvPr/>
        </p:nvSpPr>
        <p:spPr>
          <a:xfrm>
            <a:off x="3345307" y="5998464"/>
            <a:ext cx="2450592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 i="0">
                <a:solidFill>
                  <a:srgbClr val="D9D2E6"/>
                </a:solidFill>
                <a:latin typeface="Montserrat"/>
                <a:ea typeface="Montserrat"/>
                <a:cs typeface="Montserrat"/>
              </a:rPr>
              <a:t>бедро повёрнуто: вертел не виден</a:t>
            </a:r>
          </a:p>
        </p:txBody>
      </p:sp>
      <p:sp>
        <p:nvSpPr>
          <p:cNvPr id="911" name="TextBox 910"/>
          <p:cNvSpPr txBox="1"/>
          <p:nvPr/>
        </p:nvSpPr>
        <p:spPr>
          <a:xfrm>
            <a:off x="6355080" y="1828800"/>
            <a:ext cx="50292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ЧТО ДЕЛАЕТ СЕРВИС</a:t>
            </a:r>
          </a:p>
        </p:txBody>
      </p:sp>
      <p:sp>
        <p:nvSpPr>
          <p:cNvPr id="912" name="Rounded Rectangle 911"/>
          <p:cNvSpPr/>
          <p:nvPr/>
        </p:nvSpPr>
        <p:spPr>
          <a:xfrm>
            <a:off x="6355080" y="2194560"/>
            <a:ext cx="420624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913" name="TextBox 912"/>
          <p:cNvSpPr txBox="1"/>
          <p:nvPr/>
        </p:nvSpPr>
        <p:spPr>
          <a:xfrm>
            <a:off x="6949440" y="2176272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Проверяет</a:t>
            </a:r>
          </a:p>
        </p:txBody>
      </p:sp>
      <p:sp>
        <p:nvSpPr>
          <p:cNvPr id="914" name="TextBox 913"/>
          <p:cNvSpPr txBox="1"/>
          <p:nvPr/>
        </p:nvSpPr>
        <p:spPr>
          <a:xfrm>
            <a:off x="6949440" y="2542032"/>
            <a:ext cx="484632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Пять критериев для позвоночника и бедра.</a:t>
            </a:r>
          </a:p>
        </p:txBody>
      </p:sp>
      <p:sp>
        <p:nvSpPr>
          <p:cNvPr id="915" name="Rounded Rectangle 914"/>
          <p:cNvSpPr/>
          <p:nvPr/>
        </p:nvSpPr>
        <p:spPr>
          <a:xfrm>
            <a:off x="6355080" y="3566160"/>
            <a:ext cx="420624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916" name="TextBox 915"/>
          <p:cNvSpPr txBox="1"/>
          <p:nvPr/>
        </p:nvSpPr>
        <p:spPr>
          <a:xfrm>
            <a:off x="6949440" y="3547872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Объясняет</a:t>
            </a:r>
          </a:p>
        </p:txBody>
      </p:sp>
      <p:sp>
        <p:nvSpPr>
          <p:cNvPr id="917" name="TextBox 916"/>
          <p:cNvSpPr txBox="1"/>
          <p:nvPr/>
        </p:nvSpPr>
        <p:spPr>
          <a:xfrm>
            <a:off x="6949440" y="3913632"/>
            <a:ext cx="484632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Угол и отступы в мм; причина отмечена на снимке.</a:t>
            </a:r>
          </a:p>
        </p:txBody>
      </p:sp>
      <p:sp>
        <p:nvSpPr>
          <p:cNvPr id="918" name="Rounded Rectangle 917"/>
          <p:cNvSpPr/>
          <p:nvPr/>
        </p:nvSpPr>
        <p:spPr>
          <a:xfrm>
            <a:off x="6355080" y="4937760"/>
            <a:ext cx="420624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919" name="TextBox 918"/>
          <p:cNvSpPr txBox="1"/>
          <p:nvPr/>
        </p:nvSpPr>
        <p:spPr>
          <a:xfrm>
            <a:off x="6949440" y="4919472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Передаёт человеку</a:t>
            </a:r>
          </a:p>
        </p:txBody>
      </p:sp>
      <p:sp>
        <p:nvSpPr>
          <p:cNvPr id="920" name="TextBox 919"/>
          <p:cNvSpPr txBox="1"/>
          <p:nvPr/>
        </p:nvSpPr>
        <p:spPr>
          <a:xfrm>
            <a:off x="6949440" y="5285232"/>
            <a:ext cx="484632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Лаборанту — подсказка сразу, врачу — запись в архиве клиники.</a:t>
            </a:r>
          </a:p>
        </p:txBody>
      </p:sp>
      <p:sp>
        <p:nvSpPr>
          <p:cNvPr id="921" name="Rounded Rectangle 920"/>
          <p:cNvSpPr/>
          <p:nvPr/>
        </p:nvSpPr>
        <p:spPr>
          <a:xfrm>
            <a:off x="836181" y="4114800"/>
            <a:ext cx="1762988" cy="1819656"/>
          </a:xfrm>
          <a:prstGeom prst="roundRect">
            <a:avLst/>
          </a:prstGeom>
          <a:solidFill>
            <a:srgbClr val="190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TextBox 921"/>
          <p:cNvSpPr txBox="1"/>
          <p:nvPr/>
        </p:nvSpPr>
        <p:spPr>
          <a:xfrm>
            <a:off x="1012479" y="4333158"/>
            <a:ext cx="1410392" cy="40032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000" b="1">
                <a:solidFill>
                  <a:srgbClr val="6EDEB0"/>
                </a:solidFill>
                <a:latin typeface="Montserrat"/>
              </a:rPr>
              <a:t>НОРМА</a:t>
            </a:r>
          </a:p>
        </p:txBody>
      </p:sp>
      <p:sp>
        <p:nvSpPr>
          <p:cNvPr id="923" name="Rounded Rectangle 922"/>
          <p:cNvSpPr/>
          <p:nvPr/>
        </p:nvSpPr>
        <p:spPr>
          <a:xfrm>
            <a:off x="1012479" y="5042824"/>
            <a:ext cx="1410392" cy="145572"/>
          </a:xfrm>
          <a:prstGeom prst="roundRect">
            <a:avLst/>
          </a:prstGeom>
          <a:solidFill>
            <a:srgbClr val="544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Oval 923"/>
          <p:cNvSpPr/>
          <p:nvPr/>
        </p:nvSpPr>
        <p:spPr>
          <a:xfrm>
            <a:off x="2035012" y="4897252"/>
            <a:ext cx="436717" cy="436717"/>
          </a:xfrm>
          <a:prstGeom prst="ellipse">
            <a:avLst/>
          </a:prstGeom>
          <a:solidFill>
            <a:srgbClr val="5ED2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TextBox 924"/>
          <p:cNvSpPr txBox="1"/>
          <p:nvPr/>
        </p:nvSpPr>
        <p:spPr>
          <a:xfrm>
            <a:off x="1012479" y="5370362"/>
            <a:ext cx="1410392" cy="40032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900" b="0">
                <a:solidFill>
                  <a:srgbClr val="FFFFFF"/>
                </a:solidFill>
                <a:latin typeface="Montserrat"/>
              </a:rPr>
              <a:t>ориентир виден</a:t>
            </a:r>
          </a:p>
        </p:txBody>
      </p:sp>
      <p:sp>
        <p:nvSpPr>
          <p:cNvPr id="926" name="Rounded Rectangle 925"/>
          <p:cNvSpPr/>
          <p:nvPr/>
        </p:nvSpPr>
        <p:spPr>
          <a:xfrm>
            <a:off x="3486553" y="4114800"/>
            <a:ext cx="2168100" cy="1819656"/>
          </a:xfrm>
          <a:prstGeom prst="roundRect">
            <a:avLst/>
          </a:prstGeom>
          <a:solidFill>
            <a:srgbClr val="190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TextBox 926"/>
          <p:cNvSpPr txBox="1"/>
          <p:nvPr/>
        </p:nvSpPr>
        <p:spPr>
          <a:xfrm>
            <a:off x="3703363" y="4333158"/>
            <a:ext cx="1734480" cy="40032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000" b="1">
                <a:solidFill>
                  <a:srgbClr val="FF769E"/>
                </a:solidFill>
                <a:latin typeface="Montserrat"/>
              </a:rPr>
              <a:t>ПОВОРОТ</a:t>
            </a:r>
          </a:p>
        </p:txBody>
      </p:sp>
      <p:sp>
        <p:nvSpPr>
          <p:cNvPr id="928" name="Rounded Rectangle 927"/>
          <p:cNvSpPr/>
          <p:nvPr/>
        </p:nvSpPr>
        <p:spPr>
          <a:xfrm>
            <a:off x="3703363" y="5042824"/>
            <a:ext cx="1734480" cy="145572"/>
          </a:xfrm>
          <a:prstGeom prst="roundRect">
            <a:avLst/>
          </a:prstGeom>
          <a:solidFill>
            <a:srgbClr val="544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Oval 928"/>
          <p:cNvSpPr/>
          <p:nvPr/>
        </p:nvSpPr>
        <p:spPr>
          <a:xfrm>
            <a:off x="3876811" y="4897252"/>
            <a:ext cx="436717" cy="436717"/>
          </a:xfrm>
          <a:prstGeom prst="ellipse">
            <a:avLst/>
          </a:prstGeom>
          <a:solidFill>
            <a:srgbClr val="FF00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TextBox 929"/>
          <p:cNvSpPr txBox="1"/>
          <p:nvPr/>
        </p:nvSpPr>
        <p:spPr>
          <a:xfrm>
            <a:off x="3703363" y="5370362"/>
            <a:ext cx="1734480" cy="40032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900" b="0">
                <a:solidFill>
                  <a:srgbClr val="FFFFFF"/>
                </a:solidFill>
                <a:latin typeface="Montserrat"/>
              </a:rPr>
              <a:t>12 мм²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4434840" cy="620919"/>
          </a:xfrm>
          <a:prstGeom prst="roundRect">
            <a:avLst>
              <a:gd name="adj" fmla="val 18700"/>
            </a:avLst>
          </a:prstGeom>
          <a:solidFill>
            <a:srgbClr val="5209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ТАКСОНОМИЯ НАРУШЕНИЙ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09728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2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Пять критериев ТЗ, у каждого — измерение в физических единицах</a:t>
            </a:r>
          </a:p>
        </p:txBody>
      </p:sp>
      <p:sp>
        <p:nvSpPr>
          <p:cNvPr id="902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r>
              <a:t>7</a:t>
            </a:r>
          </a:p>
        </p:txBody>
      </p:sp>
      <p:graphicFrame>
        <p:nvGraphicFramePr>
          <p:cNvPr id="903" name="Table 902"/>
          <p:cNvGraphicFramePr>
            <a:graphicFrameLocks noGrp="1"/>
          </p:cNvGraphicFramePr>
          <p:nvPr/>
        </p:nvGraphicFramePr>
        <p:xfrm>
          <a:off x="346075" y="1828800"/>
          <a:ext cx="7818118" cy="396849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5145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284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834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917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КОД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КРИТЕРИЙ ТЗ 2.3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КАК ИЗМЕРЯЕМ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НОРМА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spine_position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видны верхние края подвздошных костей (таза)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гребни таза и видимая часть Th12 по точкам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гребни с двух сторон; Th12 ≥ половины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spine_axis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наклон оси до 5°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линия через центры позвонков; контроль — по краям позвоночника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≤ 5° (порог 4°)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spine_artifacts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нет посторонних предметов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яркие тонкие структуры вне кости (фильтр top-hat) + нейросеть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уверенность &lt; 0.17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hip_rotation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нет ротации (по малому вертелу)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выступ малого вертела — костного бугорка — над контуром кости, мм² + нейросеть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уверенность &lt; 0.24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hip_roi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отступы 3 / 3 / 2 см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отступы сверху, снизу и сбоку от кости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≥ 30 / 30 / 20 мм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undetermined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область не определена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снимок не похож на денситометрию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ручной разбор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04" name="Rounded Rectangle 903"/>
          <p:cNvSpPr/>
          <p:nvPr/>
        </p:nvSpPr>
        <p:spPr>
          <a:xfrm>
            <a:off x="8412480" y="1828800"/>
            <a:ext cx="3410712" cy="2148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5" name="TextBox 904"/>
          <p:cNvSpPr txBox="1"/>
          <p:nvPr/>
        </p:nvSpPr>
        <p:spPr>
          <a:xfrm>
            <a:off x="8631936" y="2011680"/>
            <a:ext cx="2971800" cy="243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Несколько нарушений</a:t>
            </a:r>
          </a:p>
        </p:txBody>
      </p:sp>
      <p:sp>
        <p:nvSpPr>
          <p:cNvPr id="906" name="TextBox 905"/>
          <p:cNvSpPr txBox="1"/>
          <p:nvPr/>
        </p:nvSpPr>
        <p:spPr>
          <a:xfrm>
            <a:off x="8631936" y="2346960"/>
            <a:ext cx="2971800" cy="1493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У каждого пятого исследования нарушений несколько. Критерии проверяются независимо, в отчёт попадают все, например «spine_axis; spine_artifacts». Класс качества = 1 («есть нарушение»), если сработал хоть один.</a:t>
            </a:r>
          </a:p>
        </p:txBody>
      </p:sp>
      <p:sp>
        <p:nvSpPr>
          <p:cNvPr id="907" name="Rounded Rectangle 906"/>
          <p:cNvSpPr/>
          <p:nvPr/>
        </p:nvSpPr>
        <p:spPr>
          <a:xfrm>
            <a:off x="8412480" y="4114800"/>
            <a:ext cx="3410712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8" name="TextBox 907"/>
          <p:cNvSpPr txBox="1"/>
          <p:nvPr/>
        </p:nvSpPr>
        <p:spPr>
          <a:xfrm>
            <a:off x="8631936" y="4297680"/>
            <a:ext cx="2971800" cy="243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Сбой чтения</a:t>
            </a:r>
          </a:p>
        </p:txBody>
      </p:sp>
      <p:sp>
        <p:nvSpPr>
          <p:cNvPr id="909" name="TextBox 908"/>
          <p:cNvSpPr txBox="1"/>
          <p:nvPr/>
        </p:nvSpPr>
        <p:spPr>
          <a:xfrm>
            <a:off x="8631936" y="4632960"/>
            <a:ext cx="2971800" cy="899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Файл, который не удалось прочитать, попадает в отчёт строкой Failure с текстом ошибки; обработка не прерывается.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1810512" cy="620919"/>
          </a:xfrm>
          <a:prstGeom prst="roundRect">
            <a:avLst>
              <a:gd name="adj" fmla="val 187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ДАННЫЕ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09728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252 снимка, по каждому критерию всего 6–36 нарушений</a:t>
            </a:r>
          </a:p>
        </p:txBody>
      </p:sp>
      <p:sp>
        <p:nvSpPr>
          <p:cNvPr id="902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r>
              <a:t>8</a:t>
            </a:r>
          </a:p>
        </p:txBody>
      </p:sp>
      <p:sp>
        <p:nvSpPr>
          <p:cNvPr id="903" name="Rounded Rectangle 902"/>
          <p:cNvSpPr/>
          <p:nvPr/>
        </p:nvSpPr>
        <p:spPr>
          <a:xfrm>
            <a:off x="346075" y="1828800"/>
            <a:ext cx="5577840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4" name="TextBox 903"/>
          <p:cNvSpPr txBox="1"/>
          <p:nvPr/>
        </p:nvSpPr>
        <p:spPr>
          <a:xfrm>
            <a:off x="620395" y="2057400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100</a:t>
            </a:r>
          </a:p>
        </p:txBody>
      </p:sp>
      <p:sp>
        <p:nvSpPr>
          <p:cNvPr id="905" name="TextBox 904"/>
          <p:cNvSpPr txBox="1"/>
          <p:nvPr/>
        </p:nvSpPr>
        <p:spPr>
          <a:xfrm>
            <a:off x="620395" y="2545080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исследований</a:t>
            </a:r>
          </a:p>
        </p:txBody>
      </p:sp>
      <p:sp>
        <p:nvSpPr>
          <p:cNvPr id="906" name="TextBox 905"/>
          <p:cNvSpPr txBox="1"/>
          <p:nvPr/>
        </p:nvSpPr>
        <p:spPr>
          <a:xfrm>
            <a:off x="2357755" y="2057400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499</a:t>
            </a:r>
          </a:p>
        </p:txBody>
      </p:sp>
      <p:sp>
        <p:nvSpPr>
          <p:cNvPr id="907" name="TextBox 906"/>
          <p:cNvSpPr txBox="1"/>
          <p:nvPr/>
        </p:nvSpPr>
        <p:spPr>
          <a:xfrm>
            <a:off x="2357755" y="2545080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DICOM-файлов</a:t>
            </a:r>
          </a:p>
        </p:txBody>
      </p:sp>
      <p:sp>
        <p:nvSpPr>
          <p:cNvPr id="908" name="TextBox 907"/>
          <p:cNvSpPr txBox="1"/>
          <p:nvPr/>
        </p:nvSpPr>
        <p:spPr>
          <a:xfrm>
            <a:off x="4095115" y="2057400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252</a:t>
            </a:r>
          </a:p>
        </p:txBody>
      </p:sp>
      <p:sp>
        <p:nvSpPr>
          <p:cNvPr id="909" name="TextBox 908"/>
          <p:cNvSpPr txBox="1"/>
          <p:nvPr/>
        </p:nvSpPr>
        <p:spPr>
          <a:xfrm>
            <a:off x="4095115" y="2545080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уникальных снимков</a:t>
            </a:r>
          </a:p>
        </p:txBody>
      </p:sp>
      <p:sp>
        <p:nvSpPr>
          <p:cNvPr id="910" name="TextBox 909"/>
          <p:cNvSpPr txBox="1"/>
          <p:nvPr/>
        </p:nvSpPr>
        <p:spPr>
          <a:xfrm>
            <a:off x="620395" y="3154680"/>
            <a:ext cx="5029200" cy="3017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219456" indent="-219456" algn="l">
              <a:lnSpc>
                <a:spcPct val="112000"/>
              </a:lnSpc>
              <a:spcAft>
                <a:spcPts val="500"/>
              </a:spcAft>
              <a:buClr>
                <a:srgbClr val="FF0053"/>
              </a:buClr>
              <a:buFont typeface="Arial"/>
              <a:buChar char="▪"/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Один снимок в выгрузке встречается по нескольку раз под разными идентификаторами. Повторы находим по совпадению изображения — ещё до деления данных на обучение и проверку.</a:t>
            </a:r>
          </a:p>
          <a:p>
            <a:pPr marL="219456" indent="-219456">
              <a:lnSpc>
                <a:spcPct val="112000"/>
              </a:lnSpc>
              <a:spcAft>
                <a:spcPts val="500"/>
              </a:spcAft>
              <a:buClr>
                <a:srgbClr val="FF0053"/>
              </a:buClr>
              <a:buFont typeface="Arial"/>
              <a:buChar char="▪"/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Из них 99 снимков позвоночника, 79 левого и 74 правого бедра — до трёх снимков на исследование. У трёх снимков бедра нет полной оценки эксперта, поэтому метрики считаются на 249.</a:t>
            </a:r>
          </a:p>
          <a:p>
            <a:pPr marL="219456" indent="-219456">
              <a:lnSpc>
                <a:spcPct val="112000"/>
              </a:lnSpc>
              <a:spcAft>
                <a:spcPts val="500"/>
              </a:spcAft>
              <a:buClr>
                <a:srgbClr val="FF0053"/>
              </a:buClr>
              <a:buFont typeface="Arial"/>
              <a:buChar char="▪"/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Все снимки с одного аппарата (GE Lunar Prodigy Advance). Размер пикселя в файлах не указан: масштаб 0.6 мм на пиксель восстановили по известной высоте «позвонок + диск».</a:t>
            </a:r>
          </a:p>
          <a:p>
            <a:pPr marL="219456" indent="-219456">
              <a:lnSpc>
                <a:spcPct val="112000"/>
              </a:lnSpc>
              <a:spcAft>
                <a:spcPts val="500"/>
              </a:spcAft>
              <a:buClr>
                <a:srgbClr val="FF0053"/>
              </a:buClr>
              <a:buFont typeface="Arial"/>
              <a:buChar char="▪"/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Сделали собственную разметку: 242 снимка, по 29 опорных точек на каждом.</a:t>
            </a:r>
          </a:p>
        </p:txBody>
      </p:sp>
      <p:sp>
        <p:nvSpPr>
          <p:cNvPr id="911" name="Rounded Rectangle 910"/>
          <p:cNvSpPr/>
          <p:nvPr/>
        </p:nvSpPr>
        <p:spPr>
          <a:xfrm>
            <a:off x="6126480" y="1828800"/>
            <a:ext cx="5696712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2" name="TextBox 911"/>
          <p:cNvSpPr txBox="1"/>
          <p:nvPr/>
        </p:nvSpPr>
        <p:spPr>
          <a:xfrm>
            <a:off x="6400800" y="205740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Нарушений мало, и они разные</a:t>
            </a:r>
          </a:p>
        </p:txBody>
      </p:sp>
      <p:sp>
        <p:nvSpPr>
          <p:cNvPr id="913" name="TextBox 912"/>
          <p:cNvSpPr txBox="1"/>
          <p:nvPr/>
        </p:nvSpPr>
        <p:spPr>
          <a:xfrm>
            <a:off x="6400800" y="2560320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Укладка</a:t>
            </a:r>
          </a:p>
        </p:txBody>
      </p:sp>
      <p:sp>
        <p:nvSpPr>
          <p:cNvPr id="914" name="Rounded Rectangle 913"/>
          <p:cNvSpPr/>
          <p:nvPr/>
        </p:nvSpPr>
        <p:spPr>
          <a:xfrm>
            <a:off x="8549640" y="2596896"/>
            <a:ext cx="1388059" cy="201168"/>
          </a:xfrm>
          <a:prstGeom prst="roundRect">
            <a:avLst>
              <a:gd name="adj" fmla="val 40000"/>
            </a:avLst>
          </a:prstGeom>
          <a:solidFill>
            <a:srgbClr val="FFD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5" name="Rounded Rectangle 914"/>
          <p:cNvSpPr/>
          <p:nvPr/>
        </p:nvSpPr>
        <p:spPr>
          <a:xfrm>
            <a:off x="8549640" y="2596896"/>
            <a:ext cx="84124" cy="201168"/>
          </a:xfrm>
          <a:prstGeom prst="roundRect">
            <a:avLst>
              <a:gd name="adj" fmla="val 4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6" name="TextBox 915"/>
          <p:cNvSpPr txBox="1"/>
          <p:nvPr/>
        </p:nvSpPr>
        <p:spPr>
          <a:xfrm>
            <a:off x="10029139" y="25603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6 из 99</a:t>
            </a:r>
          </a:p>
        </p:txBody>
      </p:sp>
      <p:sp>
        <p:nvSpPr>
          <p:cNvPr id="917" name="TextBox 916"/>
          <p:cNvSpPr txBox="1"/>
          <p:nvPr/>
        </p:nvSpPr>
        <p:spPr>
          <a:xfrm>
            <a:off x="6400800" y="2980944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Наклон оси &gt; 5°</a:t>
            </a:r>
          </a:p>
        </p:txBody>
      </p:sp>
      <p:sp>
        <p:nvSpPr>
          <p:cNvPr id="918" name="Rounded Rectangle 917"/>
          <p:cNvSpPr/>
          <p:nvPr/>
        </p:nvSpPr>
        <p:spPr>
          <a:xfrm>
            <a:off x="8549640" y="3017520"/>
            <a:ext cx="1388059" cy="201168"/>
          </a:xfrm>
          <a:prstGeom prst="roundRect">
            <a:avLst>
              <a:gd name="adj" fmla="val 40000"/>
            </a:avLst>
          </a:prstGeom>
          <a:solidFill>
            <a:srgbClr val="FFD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9" name="Rounded Rectangle 918"/>
          <p:cNvSpPr/>
          <p:nvPr/>
        </p:nvSpPr>
        <p:spPr>
          <a:xfrm>
            <a:off x="8549640" y="3017520"/>
            <a:ext cx="140207" cy="201168"/>
          </a:xfrm>
          <a:prstGeom prst="roundRect">
            <a:avLst>
              <a:gd name="adj" fmla="val 4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0" name="TextBox 919"/>
          <p:cNvSpPr txBox="1"/>
          <p:nvPr/>
        </p:nvSpPr>
        <p:spPr>
          <a:xfrm>
            <a:off x="10029139" y="298094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10 из 99</a:t>
            </a:r>
          </a:p>
        </p:txBody>
      </p:sp>
      <p:sp>
        <p:nvSpPr>
          <p:cNvPr id="921" name="TextBox 920"/>
          <p:cNvSpPr txBox="1"/>
          <p:nvPr/>
        </p:nvSpPr>
        <p:spPr>
          <a:xfrm>
            <a:off x="6400800" y="3401568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Посторонние предметы</a:t>
            </a:r>
          </a:p>
        </p:txBody>
      </p:sp>
      <p:sp>
        <p:nvSpPr>
          <p:cNvPr id="922" name="Rounded Rectangle 921"/>
          <p:cNvSpPr/>
          <p:nvPr/>
        </p:nvSpPr>
        <p:spPr>
          <a:xfrm>
            <a:off x="8549640" y="3438144"/>
            <a:ext cx="1388059" cy="201168"/>
          </a:xfrm>
          <a:prstGeom prst="roundRect">
            <a:avLst>
              <a:gd name="adj" fmla="val 40000"/>
            </a:avLst>
          </a:prstGeom>
          <a:solidFill>
            <a:srgbClr val="FFD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3" name="Rounded Rectangle 922"/>
          <p:cNvSpPr/>
          <p:nvPr/>
        </p:nvSpPr>
        <p:spPr>
          <a:xfrm>
            <a:off x="8549640" y="3438144"/>
            <a:ext cx="238353" cy="201168"/>
          </a:xfrm>
          <a:prstGeom prst="roundRect">
            <a:avLst>
              <a:gd name="adj" fmla="val 4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4" name="TextBox 923"/>
          <p:cNvSpPr txBox="1"/>
          <p:nvPr/>
        </p:nvSpPr>
        <p:spPr>
          <a:xfrm>
            <a:off x="10029139" y="340156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17 из 99</a:t>
            </a:r>
          </a:p>
        </p:txBody>
      </p:sp>
      <p:sp>
        <p:nvSpPr>
          <p:cNvPr id="925" name="TextBox 924"/>
          <p:cNvSpPr txBox="1"/>
          <p:nvPr/>
        </p:nvSpPr>
        <p:spPr>
          <a:xfrm>
            <a:off x="6400800" y="3822192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Ротация бедра</a:t>
            </a:r>
          </a:p>
        </p:txBody>
      </p:sp>
      <p:sp>
        <p:nvSpPr>
          <p:cNvPr id="926" name="Rounded Rectangle 925"/>
          <p:cNvSpPr/>
          <p:nvPr/>
        </p:nvSpPr>
        <p:spPr>
          <a:xfrm>
            <a:off x="8549640" y="3858768"/>
            <a:ext cx="2103120" cy="201168"/>
          </a:xfrm>
          <a:prstGeom prst="roundRect">
            <a:avLst>
              <a:gd name="adj" fmla="val 40000"/>
            </a:avLst>
          </a:prstGeom>
          <a:solidFill>
            <a:srgbClr val="FFD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7" name="Rounded Rectangle 926"/>
          <p:cNvSpPr/>
          <p:nvPr/>
        </p:nvSpPr>
        <p:spPr>
          <a:xfrm>
            <a:off x="8549640" y="3858768"/>
            <a:ext cx="504748" cy="201168"/>
          </a:xfrm>
          <a:prstGeom prst="roundRect">
            <a:avLst>
              <a:gd name="adj" fmla="val 4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8" name="TextBox 927"/>
          <p:cNvSpPr txBox="1"/>
          <p:nvPr/>
        </p:nvSpPr>
        <p:spPr>
          <a:xfrm>
            <a:off x="10744200" y="38221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36 из 150</a:t>
            </a:r>
          </a:p>
        </p:txBody>
      </p:sp>
      <p:sp>
        <p:nvSpPr>
          <p:cNvPr id="929" name="TextBox 928"/>
          <p:cNvSpPr txBox="1"/>
          <p:nvPr/>
        </p:nvSpPr>
        <p:spPr>
          <a:xfrm>
            <a:off x="6400800" y="42428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Отступы поля</a:t>
            </a:r>
          </a:p>
        </p:txBody>
      </p:sp>
      <p:sp>
        <p:nvSpPr>
          <p:cNvPr id="930" name="Rounded Rectangle 929"/>
          <p:cNvSpPr/>
          <p:nvPr/>
        </p:nvSpPr>
        <p:spPr>
          <a:xfrm>
            <a:off x="8549640" y="4279392"/>
            <a:ext cx="2103120" cy="201168"/>
          </a:xfrm>
          <a:prstGeom prst="roundRect">
            <a:avLst>
              <a:gd name="adj" fmla="val 40000"/>
            </a:avLst>
          </a:prstGeom>
          <a:solidFill>
            <a:srgbClr val="FFD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31" name="Rounded Rectangle 930"/>
          <p:cNvSpPr/>
          <p:nvPr/>
        </p:nvSpPr>
        <p:spPr>
          <a:xfrm>
            <a:off x="8549640" y="4279392"/>
            <a:ext cx="98145" cy="201168"/>
          </a:xfrm>
          <a:prstGeom prst="roundRect">
            <a:avLst>
              <a:gd name="adj" fmla="val 4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32" name="TextBox 931"/>
          <p:cNvSpPr txBox="1"/>
          <p:nvPr/>
        </p:nvSpPr>
        <p:spPr>
          <a:xfrm>
            <a:off x="10744200" y="4242816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7 из 150</a:t>
            </a:r>
          </a:p>
        </p:txBody>
      </p:sp>
      <p:sp>
        <p:nvSpPr>
          <p:cNvPr id="933" name="TextBox 932"/>
          <p:cNvSpPr txBox="1"/>
          <p:nvPr/>
        </p:nvSpPr>
        <p:spPr>
          <a:xfrm>
            <a:off x="6400800" y="4846320"/>
            <a:ext cx="1737360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48</a:t>
            </a:r>
          </a:p>
        </p:txBody>
      </p:sp>
      <p:sp>
        <p:nvSpPr>
          <p:cNvPr id="934" name="TextBox 933"/>
          <p:cNvSpPr txBox="1"/>
          <p:nvPr/>
        </p:nvSpPr>
        <p:spPr>
          <a:xfrm>
            <a:off x="6400800" y="5273040"/>
            <a:ext cx="173736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исследований из 100
с нарушением</a:t>
            </a:r>
          </a:p>
        </p:txBody>
      </p:sp>
      <p:sp>
        <p:nvSpPr>
          <p:cNvPr id="935" name="TextBox 934"/>
          <p:cNvSpPr txBox="1"/>
          <p:nvPr/>
        </p:nvSpPr>
        <p:spPr>
          <a:xfrm>
            <a:off x="8183880" y="4846320"/>
            <a:ext cx="1737360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20</a:t>
            </a:r>
          </a:p>
        </p:txBody>
      </p:sp>
      <p:sp>
        <p:nvSpPr>
          <p:cNvPr id="936" name="TextBox 935"/>
          <p:cNvSpPr txBox="1"/>
          <p:nvPr/>
        </p:nvSpPr>
        <p:spPr>
          <a:xfrm>
            <a:off x="8183880" y="5273040"/>
            <a:ext cx="173736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с двумя и более
нарушениями</a:t>
            </a:r>
          </a:p>
        </p:txBody>
      </p:sp>
      <p:sp>
        <p:nvSpPr>
          <p:cNvPr id="937" name="TextBox 936"/>
          <p:cNvSpPr txBox="1"/>
          <p:nvPr/>
        </p:nvSpPr>
        <p:spPr>
          <a:xfrm>
            <a:off x="9966960" y="4846320"/>
            <a:ext cx="1737360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72</a:t>
            </a:r>
          </a:p>
        </p:txBody>
      </p:sp>
      <p:sp>
        <p:nvSpPr>
          <p:cNvPr id="938" name="TextBox 937"/>
          <p:cNvSpPr txBox="1"/>
          <p:nvPr/>
        </p:nvSpPr>
        <p:spPr>
          <a:xfrm>
            <a:off x="9966960" y="5273040"/>
            <a:ext cx="173736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снимка из 249 оценённых
с нарушением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4622292" cy="620919"/>
          </a:xfrm>
          <a:prstGeom prst="roundRect">
            <a:avLst>
              <a:gd name="adj" fmla="val 18700"/>
            </a:avLst>
          </a:prstGeom>
          <a:solidFill>
            <a:srgbClr val="5209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КАК МЫ ПРОВЕРЯЕМ СЕБЯ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09728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2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Историческая OOF-оценка исходной версии; текущий ROI требует повторной проверки</a:t>
            </a:r>
          </a:p>
        </p:txBody>
      </p:sp>
      <p:sp>
        <p:nvSpPr>
          <p:cNvPr id="902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r>
              <a:t>9</a:t>
            </a:r>
          </a:p>
        </p:txBody>
      </p:sp>
      <p:sp>
        <p:nvSpPr>
          <p:cNvPr id="903" name="TextBox 902"/>
          <p:cNvSpPr txBox="1"/>
          <p:nvPr/>
        </p:nvSpPr>
        <p:spPr>
          <a:xfrm>
            <a:off x="711835" y="1828800"/>
            <a:ext cx="896112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часть 1</a:t>
            </a:r>
          </a:p>
        </p:txBody>
      </p:sp>
      <p:sp>
        <p:nvSpPr>
          <p:cNvPr id="904" name="TextBox 903"/>
          <p:cNvSpPr txBox="1"/>
          <p:nvPr/>
        </p:nvSpPr>
        <p:spPr>
          <a:xfrm>
            <a:off x="1681099" y="1828800"/>
            <a:ext cx="896112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часть 2</a:t>
            </a:r>
          </a:p>
        </p:txBody>
      </p:sp>
      <p:sp>
        <p:nvSpPr>
          <p:cNvPr id="905" name="TextBox 904"/>
          <p:cNvSpPr txBox="1"/>
          <p:nvPr/>
        </p:nvSpPr>
        <p:spPr>
          <a:xfrm>
            <a:off x="2650363" y="1828800"/>
            <a:ext cx="896112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часть 3</a:t>
            </a:r>
          </a:p>
        </p:txBody>
      </p:sp>
      <p:sp>
        <p:nvSpPr>
          <p:cNvPr id="906" name="TextBox 905"/>
          <p:cNvSpPr txBox="1"/>
          <p:nvPr/>
        </p:nvSpPr>
        <p:spPr>
          <a:xfrm>
            <a:off x="3619627" y="1828800"/>
            <a:ext cx="896112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часть 4</a:t>
            </a:r>
          </a:p>
        </p:txBody>
      </p:sp>
      <p:sp>
        <p:nvSpPr>
          <p:cNvPr id="907" name="TextBox 906"/>
          <p:cNvSpPr txBox="1"/>
          <p:nvPr/>
        </p:nvSpPr>
        <p:spPr>
          <a:xfrm>
            <a:off x="4588891" y="1828800"/>
            <a:ext cx="896112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часть 5</a:t>
            </a:r>
          </a:p>
        </p:txBody>
      </p:sp>
      <p:sp>
        <p:nvSpPr>
          <p:cNvPr id="908" name="TextBox 907"/>
          <p:cNvSpPr txBox="1"/>
          <p:nvPr/>
        </p:nvSpPr>
        <p:spPr>
          <a:xfrm>
            <a:off x="346075" y="2194560"/>
            <a:ext cx="3200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#1</a:t>
            </a:r>
          </a:p>
        </p:txBody>
      </p:sp>
      <p:sp>
        <p:nvSpPr>
          <p:cNvPr id="909" name="Rounded Rectangle 908"/>
          <p:cNvSpPr/>
          <p:nvPr/>
        </p:nvSpPr>
        <p:spPr>
          <a:xfrm>
            <a:off x="711835" y="2121408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проверка</a:t>
            </a:r>
          </a:p>
        </p:txBody>
      </p:sp>
      <p:sp>
        <p:nvSpPr>
          <p:cNvPr id="910" name="Rounded Rectangle 909"/>
          <p:cNvSpPr/>
          <p:nvPr/>
        </p:nvSpPr>
        <p:spPr>
          <a:xfrm>
            <a:off x="1681099" y="2121408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11" name="Rounded Rectangle 910"/>
          <p:cNvSpPr/>
          <p:nvPr/>
        </p:nvSpPr>
        <p:spPr>
          <a:xfrm>
            <a:off x="2650363" y="2121408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12" name="Rounded Rectangle 911"/>
          <p:cNvSpPr/>
          <p:nvPr/>
        </p:nvSpPr>
        <p:spPr>
          <a:xfrm>
            <a:off x="3619627" y="2121408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13" name="Rounded Rectangle 912"/>
          <p:cNvSpPr/>
          <p:nvPr/>
        </p:nvSpPr>
        <p:spPr>
          <a:xfrm>
            <a:off x="4588891" y="2121408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14" name="TextBox 913"/>
          <p:cNvSpPr txBox="1"/>
          <p:nvPr/>
        </p:nvSpPr>
        <p:spPr>
          <a:xfrm>
            <a:off x="346075" y="2615184"/>
            <a:ext cx="3200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#2</a:t>
            </a:r>
          </a:p>
        </p:txBody>
      </p:sp>
      <p:sp>
        <p:nvSpPr>
          <p:cNvPr id="915" name="Rounded Rectangle 914"/>
          <p:cNvSpPr/>
          <p:nvPr/>
        </p:nvSpPr>
        <p:spPr>
          <a:xfrm>
            <a:off x="711835" y="2542032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16" name="Rounded Rectangle 915"/>
          <p:cNvSpPr/>
          <p:nvPr/>
        </p:nvSpPr>
        <p:spPr>
          <a:xfrm>
            <a:off x="1681099" y="2542032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проверка</a:t>
            </a:r>
          </a:p>
        </p:txBody>
      </p:sp>
      <p:sp>
        <p:nvSpPr>
          <p:cNvPr id="917" name="Rounded Rectangle 916"/>
          <p:cNvSpPr/>
          <p:nvPr/>
        </p:nvSpPr>
        <p:spPr>
          <a:xfrm>
            <a:off x="2650363" y="2542032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18" name="Rounded Rectangle 917"/>
          <p:cNvSpPr/>
          <p:nvPr/>
        </p:nvSpPr>
        <p:spPr>
          <a:xfrm>
            <a:off x="3619627" y="2542032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19" name="Rounded Rectangle 918"/>
          <p:cNvSpPr/>
          <p:nvPr/>
        </p:nvSpPr>
        <p:spPr>
          <a:xfrm>
            <a:off x="4588891" y="2542032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20" name="TextBox 919"/>
          <p:cNvSpPr txBox="1"/>
          <p:nvPr/>
        </p:nvSpPr>
        <p:spPr>
          <a:xfrm>
            <a:off x="346075" y="3035808"/>
            <a:ext cx="3200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#3</a:t>
            </a:r>
          </a:p>
        </p:txBody>
      </p:sp>
      <p:sp>
        <p:nvSpPr>
          <p:cNvPr id="921" name="Rounded Rectangle 920"/>
          <p:cNvSpPr/>
          <p:nvPr/>
        </p:nvSpPr>
        <p:spPr>
          <a:xfrm>
            <a:off x="711835" y="2962656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22" name="Rounded Rectangle 921"/>
          <p:cNvSpPr/>
          <p:nvPr/>
        </p:nvSpPr>
        <p:spPr>
          <a:xfrm>
            <a:off x="1681099" y="2962656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23" name="Rounded Rectangle 922"/>
          <p:cNvSpPr/>
          <p:nvPr/>
        </p:nvSpPr>
        <p:spPr>
          <a:xfrm>
            <a:off x="2650363" y="2962656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проверка</a:t>
            </a:r>
          </a:p>
        </p:txBody>
      </p:sp>
      <p:sp>
        <p:nvSpPr>
          <p:cNvPr id="924" name="Rounded Rectangle 923"/>
          <p:cNvSpPr/>
          <p:nvPr/>
        </p:nvSpPr>
        <p:spPr>
          <a:xfrm>
            <a:off x="3619627" y="2962656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25" name="Rounded Rectangle 924"/>
          <p:cNvSpPr/>
          <p:nvPr/>
        </p:nvSpPr>
        <p:spPr>
          <a:xfrm>
            <a:off x="4588891" y="2962656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26" name="TextBox 925"/>
          <p:cNvSpPr txBox="1"/>
          <p:nvPr/>
        </p:nvSpPr>
        <p:spPr>
          <a:xfrm>
            <a:off x="346075" y="3456432"/>
            <a:ext cx="3200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#4</a:t>
            </a:r>
          </a:p>
        </p:txBody>
      </p:sp>
      <p:sp>
        <p:nvSpPr>
          <p:cNvPr id="927" name="Rounded Rectangle 926"/>
          <p:cNvSpPr/>
          <p:nvPr/>
        </p:nvSpPr>
        <p:spPr>
          <a:xfrm>
            <a:off x="711835" y="3383280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28" name="Rounded Rectangle 927"/>
          <p:cNvSpPr/>
          <p:nvPr/>
        </p:nvSpPr>
        <p:spPr>
          <a:xfrm>
            <a:off x="1681099" y="3383280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29" name="Rounded Rectangle 928"/>
          <p:cNvSpPr/>
          <p:nvPr/>
        </p:nvSpPr>
        <p:spPr>
          <a:xfrm>
            <a:off x="2650363" y="3383280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30" name="Rounded Rectangle 929"/>
          <p:cNvSpPr/>
          <p:nvPr/>
        </p:nvSpPr>
        <p:spPr>
          <a:xfrm>
            <a:off x="3619627" y="3383280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проверка</a:t>
            </a:r>
          </a:p>
        </p:txBody>
      </p:sp>
      <p:sp>
        <p:nvSpPr>
          <p:cNvPr id="931" name="Rounded Rectangle 930"/>
          <p:cNvSpPr/>
          <p:nvPr/>
        </p:nvSpPr>
        <p:spPr>
          <a:xfrm>
            <a:off x="4588891" y="3383280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32" name="TextBox 931"/>
          <p:cNvSpPr txBox="1"/>
          <p:nvPr/>
        </p:nvSpPr>
        <p:spPr>
          <a:xfrm>
            <a:off x="346075" y="3877056"/>
            <a:ext cx="3200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#5</a:t>
            </a:r>
          </a:p>
        </p:txBody>
      </p:sp>
      <p:sp>
        <p:nvSpPr>
          <p:cNvPr id="933" name="Rounded Rectangle 932"/>
          <p:cNvSpPr/>
          <p:nvPr/>
        </p:nvSpPr>
        <p:spPr>
          <a:xfrm>
            <a:off x="711835" y="3803904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34" name="Rounded Rectangle 933"/>
          <p:cNvSpPr/>
          <p:nvPr/>
        </p:nvSpPr>
        <p:spPr>
          <a:xfrm>
            <a:off x="1681099" y="3803904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35" name="Rounded Rectangle 934"/>
          <p:cNvSpPr/>
          <p:nvPr/>
        </p:nvSpPr>
        <p:spPr>
          <a:xfrm>
            <a:off x="2650363" y="3803904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36" name="Rounded Rectangle 935"/>
          <p:cNvSpPr/>
          <p:nvPr/>
        </p:nvSpPr>
        <p:spPr>
          <a:xfrm>
            <a:off x="3619627" y="3803904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37" name="Rounded Rectangle 936"/>
          <p:cNvSpPr/>
          <p:nvPr/>
        </p:nvSpPr>
        <p:spPr>
          <a:xfrm>
            <a:off x="4588891" y="3803904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проверка</a:t>
            </a:r>
          </a:p>
        </p:txBody>
      </p:sp>
      <p:sp>
        <p:nvSpPr>
          <p:cNvPr id="938" name="TextBox 937"/>
          <p:cNvSpPr txBox="1"/>
          <p:nvPr/>
        </p:nvSpPr>
        <p:spPr>
          <a:xfrm>
            <a:off x="346075" y="4389120"/>
            <a:ext cx="5303520" cy="1554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Исходные 100 исследований разделены на пять частей. Модели геометрии и CNN проверяли по очереди на части, которую они не видели. Кадры одного исследования оставались вместе. Модель точек с врачебными фрагментами обучена на фолдах 0–3; пятый фолд не обучался. После смены правила ROI и добавления Th12 полный сквозной OOF-прогон нужен заново.</a:t>
            </a:r>
          </a:p>
        </p:txBody>
      </p:sp>
      <p:sp>
        <p:nvSpPr>
          <p:cNvPr id="939" name="Rounded Rectangle 938"/>
          <p:cNvSpPr/>
          <p:nvPr/>
        </p:nvSpPr>
        <p:spPr>
          <a:xfrm>
            <a:off x="6126480" y="1828800"/>
            <a:ext cx="5696712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40" name="TextBox 939"/>
          <p:cNvSpPr txBox="1"/>
          <p:nvPr/>
        </p:nvSpPr>
        <p:spPr>
          <a:xfrm>
            <a:off x="6345936" y="2011680"/>
            <a:ext cx="5257800" cy="2057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Пациент целиком в одной части</a:t>
            </a:r>
          </a:p>
        </p:txBody>
      </p:sp>
      <p:sp>
        <p:nvSpPr>
          <p:cNvPr id="941" name="TextBox 940"/>
          <p:cNvSpPr txBox="1"/>
          <p:nvPr/>
        </p:nvSpPr>
        <p:spPr>
          <a:xfrm>
            <a:off x="6345936" y="2308860"/>
            <a:ext cx="5257800" cy="3886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Позвоночник и оба бедра одного человека всегда попадают в одну часть — иначе модель «узнавала» бы пациента, и оценка была бы завышена.</a:t>
            </a:r>
          </a:p>
        </p:txBody>
      </p:sp>
      <p:sp>
        <p:nvSpPr>
          <p:cNvPr id="942" name="Rounded Rectangle 941"/>
          <p:cNvSpPr/>
          <p:nvPr/>
        </p:nvSpPr>
        <p:spPr>
          <a:xfrm>
            <a:off x="6126480" y="2926080"/>
            <a:ext cx="5696712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43" name="TextBox 942"/>
          <p:cNvSpPr txBox="1"/>
          <p:nvPr/>
        </p:nvSpPr>
        <p:spPr>
          <a:xfrm>
            <a:off x="6345936" y="3108960"/>
            <a:ext cx="5257800" cy="2057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Редкие нарушения — в каждой части</a:t>
            </a:r>
          </a:p>
        </p:txBody>
      </p:sp>
      <p:sp>
        <p:nvSpPr>
          <p:cNvPr id="944" name="TextBox 943"/>
          <p:cNvSpPr txBox="1"/>
          <p:nvPr/>
        </p:nvSpPr>
        <p:spPr>
          <a:xfrm>
            <a:off x="6345936" y="3406140"/>
            <a:ext cx="5257800" cy="3886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Деление сделано так, чтобы в каждой из пяти частей были примеры даже самых редких нарушений.</a:t>
            </a:r>
          </a:p>
        </p:txBody>
      </p:sp>
      <p:sp>
        <p:nvSpPr>
          <p:cNvPr id="945" name="Rounded Rectangle 944"/>
          <p:cNvSpPr/>
          <p:nvPr/>
        </p:nvSpPr>
        <p:spPr>
          <a:xfrm>
            <a:off x="6126480" y="4023360"/>
            <a:ext cx="5696712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46" name="TextBox 945"/>
          <p:cNvSpPr txBox="1"/>
          <p:nvPr/>
        </p:nvSpPr>
        <p:spPr>
          <a:xfrm>
            <a:off x="6345936" y="4206240"/>
            <a:ext cx="5257800" cy="2057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Настройка — только на обучающих частях</a:t>
            </a:r>
          </a:p>
        </p:txBody>
      </p:sp>
      <p:sp>
        <p:nvSpPr>
          <p:cNvPr id="947" name="TextBox 946"/>
          <p:cNvSpPr txBox="1"/>
          <p:nvPr/>
        </p:nvSpPr>
        <p:spPr>
          <a:xfrm>
            <a:off x="6345936" y="4503420"/>
            <a:ext cx="5257800" cy="3886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Для исходной версии пороги и CNN настраивались на обучающих частях. Текущую сборку нужно проверить повторно на всех пяти частях.</a:t>
            </a:r>
          </a:p>
        </p:txBody>
      </p:sp>
      <p:sp>
        <p:nvSpPr>
          <p:cNvPr id="948" name="Rounded Rectangle 947"/>
          <p:cNvSpPr/>
          <p:nvPr/>
        </p:nvSpPr>
        <p:spPr>
          <a:xfrm>
            <a:off x="6126480" y="5120640"/>
            <a:ext cx="5696712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49" name="TextBox 948"/>
          <p:cNvSpPr txBox="1"/>
          <p:nvPr/>
        </p:nvSpPr>
        <p:spPr>
          <a:xfrm>
            <a:off x="6345936" y="5303520"/>
            <a:ext cx="5257800" cy="2057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Мало нарушений — широкие интервалы</a:t>
            </a:r>
          </a:p>
        </p:txBody>
      </p:sp>
      <p:sp>
        <p:nvSpPr>
          <p:cNvPr id="950" name="TextBox 949"/>
          <p:cNvSpPr txBox="1"/>
          <p:nvPr/>
        </p:nvSpPr>
        <p:spPr>
          <a:xfrm>
            <a:off x="6345936" y="5600700"/>
            <a:ext cx="5257800" cy="3886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На каждый тип нарушения всего 6–36 примеров, поэтому к каждому показателю приводим 95% доверительный интервал — диапазон, где он лежит при такой выборке.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1810512" cy="620919"/>
          </a:xfrm>
          <a:prstGeom prst="roundRect">
            <a:avLst>
              <a:gd name="adj" fmla="val 187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ПОДХОД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09728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Измерения там, где критерий — размер; нейросеть — там, где форма</a:t>
            </a:r>
          </a:p>
        </p:txBody>
      </p:sp>
      <p:sp>
        <p:nvSpPr>
          <p:cNvPr id="902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r>
              <a:t>10</a:t>
            </a:r>
          </a:p>
        </p:txBody>
      </p:sp>
      <p:sp>
        <p:nvSpPr>
          <p:cNvPr id="903" name="Rounded Rectangle 902"/>
          <p:cNvSpPr/>
          <p:nvPr/>
        </p:nvSpPr>
        <p:spPr>
          <a:xfrm>
            <a:off x="346075" y="1828800"/>
            <a:ext cx="7040880" cy="41605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4" name="TextBox 903"/>
          <p:cNvSpPr txBox="1"/>
          <p:nvPr/>
        </p:nvSpPr>
        <p:spPr>
          <a:xfrm>
            <a:off x="620395" y="2029968"/>
            <a:ext cx="64922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Что пробовали для ротации бедра</a:t>
            </a:r>
          </a:p>
        </p:txBody>
      </p:sp>
      <p:graphicFrame>
        <p:nvGraphicFramePr>
          <p:cNvPr id="905" name="Table 904"/>
          <p:cNvGraphicFramePr>
            <a:graphicFrameLocks noGrp="1"/>
          </p:cNvGraphicFramePr>
          <p:nvPr/>
        </p:nvGraphicFramePr>
        <p:xfrm>
          <a:off x="620395" y="2423160"/>
          <a:ext cx="6492238" cy="300837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2003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ЧТО ПРОБОВАЛИ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ROC-AUC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ВЫВОД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измерение выступа малого вертела по контуру кости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0.68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норма и нарушение отличаются на ≈ 2 мм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простая модель по всему снимку целиком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0.50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не лучше монетки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опорные точки, найденные нейросетью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—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ошибка до 2.2 мм при разнице классов 2.1 мм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одна нейросеть ResNet-34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0.77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результат плавает от запуска к запуску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три копии той же нейросети, ответы усреднены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0.80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стабильнее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нейросеть + измерение выступа → один вердикт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solidFill>
                      <a:srgbClr val="FFD6E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0.82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solidFill>
                      <a:srgbClr val="FFD6E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выбрано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solidFill>
                      <a:srgbClr val="FFD6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06" name="TextBox 905"/>
          <p:cNvSpPr txBox="1"/>
          <p:nvPr/>
        </p:nvSpPr>
        <p:spPr>
          <a:xfrm>
            <a:off x="620395" y="5559552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ROC-AUC — насколько хорошо оценка отделяет нарушения от нормы: 0.5 — наугад, 1.0 — идеально.</a:t>
            </a:r>
          </a:p>
        </p:txBody>
      </p:sp>
      <p:sp>
        <p:nvSpPr>
          <p:cNvPr id="907" name="Rounded Rectangle 906"/>
          <p:cNvSpPr/>
          <p:nvPr/>
        </p:nvSpPr>
        <p:spPr>
          <a:xfrm>
            <a:off x="7589520" y="1828800"/>
            <a:ext cx="4233672" cy="1307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8" name="TextBox 907"/>
          <p:cNvSpPr txBox="1"/>
          <p:nvPr/>
        </p:nvSpPr>
        <p:spPr>
          <a:xfrm>
            <a:off x="7808976" y="2011680"/>
            <a:ext cx="3794760" cy="2057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Принцип</a:t>
            </a:r>
          </a:p>
        </p:txBody>
      </p:sp>
      <p:sp>
        <p:nvSpPr>
          <p:cNvPr id="909" name="TextBox 908"/>
          <p:cNvSpPr txBox="1"/>
          <p:nvPr/>
        </p:nvSpPr>
        <p:spPr>
          <a:xfrm>
            <a:off x="7808976" y="2308860"/>
            <a:ext cx="3794760" cy="6903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Вердикт можно проверить глазами: измерение оси в градусах и отступов ROI в миллиметрах.</a:t>
            </a:r>
          </a:p>
        </p:txBody>
      </p:sp>
      <p:sp>
        <p:nvSpPr>
          <p:cNvPr id="910" name="Rounded Rectangle 909"/>
          <p:cNvSpPr/>
          <p:nvPr/>
        </p:nvSpPr>
        <p:spPr>
          <a:xfrm>
            <a:off x="7589520" y="3246120"/>
            <a:ext cx="4233672" cy="1307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1" name="TextBox 910"/>
          <p:cNvSpPr txBox="1"/>
          <p:nvPr/>
        </p:nvSpPr>
        <p:spPr>
          <a:xfrm>
            <a:off x="7808976" y="3429000"/>
            <a:ext cx="3794760" cy="2057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Где измерения недостаточно</a:t>
            </a:r>
          </a:p>
        </p:txBody>
      </p:sp>
      <p:sp>
        <p:nvSpPr>
          <p:cNvPr id="912" name="TextBox 911"/>
          <p:cNvSpPr txBox="1"/>
          <p:nvPr/>
        </p:nvSpPr>
        <p:spPr>
          <a:xfrm>
            <a:off x="7808976" y="3726180"/>
            <a:ext cx="3794760" cy="6903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Ротация и посторонние предметы — это форма, а не размер. Здесь к измерению добавляем нейросеть и объединяем обе оценки; подсветка показывает, куда она смотрела.</a:t>
            </a:r>
          </a:p>
        </p:txBody>
      </p:sp>
      <p:sp>
        <p:nvSpPr>
          <p:cNvPr id="913" name="Rounded Rectangle 912"/>
          <p:cNvSpPr/>
          <p:nvPr/>
        </p:nvSpPr>
        <p:spPr>
          <a:xfrm>
            <a:off x="7589520" y="4663440"/>
            <a:ext cx="4233672" cy="1307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4" name="TextBox 913"/>
          <p:cNvSpPr txBox="1"/>
          <p:nvPr/>
        </p:nvSpPr>
        <p:spPr>
          <a:xfrm>
            <a:off x="7808976" y="4846320"/>
            <a:ext cx="3794760" cy="2057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Где точки не заменяют контур</a:t>
            </a:r>
          </a:p>
        </p:txBody>
      </p:sp>
      <p:sp>
        <p:nvSpPr>
          <p:cNvPr id="915" name="TextBox 914"/>
          <p:cNvSpPr txBox="1"/>
          <p:nvPr/>
        </p:nvSpPr>
        <p:spPr>
          <a:xfrm>
            <a:off x="7808976" y="5143500"/>
            <a:ext cx="3794760" cy="6903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Ось и отступы измеряем геометрически. Модель точек помогает проверить верхнюю границу по Th12 и разобраться со спорными кадрами.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2747772" cy="620919"/>
          </a:xfrm>
          <a:prstGeom prst="roundRect">
            <a:avLst>
              <a:gd name="adj" fmla="val 18700"/>
            </a:avLst>
          </a:prstGeom>
          <a:solidFill>
            <a:srgbClr val="5209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АРХИТЕКТУРА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09728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2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Один контейнер, пять шагов; анализ снимка не требует внешних сервисов</a:t>
            </a:r>
          </a:p>
        </p:txBody>
      </p:sp>
      <p:sp>
        <p:nvSpPr>
          <p:cNvPr id="902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r>
              <a:t>11</a:t>
            </a:r>
          </a:p>
        </p:txBody>
      </p:sp>
      <p:cxnSp>
        <p:nvCxnSpPr>
          <p:cNvPr id="903" name="Connector 902"/>
          <p:cNvCxnSpPr/>
          <p:nvPr/>
        </p:nvCxnSpPr>
        <p:spPr>
          <a:xfrm>
            <a:off x="556387" y="2039112"/>
            <a:ext cx="9183888" cy="0"/>
          </a:xfrm>
          <a:prstGeom prst="line">
            <a:avLst/>
          </a:prstGeom>
          <a:ln w="15875">
            <a:solidFill>
              <a:srgbClr val="FF00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4" name="Rounded Rectangle 903"/>
          <p:cNvSpPr/>
          <p:nvPr/>
        </p:nvSpPr>
        <p:spPr>
          <a:xfrm>
            <a:off x="346075" y="1828800"/>
            <a:ext cx="420624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905" name="TextBox 904"/>
          <p:cNvSpPr txBox="1"/>
          <p:nvPr/>
        </p:nvSpPr>
        <p:spPr>
          <a:xfrm>
            <a:off x="346075" y="2377440"/>
            <a:ext cx="2113092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DICOM, zip</a:t>
            </a:r>
          </a:p>
        </p:txBody>
      </p:sp>
      <p:sp>
        <p:nvSpPr>
          <p:cNvPr id="906" name="TextBox 905"/>
          <p:cNvSpPr txBox="1"/>
          <p:nvPr/>
        </p:nvSpPr>
        <p:spPr>
          <a:xfrm>
            <a:off x="346075" y="2697480"/>
            <a:ext cx="2067372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снимки из архива клиники как есть</a:t>
            </a:r>
          </a:p>
        </p:txBody>
      </p:sp>
      <p:sp>
        <p:nvSpPr>
          <p:cNvPr id="907" name="Rounded Rectangle 906"/>
          <p:cNvSpPr/>
          <p:nvPr/>
        </p:nvSpPr>
        <p:spPr>
          <a:xfrm>
            <a:off x="2642047" y="1828800"/>
            <a:ext cx="420624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908" name="TextBox 907"/>
          <p:cNvSpPr txBox="1"/>
          <p:nvPr/>
        </p:nvSpPr>
        <p:spPr>
          <a:xfrm>
            <a:off x="2642047" y="2377440"/>
            <a:ext cx="2113092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чтение</a:t>
            </a:r>
          </a:p>
        </p:txBody>
      </p:sp>
      <p:sp>
        <p:nvSpPr>
          <p:cNvPr id="909" name="TextBox 908"/>
          <p:cNvSpPr txBox="1"/>
          <p:nvPr/>
        </p:nvSpPr>
        <p:spPr>
          <a:xfrm>
            <a:off x="2642047" y="2697480"/>
            <a:ext cx="2067372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распаковка, разворот, дубликаты</a:t>
            </a:r>
          </a:p>
        </p:txBody>
      </p:sp>
      <p:sp>
        <p:nvSpPr>
          <p:cNvPr id="910" name="Rounded Rectangle 909"/>
          <p:cNvSpPr/>
          <p:nvPr/>
        </p:nvSpPr>
        <p:spPr>
          <a:xfrm>
            <a:off x="4938019" y="1828800"/>
            <a:ext cx="420624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911" name="TextBox 910"/>
          <p:cNvSpPr txBox="1"/>
          <p:nvPr/>
        </p:nvSpPr>
        <p:spPr>
          <a:xfrm>
            <a:off x="4938019" y="2377440"/>
            <a:ext cx="2113092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область</a:t>
            </a:r>
          </a:p>
        </p:txBody>
      </p:sp>
      <p:sp>
        <p:nvSpPr>
          <p:cNvPr id="912" name="TextBox 911"/>
          <p:cNvSpPr txBox="1"/>
          <p:nvPr/>
        </p:nvSpPr>
        <p:spPr>
          <a:xfrm>
            <a:off x="4938019" y="2697480"/>
            <a:ext cx="2067372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позвоночник, бёдра, «не DXA»</a:t>
            </a:r>
          </a:p>
        </p:txBody>
      </p:sp>
      <p:sp>
        <p:nvSpPr>
          <p:cNvPr id="913" name="Rounded Rectangle 912"/>
          <p:cNvSpPr/>
          <p:nvPr/>
        </p:nvSpPr>
        <p:spPr>
          <a:xfrm>
            <a:off x="7233991" y="1828800"/>
            <a:ext cx="420624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4</a:t>
            </a:r>
          </a:p>
        </p:txBody>
      </p:sp>
      <p:sp>
        <p:nvSpPr>
          <p:cNvPr id="914" name="TextBox 913"/>
          <p:cNvSpPr txBox="1"/>
          <p:nvPr/>
        </p:nvSpPr>
        <p:spPr>
          <a:xfrm>
            <a:off x="7233991" y="2377440"/>
            <a:ext cx="2113092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критерии</a:t>
            </a:r>
          </a:p>
        </p:txBody>
      </p:sp>
      <p:sp>
        <p:nvSpPr>
          <p:cNvPr id="915" name="TextBox 914"/>
          <p:cNvSpPr txBox="1"/>
          <p:nvPr/>
        </p:nvSpPr>
        <p:spPr>
          <a:xfrm>
            <a:off x="7233991" y="2697480"/>
            <a:ext cx="2067372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измерения + нейросеть, каждый отдельно</a:t>
            </a:r>
          </a:p>
        </p:txBody>
      </p:sp>
      <p:sp>
        <p:nvSpPr>
          <p:cNvPr id="916" name="Rounded Rectangle 915"/>
          <p:cNvSpPr/>
          <p:nvPr/>
        </p:nvSpPr>
        <p:spPr>
          <a:xfrm>
            <a:off x="9529963" y="1828800"/>
            <a:ext cx="420624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5</a:t>
            </a:r>
          </a:p>
        </p:txBody>
      </p:sp>
      <p:sp>
        <p:nvSpPr>
          <p:cNvPr id="917" name="TextBox 916"/>
          <p:cNvSpPr txBox="1"/>
          <p:nvPr/>
        </p:nvSpPr>
        <p:spPr>
          <a:xfrm>
            <a:off x="9529963" y="2377440"/>
            <a:ext cx="2113092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вердикт и отчёт</a:t>
            </a:r>
          </a:p>
        </p:txBody>
      </p:sp>
      <p:sp>
        <p:nvSpPr>
          <p:cNvPr id="918" name="TextBox 917"/>
          <p:cNvSpPr txBox="1"/>
          <p:nvPr/>
        </p:nvSpPr>
        <p:spPr>
          <a:xfrm>
            <a:off x="9529963" y="2697480"/>
            <a:ext cx="2067372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класс, вероятности, заключение</a:t>
            </a:r>
          </a:p>
        </p:txBody>
      </p:sp>
      <p:sp>
        <p:nvSpPr>
          <p:cNvPr id="919" name="Rounded Rectangle 918"/>
          <p:cNvSpPr/>
          <p:nvPr/>
        </p:nvSpPr>
        <p:spPr>
          <a:xfrm>
            <a:off x="346075" y="3291840"/>
            <a:ext cx="3749039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0" name="TextBox 919"/>
          <p:cNvSpPr txBox="1"/>
          <p:nvPr/>
        </p:nvSpPr>
        <p:spPr>
          <a:xfrm>
            <a:off x="565531" y="3474720"/>
            <a:ext cx="3310127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Результат — ровно по ТЗ (п. 2.5, 2.7)</a:t>
            </a:r>
          </a:p>
        </p:txBody>
      </p:sp>
      <p:sp>
        <p:nvSpPr>
          <p:cNvPr id="921" name="TextBox 920"/>
          <p:cNvSpPr txBox="1"/>
          <p:nvPr/>
        </p:nvSpPr>
        <p:spPr>
          <a:xfrm>
            <a:off x="565531" y="3977640"/>
            <a:ext cx="3310127" cy="4754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Таблица xlsx или csv (строка на снимок, восемь колонок ТЗ), zip со снимками с разметкой, zip с заключениями DICOM SR.</a:t>
            </a:r>
          </a:p>
        </p:txBody>
      </p:sp>
      <p:sp>
        <p:nvSpPr>
          <p:cNvPr id="922" name="Rounded Rectangle 921"/>
          <p:cNvSpPr/>
          <p:nvPr/>
        </p:nvSpPr>
        <p:spPr>
          <a:xfrm>
            <a:off x="4204843" y="3291840"/>
            <a:ext cx="3749039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3" name="TextBox 922"/>
          <p:cNvSpPr txBox="1"/>
          <p:nvPr/>
        </p:nvSpPr>
        <p:spPr>
          <a:xfrm>
            <a:off x="4424299" y="3474720"/>
            <a:ext cx="3310127" cy="2057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Интерфейсы</a:t>
            </a:r>
          </a:p>
        </p:txBody>
      </p:sp>
      <p:sp>
        <p:nvSpPr>
          <p:cNvPr id="924" name="TextBox 923"/>
          <p:cNvSpPr txBox="1"/>
          <p:nvPr/>
        </p:nvSpPr>
        <p:spPr>
          <a:xfrm>
            <a:off x="4424299" y="3771900"/>
            <a:ext cx="3310127" cy="6812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Веб-приложение, приложение для Windows, программный интерфейс API и консоль; Telegram-бот — демонстрация.</a:t>
            </a:r>
          </a:p>
        </p:txBody>
      </p:sp>
      <p:sp>
        <p:nvSpPr>
          <p:cNvPr id="925" name="Rounded Rectangle 924"/>
          <p:cNvSpPr/>
          <p:nvPr/>
        </p:nvSpPr>
        <p:spPr>
          <a:xfrm>
            <a:off x="8063611" y="3291840"/>
            <a:ext cx="3749039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6" name="TextBox 925"/>
          <p:cNvSpPr txBox="1"/>
          <p:nvPr/>
        </p:nvSpPr>
        <p:spPr>
          <a:xfrm>
            <a:off x="8283067" y="3474720"/>
            <a:ext cx="3310127" cy="2057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Контейнер</a:t>
            </a:r>
          </a:p>
        </p:txBody>
      </p:sp>
      <p:sp>
        <p:nvSpPr>
          <p:cNvPr id="927" name="TextBox 926"/>
          <p:cNvSpPr txBox="1"/>
          <p:nvPr/>
        </p:nvSpPr>
        <p:spPr>
          <a:xfrm>
            <a:off x="8283067" y="3771900"/>
            <a:ext cx="3310127" cy="6812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Python 3.11, версии пакетов зафиксированы, нейросеть на процессоре, один поток: повторный запуск даёт в точности тот же отчёт.</a:t>
            </a:r>
          </a:p>
        </p:txBody>
      </p:sp>
      <p:sp>
        <p:nvSpPr>
          <p:cNvPr id="928" name="TextBox 927"/>
          <p:cNvSpPr txBox="1"/>
          <p:nvPr/>
        </p:nvSpPr>
        <p:spPr>
          <a:xfrm>
            <a:off x="346075" y="4727448"/>
            <a:ext cx="114798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 spc="8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ФРАГМЕНТ НАСТОЯЩЕГО ОТЧЁТА: ВОСЕМЬ КОЛОНОК ТЗ 2.5</a:t>
            </a:r>
          </a:p>
        </p:txBody>
      </p:sp>
      <p:graphicFrame>
        <p:nvGraphicFramePr>
          <p:cNvPr id="929" name="Table 928"/>
          <p:cNvGraphicFramePr>
            <a:graphicFrameLocks noGrp="1"/>
          </p:cNvGraphicFramePr>
          <p:nvPr/>
        </p:nvGraphicFramePr>
        <p:xfrm>
          <a:off x="346075" y="4974336"/>
          <a:ext cx="11479859" cy="12801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5306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306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306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828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79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914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8281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8281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PATH_TO_STUDY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STUDY_UID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IMAGE_UID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ANATOMICAL_REGION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QUALITY_CLASS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VIOLATION_TYPE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PROCESSING_STATUS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TIME_OF_PROCESSING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…8683246248872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…4090106081007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…2140700150015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lh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Success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0.9472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…8683246248872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…4090106081007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…0150606100110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spine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Success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1.2375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…8683246248872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…4090106081007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…3101101110913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rh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Success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0.3429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…8814728642117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…3011205010113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…5070904121304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rh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1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hip_rotation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Success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0.4389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30" name="TextBox 929"/>
          <p:cNvSpPr txBox="1"/>
          <p:nvPr/>
        </p:nvSpPr>
        <p:spPr>
          <a:xfrm>
            <a:off x="346075" y="6309360"/>
            <a:ext cx="1147986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lh / rh — левое и правое бедро, spine — позвоночник; класс 0 — качественный, 1 — есть нарушение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1623060" cy="620919"/>
          </a:xfrm>
          <a:prstGeom prst="roundRect">
            <a:avLst>
              <a:gd name="adj" fmla="val 187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ПРИМЕРЫ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09728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Три нарушения — три понятных объяснения</a:t>
            </a:r>
          </a:p>
        </p:txBody>
      </p:sp>
      <p:sp>
        <p:nvSpPr>
          <p:cNvPr id="902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r>
              <a:t>12</a:t>
            </a:r>
          </a:p>
        </p:txBody>
      </p:sp>
      <p:sp>
        <p:nvSpPr>
          <p:cNvPr id="903" name="Rounded Rectangle 902"/>
          <p:cNvSpPr/>
          <p:nvPr/>
        </p:nvSpPr>
        <p:spPr>
          <a:xfrm>
            <a:off x="1097280" y="1828800"/>
            <a:ext cx="2753379" cy="4160520"/>
          </a:xfrm>
          <a:prstGeom prst="roundRect">
            <a:avLst>
              <a:gd name="adj" fmla="val 4000"/>
            </a:avLst>
          </a:prstGeom>
          <a:solidFill>
            <a:srgbClr val="120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5" name="TextBox 904"/>
          <p:cNvSpPr txBox="1"/>
          <p:nvPr/>
        </p:nvSpPr>
        <p:spPr>
          <a:xfrm>
            <a:off x="1243584" y="5413248"/>
            <a:ext cx="246077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D9D2E6"/>
                </a:solidFill>
                <a:latin typeface="Montserrat"/>
                <a:ea typeface="Montserrat"/>
                <a:cs typeface="Montserrat"/>
              </a:rPr>
              <a:t>Ось 8,7° при норме до 5°</a:t>
            </a:r>
          </a:p>
        </p:txBody>
      </p:sp>
      <p:sp>
        <p:nvSpPr>
          <p:cNvPr id="906" name="Rounded Rectangle 905"/>
          <p:cNvSpPr/>
          <p:nvPr/>
        </p:nvSpPr>
        <p:spPr>
          <a:xfrm>
            <a:off x="4718304" y="1828800"/>
            <a:ext cx="2753379" cy="4160520"/>
          </a:xfrm>
          <a:prstGeom prst="roundRect">
            <a:avLst>
              <a:gd name="adj" fmla="val 4000"/>
            </a:avLst>
          </a:prstGeom>
          <a:solidFill>
            <a:srgbClr val="120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8" name="TextBox 907"/>
          <p:cNvSpPr txBox="1"/>
          <p:nvPr/>
        </p:nvSpPr>
        <p:spPr>
          <a:xfrm>
            <a:off x="4864608" y="5413248"/>
            <a:ext cx="246077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D9D2E6"/>
                </a:solidFill>
                <a:latin typeface="Montserrat"/>
                <a:ea typeface="Montserrat"/>
                <a:cs typeface="Montserrat"/>
              </a:rPr>
              <a:t>Посторонний предмет в кадре</a:t>
            </a:r>
          </a:p>
        </p:txBody>
      </p:sp>
      <p:sp>
        <p:nvSpPr>
          <p:cNvPr id="909" name="Rounded Rectangle 908"/>
          <p:cNvSpPr/>
          <p:nvPr/>
        </p:nvSpPr>
        <p:spPr>
          <a:xfrm>
            <a:off x="8339327" y="1828800"/>
            <a:ext cx="2753379" cy="4160520"/>
          </a:xfrm>
          <a:prstGeom prst="roundRect">
            <a:avLst>
              <a:gd name="adj" fmla="val 4000"/>
            </a:avLst>
          </a:prstGeom>
          <a:solidFill>
            <a:srgbClr val="120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1" name="TextBox 910"/>
          <p:cNvSpPr txBox="1"/>
          <p:nvPr/>
        </p:nvSpPr>
        <p:spPr>
          <a:xfrm>
            <a:off x="8485631" y="5413248"/>
            <a:ext cx="246077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D9D2E6"/>
                </a:solidFill>
                <a:latin typeface="Montserrat"/>
                <a:ea typeface="Montserrat"/>
                <a:cs typeface="Montserrat"/>
              </a:rPr>
              <a:t>Вертел 12 мм² при норме 96–272: ротация</a:t>
            </a:r>
          </a:p>
        </p:txBody>
      </p:sp>
      <p:sp>
        <p:nvSpPr>
          <p:cNvPr id="912" name="Rounded Rectangle 911"/>
          <p:cNvSpPr/>
          <p:nvPr/>
        </p:nvSpPr>
        <p:spPr>
          <a:xfrm>
            <a:off x="1097280" y="2134318"/>
            <a:ext cx="2753379" cy="2909403"/>
          </a:xfrm>
          <a:prstGeom prst="roundRect">
            <a:avLst/>
          </a:prstGeom>
          <a:solidFill>
            <a:srgbClr val="180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3" name="Connector 912"/>
          <p:cNvCxnSpPr/>
          <p:nvPr/>
        </p:nvCxnSpPr>
        <p:spPr>
          <a:xfrm>
            <a:off x="2253699" y="2570728"/>
            <a:ext cx="0" cy="1832924"/>
          </a:xfrm>
          <a:prstGeom prst="line">
            <a:avLst/>
          </a:prstGeom>
          <a:ln w="25400">
            <a:solidFill>
              <a:srgbClr val="9189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4" name="Connector 913"/>
          <p:cNvCxnSpPr/>
          <p:nvPr/>
        </p:nvCxnSpPr>
        <p:spPr>
          <a:xfrm>
            <a:off x="1840692" y="2658010"/>
            <a:ext cx="908614" cy="1716548"/>
          </a:xfrm>
          <a:prstGeom prst="line">
            <a:avLst/>
          </a:prstGeom>
          <a:ln w="50800">
            <a:solidFill>
              <a:srgbClr val="FF00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5" name="TextBox 914"/>
          <p:cNvSpPr txBox="1"/>
          <p:nvPr/>
        </p:nvSpPr>
        <p:spPr>
          <a:xfrm>
            <a:off x="1372617" y="4520028"/>
            <a:ext cx="2202703" cy="43641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Montserrat"/>
              </a:rPr>
              <a:t>Ось: 8,7°</a:t>
            </a:r>
          </a:p>
        </p:txBody>
      </p:sp>
      <p:sp>
        <p:nvSpPr>
          <p:cNvPr id="916" name="Rounded Rectangle 915"/>
          <p:cNvSpPr/>
          <p:nvPr/>
        </p:nvSpPr>
        <p:spPr>
          <a:xfrm>
            <a:off x="4718304" y="2143496"/>
            <a:ext cx="2753379" cy="2891047"/>
          </a:xfrm>
          <a:prstGeom prst="roundRect">
            <a:avLst/>
          </a:prstGeom>
          <a:solidFill>
            <a:srgbClr val="180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Rounded Rectangle 916"/>
          <p:cNvSpPr/>
          <p:nvPr/>
        </p:nvSpPr>
        <p:spPr>
          <a:xfrm>
            <a:off x="5186378" y="2663884"/>
            <a:ext cx="1817231" cy="1387702"/>
          </a:xfrm>
          <a:prstGeom prst="roundRect">
            <a:avLst/>
          </a:prstGeom>
          <a:solidFill>
            <a:srgbClr val="372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8" name="Connector 917"/>
          <p:cNvCxnSpPr/>
          <p:nvPr/>
        </p:nvCxnSpPr>
        <p:spPr>
          <a:xfrm>
            <a:off x="5929790" y="2866257"/>
            <a:ext cx="660811" cy="867314"/>
          </a:xfrm>
          <a:prstGeom prst="line">
            <a:avLst/>
          </a:prstGeom>
          <a:ln w="76200">
            <a:solidFill>
              <a:srgbClr val="FF00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9" name="TextBox 918"/>
          <p:cNvSpPr txBox="1"/>
          <p:nvPr/>
        </p:nvSpPr>
        <p:spPr>
          <a:xfrm>
            <a:off x="4966108" y="4427423"/>
            <a:ext cx="2257770" cy="4914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Montserrat"/>
              </a:rPr>
              <a:t>Обнаружен предмет</a:t>
            </a:r>
          </a:p>
        </p:txBody>
      </p:sp>
      <p:sp>
        <p:nvSpPr>
          <p:cNvPr id="920" name="Rounded Rectangle 919"/>
          <p:cNvSpPr/>
          <p:nvPr/>
        </p:nvSpPr>
        <p:spPr>
          <a:xfrm>
            <a:off x="8339327" y="2433584"/>
            <a:ext cx="2753379" cy="2310871"/>
          </a:xfrm>
          <a:prstGeom prst="roundRect">
            <a:avLst/>
          </a:prstGeom>
          <a:solidFill>
            <a:srgbClr val="190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TextBox 920"/>
          <p:cNvSpPr txBox="1"/>
          <p:nvPr/>
        </p:nvSpPr>
        <p:spPr>
          <a:xfrm>
            <a:off x="8614664" y="2710888"/>
            <a:ext cx="2202705" cy="508391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100" b="1">
                <a:solidFill>
                  <a:srgbClr val="FF769E"/>
                </a:solidFill>
                <a:latin typeface="Montserrat"/>
              </a:rPr>
              <a:t>ПОВОРОТ</a:t>
            </a:r>
          </a:p>
        </p:txBody>
      </p:sp>
      <p:sp>
        <p:nvSpPr>
          <p:cNvPr id="922" name="Rounded Rectangle 921"/>
          <p:cNvSpPr/>
          <p:nvPr/>
        </p:nvSpPr>
        <p:spPr>
          <a:xfrm>
            <a:off x="8614664" y="3612128"/>
            <a:ext cx="2202705" cy="184869"/>
          </a:xfrm>
          <a:prstGeom prst="roundRect">
            <a:avLst/>
          </a:prstGeom>
          <a:solidFill>
            <a:srgbClr val="544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Oval 922"/>
          <p:cNvSpPr/>
          <p:nvPr/>
        </p:nvSpPr>
        <p:spPr>
          <a:xfrm>
            <a:off x="8834935" y="3427259"/>
            <a:ext cx="554609" cy="554609"/>
          </a:xfrm>
          <a:prstGeom prst="ellipse">
            <a:avLst/>
          </a:prstGeom>
          <a:solidFill>
            <a:srgbClr val="FF00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TextBox 923"/>
          <p:cNvSpPr txBox="1"/>
          <p:nvPr/>
        </p:nvSpPr>
        <p:spPr>
          <a:xfrm>
            <a:off x="8614664" y="4028084"/>
            <a:ext cx="2202705" cy="508391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000" b="0">
                <a:solidFill>
                  <a:srgbClr val="FFFFFF"/>
                </a:solidFill>
                <a:latin typeface="Montserrat"/>
              </a:rPr>
              <a:t>12 мм²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2560320" cy="620919"/>
          </a:xfrm>
          <a:prstGeom prst="roundRect">
            <a:avLst>
              <a:gd name="adj" fmla="val 187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ИНТЕРФЕЙСЫ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09728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2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Один сервис — разные способы работы</a:t>
            </a:r>
          </a:p>
        </p:txBody>
      </p:sp>
      <p:sp>
        <p:nvSpPr>
          <p:cNvPr id="902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r>
              <a:t>13</a:t>
            </a:r>
          </a:p>
        </p:txBody>
      </p:sp>
      <p:sp>
        <p:nvSpPr>
          <p:cNvPr id="903" name="Rounded Rectangle 902"/>
          <p:cNvSpPr/>
          <p:nvPr/>
        </p:nvSpPr>
        <p:spPr>
          <a:xfrm>
            <a:off x="346075" y="1828800"/>
            <a:ext cx="6446520" cy="4251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875">
            <a:solidFill>
              <a:srgbClr val="5209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4" name="Oval 903"/>
          <p:cNvSpPr/>
          <p:nvPr/>
        </p:nvSpPr>
        <p:spPr>
          <a:xfrm>
            <a:off x="519811" y="1956816"/>
            <a:ext cx="109728" cy="109728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5" name="Oval 904"/>
          <p:cNvSpPr/>
          <p:nvPr/>
        </p:nvSpPr>
        <p:spPr>
          <a:xfrm>
            <a:off x="702691" y="1956816"/>
            <a:ext cx="109728" cy="109728"/>
          </a:xfrm>
          <a:prstGeom prst="ellipse">
            <a:avLst/>
          </a:prstGeom>
          <a:solidFill>
            <a:srgbClr val="8A83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6" name="Oval 905"/>
          <p:cNvSpPr/>
          <p:nvPr/>
        </p:nvSpPr>
        <p:spPr>
          <a:xfrm>
            <a:off x="885571" y="1956816"/>
            <a:ext cx="109728" cy="109728"/>
          </a:xfrm>
          <a:prstGeom prst="ellipse">
            <a:avLst/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7" name="Rounded Rectangle 906"/>
          <p:cNvSpPr/>
          <p:nvPr/>
        </p:nvSpPr>
        <p:spPr>
          <a:xfrm>
            <a:off x="1260475" y="1920240"/>
            <a:ext cx="5349240" cy="201168"/>
          </a:xfrm>
          <a:prstGeom prst="roundRect">
            <a:avLst>
              <a:gd name="adj" fmla="val 5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8" name="TextBox 907"/>
          <p:cNvSpPr txBox="1"/>
          <p:nvPr/>
        </p:nvSpPr>
        <p:spPr>
          <a:xfrm>
            <a:off x="1397635" y="1929384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https://89.208.196.172 — защищённое веб-приложение</a:t>
            </a:r>
          </a:p>
        </p:txBody>
      </p:sp>
      <p:sp>
        <p:nvSpPr>
          <p:cNvPr id="910" name="Rounded Rectangle 909"/>
          <p:cNvSpPr/>
          <p:nvPr/>
        </p:nvSpPr>
        <p:spPr>
          <a:xfrm>
            <a:off x="6995160" y="1828800"/>
            <a:ext cx="2148840" cy="4251960"/>
          </a:xfrm>
          <a:prstGeom prst="roundRect">
            <a:avLst>
              <a:gd name="adj" fmla="val 12000"/>
            </a:avLst>
          </a:prstGeom>
          <a:solidFill>
            <a:srgbClr val="2D14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2" name="Rounded Rectangle 911"/>
          <p:cNvSpPr/>
          <p:nvPr/>
        </p:nvSpPr>
        <p:spPr>
          <a:xfrm>
            <a:off x="7749540" y="1920240"/>
            <a:ext cx="640080" cy="91440"/>
          </a:xfrm>
          <a:prstGeom prst="roundRect">
            <a:avLst>
              <a:gd name="adj" fmla="val 50000"/>
            </a:avLst>
          </a:prstGeom>
          <a:solidFill>
            <a:srgbClr val="1C1D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3" name="Rounded Rectangle 912"/>
          <p:cNvSpPr/>
          <p:nvPr/>
        </p:nvSpPr>
        <p:spPr>
          <a:xfrm>
            <a:off x="9326880" y="1828800"/>
            <a:ext cx="2496312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4" name="TextBox 913"/>
          <p:cNvSpPr txBox="1"/>
          <p:nvPr/>
        </p:nvSpPr>
        <p:spPr>
          <a:xfrm>
            <a:off x="9546336" y="2011680"/>
            <a:ext cx="2057400" cy="1752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Веб-приложение</a:t>
            </a:r>
          </a:p>
        </p:txBody>
      </p:sp>
      <p:sp>
        <p:nvSpPr>
          <p:cNvPr id="915" name="TextBox 914"/>
          <p:cNvSpPr txBox="1"/>
          <p:nvPr/>
        </p:nvSpPr>
        <p:spPr>
          <a:xfrm>
            <a:off x="9546336" y="2278380"/>
            <a:ext cx="2057400" cy="4373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Загрузить исследование и получить понятный отчёт.</a:t>
            </a:r>
          </a:p>
        </p:txBody>
      </p:sp>
      <p:sp>
        <p:nvSpPr>
          <p:cNvPr id="916" name="Rounded Rectangle 915"/>
          <p:cNvSpPr/>
          <p:nvPr/>
        </p:nvSpPr>
        <p:spPr>
          <a:xfrm>
            <a:off x="9326880" y="2907792"/>
            <a:ext cx="2496312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7" name="TextBox 916"/>
          <p:cNvSpPr txBox="1"/>
          <p:nvPr/>
        </p:nvSpPr>
        <p:spPr>
          <a:xfrm>
            <a:off x="9546336" y="3090672"/>
            <a:ext cx="2057400" cy="1752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Для Windows</a:t>
            </a:r>
          </a:p>
        </p:txBody>
      </p:sp>
      <p:sp>
        <p:nvSpPr>
          <p:cNvPr id="918" name="TextBox 917"/>
          <p:cNvSpPr txBox="1"/>
          <p:nvPr/>
        </p:nvSpPr>
        <p:spPr>
          <a:xfrm>
            <a:off x="9546336" y="3357372"/>
            <a:ext cx="2057400" cy="4373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Снимки остаются на компьютере.</a:t>
            </a:r>
          </a:p>
        </p:txBody>
      </p:sp>
      <p:sp>
        <p:nvSpPr>
          <p:cNvPr id="919" name="Rounded Rectangle 918"/>
          <p:cNvSpPr/>
          <p:nvPr/>
        </p:nvSpPr>
        <p:spPr>
          <a:xfrm>
            <a:off x="9326880" y="3986784"/>
            <a:ext cx="2496312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0" name="TextBox 919"/>
          <p:cNvSpPr txBox="1"/>
          <p:nvPr/>
        </p:nvSpPr>
        <p:spPr>
          <a:xfrm>
            <a:off x="9546336" y="4169664"/>
            <a:ext cx="2057400" cy="1752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Telegram-бот</a:t>
            </a:r>
          </a:p>
        </p:txBody>
      </p:sp>
      <p:sp>
        <p:nvSpPr>
          <p:cNvPr id="921" name="TextBox 920"/>
          <p:cNvSpPr txBox="1"/>
          <p:nvPr/>
        </p:nvSpPr>
        <p:spPr>
          <a:xfrm>
            <a:off x="9546336" y="4436364"/>
            <a:ext cx="2057400" cy="4373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Проверка обезличенного снимка в чате.</a:t>
            </a:r>
          </a:p>
        </p:txBody>
      </p:sp>
      <p:sp>
        <p:nvSpPr>
          <p:cNvPr id="922" name="Rounded Rectangle 921"/>
          <p:cNvSpPr/>
          <p:nvPr/>
        </p:nvSpPr>
        <p:spPr>
          <a:xfrm>
            <a:off x="9326880" y="5065776"/>
            <a:ext cx="2496312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3" name="TextBox 922"/>
          <p:cNvSpPr txBox="1"/>
          <p:nvPr/>
        </p:nvSpPr>
        <p:spPr>
          <a:xfrm>
            <a:off x="9546336" y="5248656"/>
            <a:ext cx="2057400" cy="1752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Для системы клиники</a:t>
            </a:r>
          </a:p>
        </p:txBody>
      </p:sp>
      <p:sp>
        <p:nvSpPr>
          <p:cNvPr id="924" name="TextBox 923"/>
          <p:cNvSpPr txBox="1"/>
          <p:nvPr/>
        </p:nvSpPr>
        <p:spPr>
          <a:xfrm>
            <a:off x="9546336" y="5515356"/>
            <a:ext cx="2057400" cy="4373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Система получает ответ и заключение в архив.</a:t>
            </a:r>
          </a:p>
        </p:txBody>
      </p:sp>
      <p:sp>
        <p:nvSpPr>
          <p:cNvPr id="925" name="Rounded Rectangle 924"/>
          <p:cNvSpPr/>
          <p:nvPr/>
        </p:nvSpPr>
        <p:spPr>
          <a:xfrm>
            <a:off x="419227" y="2259540"/>
            <a:ext cx="6300216" cy="3701376"/>
          </a:xfrm>
          <a:prstGeom prst="roundRect">
            <a:avLst/>
          </a:prstGeom>
          <a:solidFill>
            <a:srgbClr val="1514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TextBox 925"/>
          <p:cNvSpPr txBox="1"/>
          <p:nvPr/>
        </p:nvSpPr>
        <p:spPr>
          <a:xfrm>
            <a:off x="671235" y="2389088"/>
            <a:ext cx="5796200" cy="37013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Montserrat"/>
              </a:rPr>
              <a:t>Контроль качества DXA</a:t>
            </a:r>
          </a:p>
        </p:txBody>
      </p:sp>
      <p:cxnSp>
        <p:nvCxnSpPr>
          <p:cNvPr id="927" name="Connector 926"/>
          <p:cNvCxnSpPr/>
          <p:nvPr/>
        </p:nvCxnSpPr>
        <p:spPr>
          <a:xfrm>
            <a:off x="671235" y="2777732"/>
            <a:ext cx="5796200" cy="0"/>
          </a:xfrm>
          <a:prstGeom prst="line">
            <a:avLst/>
          </a:prstGeom>
          <a:ln w="12700">
            <a:solidFill>
              <a:srgbClr val="463E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8" name="Rounded Rectangle 927"/>
          <p:cNvSpPr/>
          <p:nvPr/>
        </p:nvSpPr>
        <p:spPr>
          <a:xfrm>
            <a:off x="671235" y="3110856"/>
            <a:ext cx="3717128" cy="473776"/>
          </a:xfrm>
          <a:prstGeom prst="roundRect">
            <a:avLst/>
          </a:prstGeom>
          <a:solidFill>
            <a:srgbClr val="2423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TextBox 928"/>
          <p:cNvSpPr txBox="1"/>
          <p:nvPr/>
        </p:nvSpPr>
        <p:spPr>
          <a:xfrm>
            <a:off x="772038" y="3205611"/>
            <a:ext cx="1772880" cy="28426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000" b="0">
                <a:solidFill>
                  <a:srgbClr val="FFFFFF"/>
                </a:solidFill>
                <a:latin typeface="Montserrat"/>
              </a:rPr>
              <a:t>Исследование A</a:t>
            </a:r>
          </a:p>
        </p:txBody>
      </p:sp>
      <p:sp>
        <p:nvSpPr>
          <p:cNvPr id="930" name="TextBox 929"/>
          <p:cNvSpPr txBox="1"/>
          <p:nvPr/>
        </p:nvSpPr>
        <p:spPr>
          <a:xfrm>
            <a:off x="2572010" y="3205611"/>
            <a:ext cx="1477400" cy="28426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000" b="1">
                <a:solidFill>
                  <a:srgbClr val="59D7AA"/>
                </a:solidFill>
                <a:latin typeface="Montserrat"/>
              </a:rPr>
              <a:t>Проверено</a:t>
            </a:r>
          </a:p>
        </p:txBody>
      </p:sp>
      <p:sp>
        <p:nvSpPr>
          <p:cNvPr id="931" name="Rounded Rectangle 930"/>
          <p:cNvSpPr/>
          <p:nvPr/>
        </p:nvSpPr>
        <p:spPr>
          <a:xfrm>
            <a:off x="671235" y="3703076"/>
            <a:ext cx="3717128" cy="473776"/>
          </a:xfrm>
          <a:prstGeom prst="roundRect">
            <a:avLst/>
          </a:prstGeom>
          <a:solidFill>
            <a:srgbClr val="2423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TextBox 931"/>
          <p:cNvSpPr txBox="1"/>
          <p:nvPr/>
        </p:nvSpPr>
        <p:spPr>
          <a:xfrm>
            <a:off x="772038" y="3797831"/>
            <a:ext cx="1772880" cy="28426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000" b="0">
                <a:solidFill>
                  <a:srgbClr val="FFFFFF"/>
                </a:solidFill>
                <a:latin typeface="Montserrat"/>
              </a:rPr>
              <a:t>Исследование B</a:t>
            </a:r>
          </a:p>
        </p:txBody>
      </p:sp>
      <p:sp>
        <p:nvSpPr>
          <p:cNvPr id="933" name="TextBox 932"/>
          <p:cNvSpPr txBox="1"/>
          <p:nvPr/>
        </p:nvSpPr>
        <p:spPr>
          <a:xfrm>
            <a:off x="2572010" y="3797831"/>
            <a:ext cx="1477400" cy="28426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000" b="1">
                <a:solidFill>
                  <a:srgbClr val="FF759D"/>
                </a:solidFill>
                <a:latin typeface="Montserrat"/>
              </a:rPr>
              <a:t>Проверить</a:t>
            </a:r>
          </a:p>
        </p:txBody>
      </p:sp>
      <p:sp>
        <p:nvSpPr>
          <p:cNvPr id="934" name="Rounded Rectangle 933"/>
          <p:cNvSpPr/>
          <p:nvPr/>
        </p:nvSpPr>
        <p:spPr>
          <a:xfrm>
            <a:off x="671235" y="4295296"/>
            <a:ext cx="3717128" cy="473776"/>
          </a:xfrm>
          <a:prstGeom prst="roundRect">
            <a:avLst/>
          </a:prstGeom>
          <a:solidFill>
            <a:srgbClr val="2423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TextBox 934"/>
          <p:cNvSpPr txBox="1"/>
          <p:nvPr/>
        </p:nvSpPr>
        <p:spPr>
          <a:xfrm>
            <a:off x="772038" y="4390051"/>
            <a:ext cx="1772880" cy="28426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000" b="0">
                <a:solidFill>
                  <a:srgbClr val="FFFFFF"/>
                </a:solidFill>
                <a:latin typeface="Montserrat"/>
              </a:rPr>
              <a:t>Исследование C</a:t>
            </a:r>
          </a:p>
        </p:txBody>
      </p:sp>
      <p:sp>
        <p:nvSpPr>
          <p:cNvPr id="936" name="TextBox 935"/>
          <p:cNvSpPr txBox="1"/>
          <p:nvPr/>
        </p:nvSpPr>
        <p:spPr>
          <a:xfrm>
            <a:off x="2572010" y="4390051"/>
            <a:ext cx="1477400" cy="28426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000" b="1">
                <a:solidFill>
                  <a:srgbClr val="59D7AA"/>
                </a:solidFill>
                <a:latin typeface="Montserrat"/>
              </a:rPr>
              <a:t>Проверено</a:t>
            </a:r>
          </a:p>
        </p:txBody>
      </p:sp>
      <p:sp>
        <p:nvSpPr>
          <p:cNvPr id="937" name="Rounded Rectangle 936"/>
          <p:cNvSpPr/>
          <p:nvPr/>
        </p:nvSpPr>
        <p:spPr>
          <a:xfrm>
            <a:off x="4829378" y="3036828"/>
            <a:ext cx="1638056" cy="2183811"/>
          </a:xfrm>
          <a:prstGeom prst="roundRect">
            <a:avLst/>
          </a:prstGeom>
          <a:solidFill>
            <a:srgbClr val="27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TextBox 937"/>
          <p:cNvSpPr txBox="1"/>
          <p:nvPr/>
        </p:nvSpPr>
        <p:spPr>
          <a:xfrm>
            <a:off x="4942781" y="3258911"/>
            <a:ext cx="1386047" cy="55520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Montserrat"/>
              </a:rPr>
              <a:t>Вердикт</a:t>
            </a:r>
          </a:p>
        </p:txBody>
      </p:sp>
      <p:sp>
        <p:nvSpPr>
          <p:cNvPr id="939" name="TextBox 938"/>
          <p:cNvSpPr txBox="1"/>
          <p:nvPr/>
        </p:nvSpPr>
        <p:spPr>
          <a:xfrm>
            <a:off x="4942781" y="3925159"/>
            <a:ext cx="1386047" cy="88833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900" b="0">
                <a:solidFill>
                  <a:srgbClr val="FFB1CC"/>
                </a:solidFill>
                <a:latin typeface="Montserrat"/>
              </a:rPr>
              <a:t>1 из 3
требует проверки</a:t>
            </a:r>
          </a:p>
        </p:txBody>
      </p:sp>
      <p:sp>
        <p:nvSpPr>
          <p:cNvPr id="940" name="TextBox 939"/>
          <p:cNvSpPr txBox="1"/>
          <p:nvPr/>
        </p:nvSpPr>
        <p:spPr>
          <a:xfrm>
            <a:off x="671235" y="5405709"/>
            <a:ext cx="5796200" cy="333123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700" b="0">
                <a:solidFill>
                  <a:srgbClr val="AFA9C1"/>
                </a:solidFill>
                <a:latin typeface="Montserrat"/>
              </a:rPr>
              <a:t>Схема интерфейса · без клинических данных</a:t>
            </a:r>
          </a:p>
        </p:txBody>
      </p:sp>
      <p:sp>
        <p:nvSpPr>
          <p:cNvPr id="941" name="Rounded Rectangle 940"/>
          <p:cNvSpPr/>
          <p:nvPr/>
        </p:nvSpPr>
        <p:spPr>
          <a:xfrm>
            <a:off x="7109460" y="2103120"/>
            <a:ext cx="1920240" cy="3840480"/>
          </a:xfrm>
          <a:prstGeom prst="roundRect">
            <a:avLst/>
          </a:prstGeom>
          <a:solidFill>
            <a:srgbClr val="FAF8FD"/>
          </a:solidFill>
          <a:ln>
            <a:solidFill>
              <a:srgbClr val="6241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Rounded Rectangle 941"/>
          <p:cNvSpPr/>
          <p:nvPr/>
        </p:nvSpPr>
        <p:spPr>
          <a:xfrm>
            <a:off x="7205472" y="2256739"/>
            <a:ext cx="1728216" cy="499262"/>
          </a:xfrm>
          <a:prstGeom prst="roundRect">
            <a:avLst/>
          </a:prstGeom>
          <a:solidFill>
            <a:srgbClr val="5209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TextBox 942"/>
          <p:cNvSpPr txBox="1"/>
          <p:nvPr/>
        </p:nvSpPr>
        <p:spPr>
          <a:xfrm>
            <a:off x="7301484" y="2371953"/>
            <a:ext cx="1536192" cy="30723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Montserrat"/>
              </a:rPr>
              <a:t>DXA · ответ</a:t>
            </a:r>
          </a:p>
        </p:txBody>
      </p:sp>
      <p:sp>
        <p:nvSpPr>
          <p:cNvPr id="944" name="Rounded Rectangle 943"/>
          <p:cNvSpPr/>
          <p:nvPr/>
        </p:nvSpPr>
        <p:spPr>
          <a:xfrm>
            <a:off x="7282281" y="3024835"/>
            <a:ext cx="1536192" cy="499262"/>
          </a:xfrm>
          <a:prstGeom prst="roundRect">
            <a:avLst/>
          </a:prstGeom>
          <a:solidFill>
            <a:srgbClr val="ECE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TextBox 944"/>
          <p:cNvSpPr txBox="1"/>
          <p:nvPr/>
        </p:nvSpPr>
        <p:spPr>
          <a:xfrm>
            <a:off x="7359091" y="3120847"/>
            <a:ext cx="1382572" cy="268833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000" b="0">
                <a:solidFill>
                  <a:srgbClr val="27103F"/>
                </a:solidFill>
                <a:latin typeface="Montserrat"/>
              </a:rPr>
              <a:t>3 исследования</a:t>
            </a:r>
          </a:p>
        </p:txBody>
      </p:sp>
      <p:sp>
        <p:nvSpPr>
          <p:cNvPr id="946" name="Rounded Rectangle 945"/>
          <p:cNvSpPr/>
          <p:nvPr/>
        </p:nvSpPr>
        <p:spPr>
          <a:xfrm>
            <a:off x="7282281" y="3754526"/>
            <a:ext cx="1536192" cy="499262"/>
          </a:xfrm>
          <a:prstGeom prst="roundRect">
            <a:avLst/>
          </a:prstGeom>
          <a:solidFill>
            <a:srgbClr val="FFE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TextBox 946"/>
          <p:cNvSpPr txBox="1"/>
          <p:nvPr/>
        </p:nvSpPr>
        <p:spPr>
          <a:xfrm>
            <a:off x="7359091" y="3850538"/>
            <a:ext cx="1382572" cy="268833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000" b="0">
                <a:solidFill>
                  <a:srgbClr val="27103F"/>
                </a:solidFill>
                <a:latin typeface="Montserrat"/>
              </a:rPr>
              <a:t>1 требует проверки</a:t>
            </a:r>
          </a:p>
        </p:txBody>
      </p:sp>
      <p:sp>
        <p:nvSpPr>
          <p:cNvPr id="948" name="Rounded Rectangle 947"/>
          <p:cNvSpPr/>
          <p:nvPr/>
        </p:nvSpPr>
        <p:spPr>
          <a:xfrm>
            <a:off x="7282281" y="4484217"/>
            <a:ext cx="1536192" cy="499262"/>
          </a:xfrm>
          <a:prstGeom prst="roundRect">
            <a:avLst/>
          </a:prstGeom>
          <a:solidFill>
            <a:srgbClr val="ECE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TextBox 948"/>
          <p:cNvSpPr txBox="1"/>
          <p:nvPr/>
        </p:nvSpPr>
        <p:spPr>
          <a:xfrm>
            <a:off x="7359091" y="4580229"/>
            <a:ext cx="1382572" cy="268833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000" b="0">
                <a:solidFill>
                  <a:srgbClr val="27103F"/>
                </a:solidFill>
                <a:latin typeface="Montserrat"/>
              </a:rPr>
              <a:t>Отчёт готов</a:t>
            </a:r>
          </a:p>
        </p:txBody>
      </p:sp>
      <p:sp>
        <p:nvSpPr>
          <p:cNvPr id="950" name="TextBox 949"/>
          <p:cNvSpPr txBox="1"/>
          <p:nvPr/>
        </p:nvSpPr>
        <p:spPr>
          <a:xfrm>
            <a:off x="7263079" y="5444337"/>
            <a:ext cx="1613001" cy="345643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800" b="0">
                <a:solidFill>
                  <a:srgbClr val="695F71"/>
                </a:solidFill>
                <a:latin typeface="Montserrat"/>
              </a:rPr>
              <a:t>Без медицинских изображений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5934455" cy="620919"/>
          </a:xfrm>
          <a:prstGeom prst="roundRect">
            <a:avLst>
              <a:gd name="adj" fmla="val 187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ЦЕННОСТЬ ДЛЯ ЗДРАВООХРАНЕНИЯ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09728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Проверка качества — сразу после съёмки</a:t>
            </a:r>
          </a:p>
        </p:txBody>
      </p:sp>
      <p:sp>
        <p:nvSpPr>
          <p:cNvPr id="902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r>
              <a:t>14</a:t>
            </a:r>
          </a:p>
        </p:txBody>
      </p:sp>
      <p:sp>
        <p:nvSpPr>
          <p:cNvPr id="903" name="Rounded Rectangle 902"/>
          <p:cNvSpPr/>
          <p:nvPr/>
        </p:nvSpPr>
        <p:spPr>
          <a:xfrm>
            <a:off x="346075" y="1828800"/>
            <a:ext cx="3749039" cy="2148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4" name="TextBox 903"/>
          <p:cNvSpPr txBox="1"/>
          <p:nvPr/>
        </p:nvSpPr>
        <p:spPr>
          <a:xfrm>
            <a:off x="565531" y="2011680"/>
            <a:ext cx="3310127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ЛАБОРАНТ</a:t>
            </a:r>
          </a:p>
        </p:txBody>
      </p:sp>
      <p:sp>
        <p:nvSpPr>
          <p:cNvPr id="905" name="TextBox 904"/>
          <p:cNvSpPr txBox="1"/>
          <p:nvPr/>
        </p:nvSpPr>
        <p:spPr>
          <a:xfrm>
            <a:off x="565531" y="2286000"/>
            <a:ext cx="3310127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Подсказка у аппарата</a:t>
            </a:r>
          </a:p>
        </p:txBody>
      </p:sp>
      <p:sp>
        <p:nvSpPr>
          <p:cNvPr id="906" name="TextBox 905"/>
          <p:cNvSpPr txBox="1"/>
          <p:nvPr/>
        </p:nvSpPr>
        <p:spPr>
          <a:xfrm>
            <a:off x="565531" y="2606040"/>
            <a:ext cx="3310127" cy="1234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Оператор получает замечание с измерением и нормой.</a:t>
            </a:r>
          </a:p>
        </p:txBody>
      </p:sp>
      <p:sp>
        <p:nvSpPr>
          <p:cNvPr id="907" name="Rounded Rectangle 906"/>
          <p:cNvSpPr/>
          <p:nvPr/>
        </p:nvSpPr>
        <p:spPr>
          <a:xfrm>
            <a:off x="4213987" y="1828800"/>
            <a:ext cx="3749039" cy="2148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8" name="TextBox 907"/>
          <p:cNvSpPr txBox="1"/>
          <p:nvPr/>
        </p:nvSpPr>
        <p:spPr>
          <a:xfrm>
            <a:off x="4433443" y="2011680"/>
            <a:ext cx="3310127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ВРАЧ</a:t>
            </a:r>
          </a:p>
        </p:txBody>
      </p:sp>
      <p:sp>
        <p:nvSpPr>
          <p:cNvPr id="909" name="TextBox 908"/>
          <p:cNvSpPr txBox="1"/>
          <p:nvPr/>
        </p:nvSpPr>
        <p:spPr>
          <a:xfrm>
            <a:off x="4433443" y="2286000"/>
            <a:ext cx="3310127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Снимок, пригодный для заключения</a:t>
            </a:r>
          </a:p>
        </p:txBody>
      </p:sp>
      <p:sp>
        <p:nvSpPr>
          <p:cNvPr id="910" name="TextBox 909"/>
          <p:cNvSpPr txBox="1"/>
          <p:nvPr/>
        </p:nvSpPr>
        <p:spPr>
          <a:xfrm>
            <a:off x="4433443" y="2834640"/>
            <a:ext cx="331012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Заключение DICOM SR сохраняется рядом со снимком; спорный кадр помечается для врача.</a:t>
            </a:r>
          </a:p>
        </p:txBody>
      </p:sp>
      <p:sp>
        <p:nvSpPr>
          <p:cNvPr id="911" name="Rounded Rectangle 910"/>
          <p:cNvSpPr/>
          <p:nvPr/>
        </p:nvSpPr>
        <p:spPr>
          <a:xfrm>
            <a:off x="8081899" y="1828800"/>
            <a:ext cx="3749039" cy="2148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2" name="TextBox 911"/>
          <p:cNvSpPr txBox="1"/>
          <p:nvPr/>
        </p:nvSpPr>
        <p:spPr>
          <a:xfrm>
            <a:off x="8301355" y="2011680"/>
            <a:ext cx="3310127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МЕДОРГАНИЗАЦИЯ</a:t>
            </a:r>
          </a:p>
        </p:txBody>
      </p:sp>
      <p:sp>
        <p:nvSpPr>
          <p:cNvPr id="913" name="TextBox 912"/>
          <p:cNvSpPr txBox="1"/>
          <p:nvPr/>
        </p:nvSpPr>
        <p:spPr>
          <a:xfrm>
            <a:off x="8301355" y="2286000"/>
            <a:ext cx="3310127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Единая проверка качества</a:t>
            </a:r>
          </a:p>
        </p:txBody>
      </p:sp>
      <p:sp>
        <p:nvSpPr>
          <p:cNvPr id="914" name="TextBox 913"/>
          <p:cNvSpPr txBox="1"/>
          <p:nvPr/>
        </p:nvSpPr>
        <p:spPr>
          <a:xfrm>
            <a:off x="8301355" y="2834640"/>
            <a:ext cx="331012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Одинаковые критерии для смен и аппаратов; долю нарушений можно отслеживать.</a:t>
            </a:r>
          </a:p>
        </p:txBody>
      </p:sp>
      <p:sp>
        <p:nvSpPr>
          <p:cNvPr id="915" name="Rounded Rectangle 914"/>
          <p:cNvSpPr/>
          <p:nvPr/>
        </p:nvSpPr>
        <p:spPr>
          <a:xfrm>
            <a:off x="346075" y="4160520"/>
            <a:ext cx="5669280" cy="20116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6" name="TextBox 915"/>
          <p:cNvSpPr txBox="1"/>
          <p:nvPr/>
        </p:nvSpPr>
        <p:spPr>
          <a:xfrm>
            <a:off x="565531" y="4343400"/>
            <a:ext cx="5230368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Как поставляется</a:t>
            </a:r>
          </a:p>
        </p:txBody>
      </p:sp>
      <p:sp>
        <p:nvSpPr>
          <p:cNvPr id="917" name="TextBox 916"/>
          <p:cNvSpPr txBox="1"/>
          <p:nvPr/>
        </p:nvSpPr>
        <p:spPr>
          <a:xfrm>
            <a:off x="565531" y="4663440"/>
            <a:ext cx="5230368" cy="1371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219456" indent="-219456" algn="l">
              <a:lnSpc>
                <a:spcPct val="112000"/>
              </a:lnSpc>
              <a:spcAft>
                <a:spcPts val="500"/>
              </a:spcAft>
              <a:buClr>
                <a:srgbClr val="FF0053"/>
              </a:buClr>
              <a:buFont typeface="Arial"/>
              <a:buChar char="▪"/>
            </a:pPr>
            <a:r>
              <a:rPr sz="12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Серверный контейнер с HTTPS, веб-приложением и API. Локальные версии для Mac и Windows. Видеокарта не требуется.</a:t>
            </a:r>
          </a:p>
          <a:p>
            <a:pPr marL="219456" indent="-219456">
              <a:lnSpc>
                <a:spcPct val="112000"/>
              </a:lnSpc>
              <a:spcAft>
                <a:spcPts val="500"/>
              </a:spcAft>
              <a:buClr>
                <a:srgbClr val="FF0053"/>
              </a:buClr>
              <a:buFont typeface="Arial"/>
              <a:buChar char="▪"/>
            </a:pPr>
          </a:p>
          <a:p>
            <a:pPr marL="219456" indent="-219456">
              <a:lnSpc>
                <a:spcPct val="112000"/>
              </a:lnSpc>
              <a:spcAft>
                <a:spcPts val="500"/>
              </a:spcAft>
              <a:buClr>
                <a:srgbClr val="FF0053"/>
              </a:buClr>
              <a:buFont typeface="Arial"/>
              <a:buChar char="▪"/>
            </a:pPr>
          </a:p>
        </p:txBody>
      </p:sp>
      <p:sp>
        <p:nvSpPr>
          <p:cNvPr id="918" name="Rounded Rectangle 917"/>
          <p:cNvSpPr/>
          <p:nvPr/>
        </p:nvSpPr>
        <p:spPr>
          <a:xfrm>
            <a:off x="6152515" y="4160520"/>
            <a:ext cx="5669280" cy="20116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9" name="TextBox 918"/>
          <p:cNvSpPr txBox="1"/>
          <p:nvPr/>
        </p:nvSpPr>
        <p:spPr>
          <a:xfrm>
            <a:off x="6371971" y="4343400"/>
            <a:ext cx="5230368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Как измеряем эффект</a:t>
            </a:r>
          </a:p>
        </p:txBody>
      </p:sp>
      <p:sp>
        <p:nvSpPr>
          <p:cNvPr id="920" name="TextBox 919"/>
          <p:cNvSpPr txBox="1"/>
          <p:nvPr/>
        </p:nvSpPr>
        <p:spPr>
          <a:xfrm>
            <a:off x="6371971" y="4663440"/>
            <a:ext cx="5230368" cy="1371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219456" indent="-219456" algn="l">
              <a:lnSpc>
                <a:spcPct val="112000"/>
              </a:lnSpc>
              <a:spcAft>
                <a:spcPts val="500"/>
              </a:spcAft>
              <a:buClr>
                <a:srgbClr val="FF0053"/>
              </a:buClr>
              <a:buFont typeface="Arial"/>
              <a:buChar char="▪"/>
            </a:pPr>
            <a:r>
              <a:rPr sz="12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В пилоте сравним частоту повторных исследований, согласие с врачом и время контроля до и после внедрения.</a:t>
            </a:r>
          </a:p>
          <a:p>
            <a:pPr marL="219456" indent="-219456">
              <a:lnSpc>
                <a:spcPct val="112000"/>
              </a:lnSpc>
              <a:spcAft>
                <a:spcPts val="500"/>
              </a:spcAft>
              <a:buClr>
                <a:srgbClr val="FF0053"/>
              </a:buClr>
              <a:buFont typeface="Arial"/>
              <a:buChar char="▪"/>
            </a:pPr>
          </a:p>
          <a:p>
            <a:pPr marL="219456" indent="-219456">
              <a:lnSpc>
                <a:spcPct val="112000"/>
              </a:lnSpc>
              <a:spcAft>
                <a:spcPts val="500"/>
              </a:spcAft>
              <a:buClr>
                <a:srgbClr val="FF0053"/>
              </a:buClr>
              <a:buFont typeface="Arial"/>
              <a:buChar char="▪"/>
            </a:p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3872483" cy="620919"/>
          </a:xfrm>
          <a:prstGeom prst="roundRect">
            <a:avLst>
              <a:gd name="adj" fmla="val 18700"/>
            </a:avLst>
          </a:prstGeom>
          <a:solidFill>
            <a:srgbClr val="5209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ВНЕДРЕНИЕ И ПИЛОТ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09728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2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Сначала параллельно с врачом, затем помощник лаборанта, затем другие медорганизации</a:t>
            </a:r>
          </a:p>
        </p:txBody>
      </p:sp>
      <p:sp>
        <p:nvSpPr>
          <p:cNvPr id="902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r>
              <a:t>15</a:t>
            </a:r>
          </a:p>
        </p:txBody>
      </p:sp>
      <p:cxnSp>
        <p:nvCxnSpPr>
          <p:cNvPr id="903" name="Connector 902"/>
          <p:cNvCxnSpPr/>
          <p:nvPr/>
        </p:nvCxnSpPr>
        <p:spPr>
          <a:xfrm>
            <a:off x="556387" y="2039112"/>
            <a:ext cx="7653240" cy="0"/>
          </a:xfrm>
          <a:prstGeom prst="line">
            <a:avLst/>
          </a:prstGeom>
          <a:ln w="15875">
            <a:solidFill>
              <a:srgbClr val="FF00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4" name="Rounded Rectangle 903"/>
          <p:cNvSpPr/>
          <p:nvPr/>
        </p:nvSpPr>
        <p:spPr>
          <a:xfrm>
            <a:off x="346075" y="1828800"/>
            <a:ext cx="420624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905" name="TextBox 904"/>
          <p:cNvSpPr txBox="1"/>
          <p:nvPr/>
        </p:nvSpPr>
        <p:spPr>
          <a:xfrm>
            <a:off x="346075" y="2377440"/>
            <a:ext cx="35523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МЕСЯЦЫ 1–2 · ПАРАЛЛЕЛЬНО С ВРАЧОМ</a:t>
            </a:r>
          </a:p>
        </p:txBody>
      </p:sp>
      <p:sp>
        <p:nvSpPr>
          <p:cNvPr id="906" name="TextBox 905"/>
          <p:cNvSpPr txBox="1"/>
          <p:nvPr/>
        </p:nvSpPr>
        <p:spPr>
          <a:xfrm>
            <a:off x="346075" y="2633472"/>
            <a:ext cx="359802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1–2 медорганизации</a:t>
            </a:r>
          </a:p>
        </p:txBody>
      </p:sp>
      <p:sp>
        <p:nvSpPr>
          <p:cNvPr id="907" name="TextBox 906"/>
          <p:cNvSpPr txBox="1"/>
          <p:nvPr/>
        </p:nvSpPr>
        <p:spPr>
          <a:xfrm>
            <a:off x="346075" y="2971800"/>
            <a:ext cx="355230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Копии снимков идут в сервис через DICOM-роутер, заключение возвращается в архив с пометкой «не проверено». Считаем согласие с экспертом.</a:t>
            </a:r>
          </a:p>
        </p:txBody>
      </p:sp>
      <p:sp>
        <p:nvSpPr>
          <p:cNvPr id="908" name="Rounded Rectangle 907"/>
          <p:cNvSpPr/>
          <p:nvPr/>
        </p:nvSpPr>
        <p:spPr>
          <a:xfrm>
            <a:off x="4172695" y="1828800"/>
            <a:ext cx="420624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909" name="TextBox 908"/>
          <p:cNvSpPr txBox="1"/>
          <p:nvPr/>
        </p:nvSpPr>
        <p:spPr>
          <a:xfrm>
            <a:off x="4172695" y="2377440"/>
            <a:ext cx="35523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МЕСЯЦЫ 3–6 · ПОМОЩНИК ЛАБОРАНТА</a:t>
            </a:r>
          </a:p>
        </p:txBody>
      </p:sp>
      <p:sp>
        <p:nvSpPr>
          <p:cNvPr id="910" name="TextBox 909"/>
          <p:cNvSpPr txBox="1"/>
          <p:nvPr/>
        </p:nvSpPr>
        <p:spPr>
          <a:xfrm>
            <a:off x="4172695" y="2633472"/>
            <a:ext cx="359802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Подсказка у аппарата</a:t>
            </a:r>
          </a:p>
        </p:txBody>
      </p:sp>
      <p:sp>
        <p:nvSpPr>
          <p:cNvPr id="911" name="TextBox 910"/>
          <p:cNvSpPr txBox="1"/>
          <p:nvPr/>
        </p:nvSpPr>
        <p:spPr>
          <a:xfrm>
            <a:off x="4172695" y="2971800"/>
            <a:ext cx="355230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Замеряем время ответа на сервере и согласие с врачом. По отметкам лаборантов уточняем пороги и правила ручной проверки.</a:t>
            </a:r>
          </a:p>
        </p:txBody>
      </p:sp>
      <p:sp>
        <p:nvSpPr>
          <p:cNvPr id="912" name="Rounded Rectangle 911"/>
          <p:cNvSpPr/>
          <p:nvPr/>
        </p:nvSpPr>
        <p:spPr>
          <a:xfrm>
            <a:off x="7999315" y="1828800"/>
            <a:ext cx="420624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913" name="TextBox 912"/>
          <p:cNvSpPr txBox="1"/>
          <p:nvPr/>
        </p:nvSpPr>
        <p:spPr>
          <a:xfrm>
            <a:off x="7999315" y="2377440"/>
            <a:ext cx="35523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МЕСЯЦЫ 6–12 · МАСШТАБИРОВАНИЕ</a:t>
            </a:r>
          </a:p>
        </p:txBody>
      </p:sp>
      <p:sp>
        <p:nvSpPr>
          <p:cNvPr id="914" name="TextBox 913"/>
          <p:cNvSpPr txBox="1"/>
          <p:nvPr/>
        </p:nvSpPr>
        <p:spPr>
          <a:xfrm>
            <a:off x="7999315" y="2633472"/>
            <a:ext cx="359802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Другие аппараты и клиники</a:t>
            </a:r>
          </a:p>
        </p:txBody>
      </p:sp>
      <p:sp>
        <p:nvSpPr>
          <p:cNvPr id="915" name="TextBox 914"/>
          <p:cNvSpPr txBox="1"/>
          <p:nvPr/>
        </p:nvSpPr>
        <p:spPr>
          <a:xfrm>
            <a:off x="7999315" y="2971800"/>
            <a:ext cx="355230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Подключаем новые аппараты: проверяем размер пикселя, дообучаем нейросеть на их снимках, следим за долей нарушений.</a:t>
            </a:r>
          </a:p>
        </p:txBody>
      </p:sp>
      <p:sp>
        <p:nvSpPr>
          <p:cNvPr id="916" name="Rounded Rectangle 915"/>
          <p:cNvSpPr/>
          <p:nvPr/>
        </p:nvSpPr>
        <p:spPr>
          <a:xfrm>
            <a:off x="346075" y="3749040"/>
            <a:ext cx="371689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7" name="TextBox 916"/>
          <p:cNvSpPr txBox="1"/>
          <p:nvPr/>
        </p:nvSpPr>
        <p:spPr>
          <a:xfrm>
            <a:off x="565531" y="3931920"/>
            <a:ext cx="327798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МЕТРИКА ПИЛОТА · КАЧЕСТВО</a:t>
            </a:r>
          </a:p>
        </p:txBody>
      </p:sp>
      <p:sp>
        <p:nvSpPr>
          <p:cNvPr id="918" name="TextBox 917"/>
          <p:cNvSpPr txBox="1"/>
          <p:nvPr/>
        </p:nvSpPr>
        <p:spPr>
          <a:xfrm>
            <a:off x="565531" y="4206240"/>
            <a:ext cx="3277980" cy="213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Согласие с экспертом</a:t>
            </a:r>
          </a:p>
        </p:txBody>
      </p:sp>
      <p:sp>
        <p:nvSpPr>
          <p:cNvPr id="919" name="TextBox 918"/>
          <p:cNvSpPr txBox="1"/>
          <p:nvPr/>
        </p:nvSpPr>
        <p:spPr>
          <a:xfrm>
            <a:off x="565531" y="4511040"/>
            <a:ext cx="3277980" cy="472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Раз в месяц: доля найденных нарушений и доля ложных тревог на снимках, которые врач проверяет вслепую.</a:t>
            </a:r>
          </a:p>
        </p:txBody>
      </p:sp>
      <p:sp>
        <p:nvSpPr>
          <p:cNvPr id="920" name="Rounded Rectangle 919"/>
          <p:cNvSpPr/>
          <p:nvPr/>
        </p:nvSpPr>
        <p:spPr>
          <a:xfrm>
            <a:off x="4190983" y="3749040"/>
            <a:ext cx="371689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1" name="TextBox 920"/>
          <p:cNvSpPr txBox="1"/>
          <p:nvPr/>
        </p:nvSpPr>
        <p:spPr>
          <a:xfrm>
            <a:off x="4410439" y="3931920"/>
            <a:ext cx="327798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МЕТРИКА ПИЛОТА · ПАЦИЕНТ</a:t>
            </a:r>
          </a:p>
        </p:txBody>
      </p:sp>
      <p:sp>
        <p:nvSpPr>
          <p:cNvPr id="922" name="TextBox 921"/>
          <p:cNvSpPr txBox="1"/>
          <p:nvPr/>
        </p:nvSpPr>
        <p:spPr>
          <a:xfrm>
            <a:off x="4410439" y="4206240"/>
            <a:ext cx="3277980" cy="213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Повторные исследования</a:t>
            </a:r>
          </a:p>
        </p:txBody>
      </p:sp>
      <p:sp>
        <p:nvSpPr>
          <p:cNvPr id="923" name="TextBox 922"/>
          <p:cNvSpPr txBox="1"/>
          <p:nvPr/>
        </p:nvSpPr>
        <p:spPr>
          <a:xfrm>
            <a:off x="4410439" y="4511040"/>
            <a:ext cx="3277980" cy="472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Доля повторных снимков из-за положения пациента по журналу медорганизации — до и после.</a:t>
            </a:r>
          </a:p>
        </p:txBody>
      </p:sp>
      <p:sp>
        <p:nvSpPr>
          <p:cNvPr id="924" name="Rounded Rectangle 923"/>
          <p:cNvSpPr/>
          <p:nvPr/>
        </p:nvSpPr>
        <p:spPr>
          <a:xfrm>
            <a:off x="8035891" y="3749040"/>
            <a:ext cx="371689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5" name="TextBox 924"/>
          <p:cNvSpPr txBox="1"/>
          <p:nvPr/>
        </p:nvSpPr>
        <p:spPr>
          <a:xfrm>
            <a:off x="8255347" y="3931920"/>
            <a:ext cx="327798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МЕТРИКА ПИЛОТА · ВРАЧ</a:t>
            </a:r>
          </a:p>
        </p:txBody>
      </p:sp>
      <p:sp>
        <p:nvSpPr>
          <p:cNvPr id="926" name="TextBox 925"/>
          <p:cNvSpPr txBox="1"/>
          <p:nvPr/>
        </p:nvSpPr>
        <p:spPr>
          <a:xfrm>
            <a:off x="8255347" y="4206240"/>
            <a:ext cx="3277980" cy="213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Время на контроль</a:t>
            </a:r>
          </a:p>
        </p:txBody>
      </p:sp>
      <p:sp>
        <p:nvSpPr>
          <p:cNvPr id="927" name="TextBox 926"/>
          <p:cNvSpPr txBox="1"/>
          <p:nvPr/>
        </p:nvSpPr>
        <p:spPr>
          <a:xfrm>
            <a:off x="8255347" y="4511040"/>
            <a:ext cx="3277980" cy="472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Замер времени на 50 исследованиях в реальном кабинете.</a:t>
            </a:r>
          </a:p>
        </p:txBody>
      </p:sp>
      <p:sp>
        <p:nvSpPr>
          <p:cNvPr id="928" name="Rounded Rectangle 927"/>
          <p:cNvSpPr/>
          <p:nvPr/>
        </p:nvSpPr>
        <p:spPr>
          <a:xfrm>
            <a:off x="346075" y="5303520"/>
            <a:ext cx="2091146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9" name="TextBox 928"/>
          <p:cNvSpPr txBox="1"/>
          <p:nvPr/>
        </p:nvSpPr>
        <p:spPr>
          <a:xfrm>
            <a:off x="510667" y="5413248"/>
            <a:ext cx="1816826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ДЕНСИТОМЕТР</a:t>
            </a:r>
          </a:p>
        </p:txBody>
      </p:sp>
      <p:sp>
        <p:nvSpPr>
          <p:cNvPr id="930" name="TextBox 929"/>
          <p:cNvSpPr txBox="1"/>
          <p:nvPr/>
        </p:nvSpPr>
        <p:spPr>
          <a:xfrm>
            <a:off x="510667" y="5669280"/>
            <a:ext cx="1816826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снимок DICOM</a:t>
            </a:r>
          </a:p>
        </p:txBody>
      </p:sp>
      <p:sp>
        <p:nvSpPr>
          <p:cNvPr id="931" name="Rounded Rectangle 930"/>
          <p:cNvSpPr/>
          <p:nvPr/>
        </p:nvSpPr>
        <p:spPr>
          <a:xfrm>
            <a:off x="2693253" y="5303520"/>
            <a:ext cx="2091146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32" name="TextBox 931"/>
          <p:cNvSpPr txBox="1"/>
          <p:nvPr/>
        </p:nvSpPr>
        <p:spPr>
          <a:xfrm>
            <a:off x="2857845" y="5413248"/>
            <a:ext cx="1816826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АРХИВ PACS</a:t>
            </a:r>
          </a:p>
        </p:txBody>
      </p:sp>
      <p:sp>
        <p:nvSpPr>
          <p:cNvPr id="933" name="TextBox 932"/>
          <p:cNvSpPr txBox="1"/>
          <p:nvPr/>
        </p:nvSpPr>
        <p:spPr>
          <a:xfrm>
            <a:off x="2857845" y="5669280"/>
            <a:ext cx="1816826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DICOM-роутер</a:t>
            </a:r>
          </a:p>
        </p:txBody>
      </p:sp>
      <p:cxnSp>
        <p:nvCxnSpPr>
          <p:cNvPr id="934" name="Connector 933"/>
          <p:cNvCxnSpPr/>
          <p:nvPr/>
        </p:nvCxnSpPr>
        <p:spPr>
          <a:xfrm>
            <a:off x="2464653" y="5715000"/>
            <a:ext cx="201168" cy="0"/>
          </a:xfrm>
          <a:prstGeom prst="line">
            <a:avLst/>
          </a:prstGeom>
          <a:ln w="15875">
            <a:solidFill>
              <a:srgbClr val="520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5" name="Rounded Rectangle 934"/>
          <p:cNvSpPr/>
          <p:nvPr/>
        </p:nvSpPr>
        <p:spPr>
          <a:xfrm>
            <a:off x="5040431" y="5303520"/>
            <a:ext cx="2091146" cy="822960"/>
          </a:xfrm>
          <a:prstGeom prst="roundRect">
            <a:avLst>
              <a:gd name="adj" fmla="val 12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36" name="TextBox 935"/>
          <p:cNvSpPr txBox="1"/>
          <p:nvPr/>
        </p:nvSpPr>
        <p:spPr>
          <a:xfrm>
            <a:off x="5205023" y="5413248"/>
            <a:ext cx="1816826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 spc="8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СЕРВИС</a:t>
            </a:r>
          </a:p>
        </p:txBody>
      </p:sp>
      <p:sp>
        <p:nvSpPr>
          <p:cNvPr id="937" name="TextBox 936"/>
          <p:cNvSpPr txBox="1"/>
          <p:nvPr/>
        </p:nvSpPr>
        <p:spPr>
          <a:xfrm>
            <a:off x="5205023" y="5669280"/>
            <a:ext cx="1816826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контроль качества</a:t>
            </a:r>
          </a:p>
        </p:txBody>
      </p:sp>
      <p:cxnSp>
        <p:nvCxnSpPr>
          <p:cNvPr id="938" name="Connector 937"/>
          <p:cNvCxnSpPr/>
          <p:nvPr/>
        </p:nvCxnSpPr>
        <p:spPr>
          <a:xfrm>
            <a:off x="4811831" y="5715000"/>
            <a:ext cx="201168" cy="0"/>
          </a:xfrm>
          <a:prstGeom prst="line">
            <a:avLst/>
          </a:prstGeom>
          <a:ln w="15875">
            <a:solidFill>
              <a:srgbClr val="520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9" name="Rounded Rectangle 938"/>
          <p:cNvSpPr/>
          <p:nvPr/>
        </p:nvSpPr>
        <p:spPr>
          <a:xfrm>
            <a:off x="7387609" y="5303520"/>
            <a:ext cx="2091146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40" name="TextBox 939"/>
          <p:cNvSpPr txBox="1"/>
          <p:nvPr/>
        </p:nvSpPr>
        <p:spPr>
          <a:xfrm>
            <a:off x="7552201" y="5413248"/>
            <a:ext cx="1816826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НАЗАД В АРХИВ</a:t>
            </a:r>
          </a:p>
        </p:txBody>
      </p:sp>
      <p:sp>
        <p:nvSpPr>
          <p:cNvPr id="941" name="TextBox 940"/>
          <p:cNvSpPr txBox="1"/>
          <p:nvPr/>
        </p:nvSpPr>
        <p:spPr>
          <a:xfrm>
            <a:off x="7552201" y="5669280"/>
            <a:ext cx="1816826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заключение SR</a:t>
            </a:r>
          </a:p>
        </p:txBody>
      </p:sp>
      <p:cxnSp>
        <p:nvCxnSpPr>
          <p:cNvPr id="942" name="Connector 941"/>
          <p:cNvCxnSpPr/>
          <p:nvPr/>
        </p:nvCxnSpPr>
        <p:spPr>
          <a:xfrm>
            <a:off x="7159009" y="5715000"/>
            <a:ext cx="201168" cy="0"/>
          </a:xfrm>
          <a:prstGeom prst="line">
            <a:avLst/>
          </a:prstGeom>
          <a:ln w="15875">
            <a:solidFill>
              <a:srgbClr val="520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3" name="Rounded Rectangle 942"/>
          <p:cNvSpPr/>
          <p:nvPr/>
        </p:nvSpPr>
        <p:spPr>
          <a:xfrm>
            <a:off x="9734787" y="5303520"/>
            <a:ext cx="2091146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44" name="TextBox 943"/>
          <p:cNvSpPr txBox="1"/>
          <p:nvPr/>
        </p:nvSpPr>
        <p:spPr>
          <a:xfrm>
            <a:off x="9899379" y="5413248"/>
            <a:ext cx="1816826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ЛАБОРАНТ</a:t>
            </a:r>
          </a:p>
        </p:txBody>
      </p:sp>
      <p:sp>
        <p:nvSpPr>
          <p:cNvPr id="945" name="TextBox 944"/>
          <p:cNvSpPr txBox="1"/>
          <p:nvPr/>
        </p:nvSpPr>
        <p:spPr>
          <a:xfrm>
            <a:off x="9899379" y="5669280"/>
            <a:ext cx="1816826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веб-интерфейс</a:t>
            </a:r>
          </a:p>
        </p:txBody>
      </p:sp>
      <p:cxnSp>
        <p:nvCxnSpPr>
          <p:cNvPr id="946" name="Connector 945"/>
          <p:cNvCxnSpPr/>
          <p:nvPr/>
        </p:nvCxnSpPr>
        <p:spPr>
          <a:xfrm>
            <a:off x="9506187" y="5715000"/>
            <a:ext cx="201168" cy="0"/>
          </a:xfrm>
          <a:prstGeom prst="line">
            <a:avLst/>
          </a:prstGeom>
          <a:ln w="15875">
            <a:solidFill>
              <a:srgbClr val="520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3685031" cy="620919"/>
          </a:xfrm>
          <a:prstGeom prst="roundRect">
            <a:avLst>
              <a:gd name="adj" fmla="val 18700"/>
            </a:avLst>
          </a:prstGeom>
          <a:solidFill>
            <a:srgbClr val="5209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МЕТРИКИ КАЧЕСТВА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09728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2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Историческая OOF-оценка до смены правила ROI</a:t>
            </a:r>
          </a:p>
        </p:txBody>
      </p:sp>
      <p:sp>
        <p:nvSpPr>
          <p:cNvPr id="902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r>
              <a:t>16</a:t>
            </a:r>
          </a:p>
        </p:txBody>
      </p:sp>
      <p:sp>
        <p:nvSpPr>
          <p:cNvPr id="903" name="TextBox 902"/>
          <p:cNvSpPr txBox="1"/>
          <p:nvPr/>
        </p:nvSpPr>
        <p:spPr>
          <a:xfrm>
            <a:off x="346075" y="1737360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КРИТЕРИЙ</a:t>
            </a:r>
          </a:p>
        </p:txBody>
      </p:sp>
      <p:sp>
        <p:nvSpPr>
          <p:cNvPr id="904" name="TextBox 903"/>
          <p:cNvSpPr txBox="1"/>
          <p:nvPr/>
        </p:nvSpPr>
        <p:spPr>
          <a:xfrm>
            <a:off x="2697480" y="1737360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НАР./ВСЕГО</a:t>
            </a:r>
          </a:p>
        </p:txBody>
      </p:sp>
      <p:sp>
        <p:nvSpPr>
          <p:cNvPr id="905" name="TextBox 904"/>
          <p:cNvSpPr txBox="1"/>
          <p:nvPr/>
        </p:nvSpPr>
        <p:spPr>
          <a:xfrm>
            <a:off x="3611880" y="1737360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НАЙДЕНО</a:t>
            </a:r>
          </a:p>
        </p:txBody>
      </p:sp>
      <p:sp>
        <p:nvSpPr>
          <p:cNvPr id="906" name="TextBox 905"/>
          <p:cNvSpPr txBox="1"/>
          <p:nvPr/>
        </p:nvSpPr>
        <p:spPr>
          <a:xfrm>
            <a:off x="4343400" y="1737360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БЕЗ ЛОЖНЫХ</a:t>
            </a:r>
          </a:p>
        </p:txBody>
      </p:sp>
      <p:sp>
        <p:nvSpPr>
          <p:cNvPr id="907" name="TextBox 906"/>
          <p:cNvSpPr txBox="1"/>
          <p:nvPr/>
        </p:nvSpPr>
        <p:spPr>
          <a:xfrm>
            <a:off x="5349240" y="1737360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F1, 95% ИНТЕРВАЛ</a:t>
            </a:r>
          </a:p>
        </p:txBody>
      </p:sp>
      <p:sp>
        <p:nvSpPr>
          <p:cNvPr id="908" name="TextBox 907"/>
          <p:cNvSpPr txBox="1"/>
          <p:nvPr/>
        </p:nvSpPr>
        <p:spPr>
          <a:xfrm>
            <a:off x="7680960" y="1737360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F1</a:t>
            </a:r>
          </a:p>
        </p:txBody>
      </p:sp>
      <p:sp>
        <p:nvSpPr>
          <p:cNvPr id="909" name="TextBox 908"/>
          <p:cNvSpPr txBox="1"/>
          <p:nvPr/>
        </p:nvSpPr>
        <p:spPr>
          <a:xfrm>
            <a:off x="8549640" y="1737360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ROC-AUC, 95% ИНТЕРВАЛ (0.4–1)</a:t>
            </a:r>
          </a:p>
        </p:txBody>
      </p:sp>
      <p:sp>
        <p:nvSpPr>
          <p:cNvPr id="910" name="TextBox 909"/>
          <p:cNvSpPr txBox="1"/>
          <p:nvPr/>
        </p:nvSpPr>
        <p:spPr>
          <a:xfrm>
            <a:off x="11018520" y="1737360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AUC</a:t>
            </a:r>
          </a:p>
        </p:txBody>
      </p:sp>
      <p:cxnSp>
        <p:nvCxnSpPr>
          <p:cNvPr id="911" name="Connector 910"/>
          <p:cNvCxnSpPr/>
          <p:nvPr/>
        </p:nvCxnSpPr>
        <p:spPr>
          <a:xfrm>
            <a:off x="346075" y="2011680"/>
            <a:ext cx="11479860" cy="0"/>
          </a:xfrm>
          <a:prstGeom prst="line">
            <a:avLst/>
          </a:prstGeom>
          <a:ln w="19050">
            <a:solidFill>
              <a:srgbClr val="5209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2" name="TextBox 911"/>
          <p:cNvSpPr txBox="1"/>
          <p:nvPr/>
        </p:nvSpPr>
        <p:spPr>
          <a:xfrm>
            <a:off x="346075" y="2185416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Укладка</a:t>
            </a:r>
          </a:p>
        </p:txBody>
      </p:sp>
      <p:sp>
        <p:nvSpPr>
          <p:cNvPr id="913" name="TextBox 912"/>
          <p:cNvSpPr txBox="1"/>
          <p:nvPr/>
        </p:nvSpPr>
        <p:spPr>
          <a:xfrm>
            <a:off x="2697480" y="21854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6/99</a:t>
            </a:r>
          </a:p>
        </p:txBody>
      </p:sp>
      <p:sp>
        <p:nvSpPr>
          <p:cNvPr id="914" name="TextBox 913"/>
          <p:cNvSpPr txBox="1"/>
          <p:nvPr/>
        </p:nvSpPr>
        <p:spPr>
          <a:xfrm>
            <a:off x="3611880" y="21854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0.67</a:t>
            </a:r>
          </a:p>
        </p:txBody>
      </p:sp>
      <p:sp>
        <p:nvSpPr>
          <p:cNvPr id="915" name="TextBox 914"/>
          <p:cNvSpPr txBox="1"/>
          <p:nvPr/>
        </p:nvSpPr>
        <p:spPr>
          <a:xfrm>
            <a:off x="4343400" y="21854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0.84</a:t>
            </a:r>
          </a:p>
        </p:txBody>
      </p:sp>
      <p:cxnSp>
        <p:nvCxnSpPr>
          <p:cNvPr id="916" name="Connector 915"/>
          <p:cNvCxnSpPr/>
          <p:nvPr/>
        </p:nvCxnSpPr>
        <p:spPr>
          <a:xfrm>
            <a:off x="5349240" y="2295144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7" name="Connector 916"/>
          <p:cNvCxnSpPr/>
          <p:nvPr/>
        </p:nvCxnSpPr>
        <p:spPr>
          <a:xfrm>
            <a:off x="5349240" y="22585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8" name="Connector 917"/>
          <p:cNvCxnSpPr/>
          <p:nvPr/>
        </p:nvCxnSpPr>
        <p:spPr>
          <a:xfrm>
            <a:off x="5920740" y="22585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9" name="Connector 918"/>
          <p:cNvCxnSpPr/>
          <p:nvPr/>
        </p:nvCxnSpPr>
        <p:spPr>
          <a:xfrm>
            <a:off x="6492240" y="22585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0" name="Connector 919"/>
          <p:cNvCxnSpPr/>
          <p:nvPr/>
        </p:nvCxnSpPr>
        <p:spPr>
          <a:xfrm>
            <a:off x="7063740" y="22585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1" name="Connector 920"/>
          <p:cNvCxnSpPr/>
          <p:nvPr/>
        </p:nvCxnSpPr>
        <p:spPr>
          <a:xfrm>
            <a:off x="7635240" y="22585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2" name="Connector 921"/>
          <p:cNvCxnSpPr/>
          <p:nvPr/>
        </p:nvCxnSpPr>
        <p:spPr>
          <a:xfrm>
            <a:off x="5524923" y="2295144"/>
            <a:ext cx="1071226" cy="0"/>
          </a:xfrm>
          <a:prstGeom prst="line">
            <a:avLst/>
          </a:prstGeom>
          <a:ln w="38100">
            <a:solidFill>
              <a:srgbClr val="FF00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3" name="Oval 922"/>
          <p:cNvSpPr/>
          <p:nvPr/>
        </p:nvSpPr>
        <p:spPr>
          <a:xfrm>
            <a:off x="6021324" y="2235708"/>
            <a:ext cx="118872" cy="118872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4" name="TextBox 923"/>
          <p:cNvSpPr txBox="1"/>
          <p:nvPr/>
        </p:nvSpPr>
        <p:spPr>
          <a:xfrm>
            <a:off x="7680960" y="2185416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0.32</a:t>
            </a:r>
          </a:p>
        </p:txBody>
      </p:sp>
      <p:cxnSp>
        <p:nvCxnSpPr>
          <p:cNvPr id="925" name="Connector 924"/>
          <p:cNvCxnSpPr/>
          <p:nvPr/>
        </p:nvCxnSpPr>
        <p:spPr>
          <a:xfrm>
            <a:off x="8549640" y="2295144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6" name="Connector 925"/>
          <p:cNvCxnSpPr/>
          <p:nvPr/>
        </p:nvCxnSpPr>
        <p:spPr>
          <a:xfrm>
            <a:off x="8549640" y="22585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7" name="Connector 926"/>
          <p:cNvCxnSpPr/>
          <p:nvPr/>
        </p:nvCxnSpPr>
        <p:spPr>
          <a:xfrm>
            <a:off x="9121140" y="22585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8" name="Connector 927"/>
          <p:cNvCxnSpPr/>
          <p:nvPr/>
        </p:nvCxnSpPr>
        <p:spPr>
          <a:xfrm>
            <a:off x="9692639" y="22585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9" name="Connector 928"/>
          <p:cNvCxnSpPr/>
          <p:nvPr/>
        </p:nvCxnSpPr>
        <p:spPr>
          <a:xfrm>
            <a:off x="10264140" y="22585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0" name="Connector 929"/>
          <p:cNvCxnSpPr/>
          <p:nvPr/>
        </p:nvCxnSpPr>
        <p:spPr>
          <a:xfrm>
            <a:off x="10835640" y="22585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1" name="Connector 930"/>
          <p:cNvCxnSpPr/>
          <p:nvPr/>
        </p:nvCxnSpPr>
        <p:spPr>
          <a:xfrm>
            <a:off x="9236982" y="2295144"/>
            <a:ext cx="1423261" cy="0"/>
          </a:xfrm>
          <a:prstGeom prst="line">
            <a:avLst/>
          </a:prstGeom>
          <a:ln w="38100">
            <a:solidFill>
              <a:srgbClr val="FF00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2" name="Oval 931"/>
          <p:cNvSpPr/>
          <p:nvPr/>
        </p:nvSpPr>
        <p:spPr>
          <a:xfrm>
            <a:off x="10100236" y="2235708"/>
            <a:ext cx="118872" cy="118872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3" name="TextBox 932"/>
          <p:cNvSpPr txBox="1"/>
          <p:nvPr/>
        </p:nvSpPr>
        <p:spPr>
          <a:xfrm>
            <a:off x="11018520" y="2185416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0.82</a:t>
            </a:r>
          </a:p>
        </p:txBody>
      </p:sp>
      <p:cxnSp>
        <p:nvCxnSpPr>
          <p:cNvPr id="934" name="Connector 933"/>
          <p:cNvCxnSpPr/>
          <p:nvPr/>
        </p:nvCxnSpPr>
        <p:spPr>
          <a:xfrm>
            <a:off x="346075" y="2523744"/>
            <a:ext cx="11479860" cy="0"/>
          </a:xfrm>
          <a:prstGeom prst="line">
            <a:avLst/>
          </a:prstGeom>
          <a:ln w="6350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5" name="TextBox 934"/>
          <p:cNvSpPr txBox="1"/>
          <p:nvPr/>
        </p:nvSpPr>
        <p:spPr>
          <a:xfrm>
            <a:off x="346075" y="2642616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Наклон оси</a:t>
            </a:r>
          </a:p>
        </p:txBody>
      </p:sp>
      <p:sp>
        <p:nvSpPr>
          <p:cNvPr id="936" name="TextBox 935"/>
          <p:cNvSpPr txBox="1"/>
          <p:nvPr/>
        </p:nvSpPr>
        <p:spPr>
          <a:xfrm>
            <a:off x="2697480" y="26426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10/99</a:t>
            </a:r>
          </a:p>
        </p:txBody>
      </p:sp>
      <p:sp>
        <p:nvSpPr>
          <p:cNvPr id="937" name="TextBox 936"/>
          <p:cNvSpPr txBox="1"/>
          <p:nvPr/>
        </p:nvSpPr>
        <p:spPr>
          <a:xfrm>
            <a:off x="3611880" y="26426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0.30</a:t>
            </a:r>
          </a:p>
        </p:txBody>
      </p:sp>
      <p:sp>
        <p:nvSpPr>
          <p:cNvPr id="938" name="TextBox 937"/>
          <p:cNvSpPr txBox="1"/>
          <p:nvPr/>
        </p:nvSpPr>
        <p:spPr>
          <a:xfrm>
            <a:off x="4343400" y="26426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0.88</a:t>
            </a:r>
          </a:p>
        </p:txBody>
      </p:sp>
      <p:cxnSp>
        <p:nvCxnSpPr>
          <p:cNvPr id="939" name="Connector 938"/>
          <p:cNvCxnSpPr/>
          <p:nvPr/>
        </p:nvCxnSpPr>
        <p:spPr>
          <a:xfrm>
            <a:off x="5349240" y="2752344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0" name="Connector 939"/>
          <p:cNvCxnSpPr/>
          <p:nvPr/>
        </p:nvCxnSpPr>
        <p:spPr>
          <a:xfrm>
            <a:off x="5349240" y="27157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1" name="Connector 940"/>
          <p:cNvCxnSpPr/>
          <p:nvPr/>
        </p:nvCxnSpPr>
        <p:spPr>
          <a:xfrm>
            <a:off x="5920740" y="27157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2" name="Connector 941"/>
          <p:cNvCxnSpPr/>
          <p:nvPr/>
        </p:nvCxnSpPr>
        <p:spPr>
          <a:xfrm>
            <a:off x="6492240" y="27157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3" name="Connector 942"/>
          <p:cNvCxnSpPr/>
          <p:nvPr/>
        </p:nvCxnSpPr>
        <p:spPr>
          <a:xfrm>
            <a:off x="7063740" y="27157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4" name="Connector 943"/>
          <p:cNvCxnSpPr/>
          <p:nvPr/>
        </p:nvCxnSpPr>
        <p:spPr>
          <a:xfrm>
            <a:off x="7635240" y="27157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5" name="Connector 944"/>
          <p:cNvCxnSpPr/>
          <p:nvPr/>
        </p:nvCxnSpPr>
        <p:spPr>
          <a:xfrm>
            <a:off x="5349240" y="2752344"/>
            <a:ext cx="1103586" cy="0"/>
          </a:xfrm>
          <a:prstGeom prst="line">
            <a:avLst/>
          </a:prstGeom>
          <a:ln w="38100">
            <a:solidFill>
              <a:srgbClr val="FF00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6" name="Oval 945"/>
          <p:cNvSpPr/>
          <p:nvPr/>
        </p:nvSpPr>
        <p:spPr>
          <a:xfrm>
            <a:off x="5861304" y="2692908"/>
            <a:ext cx="118872" cy="118872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7" name="TextBox 946"/>
          <p:cNvSpPr txBox="1"/>
          <p:nvPr/>
        </p:nvSpPr>
        <p:spPr>
          <a:xfrm>
            <a:off x="7680960" y="2642616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0.25</a:t>
            </a:r>
          </a:p>
        </p:txBody>
      </p:sp>
      <p:cxnSp>
        <p:nvCxnSpPr>
          <p:cNvPr id="948" name="Connector 947"/>
          <p:cNvCxnSpPr/>
          <p:nvPr/>
        </p:nvCxnSpPr>
        <p:spPr>
          <a:xfrm>
            <a:off x="8549640" y="2752344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9" name="Connector 948"/>
          <p:cNvCxnSpPr/>
          <p:nvPr/>
        </p:nvCxnSpPr>
        <p:spPr>
          <a:xfrm>
            <a:off x="8549640" y="27157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0" name="Connector 949"/>
          <p:cNvCxnSpPr/>
          <p:nvPr/>
        </p:nvCxnSpPr>
        <p:spPr>
          <a:xfrm>
            <a:off x="9121140" y="27157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1" name="Connector 950"/>
          <p:cNvCxnSpPr/>
          <p:nvPr/>
        </p:nvCxnSpPr>
        <p:spPr>
          <a:xfrm>
            <a:off x="9692639" y="27157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2" name="Connector 951"/>
          <p:cNvCxnSpPr/>
          <p:nvPr/>
        </p:nvCxnSpPr>
        <p:spPr>
          <a:xfrm>
            <a:off x="10264140" y="27157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3" name="Connector 952"/>
          <p:cNvCxnSpPr/>
          <p:nvPr/>
        </p:nvCxnSpPr>
        <p:spPr>
          <a:xfrm>
            <a:off x="10835640" y="27157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4" name="Connector 953"/>
          <p:cNvCxnSpPr/>
          <p:nvPr/>
        </p:nvCxnSpPr>
        <p:spPr>
          <a:xfrm>
            <a:off x="9767822" y="2752344"/>
            <a:ext cx="776197" cy="0"/>
          </a:xfrm>
          <a:prstGeom prst="line">
            <a:avLst/>
          </a:prstGeom>
          <a:ln w="38100">
            <a:solidFill>
              <a:srgbClr val="FF00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5" name="Oval 954"/>
          <p:cNvSpPr/>
          <p:nvPr/>
        </p:nvSpPr>
        <p:spPr>
          <a:xfrm>
            <a:off x="10104102" y="2692908"/>
            <a:ext cx="118872" cy="118872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6" name="TextBox 955"/>
          <p:cNvSpPr txBox="1"/>
          <p:nvPr/>
        </p:nvSpPr>
        <p:spPr>
          <a:xfrm>
            <a:off x="11018520" y="2642616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0.82</a:t>
            </a:r>
          </a:p>
        </p:txBody>
      </p:sp>
      <p:cxnSp>
        <p:nvCxnSpPr>
          <p:cNvPr id="957" name="Connector 956"/>
          <p:cNvCxnSpPr/>
          <p:nvPr/>
        </p:nvCxnSpPr>
        <p:spPr>
          <a:xfrm>
            <a:off x="346075" y="2980944"/>
            <a:ext cx="11479860" cy="0"/>
          </a:xfrm>
          <a:prstGeom prst="line">
            <a:avLst/>
          </a:prstGeom>
          <a:ln w="6350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8" name="TextBox 957"/>
          <p:cNvSpPr txBox="1"/>
          <p:nvPr/>
        </p:nvSpPr>
        <p:spPr>
          <a:xfrm>
            <a:off x="346075" y="3099816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Посторонние предметы</a:t>
            </a:r>
          </a:p>
        </p:txBody>
      </p:sp>
      <p:sp>
        <p:nvSpPr>
          <p:cNvPr id="959" name="TextBox 958"/>
          <p:cNvSpPr txBox="1"/>
          <p:nvPr/>
        </p:nvSpPr>
        <p:spPr>
          <a:xfrm>
            <a:off x="2697480" y="3099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17/99</a:t>
            </a:r>
          </a:p>
        </p:txBody>
      </p:sp>
      <p:sp>
        <p:nvSpPr>
          <p:cNvPr id="960" name="TextBox 959"/>
          <p:cNvSpPr txBox="1"/>
          <p:nvPr/>
        </p:nvSpPr>
        <p:spPr>
          <a:xfrm>
            <a:off x="3611880" y="3099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0.65</a:t>
            </a:r>
          </a:p>
        </p:txBody>
      </p:sp>
      <p:sp>
        <p:nvSpPr>
          <p:cNvPr id="961" name="TextBox 960"/>
          <p:cNvSpPr txBox="1"/>
          <p:nvPr/>
        </p:nvSpPr>
        <p:spPr>
          <a:xfrm>
            <a:off x="4343400" y="3099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0.93</a:t>
            </a:r>
          </a:p>
        </p:txBody>
      </p:sp>
      <p:cxnSp>
        <p:nvCxnSpPr>
          <p:cNvPr id="962" name="Connector 961"/>
          <p:cNvCxnSpPr/>
          <p:nvPr/>
        </p:nvCxnSpPr>
        <p:spPr>
          <a:xfrm>
            <a:off x="5349240" y="3118104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3" name="Connector 962"/>
          <p:cNvCxnSpPr/>
          <p:nvPr/>
        </p:nvCxnSpPr>
        <p:spPr>
          <a:xfrm>
            <a:off x="5349240" y="3081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4" name="Connector 963"/>
          <p:cNvCxnSpPr/>
          <p:nvPr/>
        </p:nvCxnSpPr>
        <p:spPr>
          <a:xfrm>
            <a:off x="5920740" y="3081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5" name="Connector 964"/>
          <p:cNvCxnSpPr/>
          <p:nvPr/>
        </p:nvCxnSpPr>
        <p:spPr>
          <a:xfrm>
            <a:off x="6492240" y="3081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6" name="Connector 965"/>
          <p:cNvCxnSpPr/>
          <p:nvPr/>
        </p:nvCxnSpPr>
        <p:spPr>
          <a:xfrm>
            <a:off x="7063740" y="3081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7" name="Connector 966"/>
          <p:cNvCxnSpPr/>
          <p:nvPr/>
        </p:nvCxnSpPr>
        <p:spPr>
          <a:xfrm>
            <a:off x="7635240" y="3081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8" name="Connector 967"/>
          <p:cNvCxnSpPr/>
          <p:nvPr/>
        </p:nvCxnSpPr>
        <p:spPr>
          <a:xfrm>
            <a:off x="6144370" y="3118104"/>
            <a:ext cx="974676" cy="0"/>
          </a:xfrm>
          <a:prstGeom prst="line">
            <a:avLst/>
          </a:prstGeom>
          <a:ln w="3810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9" name="Oval 968"/>
          <p:cNvSpPr/>
          <p:nvPr/>
        </p:nvSpPr>
        <p:spPr>
          <a:xfrm>
            <a:off x="6626302" y="3067812"/>
            <a:ext cx="100584" cy="100584"/>
          </a:xfrm>
          <a:prstGeom prst="ellipse">
            <a:avLst/>
          </a:prstGeom>
          <a:solidFill>
            <a:srgbClr val="8A83D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70" name="Connector 969"/>
          <p:cNvCxnSpPr/>
          <p:nvPr/>
        </p:nvCxnSpPr>
        <p:spPr>
          <a:xfrm>
            <a:off x="5349240" y="3310128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1" name="Connector 970"/>
          <p:cNvCxnSpPr/>
          <p:nvPr/>
        </p:nvCxnSpPr>
        <p:spPr>
          <a:xfrm>
            <a:off x="5349240" y="3273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2" name="Connector 971"/>
          <p:cNvCxnSpPr/>
          <p:nvPr/>
        </p:nvCxnSpPr>
        <p:spPr>
          <a:xfrm>
            <a:off x="5920740" y="3273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3" name="Connector 972"/>
          <p:cNvCxnSpPr/>
          <p:nvPr/>
        </p:nvCxnSpPr>
        <p:spPr>
          <a:xfrm>
            <a:off x="6492240" y="3273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4" name="Connector 973"/>
          <p:cNvCxnSpPr/>
          <p:nvPr/>
        </p:nvCxnSpPr>
        <p:spPr>
          <a:xfrm>
            <a:off x="7063740" y="3273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5" name="Connector 974"/>
          <p:cNvCxnSpPr/>
          <p:nvPr/>
        </p:nvCxnSpPr>
        <p:spPr>
          <a:xfrm>
            <a:off x="7635240" y="3273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6" name="Connector 975"/>
          <p:cNvCxnSpPr/>
          <p:nvPr/>
        </p:nvCxnSpPr>
        <p:spPr>
          <a:xfrm>
            <a:off x="6343153" y="3310128"/>
            <a:ext cx="868840" cy="0"/>
          </a:xfrm>
          <a:prstGeom prst="line">
            <a:avLst/>
          </a:prstGeom>
          <a:ln w="38100">
            <a:solidFill>
              <a:srgbClr val="FF00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7" name="Oval 976"/>
          <p:cNvSpPr/>
          <p:nvPr/>
        </p:nvSpPr>
        <p:spPr>
          <a:xfrm>
            <a:off x="6768980" y="3250692"/>
            <a:ext cx="118872" cy="118872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8" name="TextBox 977"/>
          <p:cNvSpPr txBox="1"/>
          <p:nvPr/>
        </p:nvSpPr>
        <p:spPr>
          <a:xfrm>
            <a:off x="7680960" y="3017520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0.58</a:t>
            </a:r>
          </a:p>
        </p:txBody>
      </p:sp>
      <p:sp>
        <p:nvSpPr>
          <p:cNvPr id="979" name="TextBox 978"/>
          <p:cNvSpPr txBox="1"/>
          <p:nvPr/>
        </p:nvSpPr>
        <p:spPr>
          <a:xfrm>
            <a:off x="7680960" y="320040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0.65</a:t>
            </a:r>
          </a:p>
        </p:txBody>
      </p:sp>
      <p:cxnSp>
        <p:nvCxnSpPr>
          <p:cNvPr id="980" name="Connector 979"/>
          <p:cNvCxnSpPr/>
          <p:nvPr/>
        </p:nvCxnSpPr>
        <p:spPr>
          <a:xfrm>
            <a:off x="8549640" y="3118104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1" name="Connector 980"/>
          <p:cNvCxnSpPr/>
          <p:nvPr/>
        </p:nvCxnSpPr>
        <p:spPr>
          <a:xfrm>
            <a:off x="8549640" y="3081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2" name="Connector 981"/>
          <p:cNvCxnSpPr/>
          <p:nvPr/>
        </p:nvCxnSpPr>
        <p:spPr>
          <a:xfrm>
            <a:off x="9121140" y="3081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3" name="Connector 982"/>
          <p:cNvCxnSpPr/>
          <p:nvPr/>
        </p:nvCxnSpPr>
        <p:spPr>
          <a:xfrm>
            <a:off x="9692639" y="3081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4" name="Connector 983"/>
          <p:cNvCxnSpPr/>
          <p:nvPr/>
        </p:nvCxnSpPr>
        <p:spPr>
          <a:xfrm>
            <a:off x="10264140" y="3081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5" name="Connector 984"/>
          <p:cNvCxnSpPr/>
          <p:nvPr/>
        </p:nvCxnSpPr>
        <p:spPr>
          <a:xfrm>
            <a:off x="10835640" y="3081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6" name="Connector 985"/>
          <p:cNvCxnSpPr/>
          <p:nvPr/>
        </p:nvCxnSpPr>
        <p:spPr>
          <a:xfrm>
            <a:off x="9465223" y="3118104"/>
            <a:ext cx="1067523" cy="0"/>
          </a:xfrm>
          <a:prstGeom prst="line">
            <a:avLst/>
          </a:prstGeom>
          <a:ln w="3810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7" name="Oval 986"/>
          <p:cNvSpPr/>
          <p:nvPr/>
        </p:nvSpPr>
        <p:spPr>
          <a:xfrm>
            <a:off x="9999569" y="3067812"/>
            <a:ext cx="100584" cy="100584"/>
          </a:xfrm>
          <a:prstGeom prst="ellipse">
            <a:avLst/>
          </a:prstGeom>
          <a:solidFill>
            <a:srgbClr val="8A83D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88" name="Connector 987"/>
          <p:cNvCxnSpPr/>
          <p:nvPr/>
        </p:nvCxnSpPr>
        <p:spPr>
          <a:xfrm>
            <a:off x="8549640" y="3310128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9" name="Connector 988"/>
          <p:cNvCxnSpPr/>
          <p:nvPr/>
        </p:nvCxnSpPr>
        <p:spPr>
          <a:xfrm>
            <a:off x="8549640" y="3273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0" name="Connector 989"/>
          <p:cNvCxnSpPr/>
          <p:nvPr/>
        </p:nvCxnSpPr>
        <p:spPr>
          <a:xfrm>
            <a:off x="9121140" y="3273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1" name="Connector 990"/>
          <p:cNvCxnSpPr/>
          <p:nvPr/>
        </p:nvCxnSpPr>
        <p:spPr>
          <a:xfrm>
            <a:off x="9692639" y="3273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2" name="Connector 991"/>
          <p:cNvCxnSpPr/>
          <p:nvPr/>
        </p:nvCxnSpPr>
        <p:spPr>
          <a:xfrm>
            <a:off x="10264140" y="3273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3" name="Connector 992"/>
          <p:cNvCxnSpPr/>
          <p:nvPr/>
        </p:nvCxnSpPr>
        <p:spPr>
          <a:xfrm>
            <a:off x="10835640" y="3273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4" name="Connector 993"/>
          <p:cNvCxnSpPr/>
          <p:nvPr/>
        </p:nvCxnSpPr>
        <p:spPr>
          <a:xfrm>
            <a:off x="9767302" y="3310128"/>
            <a:ext cx="898692" cy="0"/>
          </a:xfrm>
          <a:prstGeom prst="line">
            <a:avLst/>
          </a:prstGeom>
          <a:ln w="38100">
            <a:solidFill>
              <a:srgbClr val="FF00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5" name="Oval 994"/>
          <p:cNvSpPr/>
          <p:nvPr/>
        </p:nvSpPr>
        <p:spPr>
          <a:xfrm>
            <a:off x="10185845" y="3250692"/>
            <a:ext cx="118872" cy="118872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6" name="TextBox 995"/>
          <p:cNvSpPr txBox="1"/>
          <p:nvPr/>
        </p:nvSpPr>
        <p:spPr>
          <a:xfrm>
            <a:off x="11018520" y="3017520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0.79</a:t>
            </a:r>
          </a:p>
        </p:txBody>
      </p:sp>
      <p:sp>
        <p:nvSpPr>
          <p:cNvPr id="997" name="TextBox 996"/>
          <p:cNvSpPr txBox="1"/>
          <p:nvPr/>
        </p:nvSpPr>
        <p:spPr>
          <a:xfrm>
            <a:off x="11018520" y="320040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0.85</a:t>
            </a:r>
          </a:p>
        </p:txBody>
      </p:sp>
      <p:cxnSp>
        <p:nvCxnSpPr>
          <p:cNvPr id="998" name="Connector 997"/>
          <p:cNvCxnSpPr/>
          <p:nvPr/>
        </p:nvCxnSpPr>
        <p:spPr>
          <a:xfrm>
            <a:off x="346075" y="3438144"/>
            <a:ext cx="11479860" cy="0"/>
          </a:xfrm>
          <a:prstGeom prst="line">
            <a:avLst/>
          </a:prstGeom>
          <a:ln w="6350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9" name="TextBox 998"/>
          <p:cNvSpPr txBox="1"/>
          <p:nvPr/>
        </p:nvSpPr>
        <p:spPr>
          <a:xfrm>
            <a:off x="346075" y="3557016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Ротация бедра</a:t>
            </a:r>
          </a:p>
        </p:txBody>
      </p:sp>
      <p:sp>
        <p:nvSpPr>
          <p:cNvPr id="1000" name="TextBox 999"/>
          <p:cNvSpPr txBox="1"/>
          <p:nvPr/>
        </p:nvSpPr>
        <p:spPr>
          <a:xfrm>
            <a:off x="2697480" y="35570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36/150</a:t>
            </a:r>
          </a:p>
        </p:txBody>
      </p:sp>
      <p:sp>
        <p:nvSpPr>
          <p:cNvPr id="1001" name="TextBox 1000"/>
          <p:cNvSpPr txBox="1"/>
          <p:nvPr/>
        </p:nvSpPr>
        <p:spPr>
          <a:xfrm>
            <a:off x="3611880" y="35570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0.67</a:t>
            </a:r>
          </a:p>
        </p:txBody>
      </p:sp>
      <p:sp>
        <p:nvSpPr>
          <p:cNvPr id="1002" name="TextBox 1001"/>
          <p:cNvSpPr txBox="1"/>
          <p:nvPr/>
        </p:nvSpPr>
        <p:spPr>
          <a:xfrm>
            <a:off x="4343400" y="35570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0.76</a:t>
            </a:r>
          </a:p>
        </p:txBody>
      </p:sp>
      <p:cxnSp>
        <p:nvCxnSpPr>
          <p:cNvPr id="1003" name="Connector 1002"/>
          <p:cNvCxnSpPr/>
          <p:nvPr/>
        </p:nvCxnSpPr>
        <p:spPr>
          <a:xfrm>
            <a:off x="5349240" y="3575304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4" name="Connector 1003"/>
          <p:cNvCxnSpPr/>
          <p:nvPr/>
        </p:nvCxnSpPr>
        <p:spPr>
          <a:xfrm>
            <a:off x="5349240" y="35387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5" name="Connector 1004"/>
          <p:cNvCxnSpPr/>
          <p:nvPr/>
        </p:nvCxnSpPr>
        <p:spPr>
          <a:xfrm>
            <a:off x="5920740" y="35387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6" name="Connector 1005"/>
          <p:cNvCxnSpPr/>
          <p:nvPr/>
        </p:nvCxnSpPr>
        <p:spPr>
          <a:xfrm>
            <a:off x="6492240" y="35387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7" name="Connector 1006"/>
          <p:cNvCxnSpPr/>
          <p:nvPr/>
        </p:nvCxnSpPr>
        <p:spPr>
          <a:xfrm>
            <a:off x="7063740" y="35387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8" name="Connector 1007"/>
          <p:cNvCxnSpPr/>
          <p:nvPr/>
        </p:nvCxnSpPr>
        <p:spPr>
          <a:xfrm>
            <a:off x="7635240" y="35387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9" name="Connector 1008"/>
          <p:cNvCxnSpPr/>
          <p:nvPr/>
        </p:nvCxnSpPr>
        <p:spPr>
          <a:xfrm>
            <a:off x="6038154" y="3575304"/>
            <a:ext cx="728445" cy="0"/>
          </a:xfrm>
          <a:prstGeom prst="line">
            <a:avLst/>
          </a:prstGeom>
          <a:ln w="3810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0" name="Oval 1009"/>
          <p:cNvSpPr/>
          <p:nvPr/>
        </p:nvSpPr>
        <p:spPr>
          <a:xfrm>
            <a:off x="6392252" y="3525012"/>
            <a:ext cx="100584" cy="100584"/>
          </a:xfrm>
          <a:prstGeom prst="ellipse">
            <a:avLst/>
          </a:prstGeom>
          <a:solidFill>
            <a:srgbClr val="8A83D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11" name="Connector 1010"/>
          <p:cNvCxnSpPr/>
          <p:nvPr/>
        </p:nvCxnSpPr>
        <p:spPr>
          <a:xfrm>
            <a:off x="5349240" y="3767328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2" name="Connector 1011"/>
          <p:cNvCxnSpPr/>
          <p:nvPr/>
        </p:nvCxnSpPr>
        <p:spPr>
          <a:xfrm>
            <a:off x="5349240" y="37307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3" name="Connector 1012"/>
          <p:cNvCxnSpPr/>
          <p:nvPr/>
        </p:nvCxnSpPr>
        <p:spPr>
          <a:xfrm>
            <a:off x="5920740" y="37307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4" name="Connector 1013"/>
          <p:cNvCxnSpPr/>
          <p:nvPr/>
        </p:nvCxnSpPr>
        <p:spPr>
          <a:xfrm>
            <a:off x="6492240" y="37307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5" name="Connector 1014"/>
          <p:cNvCxnSpPr/>
          <p:nvPr/>
        </p:nvCxnSpPr>
        <p:spPr>
          <a:xfrm>
            <a:off x="7063740" y="37307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6" name="Connector 1015"/>
          <p:cNvCxnSpPr/>
          <p:nvPr/>
        </p:nvCxnSpPr>
        <p:spPr>
          <a:xfrm>
            <a:off x="7635240" y="37307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7" name="Connector 1016"/>
          <p:cNvCxnSpPr/>
          <p:nvPr/>
        </p:nvCxnSpPr>
        <p:spPr>
          <a:xfrm>
            <a:off x="6250708" y="3767328"/>
            <a:ext cx="651329" cy="0"/>
          </a:xfrm>
          <a:prstGeom prst="line">
            <a:avLst/>
          </a:prstGeom>
          <a:ln w="38100">
            <a:solidFill>
              <a:srgbClr val="FF00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8" name="Oval 1017"/>
          <p:cNvSpPr/>
          <p:nvPr/>
        </p:nvSpPr>
        <p:spPr>
          <a:xfrm>
            <a:off x="6551045" y="3707892"/>
            <a:ext cx="118872" cy="118872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9" name="TextBox 1018"/>
          <p:cNvSpPr txBox="1"/>
          <p:nvPr/>
        </p:nvSpPr>
        <p:spPr>
          <a:xfrm>
            <a:off x="7680960" y="3474720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0.48</a:t>
            </a:r>
          </a:p>
        </p:txBody>
      </p:sp>
      <p:sp>
        <p:nvSpPr>
          <p:cNvPr id="1020" name="TextBox 1019"/>
          <p:cNvSpPr txBox="1"/>
          <p:nvPr/>
        </p:nvSpPr>
        <p:spPr>
          <a:xfrm>
            <a:off x="7680960" y="365760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0.55</a:t>
            </a:r>
          </a:p>
        </p:txBody>
      </p:sp>
      <p:cxnSp>
        <p:nvCxnSpPr>
          <p:cNvPr id="1021" name="Connector 1020"/>
          <p:cNvCxnSpPr/>
          <p:nvPr/>
        </p:nvCxnSpPr>
        <p:spPr>
          <a:xfrm>
            <a:off x="8549640" y="3575304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2" name="Connector 1021"/>
          <p:cNvCxnSpPr/>
          <p:nvPr/>
        </p:nvCxnSpPr>
        <p:spPr>
          <a:xfrm>
            <a:off x="8549640" y="35387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3" name="Connector 1022"/>
          <p:cNvCxnSpPr/>
          <p:nvPr/>
        </p:nvCxnSpPr>
        <p:spPr>
          <a:xfrm>
            <a:off x="9121140" y="35387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4" name="Connector 1023"/>
          <p:cNvCxnSpPr/>
          <p:nvPr/>
        </p:nvCxnSpPr>
        <p:spPr>
          <a:xfrm>
            <a:off x="9692639" y="35387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5" name="Connector 1024"/>
          <p:cNvCxnSpPr/>
          <p:nvPr/>
        </p:nvCxnSpPr>
        <p:spPr>
          <a:xfrm>
            <a:off x="10264140" y="35387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6" name="Connector 1025"/>
          <p:cNvCxnSpPr/>
          <p:nvPr/>
        </p:nvCxnSpPr>
        <p:spPr>
          <a:xfrm>
            <a:off x="10835640" y="35387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7" name="Connector 1026"/>
          <p:cNvCxnSpPr/>
          <p:nvPr/>
        </p:nvCxnSpPr>
        <p:spPr>
          <a:xfrm>
            <a:off x="9114086" y="3575304"/>
            <a:ext cx="943090" cy="0"/>
          </a:xfrm>
          <a:prstGeom prst="line">
            <a:avLst/>
          </a:prstGeom>
          <a:ln w="3810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8" name="Oval 1027"/>
          <p:cNvSpPr/>
          <p:nvPr/>
        </p:nvSpPr>
        <p:spPr>
          <a:xfrm>
            <a:off x="9557124" y="3525012"/>
            <a:ext cx="100584" cy="100584"/>
          </a:xfrm>
          <a:prstGeom prst="ellipse">
            <a:avLst/>
          </a:prstGeom>
          <a:solidFill>
            <a:srgbClr val="8A83D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29" name="Connector 1028"/>
          <p:cNvCxnSpPr/>
          <p:nvPr/>
        </p:nvCxnSpPr>
        <p:spPr>
          <a:xfrm>
            <a:off x="8549640" y="3767328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0" name="Connector 1029"/>
          <p:cNvCxnSpPr/>
          <p:nvPr/>
        </p:nvCxnSpPr>
        <p:spPr>
          <a:xfrm>
            <a:off x="8549640" y="37307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1" name="Connector 1030"/>
          <p:cNvCxnSpPr/>
          <p:nvPr/>
        </p:nvCxnSpPr>
        <p:spPr>
          <a:xfrm>
            <a:off x="9121140" y="37307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2" name="Connector 1031"/>
          <p:cNvCxnSpPr/>
          <p:nvPr/>
        </p:nvCxnSpPr>
        <p:spPr>
          <a:xfrm>
            <a:off x="9692639" y="37307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3" name="Connector 1032"/>
          <p:cNvCxnSpPr/>
          <p:nvPr/>
        </p:nvCxnSpPr>
        <p:spPr>
          <a:xfrm>
            <a:off x="10264140" y="37307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4" name="Connector 1033"/>
          <p:cNvCxnSpPr/>
          <p:nvPr/>
        </p:nvCxnSpPr>
        <p:spPr>
          <a:xfrm>
            <a:off x="10835640" y="37307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5" name="Connector 1034"/>
          <p:cNvCxnSpPr/>
          <p:nvPr/>
        </p:nvCxnSpPr>
        <p:spPr>
          <a:xfrm>
            <a:off x="9757681" y="3767328"/>
            <a:ext cx="679651" cy="0"/>
          </a:xfrm>
          <a:prstGeom prst="line">
            <a:avLst/>
          </a:prstGeom>
          <a:ln w="38100">
            <a:solidFill>
              <a:srgbClr val="FF00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6" name="Oval 1035"/>
          <p:cNvSpPr/>
          <p:nvPr/>
        </p:nvSpPr>
        <p:spPr>
          <a:xfrm>
            <a:off x="10074361" y="3707892"/>
            <a:ext cx="118872" cy="118872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7" name="TextBox 1036"/>
          <p:cNvSpPr txBox="1"/>
          <p:nvPr/>
        </p:nvSpPr>
        <p:spPr>
          <a:xfrm>
            <a:off x="11018520" y="3474720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0.68</a:t>
            </a:r>
          </a:p>
        </p:txBody>
      </p:sp>
      <p:sp>
        <p:nvSpPr>
          <p:cNvPr id="1038" name="TextBox 1037"/>
          <p:cNvSpPr txBox="1"/>
          <p:nvPr/>
        </p:nvSpPr>
        <p:spPr>
          <a:xfrm>
            <a:off x="11018520" y="365760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0.82</a:t>
            </a:r>
          </a:p>
        </p:txBody>
      </p:sp>
      <p:cxnSp>
        <p:nvCxnSpPr>
          <p:cNvPr id="1039" name="Connector 1038"/>
          <p:cNvCxnSpPr/>
          <p:nvPr/>
        </p:nvCxnSpPr>
        <p:spPr>
          <a:xfrm>
            <a:off x="346075" y="3895344"/>
            <a:ext cx="11479860" cy="0"/>
          </a:xfrm>
          <a:prstGeom prst="line">
            <a:avLst/>
          </a:prstGeom>
          <a:ln w="6350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0" name="TextBox 1039"/>
          <p:cNvSpPr txBox="1"/>
          <p:nvPr/>
        </p:nvSpPr>
        <p:spPr>
          <a:xfrm>
            <a:off x="346075" y="4014216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Отступы поля</a:t>
            </a:r>
          </a:p>
        </p:txBody>
      </p:sp>
      <p:sp>
        <p:nvSpPr>
          <p:cNvPr id="1041" name="TextBox 1040"/>
          <p:cNvSpPr txBox="1"/>
          <p:nvPr/>
        </p:nvSpPr>
        <p:spPr>
          <a:xfrm>
            <a:off x="2697480" y="40142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7/150</a:t>
            </a:r>
          </a:p>
        </p:txBody>
      </p:sp>
      <p:sp>
        <p:nvSpPr>
          <p:cNvPr id="1042" name="TextBox 1041"/>
          <p:cNvSpPr txBox="1"/>
          <p:nvPr/>
        </p:nvSpPr>
        <p:spPr>
          <a:xfrm>
            <a:off x="3611880" y="40142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0.71</a:t>
            </a:r>
          </a:p>
        </p:txBody>
      </p:sp>
      <p:sp>
        <p:nvSpPr>
          <p:cNvPr id="1043" name="TextBox 1042"/>
          <p:cNvSpPr txBox="1"/>
          <p:nvPr/>
        </p:nvSpPr>
        <p:spPr>
          <a:xfrm>
            <a:off x="4343400" y="40142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0.99</a:t>
            </a:r>
          </a:p>
        </p:txBody>
      </p:sp>
      <p:cxnSp>
        <p:nvCxnSpPr>
          <p:cNvPr id="1044" name="Connector 1043"/>
          <p:cNvCxnSpPr/>
          <p:nvPr/>
        </p:nvCxnSpPr>
        <p:spPr>
          <a:xfrm>
            <a:off x="5349240" y="4032504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5" name="Connector 1044"/>
          <p:cNvCxnSpPr/>
          <p:nvPr/>
        </p:nvCxnSpPr>
        <p:spPr>
          <a:xfrm>
            <a:off x="5349240" y="39959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6" name="Connector 1045"/>
          <p:cNvCxnSpPr/>
          <p:nvPr/>
        </p:nvCxnSpPr>
        <p:spPr>
          <a:xfrm>
            <a:off x="5920740" y="39959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7" name="Connector 1046"/>
          <p:cNvCxnSpPr/>
          <p:nvPr/>
        </p:nvCxnSpPr>
        <p:spPr>
          <a:xfrm>
            <a:off x="6492240" y="39959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8" name="Connector 1047"/>
          <p:cNvCxnSpPr/>
          <p:nvPr/>
        </p:nvCxnSpPr>
        <p:spPr>
          <a:xfrm>
            <a:off x="7063740" y="39959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9" name="Connector 1048"/>
          <p:cNvCxnSpPr/>
          <p:nvPr/>
        </p:nvCxnSpPr>
        <p:spPr>
          <a:xfrm>
            <a:off x="7635240" y="39959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0" name="Connector 1049"/>
          <p:cNvCxnSpPr/>
          <p:nvPr/>
        </p:nvCxnSpPr>
        <p:spPr>
          <a:xfrm>
            <a:off x="5349240" y="4032504"/>
            <a:ext cx="1418896" cy="0"/>
          </a:xfrm>
          <a:prstGeom prst="line">
            <a:avLst/>
          </a:prstGeom>
          <a:ln w="3810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1" name="Oval 1050"/>
          <p:cNvSpPr/>
          <p:nvPr/>
        </p:nvSpPr>
        <p:spPr>
          <a:xfrm>
            <a:off x="6094078" y="3982212"/>
            <a:ext cx="100584" cy="100584"/>
          </a:xfrm>
          <a:prstGeom prst="ellipse">
            <a:avLst/>
          </a:prstGeom>
          <a:solidFill>
            <a:srgbClr val="8A83D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52" name="Connector 1051"/>
          <p:cNvCxnSpPr/>
          <p:nvPr/>
        </p:nvCxnSpPr>
        <p:spPr>
          <a:xfrm>
            <a:off x="5349240" y="4224528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3" name="Connector 1052"/>
          <p:cNvCxnSpPr/>
          <p:nvPr/>
        </p:nvCxnSpPr>
        <p:spPr>
          <a:xfrm>
            <a:off x="5349240" y="41879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4" name="Connector 1053"/>
          <p:cNvCxnSpPr/>
          <p:nvPr/>
        </p:nvCxnSpPr>
        <p:spPr>
          <a:xfrm>
            <a:off x="5920740" y="41879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5" name="Connector 1054"/>
          <p:cNvCxnSpPr/>
          <p:nvPr/>
        </p:nvCxnSpPr>
        <p:spPr>
          <a:xfrm>
            <a:off x="6492240" y="41879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6" name="Connector 1055"/>
          <p:cNvCxnSpPr/>
          <p:nvPr/>
        </p:nvCxnSpPr>
        <p:spPr>
          <a:xfrm>
            <a:off x="7063740" y="41879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7" name="Connector 1056"/>
          <p:cNvCxnSpPr/>
          <p:nvPr/>
        </p:nvCxnSpPr>
        <p:spPr>
          <a:xfrm>
            <a:off x="7635240" y="41879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Connector 1057"/>
          <p:cNvCxnSpPr/>
          <p:nvPr/>
        </p:nvCxnSpPr>
        <p:spPr>
          <a:xfrm>
            <a:off x="5857240" y="4224528"/>
            <a:ext cx="1657684" cy="0"/>
          </a:xfrm>
          <a:prstGeom prst="line">
            <a:avLst/>
          </a:prstGeom>
          <a:ln w="38100">
            <a:solidFill>
              <a:srgbClr val="FF00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9" name="Oval 1058"/>
          <p:cNvSpPr/>
          <p:nvPr/>
        </p:nvSpPr>
        <p:spPr>
          <a:xfrm>
            <a:off x="6922661" y="4165092"/>
            <a:ext cx="118872" cy="118872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0" name="TextBox 1059"/>
          <p:cNvSpPr txBox="1"/>
          <p:nvPr/>
        </p:nvSpPr>
        <p:spPr>
          <a:xfrm>
            <a:off x="7680960" y="3931920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0.35</a:t>
            </a:r>
          </a:p>
        </p:txBody>
      </p:sp>
      <p:sp>
        <p:nvSpPr>
          <p:cNvPr id="1061" name="TextBox 1060"/>
          <p:cNvSpPr txBox="1"/>
          <p:nvPr/>
        </p:nvSpPr>
        <p:spPr>
          <a:xfrm>
            <a:off x="7680960" y="411480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0.71</a:t>
            </a:r>
          </a:p>
        </p:txBody>
      </p:sp>
      <p:cxnSp>
        <p:nvCxnSpPr>
          <p:cNvPr id="1062" name="Connector 1061"/>
          <p:cNvCxnSpPr/>
          <p:nvPr/>
        </p:nvCxnSpPr>
        <p:spPr>
          <a:xfrm>
            <a:off x="8549640" y="4032504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3" name="Connector 1062"/>
          <p:cNvCxnSpPr/>
          <p:nvPr/>
        </p:nvCxnSpPr>
        <p:spPr>
          <a:xfrm>
            <a:off x="8549640" y="39959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4" name="Connector 1063"/>
          <p:cNvCxnSpPr/>
          <p:nvPr/>
        </p:nvCxnSpPr>
        <p:spPr>
          <a:xfrm>
            <a:off x="9121140" y="39959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5" name="Connector 1064"/>
          <p:cNvCxnSpPr/>
          <p:nvPr/>
        </p:nvCxnSpPr>
        <p:spPr>
          <a:xfrm>
            <a:off x="9692639" y="39959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6" name="Connector 1065"/>
          <p:cNvCxnSpPr/>
          <p:nvPr/>
        </p:nvCxnSpPr>
        <p:spPr>
          <a:xfrm>
            <a:off x="10264140" y="39959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7" name="Connector 1066"/>
          <p:cNvCxnSpPr/>
          <p:nvPr/>
        </p:nvCxnSpPr>
        <p:spPr>
          <a:xfrm>
            <a:off x="10835640" y="39959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8" name="Connector 1067"/>
          <p:cNvCxnSpPr/>
          <p:nvPr/>
        </p:nvCxnSpPr>
        <p:spPr>
          <a:xfrm>
            <a:off x="9831609" y="4032504"/>
            <a:ext cx="974452" cy="0"/>
          </a:xfrm>
          <a:prstGeom prst="line">
            <a:avLst/>
          </a:prstGeom>
          <a:ln w="3810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9" name="Oval 1068"/>
          <p:cNvSpPr/>
          <p:nvPr/>
        </p:nvSpPr>
        <p:spPr>
          <a:xfrm>
            <a:off x="10372375" y="3982212"/>
            <a:ext cx="100584" cy="100584"/>
          </a:xfrm>
          <a:prstGeom prst="ellipse">
            <a:avLst/>
          </a:prstGeom>
          <a:solidFill>
            <a:srgbClr val="8A83D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70" name="Connector 1069"/>
          <p:cNvCxnSpPr/>
          <p:nvPr/>
        </p:nvCxnSpPr>
        <p:spPr>
          <a:xfrm>
            <a:off x="8549640" y="4224528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1" name="Connector 1070"/>
          <p:cNvCxnSpPr/>
          <p:nvPr/>
        </p:nvCxnSpPr>
        <p:spPr>
          <a:xfrm>
            <a:off x="8549640" y="41879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2" name="Connector 1071"/>
          <p:cNvCxnSpPr/>
          <p:nvPr/>
        </p:nvCxnSpPr>
        <p:spPr>
          <a:xfrm>
            <a:off x="9121140" y="41879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3" name="Connector 1072"/>
          <p:cNvCxnSpPr/>
          <p:nvPr/>
        </p:nvCxnSpPr>
        <p:spPr>
          <a:xfrm>
            <a:off x="9692639" y="41879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4" name="Connector 1073"/>
          <p:cNvCxnSpPr/>
          <p:nvPr/>
        </p:nvCxnSpPr>
        <p:spPr>
          <a:xfrm>
            <a:off x="10264140" y="41879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5" name="Connector 1074"/>
          <p:cNvCxnSpPr/>
          <p:nvPr/>
        </p:nvCxnSpPr>
        <p:spPr>
          <a:xfrm>
            <a:off x="10835640" y="41879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6" name="Connector 1075"/>
          <p:cNvCxnSpPr/>
          <p:nvPr/>
        </p:nvCxnSpPr>
        <p:spPr>
          <a:xfrm>
            <a:off x="10148232" y="4224528"/>
            <a:ext cx="687408" cy="0"/>
          </a:xfrm>
          <a:prstGeom prst="line">
            <a:avLst/>
          </a:prstGeom>
          <a:ln w="38100">
            <a:solidFill>
              <a:srgbClr val="FF00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7" name="Oval 1076"/>
          <p:cNvSpPr/>
          <p:nvPr/>
        </p:nvSpPr>
        <p:spPr>
          <a:xfrm>
            <a:off x="10544026" y="4165092"/>
            <a:ext cx="118872" cy="118872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8" name="TextBox 1077"/>
          <p:cNvSpPr txBox="1"/>
          <p:nvPr/>
        </p:nvSpPr>
        <p:spPr>
          <a:xfrm>
            <a:off x="11018520" y="3931920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0.89</a:t>
            </a:r>
          </a:p>
        </p:txBody>
      </p:sp>
      <p:sp>
        <p:nvSpPr>
          <p:cNvPr id="1079" name="TextBox 1078"/>
          <p:cNvSpPr txBox="1"/>
          <p:nvPr/>
        </p:nvSpPr>
        <p:spPr>
          <a:xfrm>
            <a:off x="11018520" y="411480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0.94</a:t>
            </a:r>
          </a:p>
        </p:txBody>
      </p:sp>
      <p:cxnSp>
        <p:nvCxnSpPr>
          <p:cNvPr id="1080" name="Connector 1079"/>
          <p:cNvCxnSpPr/>
          <p:nvPr/>
        </p:nvCxnSpPr>
        <p:spPr>
          <a:xfrm>
            <a:off x="346075" y="4352544"/>
            <a:ext cx="11479860" cy="0"/>
          </a:xfrm>
          <a:prstGeom prst="line">
            <a:avLst/>
          </a:prstGeom>
          <a:ln w="6350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1" name="TextBox 1080"/>
          <p:cNvSpPr txBox="1"/>
          <p:nvPr/>
        </p:nvSpPr>
        <p:spPr>
          <a:xfrm>
            <a:off x="346075" y="4471416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Позвоночник (любое)</a:t>
            </a:r>
          </a:p>
        </p:txBody>
      </p:sp>
      <p:sp>
        <p:nvSpPr>
          <p:cNvPr id="1082" name="TextBox 1081"/>
          <p:cNvSpPr txBox="1"/>
          <p:nvPr/>
        </p:nvSpPr>
        <p:spPr>
          <a:xfrm>
            <a:off x="2697480" y="44714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31/99</a:t>
            </a:r>
          </a:p>
        </p:txBody>
      </p:sp>
      <p:sp>
        <p:nvSpPr>
          <p:cNvPr id="1083" name="TextBox 1082"/>
          <p:cNvSpPr txBox="1"/>
          <p:nvPr/>
        </p:nvSpPr>
        <p:spPr>
          <a:xfrm>
            <a:off x="3611880" y="44714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0.65</a:t>
            </a:r>
          </a:p>
        </p:txBody>
      </p:sp>
      <p:sp>
        <p:nvSpPr>
          <p:cNvPr id="1084" name="TextBox 1083"/>
          <p:cNvSpPr txBox="1"/>
          <p:nvPr/>
        </p:nvSpPr>
        <p:spPr>
          <a:xfrm>
            <a:off x="4343400" y="44714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0.68</a:t>
            </a:r>
          </a:p>
        </p:txBody>
      </p:sp>
      <p:cxnSp>
        <p:nvCxnSpPr>
          <p:cNvPr id="1085" name="Connector 1084"/>
          <p:cNvCxnSpPr/>
          <p:nvPr/>
        </p:nvCxnSpPr>
        <p:spPr>
          <a:xfrm>
            <a:off x="5349240" y="4489704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6" name="Connector 1085"/>
          <p:cNvCxnSpPr/>
          <p:nvPr/>
        </p:nvCxnSpPr>
        <p:spPr>
          <a:xfrm>
            <a:off x="5349240" y="44531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7" name="Connector 1086"/>
          <p:cNvCxnSpPr/>
          <p:nvPr/>
        </p:nvCxnSpPr>
        <p:spPr>
          <a:xfrm>
            <a:off x="5920740" y="44531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8" name="Connector 1087"/>
          <p:cNvCxnSpPr/>
          <p:nvPr/>
        </p:nvCxnSpPr>
        <p:spPr>
          <a:xfrm>
            <a:off x="6492240" y="44531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9" name="Connector 1088"/>
          <p:cNvCxnSpPr/>
          <p:nvPr/>
        </p:nvCxnSpPr>
        <p:spPr>
          <a:xfrm>
            <a:off x="7063740" y="44531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0" name="Connector 1089"/>
          <p:cNvCxnSpPr/>
          <p:nvPr/>
        </p:nvCxnSpPr>
        <p:spPr>
          <a:xfrm>
            <a:off x="7635240" y="44531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1" name="Connector 1090"/>
          <p:cNvCxnSpPr/>
          <p:nvPr/>
        </p:nvCxnSpPr>
        <p:spPr>
          <a:xfrm>
            <a:off x="6111240" y="4489704"/>
            <a:ext cx="673395" cy="0"/>
          </a:xfrm>
          <a:prstGeom prst="line">
            <a:avLst/>
          </a:prstGeom>
          <a:ln w="3810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2" name="Oval 1091"/>
          <p:cNvSpPr/>
          <p:nvPr/>
        </p:nvSpPr>
        <p:spPr>
          <a:xfrm>
            <a:off x="6409290" y="4439412"/>
            <a:ext cx="100584" cy="100584"/>
          </a:xfrm>
          <a:prstGeom prst="ellipse">
            <a:avLst/>
          </a:prstGeom>
          <a:solidFill>
            <a:srgbClr val="8A83D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93" name="Connector 1092"/>
          <p:cNvCxnSpPr/>
          <p:nvPr/>
        </p:nvCxnSpPr>
        <p:spPr>
          <a:xfrm>
            <a:off x="5349240" y="4681728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4" name="Connector 1093"/>
          <p:cNvCxnSpPr/>
          <p:nvPr/>
        </p:nvCxnSpPr>
        <p:spPr>
          <a:xfrm>
            <a:off x="5349240" y="46451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5" name="Connector 1094"/>
          <p:cNvCxnSpPr/>
          <p:nvPr/>
        </p:nvCxnSpPr>
        <p:spPr>
          <a:xfrm>
            <a:off x="5920740" y="46451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6" name="Connector 1095"/>
          <p:cNvCxnSpPr/>
          <p:nvPr/>
        </p:nvCxnSpPr>
        <p:spPr>
          <a:xfrm>
            <a:off x="6492240" y="46451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7" name="Connector 1096"/>
          <p:cNvCxnSpPr/>
          <p:nvPr/>
        </p:nvCxnSpPr>
        <p:spPr>
          <a:xfrm>
            <a:off x="7063740" y="46451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8" name="Connector 1097"/>
          <p:cNvCxnSpPr/>
          <p:nvPr/>
        </p:nvCxnSpPr>
        <p:spPr>
          <a:xfrm>
            <a:off x="7635240" y="46451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9" name="Connector 1098"/>
          <p:cNvCxnSpPr/>
          <p:nvPr/>
        </p:nvCxnSpPr>
        <p:spPr>
          <a:xfrm>
            <a:off x="6263640" y="4681728"/>
            <a:ext cx="631064" cy="0"/>
          </a:xfrm>
          <a:prstGeom prst="line">
            <a:avLst/>
          </a:prstGeom>
          <a:ln w="38100">
            <a:solidFill>
              <a:srgbClr val="FF00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0" name="Oval 1099"/>
          <p:cNvSpPr/>
          <p:nvPr/>
        </p:nvSpPr>
        <p:spPr>
          <a:xfrm>
            <a:off x="6542406" y="4622292"/>
            <a:ext cx="118872" cy="118872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1" name="TextBox 1100"/>
          <p:cNvSpPr txBox="1"/>
          <p:nvPr/>
        </p:nvSpPr>
        <p:spPr>
          <a:xfrm>
            <a:off x="7680960" y="4389120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0.49</a:t>
            </a:r>
          </a:p>
        </p:txBody>
      </p:sp>
      <p:sp>
        <p:nvSpPr>
          <p:cNvPr id="1102" name="TextBox 1101"/>
          <p:cNvSpPr txBox="1"/>
          <p:nvPr/>
        </p:nvSpPr>
        <p:spPr>
          <a:xfrm>
            <a:off x="7680960" y="457200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0.55</a:t>
            </a:r>
          </a:p>
        </p:txBody>
      </p:sp>
      <p:cxnSp>
        <p:nvCxnSpPr>
          <p:cNvPr id="1103" name="Connector 1102"/>
          <p:cNvCxnSpPr/>
          <p:nvPr/>
        </p:nvCxnSpPr>
        <p:spPr>
          <a:xfrm>
            <a:off x="8549640" y="4489704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4" name="Connector 1103"/>
          <p:cNvCxnSpPr/>
          <p:nvPr/>
        </p:nvCxnSpPr>
        <p:spPr>
          <a:xfrm>
            <a:off x="8549640" y="44531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5" name="Connector 1104"/>
          <p:cNvCxnSpPr/>
          <p:nvPr/>
        </p:nvCxnSpPr>
        <p:spPr>
          <a:xfrm>
            <a:off x="9121140" y="44531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6" name="Connector 1105"/>
          <p:cNvCxnSpPr/>
          <p:nvPr/>
        </p:nvCxnSpPr>
        <p:spPr>
          <a:xfrm>
            <a:off x="9692639" y="44531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7" name="Connector 1106"/>
          <p:cNvCxnSpPr/>
          <p:nvPr/>
        </p:nvCxnSpPr>
        <p:spPr>
          <a:xfrm>
            <a:off x="10264140" y="44531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8" name="Connector 1107"/>
          <p:cNvCxnSpPr/>
          <p:nvPr/>
        </p:nvCxnSpPr>
        <p:spPr>
          <a:xfrm>
            <a:off x="10835640" y="44531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9" name="Connector 1108"/>
          <p:cNvCxnSpPr/>
          <p:nvPr/>
        </p:nvCxnSpPr>
        <p:spPr>
          <a:xfrm>
            <a:off x="9039107" y="4489704"/>
            <a:ext cx="890073" cy="0"/>
          </a:xfrm>
          <a:prstGeom prst="line">
            <a:avLst/>
          </a:prstGeom>
          <a:ln w="3810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0" name="Oval 1109"/>
          <p:cNvSpPr/>
          <p:nvPr/>
        </p:nvSpPr>
        <p:spPr>
          <a:xfrm>
            <a:off x="9432508" y="4439412"/>
            <a:ext cx="100584" cy="100584"/>
          </a:xfrm>
          <a:prstGeom prst="ellipse">
            <a:avLst/>
          </a:prstGeom>
          <a:solidFill>
            <a:srgbClr val="8A83D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11" name="Connector 1110"/>
          <p:cNvCxnSpPr/>
          <p:nvPr/>
        </p:nvCxnSpPr>
        <p:spPr>
          <a:xfrm>
            <a:off x="8549640" y="4681728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2" name="Connector 1111"/>
          <p:cNvCxnSpPr/>
          <p:nvPr/>
        </p:nvCxnSpPr>
        <p:spPr>
          <a:xfrm>
            <a:off x="8549640" y="46451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3" name="Connector 1112"/>
          <p:cNvCxnSpPr/>
          <p:nvPr/>
        </p:nvCxnSpPr>
        <p:spPr>
          <a:xfrm>
            <a:off x="9121140" y="46451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4" name="Connector 1113"/>
          <p:cNvCxnSpPr/>
          <p:nvPr/>
        </p:nvCxnSpPr>
        <p:spPr>
          <a:xfrm>
            <a:off x="9692639" y="46451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5" name="Connector 1114"/>
          <p:cNvCxnSpPr/>
          <p:nvPr/>
        </p:nvCxnSpPr>
        <p:spPr>
          <a:xfrm>
            <a:off x="10264140" y="46451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6" name="Connector 1115"/>
          <p:cNvCxnSpPr/>
          <p:nvPr/>
        </p:nvCxnSpPr>
        <p:spPr>
          <a:xfrm>
            <a:off x="10835640" y="46451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7" name="Connector 1116"/>
          <p:cNvCxnSpPr/>
          <p:nvPr/>
        </p:nvCxnSpPr>
        <p:spPr>
          <a:xfrm>
            <a:off x="9307869" y="4681728"/>
            <a:ext cx="865166" cy="0"/>
          </a:xfrm>
          <a:prstGeom prst="line">
            <a:avLst/>
          </a:prstGeom>
          <a:ln w="38100">
            <a:solidFill>
              <a:srgbClr val="FF00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8" name="Oval 1117"/>
          <p:cNvSpPr/>
          <p:nvPr/>
        </p:nvSpPr>
        <p:spPr>
          <a:xfrm>
            <a:off x="9698089" y="4622292"/>
            <a:ext cx="118872" cy="118872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9" name="TextBox 1118"/>
          <p:cNvSpPr txBox="1"/>
          <p:nvPr/>
        </p:nvSpPr>
        <p:spPr>
          <a:xfrm>
            <a:off x="11018520" y="4389120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0.64</a:t>
            </a:r>
          </a:p>
        </p:txBody>
      </p:sp>
      <p:sp>
        <p:nvSpPr>
          <p:cNvPr id="1120" name="TextBox 1119"/>
          <p:cNvSpPr txBox="1"/>
          <p:nvPr/>
        </p:nvSpPr>
        <p:spPr>
          <a:xfrm>
            <a:off x="11018520" y="457200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0.72</a:t>
            </a:r>
          </a:p>
        </p:txBody>
      </p:sp>
      <p:cxnSp>
        <p:nvCxnSpPr>
          <p:cNvPr id="1121" name="Connector 1120"/>
          <p:cNvCxnSpPr/>
          <p:nvPr/>
        </p:nvCxnSpPr>
        <p:spPr>
          <a:xfrm>
            <a:off x="346075" y="4809744"/>
            <a:ext cx="11479860" cy="0"/>
          </a:xfrm>
          <a:prstGeom prst="line">
            <a:avLst/>
          </a:prstGeom>
          <a:ln w="6350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2" name="TextBox 1121"/>
          <p:cNvSpPr txBox="1"/>
          <p:nvPr/>
        </p:nvSpPr>
        <p:spPr>
          <a:xfrm>
            <a:off x="346075" y="4928616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Бедро (любое)</a:t>
            </a:r>
          </a:p>
        </p:txBody>
      </p:sp>
      <p:sp>
        <p:nvSpPr>
          <p:cNvPr id="1123" name="TextBox 1122"/>
          <p:cNvSpPr txBox="1"/>
          <p:nvPr/>
        </p:nvSpPr>
        <p:spPr>
          <a:xfrm>
            <a:off x="2697480" y="49286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41/150</a:t>
            </a:r>
          </a:p>
        </p:txBody>
      </p:sp>
      <p:sp>
        <p:nvSpPr>
          <p:cNvPr id="1124" name="TextBox 1123"/>
          <p:cNvSpPr txBox="1"/>
          <p:nvPr/>
        </p:nvSpPr>
        <p:spPr>
          <a:xfrm>
            <a:off x="3611880" y="49286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0.71</a:t>
            </a:r>
          </a:p>
        </p:txBody>
      </p:sp>
      <p:sp>
        <p:nvSpPr>
          <p:cNvPr id="1125" name="TextBox 1124"/>
          <p:cNvSpPr txBox="1"/>
          <p:nvPr/>
        </p:nvSpPr>
        <p:spPr>
          <a:xfrm>
            <a:off x="4343400" y="49286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0.75</a:t>
            </a:r>
          </a:p>
        </p:txBody>
      </p:sp>
      <p:cxnSp>
        <p:nvCxnSpPr>
          <p:cNvPr id="1126" name="Connector 1125"/>
          <p:cNvCxnSpPr/>
          <p:nvPr/>
        </p:nvCxnSpPr>
        <p:spPr>
          <a:xfrm>
            <a:off x="5349240" y="4946904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7" name="Connector 1126"/>
          <p:cNvCxnSpPr/>
          <p:nvPr/>
        </p:nvCxnSpPr>
        <p:spPr>
          <a:xfrm>
            <a:off x="5349240" y="49103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8" name="Connector 1127"/>
          <p:cNvCxnSpPr/>
          <p:nvPr/>
        </p:nvCxnSpPr>
        <p:spPr>
          <a:xfrm>
            <a:off x="5920740" y="49103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9" name="Connector 1128"/>
          <p:cNvCxnSpPr/>
          <p:nvPr/>
        </p:nvCxnSpPr>
        <p:spPr>
          <a:xfrm>
            <a:off x="6492240" y="49103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0" name="Connector 1129"/>
          <p:cNvCxnSpPr/>
          <p:nvPr/>
        </p:nvCxnSpPr>
        <p:spPr>
          <a:xfrm>
            <a:off x="7063740" y="49103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1" name="Connector 1130"/>
          <p:cNvCxnSpPr/>
          <p:nvPr/>
        </p:nvCxnSpPr>
        <p:spPr>
          <a:xfrm>
            <a:off x="7635240" y="49103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2" name="Connector 1131"/>
          <p:cNvCxnSpPr/>
          <p:nvPr/>
        </p:nvCxnSpPr>
        <p:spPr>
          <a:xfrm>
            <a:off x="6120405" y="4946904"/>
            <a:ext cx="655356" cy="0"/>
          </a:xfrm>
          <a:prstGeom prst="line">
            <a:avLst/>
          </a:prstGeom>
          <a:ln w="3810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3" name="Oval 1132"/>
          <p:cNvSpPr/>
          <p:nvPr/>
        </p:nvSpPr>
        <p:spPr>
          <a:xfrm>
            <a:off x="6441948" y="4896612"/>
            <a:ext cx="100584" cy="100584"/>
          </a:xfrm>
          <a:prstGeom prst="ellipse">
            <a:avLst/>
          </a:prstGeom>
          <a:solidFill>
            <a:srgbClr val="8A83D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34" name="Connector 1133"/>
          <p:cNvCxnSpPr/>
          <p:nvPr/>
        </p:nvCxnSpPr>
        <p:spPr>
          <a:xfrm>
            <a:off x="5349240" y="5138928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5" name="Connector 1134"/>
          <p:cNvCxnSpPr/>
          <p:nvPr/>
        </p:nvCxnSpPr>
        <p:spPr>
          <a:xfrm>
            <a:off x="5349240" y="51023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6" name="Connector 1135"/>
          <p:cNvCxnSpPr/>
          <p:nvPr/>
        </p:nvCxnSpPr>
        <p:spPr>
          <a:xfrm>
            <a:off x="5920740" y="51023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7" name="Connector 1136"/>
          <p:cNvCxnSpPr/>
          <p:nvPr/>
        </p:nvCxnSpPr>
        <p:spPr>
          <a:xfrm>
            <a:off x="6492240" y="51023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8" name="Connector 1137"/>
          <p:cNvCxnSpPr/>
          <p:nvPr/>
        </p:nvCxnSpPr>
        <p:spPr>
          <a:xfrm>
            <a:off x="7063740" y="51023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9" name="Connector 1138"/>
          <p:cNvCxnSpPr/>
          <p:nvPr/>
        </p:nvCxnSpPr>
        <p:spPr>
          <a:xfrm>
            <a:off x="7635240" y="51023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0" name="Connector 1139"/>
          <p:cNvCxnSpPr/>
          <p:nvPr/>
        </p:nvCxnSpPr>
        <p:spPr>
          <a:xfrm>
            <a:off x="6385369" y="5138928"/>
            <a:ext cx="602171" cy="0"/>
          </a:xfrm>
          <a:prstGeom prst="line">
            <a:avLst/>
          </a:prstGeom>
          <a:ln w="38100">
            <a:solidFill>
              <a:srgbClr val="FF00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1" name="Oval 1140"/>
          <p:cNvSpPr/>
          <p:nvPr/>
        </p:nvSpPr>
        <p:spPr>
          <a:xfrm>
            <a:off x="6656690" y="5079492"/>
            <a:ext cx="118872" cy="118872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2" name="TextBox 1141"/>
          <p:cNvSpPr txBox="1"/>
          <p:nvPr/>
        </p:nvSpPr>
        <p:spPr>
          <a:xfrm>
            <a:off x="7680960" y="4846320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0.50</a:t>
            </a:r>
          </a:p>
        </p:txBody>
      </p:sp>
      <p:sp>
        <p:nvSpPr>
          <p:cNvPr id="1143" name="TextBox 1142"/>
          <p:cNvSpPr txBox="1"/>
          <p:nvPr/>
        </p:nvSpPr>
        <p:spPr>
          <a:xfrm>
            <a:off x="7680960" y="502920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0.60</a:t>
            </a:r>
          </a:p>
        </p:txBody>
      </p:sp>
      <p:cxnSp>
        <p:nvCxnSpPr>
          <p:cNvPr id="1144" name="Connector 1143"/>
          <p:cNvCxnSpPr/>
          <p:nvPr/>
        </p:nvCxnSpPr>
        <p:spPr>
          <a:xfrm>
            <a:off x="8549640" y="4946904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5" name="Connector 1144"/>
          <p:cNvCxnSpPr/>
          <p:nvPr/>
        </p:nvCxnSpPr>
        <p:spPr>
          <a:xfrm>
            <a:off x="8549640" y="49103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6" name="Connector 1145"/>
          <p:cNvCxnSpPr/>
          <p:nvPr/>
        </p:nvCxnSpPr>
        <p:spPr>
          <a:xfrm>
            <a:off x="9121140" y="49103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7" name="Connector 1146"/>
          <p:cNvCxnSpPr/>
          <p:nvPr/>
        </p:nvCxnSpPr>
        <p:spPr>
          <a:xfrm>
            <a:off x="9692639" y="49103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8" name="Connector 1147"/>
          <p:cNvCxnSpPr/>
          <p:nvPr/>
        </p:nvCxnSpPr>
        <p:spPr>
          <a:xfrm>
            <a:off x="10264140" y="49103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9" name="Connector 1148"/>
          <p:cNvCxnSpPr/>
          <p:nvPr/>
        </p:nvCxnSpPr>
        <p:spPr>
          <a:xfrm>
            <a:off x="10835640" y="49103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0" name="Connector 1149"/>
          <p:cNvCxnSpPr/>
          <p:nvPr/>
        </p:nvCxnSpPr>
        <p:spPr>
          <a:xfrm>
            <a:off x="9164173" y="4946904"/>
            <a:ext cx="915143" cy="0"/>
          </a:xfrm>
          <a:prstGeom prst="line">
            <a:avLst/>
          </a:prstGeom>
          <a:ln w="3810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1" name="Oval 1150"/>
          <p:cNvSpPr/>
          <p:nvPr/>
        </p:nvSpPr>
        <p:spPr>
          <a:xfrm>
            <a:off x="9584972" y="4896612"/>
            <a:ext cx="100584" cy="100584"/>
          </a:xfrm>
          <a:prstGeom prst="ellipse">
            <a:avLst/>
          </a:prstGeom>
          <a:solidFill>
            <a:srgbClr val="8A83D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52" name="Connector 1151"/>
          <p:cNvCxnSpPr/>
          <p:nvPr/>
        </p:nvCxnSpPr>
        <p:spPr>
          <a:xfrm>
            <a:off x="8549640" y="5138928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3" name="Connector 1152"/>
          <p:cNvCxnSpPr/>
          <p:nvPr/>
        </p:nvCxnSpPr>
        <p:spPr>
          <a:xfrm>
            <a:off x="8549640" y="51023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4" name="Connector 1153"/>
          <p:cNvCxnSpPr/>
          <p:nvPr/>
        </p:nvCxnSpPr>
        <p:spPr>
          <a:xfrm>
            <a:off x="9121140" y="51023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5" name="Connector 1154"/>
          <p:cNvCxnSpPr/>
          <p:nvPr/>
        </p:nvCxnSpPr>
        <p:spPr>
          <a:xfrm>
            <a:off x="9692639" y="51023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6" name="Connector 1155"/>
          <p:cNvCxnSpPr/>
          <p:nvPr/>
        </p:nvCxnSpPr>
        <p:spPr>
          <a:xfrm>
            <a:off x="10264140" y="51023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7" name="Connector 1156"/>
          <p:cNvCxnSpPr/>
          <p:nvPr/>
        </p:nvCxnSpPr>
        <p:spPr>
          <a:xfrm>
            <a:off x="10835640" y="51023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8" name="Connector 1157"/>
          <p:cNvCxnSpPr/>
          <p:nvPr/>
        </p:nvCxnSpPr>
        <p:spPr>
          <a:xfrm>
            <a:off x="9798052" y="5138928"/>
            <a:ext cx="637948" cy="0"/>
          </a:xfrm>
          <a:prstGeom prst="line">
            <a:avLst/>
          </a:prstGeom>
          <a:ln w="38100">
            <a:solidFill>
              <a:srgbClr val="FF00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9" name="Oval 1158"/>
          <p:cNvSpPr/>
          <p:nvPr/>
        </p:nvSpPr>
        <p:spPr>
          <a:xfrm>
            <a:off x="10086073" y="5079492"/>
            <a:ext cx="118872" cy="118872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0" name="TextBox 1159"/>
          <p:cNvSpPr txBox="1"/>
          <p:nvPr/>
        </p:nvSpPr>
        <p:spPr>
          <a:xfrm>
            <a:off x="11018520" y="4846320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0.68</a:t>
            </a:r>
          </a:p>
        </p:txBody>
      </p:sp>
      <p:sp>
        <p:nvSpPr>
          <p:cNvPr id="1161" name="TextBox 1160"/>
          <p:cNvSpPr txBox="1"/>
          <p:nvPr/>
        </p:nvSpPr>
        <p:spPr>
          <a:xfrm>
            <a:off x="11018520" y="502920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0.82</a:t>
            </a:r>
          </a:p>
        </p:txBody>
      </p:sp>
      <p:cxnSp>
        <p:nvCxnSpPr>
          <p:cNvPr id="1162" name="Connector 1161"/>
          <p:cNvCxnSpPr/>
          <p:nvPr/>
        </p:nvCxnSpPr>
        <p:spPr>
          <a:xfrm>
            <a:off x="346075" y="5266944"/>
            <a:ext cx="11479860" cy="0"/>
          </a:xfrm>
          <a:prstGeom prst="line">
            <a:avLst/>
          </a:prstGeom>
          <a:ln w="6350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3" name="TextBox 1162"/>
          <p:cNvSpPr txBox="1"/>
          <p:nvPr/>
        </p:nvSpPr>
        <p:spPr>
          <a:xfrm>
            <a:off x="346075" y="5385816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Все снимки (любое)</a:t>
            </a:r>
          </a:p>
        </p:txBody>
      </p:sp>
      <p:sp>
        <p:nvSpPr>
          <p:cNvPr id="1164" name="TextBox 1163"/>
          <p:cNvSpPr txBox="1"/>
          <p:nvPr/>
        </p:nvSpPr>
        <p:spPr>
          <a:xfrm>
            <a:off x="2697480" y="5385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72/249</a:t>
            </a:r>
          </a:p>
        </p:txBody>
      </p:sp>
      <p:sp>
        <p:nvSpPr>
          <p:cNvPr id="1165" name="TextBox 1164"/>
          <p:cNvSpPr txBox="1"/>
          <p:nvPr/>
        </p:nvSpPr>
        <p:spPr>
          <a:xfrm>
            <a:off x="3611880" y="5385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0.68</a:t>
            </a:r>
          </a:p>
        </p:txBody>
      </p:sp>
      <p:sp>
        <p:nvSpPr>
          <p:cNvPr id="1166" name="TextBox 1165"/>
          <p:cNvSpPr txBox="1"/>
          <p:nvPr/>
        </p:nvSpPr>
        <p:spPr>
          <a:xfrm>
            <a:off x="4343400" y="5385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0.72</a:t>
            </a:r>
          </a:p>
        </p:txBody>
      </p:sp>
      <p:cxnSp>
        <p:nvCxnSpPr>
          <p:cNvPr id="1167" name="Connector 1166"/>
          <p:cNvCxnSpPr/>
          <p:nvPr/>
        </p:nvCxnSpPr>
        <p:spPr>
          <a:xfrm>
            <a:off x="5349240" y="5404104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8" name="Connector 1167"/>
          <p:cNvCxnSpPr/>
          <p:nvPr/>
        </p:nvCxnSpPr>
        <p:spPr>
          <a:xfrm>
            <a:off x="5349240" y="5367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9" name="Connector 1168"/>
          <p:cNvCxnSpPr/>
          <p:nvPr/>
        </p:nvCxnSpPr>
        <p:spPr>
          <a:xfrm>
            <a:off x="5920740" y="5367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0" name="Connector 1169"/>
          <p:cNvCxnSpPr/>
          <p:nvPr/>
        </p:nvCxnSpPr>
        <p:spPr>
          <a:xfrm>
            <a:off x="6492240" y="5367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1" name="Connector 1170"/>
          <p:cNvCxnSpPr/>
          <p:nvPr/>
        </p:nvCxnSpPr>
        <p:spPr>
          <a:xfrm>
            <a:off x="7063740" y="5367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2" name="Connector 1171"/>
          <p:cNvCxnSpPr/>
          <p:nvPr/>
        </p:nvCxnSpPr>
        <p:spPr>
          <a:xfrm>
            <a:off x="7635240" y="5367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3" name="Connector 1172"/>
          <p:cNvCxnSpPr/>
          <p:nvPr/>
        </p:nvCxnSpPr>
        <p:spPr>
          <a:xfrm>
            <a:off x="6244264" y="5404104"/>
            <a:ext cx="455269" cy="0"/>
          </a:xfrm>
          <a:prstGeom prst="line">
            <a:avLst/>
          </a:prstGeom>
          <a:ln w="3810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4" name="Oval 1173"/>
          <p:cNvSpPr/>
          <p:nvPr/>
        </p:nvSpPr>
        <p:spPr>
          <a:xfrm>
            <a:off x="6428810" y="5353812"/>
            <a:ext cx="100584" cy="100584"/>
          </a:xfrm>
          <a:prstGeom prst="ellipse">
            <a:avLst/>
          </a:prstGeom>
          <a:solidFill>
            <a:srgbClr val="8A83D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75" name="Connector 1174"/>
          <p:cNvCxnSpPr/>
          <p:nvPr/>
        </p:nvCxnSpPr>
        <p:spPr>
          <a:xfrm>
            <a:off x="5349240" y="5596128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6" name="Connector 1175"/>
          <p:cNvCxnSpPr/>
          <p:nvPr/>
        </p:nvCxnSpPr>
        <p:spPr>
          <a:xfrm>
            <a:off x="5349240" y="5559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7" name="Connector 1176"/>
          <p:cNvCxnSpPr/>
          <p:nvPr/>
        </p:nvCxnSpPr>
        <p:spPr>
          <a:xfrm>
            <a:off x="5920740" y="5559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8" name="Connector 1177"/>
          <p:cNvCxnSpPr/>
          <p:nvPr/>
        </p:nvCxnSpPr>
        <p:spPr>
          <a:xfrm>
            <a:off x="6492240" y="5559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9" name="Connector 1178"/>
          <p:cNvCxnSpPr/>
          <p:nvPr/>
        </p:nvCxnSpPr>
        <p:spPr>
          <a:xfrm>
            <a:off x="7063740" y="5559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0" name="Connector 1179"/>
          <p:cNvCxnSpPr/>
          <p:nvPr/>
        </p:nvCxnSpPr>
        <p:spPr>
          <a:xfrm>
            <a:off x="7635240" y="5559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1" name="Connector 1180"/>
          <p:cNvCxnSpPr/>
          <p:nvPr/>
        </p:nvCxnSpPr>
        <p:spPr>
          <a:xfrm>
            <a:off x="6437778" y="5596128"/>
            <a:ext cx="427574" cy="0"/>
          </a:xfrm>
          <a:prstGeom prst="line">
            <a:avLst/>
          </a:prstGeom>
          <a:ln w="38100">
            <a:solidFill>
              <a:srgbClr val="FF00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2" name="Oval 1181"/>
          <p:cNvSpPr/>
          <p:nvPr/>
        </p:nvSpPr>
        <p:spPr>
          <a:xfrm>
            <a:off x="6607615" y="5536692"/>
            <a:ext cx="118872" cy="118872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3" name="TextBox 1182"/>
          <p:cNvSpPr txBox="1"/>
          <p:nvPr/>
        </p:nvSpPr>
        <p:spPr>
          <a:xfrm>
            <a:off x="7680960" y="5303520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0.49</a:t>
            </a:r>
          </a:p>
        </p:txBody>
      </p:sp>
      <p:sp>
        <p:nvSpPr>
          <p:cNvPr id="1184" name="TextBox 1183"/>
          <p:cNvSpPr txBox="1"/>
          <p:nvPr/>
        </p:nvSpPr>
        <p:spPr>
          <a:xfrm>
            <a:off x="7680960" y="548640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0.58</a:t>
            </a:r>
          </a:p>
        </p:txBody>
      </p:sp>
      <p:cxnSp>
        <p:nvCxnSpPr>
          <p:cNvPr id="1185" name="Connector 1184"/>
          <p:cNvCxnSpPr/>
          <p:nvPr/>
        </p:nvCxnSpPr>
        <p:spPr>
          <a:xfrm>
            <a:off x="8549640" y="5404104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6" name="Connector 1185"/>
          <p:cNvCxnSpPr/>
          <p:nvPr/>
        </p:nvCxnSpPr>
        <p:spPr>
          <a:xfrm>
            <a:off x="8549640" y="5367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7" name="Connector 1186"/>
          <p:cNvCxnSpPr/>
          <p:nvPr/>
        </p:nvCxnSpPr>
        <p:spPr>
          <a:xfrm>
            <a:off x="9121140" y="5367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8" name="Connector 1187"/>
          <p:cNvCxnSpPr/>
          <p:nvPr/>
        </p:nvCxnSpPr>
        <p:spPr>
          <a:xfrm>
            <a:off x="9692639" y="5367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9" name="Connector 1188"/>
          <p:cNvCxnSpPr/>
          <p:nvPr/>
        </p:nvCxnSpPr>
        <p:spPr>
          <a:xfrm>
            <a:off x="10264140" y="5367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0" name="Connector 1189"/>
          <p:cNvCxnSpPr/>
          <p:nvPr/>
        </p:nvCxnSpPr>
        <p:spPr>
          <a:xfrm>
            <a:off x="10835640" y="5367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1" name="Connector 1190"/>
          <p:cNvCxnSpPr/>
          <p:nvPr/>
        </p:nvCxnSpPr>
        <p:spPr>
          <a:xfrm>
            <a:off x="9326828" y="5404104"/>
            <a:ext cx="595818" cy="0"/>
          </a:xfrm>
          <a:prstGeom prst="line">
            <a:avLst/>
          </a:prstGeom>
          <a:ln w="3810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2" name="Oval 1191"/>
          <p:cNvSpPr/>
          <p:nvPr/>
        </p:nvSpPr>
        <p:spPr>
          <a:xfrm>
            <a:off x="9568264" y="5353812"/>
            <a:ext cx="100584" cy="100584"/>
          </a:xfrm>
          <a:prstGeom prst="ellipse">
            <a:avLst/>
          </a:prstGeom>
          <a:solidFill>
            <a:srgbClr val="8A83D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93" name="Connector 1192"/>
          <p:cNvCxnSpPr/>
          <p:nvPr/>
        </p:nvCxnSpPr>
        <p:spPr>
          <a:xfrm>
            <a:off x="8549640" y="5596128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4" name="Connector 1193"/>
          <p:cNvCxnSpPr/>
          <p:nvPr/>
        </p:nvCxnSpPr>
        <p:spPr>
          <a:xfrm>
            <a:off x="8549640" y="5559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5" name="Connector 1194"/>
          <p:cNvCxnSpPr/>
          <p:nvPr/>
        </p:nvCxnSpPr>
        <p:spPr>
          <a:xfrm>
            <a:off x="9121140" y="5559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6" name="Connector 1195"/>
          <p:cNvCxnSpPr/>
          <p:nvPr/>
        </p:nvCxnSpPr>
        <p:spPr>
          <a:xfrm>
            <a:off x="9692639" y="5559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7" name="Connector 1196"/>
          <p:cNvCxnSpPr/>
          <p:nvPr/>
        </p:nvCxnSpPr>
        <p:spPr>
          <a:xfrm>
            <a:off x="10264140" y="5559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8" name="Connector 1197"/>
          <p:cNvCxnSpPr/>
          <p:nvPr/>
        </p:nvCxnSpPr>
        <p:spPr>
          <a:xfrm>
            <a:off x="10835640" y="5559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9" name="Connector 1198"/>
          <p:cNvCxnSpPr/>
          <p:nvPr/>
        </p:nvCxnSpPr>
        <p:spPr>
          <a:xfrm>
            <a:off x="9751125" y="5596128"/>
            <a:ext cx="501806" cy="0"/>
          </a:xfrm>
          <a:prstGeom prst="line">
            <a:avLst/>
          </a:prstGeom>
          <a:ln w="38100">
            <a:solidFill>
              <a:srgbClr val="FF00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0" name="Oval 1199"/>
          <p:cNvSpPr/>
          <p:nvPr/>
        </p:nvSpPr>
        <p:spPr>
          <a:xfrm>
            <a:off x="9956145" y="5536692"/>
            <a:ext cx="118872" cy="118872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1" name="TextBox 1200"/>
          <p:cNvSpPr txBox="1"/>
          <p:nvPr/>
        </p:nvSpPr>
        <p:spPr>
          <a:xfrm>
            <a:off x="11018520" y="5303520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0.68</a:t>
            </a:r>
          </a:p>
        </p:txBody>
      </p:sp>
      <p:sp>
        <p:nvSpPr>
          <p:cNvPr id="1202" name="TextBox 1201"/>
          <p:cNvSpPr txBox="1"/>
          <p:nvPr/>
        </p:nvSpPr>
        <p:spPr>
          <a:xfrm>
            <a:off x="11018520" y="548640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0.78</a:t>
            </a:r>
          </a:p>
        </p:txBody>
      </p:sp>
      <p:cxnSp>
        <p:nvCxnSpPr>
          <p:cNvPr id="1203" name="Connector 1202"/>
          <p:cNvCxnSpPr/>
          <p:nvPr/>
        </p:nvCxnSpPr>
        <p:spPr>
          <a:xfrm>
            <a:off x="346075" y="5724144"/>
            <a:ext cx="11479860" cy="0"/>
          </a:xfrm>
          <a:prstGeom prst="line">
            <a:avLst/>
          </a:prstGeom>
          <a:ln w="6350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4" name="Rectangle 1203"/>
          <p:cNvSpPr/>
          <p:nvPr/>
        </p:nvSpPr>
        <p:spPr>
          <a:xfrm>
            <a:off x="346075" y="5870448"/>
            <a:ext cx="274320" cy="91440"/>
          </a:xfrm>
          <a:prstGeom prst="rect">
            <a:avLst/>
          </a:prstGeom>
          <a:solidFill>
            <a:srgbClr val="8A83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05" name="TextBox 1204"/>
          <p:cNvSpPr txBox="1"/>
          <p:nvPr/>
        </p:nvSpPr>
        <p:spPr>
          <a:xfrm>
            <a:off x="693547" y="5806440"/>
            <a:ext cx="393192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старый контур + ROI по рисунку 6</a:t>
            </a:r>
          </a:p>
        </p:txBody>
      </p:sp>
      <p:sp>
        <p:nvSpPr>
          <p:cNvPr id="1206" name="Rectangle 1205"/>
          <p:cNvSpPr/>
          <p:nvPr/>
        </p:nvSpPr>
        <p:spPr>
          <a:xfrm>
            <a:off x="4572000" y="5870448"/>
            <a:ext cx="274320" cy="91440"/>
          </a:xfrm>
          <a:prstGeom prst="rect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07" name="TextBox 1206"/>
          <p:cNvSpPr txBox="1"/>
          <p:nvPr/>
        </p:nvSpPr>
        <p:spPr>
          <a:xfrm>
            <a:off x="4919472" y="5806440"/>
            <a:ext cx="338328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старый контур + CNN + ROI по длине</a:t>
            </a:r>
          </a:p>
        </p:txBody>
      </p:sp>
      <p:sp>
        <p:nvSpPr>
          <p:cNvPr id="1208" name="TextBox 1207"/>
          <p:cNvSpPr txBox="1"/>
          <p:nvPr/>
        </p:nvSpPr>
        <p:spPr>
          <a:xfrm>
            <a:off x="8321040" y="5806440"/>
            <a:ext cx="3502152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Числа на этом слайде относятся к прежней версии</a:t>
            </a:r>
          </a:p>
        </p:txBody>
      </p:sp>
      <p:sp>
        <p:nvSpPr>
          <p:cNvPr id="1209" name="TextBox 1208"/>
          <p:cNvSpPr txBox="1"/>
          <p:nvPr/>
        </p:nvSpPr>
        <p:spPr>
          <a:xfrm>
            <a:off x="346075" y="6117336"/>
            <a:ext cx="114798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Текущий сервис использует ROI по рисунку 6 и диагностическую модель точек. Цифры прежней OOF-оценки нельзя выдавать за качество развёрнутой версии.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2935224" cy="620919"/>
          </a:xfrm>
          <a:prstGeom prst="roundRect">
            <a:avLst>
              <a:gd name="adj" fmla="val 18700"/>
            </a:avLst>
          </a:prstGeom>
          <a:solidFill>
            <a:srgbClr val="5209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ЭКСПЕРИМЕНТЫ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09728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2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Историческое сравнение моделей ротации и предметов на исходных снимках</a:t>
            </a:r>
          </a:p>
        </p:txBody>
      </p:sp>
      <p:sp>
        <p:nvSpPr>
          <p:cNvPr id="902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r>
              <a:t>17</a:t>
            </a:r>
          </a:p>
        </p:txBody>
      </p:sp>
      <p:sp>
        <p:nvSpPr>
          <p:cNvPr id="903" name="TextBox 902"/>
          <p:cNvSpPr txBox="1"/>
          <p:nvPr/>
        </p:nvSpPr>
        <p:spPr>
          <a:xfrm>
            <a:off x="346075" y="1828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Ротация бедра · 36 из 150</a:t>
            </a:r>
          </a:p>
        </p:txBody>
      </p:sp>
      <p:graphicFrame>
        <p:nvGraphicFramePr>
          <p:cNvPr id="904" name="Chart 903"/>
          <p:cNvGraphicFramePr>
            <a:graphicFrameLocks noGrp="1"/>
          </p:cNvGraphicFramePr>
          <p:nvPr/>
        </p:nvGraphicFramePr>
        <p:xfrm>
          <a:off x="254635" y="2194560"/>
          <a:ext cx="324612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05" name="TextBox 904"/>
          <p:cNvSpPr txBox="1"/>
          <p:nvPr/>
        </p:nvSpPr>
        <p:spPr>
          <a:xfrm>
            <a:off x="3500755" y="2084832"/>
            <a:ext cx="26060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ROC-AUC (1.0 — идеал):</a:t>
            </a:r>
          </a:p>
        </p:txBody>
      </p:sp>
      <p:sp>
        <p:nvSpPr>
          <p:cNvPr id="906" name="Rectangle 905"/>
          <p:cNvSpPr/>
          <p:nvPr/>
        </p:nvSpPr>
        <p:spPr>
          <a:xfrm>
            <a:off x="3500755" y="2423160"/>
            <a:ext cx="256032" cy="91440"/>
          </a:xfrm>
          <a:prstGeom prst="rect">
            <a:avLst/>
          </a:prstGeom>
          <a:solidFill>
            <a:srgbClr val="8A83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7" name="TextBox 906"/>
          <p:cNvSpPr txBox="1"/>
          <p:nvPr/>
        </p:nvSpPr>
        <p:spPr>
          <a:xfrm>
            <a:off x="3848227" y="2340864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выступ 0.68</a:t>
            </a:r>
          </a:p>
        </p:txBody>
      </p:sp>
      <p:sp>
        <p:nvSpPr>
          <p:cNvPr id="908" name="Rectangle 907"/>
          <p:cNvSpPr/>
          <p:nvPr/>
        </p:nvSpPr>
        <p:spPr>
          <a:xfrm>
            <a:off x="3500755" y="2734056"/>
            <a:ext cx="256032" cy="91440"/>
          </a:xfrm>
          <a:prstGeom prst="rect">
            <a:avLst/>
          </a:prstGeom>
          <a:solidFill>
            <a:srgbClr val="FC3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9" name="TextBox 908"/>
          <p:cNvSpPr txBox="1"/>
          <p:nvPr/>
        </p:nvSpPr>
        <p:spPr>
          <a:xfrm>
            <a:off x="3848227" y="2651760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нейросеть 0.80</a:t>
            </a:r>
          </a:p>
        </p:txBody>
      </p:sp>
      <p:sp>
        <p:nvSpPr>
          <p:cNvPr id="910" name="Rectangle 909"/>
          <p:cNvSpPr/>
          <p:nvPr/>
        </p:nvSpPr>
        <p:spPr>
          <a:xfrm>
            <a:off x="3500755" y="3044952"/>
            <a:ext cx="256032" cy="91440"/>
          </a:xfrm>
          <a:prstGeom prst="rect">
            <a:avLst/>
          </a:prstGeom>
          <a:solidFill>
            <a:srgbClr val="5209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1" name="TextBox 910"/>
          <p:cNvSpPr txBox="1"/>
          <p:nvPr/>
        </p:nvSpPr>
        <p:spPr>
          <a:xfrm>
            <a:off x="3848227" y="2962656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нейросеть + измерение 0.82</a:t>
            </a:r>
          </a:p>
        </p:txBody>
      </p:sp>
      <p:sp>
        <p:nvSpPr>
          <p:cNvPr id="912" name="TextBox 911"/>
          <p:cNvSpPr txBox="1"/>
          <p:nvPr/>
        </p:nvSpPr>
        <p:spPr>
          <a:xfrm>
            <a:off x="3500755" y="3429000"/>
            <a:ext cx="260604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что реально ставит сервис: правило объединения и порог настроены на других снимках, не на проверочных</a:t>
            </a:r>
          </a:p>
        </p:txBody>
      </p:sp>
      <p:graphicFrame>
        <p:nvGraphicFramePr>
          <p:cNvPr id="913" name="Table 912"/>
          <p:cNvGraphicFramePr>
            <a:graphicFrameLocks noGrp="1"/>
          </p:cNvGraphicFramePr>
          <p:nvPr/>
        </p:nvGraphicFramePr>
        <p:xfrm>
          <a:off x="3500755" y="4023360"/>
          <a:ext cx="2606040" cy="89306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НАШЛИ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БЕЗ ЛОЖНЫХ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F1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выступ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0.61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0.70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0.48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нейросеть + измерение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0.67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0.76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0.55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14" name="TextBox 913"/>
          <p:cNvSpPr txBox="1"/>
          <p:nvPr/>
        </p:nvSpPr>
        <p:spPr>
          <a:xfrm>
            <a:off x="346075" y="5532120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по горизонтали — доля ложных тревог, по вертикали — доля найденных нарушений</a:t>
            </a:r>
          </a:p>
        </p:txBody>
      </p:sp>
      <p:sp>
        <p:nvSpPr>
          <p:cNvPr id="915" name="TextBox 914"/>
          <p:cNvSpPr txBox="1"/>
          <p:nvPr/>
        </p:nvSpPr>
        <p:spPr>
          <a:xfrm>
            <a:off x="6152515" y="1828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Посторонние предметы · 17 из 99</a:t>
            </a:r>
          </a:p>
        </p:txBody>
      </p:sp>
      <p:graphicFrame>
        <p:nvGraphicFramePr>
          <p:cNvPr id="916" name="Chart 915"/>
          <p:cNvGraphicFramePr>
            <a:graphicFrameLocks noGrp="1"/>
          </p:cNvGraphicFramePr>
          <p:nvPr/>
        </p:nvGraphicFramePr>
        <p:xfrm>
          <a:off x="6061075" y="2194560"/>
          <a:ext cx="324612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17" name="TextBox 916"/>
          <p:cNvSpPr txBox="1"/>
          <p:nvPr/>
        </p:nvSpPr>
        <p:spPr>
          <a:xfrm>
            <a:off x="9307195" y="2084832"/>
            <a:ext cx="26060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ROC-AUC (1.0 — идеал):</a:t>
            </a:r>
          </a:p>
        </p:txBody>
      </p:sp>
      <p:sp>
        <p:nvSpPr>
          <p:cNvPr id="918" name="Rectangle 917"/>
          <p:cNvSpPr/>
          <p:nvPr/>
        </p:nvSpPr>
        <p:spPr>
          <a:xfrm>
            <a:off x="9307195" y="2423160"/>
            <a:ext cx="256032" cy="91440"/>
          </a:xfrm>
          <a:prstGeom prst="rect">
            <a:avLst/>
          </a:prstGeom>
          <a:solidFill>
            <a:srgbClr val="8A83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9" name="TextBox 918"/>
          <p:cNvSpPr txBox="1"/>
          <p:nvPr/>
        </p:nvSpPr>
        <p:spPr>
          <a:xfrm>
            <a:off x="9654667" y="2340864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top-hat 0.79</a:t>
            </a:r>
          </a:p>
        </p:txBody>
      </p:sp>
      <p:sp>
        <p:nvSpPr>
          <p:cNvPr id="920" name="Rectangle 919"/>
          <p:cNvSpPr/>
          <p:nvPr/>
        </p:nvSpPr>
        <p:spPr>
          <a:xfrm>
            <a:off x="9307195" y="2734056"/>
            <a:ext cx="256032" cy="91440"/>
          </a:xfrm>
          <a:prstGeom prst="rect">
            <a:avLst/>
          </a:prstGeom>
          <a:solidFill>
            <a:srgbClr val="FC3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1" name="TextBox 920"/>
          <p:cNvSpPr txBox="1"/>
          <p:nvPr/>
        </p:nvSpPr>
        <p:spPr>
          <a:xfrm>
            <a:off x="9654667" y="2651760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нейросеть 0.83</a:t>
            </a:r>
          </a:p>
        </p:txBody>
      </p:sp>
      <p:sp>
        <p:nvSpPr>
          <p:cNvPr id="922" name="Rectangle 921"/>
          <p:cNvSpPr/>
          <p:nvPr/>
        </p:nvSpPr>
        <p:spPr>
          <a:xfrm>
            <a:off x="9307195" y="3044952"/>
            <a:ext cx="256032" cy="91440"/>
          </a:xfrm>
          <a:prstGeom prst="rect">
            <a:avLst/>
          </a:prstGeom>
          <a:solidFill>
            <a:srgbClr val="5209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3" name="TextBox 922"/>
          <p:cNvSpPr txBox="1"/>
          <p:nvPr/>
        </p:nvSpPr>
        <p:spPr>
          <a:xfrm>
            <a:off x="9654667" y="2962656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нейросеть + измерение 0.85</a:t>
            </a:r>
          </a:p>
        </p:txBody>
      </p:sp>
      <p:sp>
        <p:nvSpPr>
          <p:cNvPr id="924" name="TextBox 923"/>
          <p:cNvSpPr txBox="1"/>
          <p:nvPr/>
        </p:nvSpPr>
        <p:spPr>
          <a:xfrm>
            <a:off x="9307195" y="3429000"/>
            <a:ext cx="260604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что реально ставит сервис: правило объединения и порог настроены на других снимках, не на проверочных</a:t>
            </a:r>
          </a:p>
        </p:txBody>
      </p:sp>
      <p:graphicFrame>
        <p:nvGraphicFramePr>
          <p:cNvPr id="925" name="Table 924"/>
          <p:cNvGraphicFramePr>
            <a:graphicFrameLocks noGrp="1"/>
          </p:cNvGraphicFramePr>
          <p:nvPr/>
        </p:nvGraphicFramePr>
        <p:xfrm>
          <a:off x="9307195" y="4023360"/>
          <a:ext cx="2606040" cy="89306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НАШЛИ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БЕЗ ЛОЖНЫХ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F1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top-hat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0.53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0.94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0.58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нейросеть + измерение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0.65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0.93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0.65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26" name="TextBox 925"/>
          <p:cNvSpPr txBox="1"/>
          <p:nvPr/>
        </p:nvSpPr>
        <p:spPr>
          <a:xfrm>
            <a:off x="6152515" y="5532120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по горизонтали — доля ложных тревог, по вертикали — доля найденных нарушений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1810512" cy="620919"/>
          </a:xfrm>
          <a:prstGeom prst="roundRect">
            <a:avLst>
              <a:gd name="adj" fmla="val 187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МОДЕЛИ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09728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Внутри шагов 3–4 конвейера — шесть модулей, у каждого своя задача</a:t>
            </a:r>
          </a:p>
        </p:txBody>
      </p:sp>
      <p:sp>
        <p:nvSpPr>
          <p:cNvPr id="902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r>
              <a:t>18</a:t>
            </a:r>
          </a:p>
        </p:txBody>
      </p:sp>
      <p:sp>
        <p:nvSpPr>
          <p:cNvPr id="903" name="Rounded Rectangle 902"/>
          <p:cNvSpPr/>
          <p:nvPr/>
        </p:nvSpPr>
        <p:spPr>
          <a:xfrm>
            <a:off x="346075" y="1828800"/>
            <a:ext cx="3730752" cy="2103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4" name="TextBox 903"/>
          <p:cNvSpPr txBox="1"/>
          <p:nvPr/>
        </p:nvSpPr>
        <p:spPr>
          <a:xfrm>
            <a:off x="565531" y="2011680"/>
            <a:ext cx="32918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REGION_CLF</a:t>
            </a:r>
          </a:p>
        </p:txBody>
      </p:sp>
      <p:sp>
        <p:nvSpPr>
          <p:cNvPr id="905" name="TextBox 904"/>
          <p:cNvSpPr txBox="1"/>
          <p:nvPr/>
        </p:nvSpPr>
        <p:spPr>
          <a:xfrm>
            <a:off x="565531" y="2286000"/>
            <a:ext cx="3291840" cy="22097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Область снимка</a:t>
            </a:r>
          </a:p>
        </p:txBody>
      </p:sp>
      <p:sp>
        <p:nvSpPr>
          <p:cNvPr id="906" name="TextBox 905"/>
          <p:cNvSpPr txBox="1"/>
          <p:nvPr/>
        </p:nvSpPr>
        <p:spPr>
          <a:xfrm>
            <a:off x="565531" y="2598419"/>
            <a:ext cx="3291840" cy="83058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Простая модель по яркости и форме снимка; снимок, не похожий на денситометрию, уходит на ручной разбор.</a:t>
            </a:r>
          </a:p>
        </p:txBody>
      </p:sp>
      <p:cxnSp>
        <p:nvCxnSpPr>
          <p:cNvPr id="907" name="Connector 906"/>
          <p:cNvCxnSpPr/>
          <p:nvPr/>
        </p:nvCxnSpPr>
        <p:spPr>
          <a:xfrm>
            <a:off x="565531" y="3474720"/>
            <a:ext cx="3291840" cy="0"/>
          </a:xfrm>
          <a:prstGeom prst="line">
            <a:avLst/>
          </a:prstGeom>
          <a:ln w="12700">
            <a:solidFill>
              <a:srgbClr val="FF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8" name="TextBox 907"/>
          <p:cNvSpPr txBox="1"/>
          <p:nvPr/>
        </p:nvSpPr>
        <p:spPr>
          <a:xfrm>
            <a:off x="565531" y="3547872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252 / 252 снимка</a:t>
            </a:r>
          </a:p>
        </p:txBody>
      </p:sp>
      <p:sp>
        <p:nvSpPr>
          <p:cNvPr id="909" name="Rounded Rectangle 908"/>
          <p:cNvSpPr/>
          <p:nvPr/>
        </p:nvSpPr>
        <p:spPr>
          <a:xfrm>
            <a:off x="4218559" y="1828800"/>
            <a:ext cx="3730752" cy="2103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0" name="TextBox 909"/>
          <p:cNvSpPr txBox="1"/>
          <p:nvPr/>
        </p:nvSpPr>
        <p:spPr>
          <a:xfrm>
            <a:off x="4438015" y="2011680"/>
            <a:ext cx="32918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SPINE_QC</a:t>
            </a:r>
          </a:p>
        </p:txBody>
      </p:sp>
      <p:sp>
        <p:nvSpPr>
          <p:cNvPr id="911" name="TextBox 910"/>
          <p:cNvSpPr txBox="1"/>
          <p:nvPr/>
        </p:nvSpPr>
        <p:spPr>
          <a:xfrm>
            <a:off x="4438015" y="2286000"/>
            <a:ext cx="3291840" cy="22097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Позвоночник</a:t>
            </a:r>
          </a:p>
        </p:txBody>
      </p:sp>
      <p:sp>
        <p:nvSpPr>
          <p:cNvPr id="912" name="TextBox 911"/>
          <p:cNvSpPr txBox="1"/>
          <p:nvPr/>
        </p:nvSpPr>
        <p:spPr>
          <a:xfrm>
            <a:off x="4438015" y="2598419"/>
            <a:ext cx="3291840" cy="83058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Выделяем кость и центры позвонков. Наклон оси — прямая через центры; укладка — кость в зонах гребней таза; предметы — фильтр ярких тонких структур (top-hat).</a:t>
            </a:r>
          </a:p>
        </p:txBody>
      </p:sp>
      <p:cxnSp>
        <p:nvCxnSpPr>
          <p:cNvPr id="913" name="Connector 912"/>
          <p:cNvCxnSpPr/>
          <p:nvPr/>
        </p:nvCxnSpPr>
        <p:spPr>
          <a:xfrm>
            <a:off x="4438015" y="3474720"/>
            <a:ext cx="3291840" cy="0"/>
          </a:xfrm>
          <a:prstGeom prst="line">
            <a:avLst/>
          </a:prstGeom>
          <a:ln w="12700">
            <a:solidFill>
              <a:srgbClr val="FF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4" name="TextBox 913"/>
          <p:cNvSpPr txBox="1"/>
          <p:nvPr/>
        </p:nvSpPr>
        <p:spPr>
          <a:xfrm>
            <a:off x="4438015" y="3547872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ROC-AUC: ось 0.82 · укладка 0.82</a:t>
            </a:r>
          </a:p>
        </p:txBody>
      </p:sp>
      <p:sp>
        <p:nvSpPr>
          <p:cNvPr id="915" name="Rounded Rectangle 914"/>
          <p:cNvSpPr/>
          <p:nvPr/>
        </p:nvSpPr>
        <p:spPr>
          <a:xfrm>
            <a:off x="8091043" y="1828800"/>
            <a:ext cx="3730752" cy="2103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6" name="TextBox 915"/>
          <p:cNvSpPr txBox="1"/>
          <p:nvPr/>
        </p:nvSpPr>
        <p:spPr>
          <a:xfrm>
            <a:off x="8310499" y="2011680"/>
            <a:ext cx="32918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HIP_ROI</a:t>
            </a:r>
          </a:p>
        </p:txBody>
      </p:sp>
      <p:sp>
        <p:nvSpPr>
          <p:cNvPr id="917" name="TextBox 916"/>
          <p:cNvSpPr txBox="1"/>
          <p:nvPr/>
        </p:nvSpPr>
        <p:spPr>
          <a:xfrm>
            <a:off x="8310499" y="2286000"/>
            <a:ext cx="3291840" cy="22097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Отступы бедра</a:t>
            </a:r>
          </a:p>
        </p:txBody>
      </p:sp>
      <p:sp>
        <p:nvSpPr>
          <p:cNvPr id="918" name="TextBox 917"/>
          <p:cNvSpPr txBox="1"/>
          <p:nvPr/>
        </p:nvSpPr>
        <p:spPr>
          <a:xfrm>
            <a:off x="8310499" y="2598419"/>
            <a:ext cx="3291840" cy="83058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Измеряем отступы по рисунку 6 ТЗ: сверху от большого вертела, снизу от седалищной кости и сбоку от наружного контура бедра.</a:t>
            </a:r>
          </a:p>
        </p:txBody>
      </p:sp>
      <p:cxnSp>
        <p:nvCxnSpPr>
          <p:cNvPr id="919" name="Connector 918"/>
          <p:cNvCxnSpPr/>
          <p:nvPr/>
        </p:nvCxnSpPr>
        <p:spPr>
          <a:xfrm>
            <a:off x="8310499" y="3474720"/>
            <a:ext cx="3291840" cy="0"/>
          </a:xfrm>
          <a:prstGeom prst="line">
            <a:avLst/>
          </a:prstGeom>
          <a:ln w="12700">
            <a:solidFill>
              <a:srgbClr val="FF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0" name="TextBox 919"/>
          <p:cNvSpPr txBox="1"/>
          <p:nvPr/>
        </p:nvSpPr>
        <p:spPr>
          <a:xfrm>
            <a:off x="8310499" y="3547872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3 см / 3 см / 2 см по ТЗ</a:t>
            </a:r>
          </a:p>
        </p:txBody>
      </p:sp>
      <p:sp>
        <p:nvSpPr>
          <p:cNvPr id="921" name="Rounded Rectangle 920"/>
          <p:cNvSpPr/>
          <p:nvPr/>
        </p:nvSpPr>
        <p:spPr>
          <a:xfrm>
            <a:off x="346075" y="4087368"/>
            <a:ext cx="3730752" cy="2103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2" name="TextBox 921"/>
          <p:cNvSpPr txBox="1"/>
          <p:nvPr/>
        </p:nvSpPr>
        <p:spPr>
          <a:xfrm>
            <a:off x="565531" y="4270248"/>
            <a:ext cx="32918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HIP_ROTATION</a:t>
            </a:r>
          </a:p>
        </p:txBody>
      </p:sp>
      <p:sp>
        <p:nvSpPr>
          <p:cNvPr id="923" name="TextBox 922"/>
          <p:cNvSpPr txBox="1"/>
          <p:nvPr/>
        </p:nvSpPr>
        <p:spPr>
          <a:xfrm>
            <a:off x="565531" y="4544568"/>
            <a:ext cx="3291840" cy="22097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Ротация: измерение</a:t>
            </a:r>
          </a:p>
        </p:txBody>
      </p:sp>
      <p:sp>
        <p:nvSpPr>
          <p:cNvPr id="924" name="TextBox 923"/>
          <p:cNvSpPr txBox="1"/>
          <p:nvPr/>
        </p:nvSpPr>
        <p:spPr>
          <a:xfrm>
            <a:off x="565531" y="4856987"/>
            <a:ext cx="3291840" cy="83058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Площадь выступа малого вертела над контуром кости, мм²; выход за коридор нормы означает избыточный или недостаточный поворот.</a:t>
            </a:r>
          </a:p>
        </p:txBody>
      </p:sp>
      <p:cxnSp>
        <p:nvCxnSpPr>
          <p:cNvPr id="925" name="Connector 924"/>
          <p:cNvCxnSpPr/>
          <p:nvPr/>
        </p:nvCxnSpPr>
        <p:spPr>
          <a:xfrm>
            <a:off x="565531" y="5733288"/>
            <a:ext cx="3291840" cy="0"/>
          </a:xfrm>
          <a:prstGeom prst="line">
            <a:avLst/>
          </a:prstGeom>
          <a:ln w="12700">
            <a:solidFill>
              <a:srgbClr val="FF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6" name="TextBox 925"/>
          <p:cNvSpPr txBox="1"/>
          <p:nvPr/>
        </p:nvSpPr>
        <p:spPr>
          <a:xfrm>
            <a:off x="565531" y="580644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норма 96–272 мм²</a:t>
            </a:r>
          </a:p>
        </p:txBody>
      </p:sp>
      <p:sp>
        <p:nvSpPr>
          <p:cNvPr id="927" name="Rounded Rectangle 926"/>
          <p:cNvSpPr/>
          <p:nvPr/>
        </p:nvSpPr>
        <p:spPr>
          <a:xfrm>
            <a:off x="4218559" y="4087368"/>
            <a:ext cx="3730752" cy="2103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9050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8" name="TextBox 927"/>
          <p:cNvSpPr txBox="1"/>
          <p:nvPr/>
        </p:nvSpPr>
        <p:spPr>
          <a:xfrm>
            <a:off x="4438015" y="4270248"/>
            <a:ext cx="32918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CNN_QC</a:t>
            </a:r>
          </a:p>
        </p:txBody>
      </p:sp>
      <p:sp>
        <p:nvSpPr>
          <p:cNvPr id="929" name="TextBox 928"/>
          <p:cNvSpPr txBox="1"/>
          <p:nvPr/>
        </p:nvSpPr>
        <p:spPr>
          <a:xfrm>
            <a:off x="4438015" y="4544568"/>
            <a:ext cx="3291840" cy="441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Ротация и предметы: нейросеть</a:t>
            </a:r>
          </a:p>
        </p:txBody>
      </p:sp>
      <p:sp>
        <p:nvSpPr>
          <p:cNvPr id="930" name="TextBox 929"/>
          <p:cNvSpPr txBox="1"/>
          <p:nvPr/>
        </p:nvSpPr>
        <p:spPr>
          <a:xfrm>
            <a:off x="4438015" y="5077967"/>
            <a:ext cx="3291840" cy="60960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Готовая нейросеть ResNet-34, дообученная на наших снимках; три копии, ответ усредняется; без видеокарты; подсвечивает, куда смотрела.</a:t>
            </a:r>
          </a:p>
        </p:txBody>
      </p:sp>
      <p:cxnSp>
        <p:nvCxnSpPr>
          <p:cNvPr id="931" name="Connector 930"/>
          <p:cNvCxnSpPr/>
          <p:nvPr/>
        </p:nvCxnSpPr>
        <p:spPr>
          <a:xfrm>
            <a:off x="4438015" y="5733288"/>
            <a:ext cx="3291840" cy="0"/>
          </a:xfrm>
          <a:prstGeom prst="line">
            <a:avLst/>
          </a:prstGeom>
          <a:ln w="12700">
            <a:solidFill>
              <a:srgbClr val="FF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2" name="TextBox 931"/>
          <p:cNvSpPr txBox="1"/>
          <p:nvPr/>
        </p:nvSpPr>
        <p:spPr>
          <a:xfrm>
            <a:off x="4438015" y="580644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ROC-AUC с измерением 0.82 · 0.85</a:t>
            </a:r>
          </a:p>
        </p:txBody>
      </p:sp>
      <p:sp>
        <p:nvSpPr>
          <p:cNvPr id="933" name="Rounded Rectangle 932"/>
          <p:cNvSpPr/>
          <p:nvPr/>
        </p:nvSpPr>
        <p:spPr>
          <a:xfrm>
            <a:off x="8091043" y="4087368"/>
            <a:ext cx="3730752" cy="2103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34" name="TextBox 933"/>
          <p:cNvSpPr txBox="1"/>
          <p:nvPr/>
        </p:nvSpPr>
        <p:spPr>
          <a:xfrm>
            <a:off x="8310499" y="4270248"/>
            <a:ext cx="32918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DXA_QC · ДИАГНОСТИКА</a:t>
            </a:r>
          </a:p>
        </p:txBody>
      </p:sp>
      <p:sp>
        <p:nvSpPr>
          <p:cNvPr id="935" name="TextBox 934"/>
          <p:cNvSpPr txBox="1"/>
          <p:nvPr/>
        </p:nvSpPr>
        <p:spPr>
          <a:xfrm>
            <a:off x="8310499" y="4544568"/>
            <a:ext cx="3291840" cy="22097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Опорные точки</a:t>
            </a:r>
          </a:p>
        </p:txBody>
      </p:sp>
      <p:sp>
        <p:nvSpPr>
          <p:cNvPr id="936" name="TextBox 935"/>
          <p:cNvSpPr txBox="1"/>
          <p:nvPr/>
        </p:nvSpPr>
        <p:spPr>
          <a:xfrm>
            <a:off x="8310499" y="4856987"/>
            <a:ext cx="3291840" cy="83058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U-Net с ResNet-34 и 29 картами; обучены фолды 0–3, добавлены 359 врачебных фрагментов. Точки проверяют видимую часть Th12; вердикт по оси остаётся за контуром.</a:t>
            </a:r>
          </a:p>
        </p:txBody>
      </p:sp>
      <p:cxnSp>
        <p:nvCxnSpPr>
          <p:cNvPr id="937" name="Connector 936"/>
          <p:cNvCxnSpPr/>
          <p:nvPr/>
        </p:nvCxnSpPr>
        <p:spPr>
          <a:xfrm>
            <a:off x="8310499" y="5733288"/>
            <a:ext cx="3291840" cy="0"/>
          </a:xfrm>
          <a:prstGeom prst="line">
            <a:avLst/>
          </a:prstGeom>
          <a:ln w="12700">
            <a:solidFill>
              <a:srgbClr val="FF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8" name="TextBox 937"/>
          <p:cNvSpPr txBox="1"/>
          <p:nvPr/>
        </p:nvSpPr>
        <p:spPr>
          <a:xfrm>
            <a:off x="8310499" y="580644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медиана 1.27 мм · p90 позвоночника 10.72 мм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2747772" cy="620919"/>
          </a:xfrm>
          <a:prstGeom prst="roundRect">
            <a:avLst>
              <a:gd name="adj" fmla="val 187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ОГРАНИЧЕНИЯ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09728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2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Что сервис не умеет и почему</a:t>
            </a:r>
          </a:p>
        </p:txBody>
      </p:sp>
      <p:sp>
        <p:nvSpPr>
          <p:cNvPr id="902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r>
              <a:t>19</a:t>
            </a:r>
          </a:p>
        </p:txBody>
      </p:sp>
      <p:graphicFrame>
        <p:nvGraphicFramePr>
          <p:cNvPr id="903" name="Table 902"/>
          <p:cNvGraphicFramePr>
            <a:graphicFrameLocks noGrp="1"/>
          </p:cNvGraphicFramePr>
          <p:nvPr/>
        </p:nvGraphicFramePr>
        <p:xfrm>
          <a:off x="346075" y="1828800"/>
          <a:ext cx="11479859" cy="43891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787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50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505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ОГРАНИЧЕНИЕ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ПОЧЕМУ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ЧТО НУЖНО, ЧТОБЫ СНЯТЬ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Один аппарат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Все снимки — с одного денситометра GE Lunar Prodigy Advance; размер пикселя в файлах не указан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Снимки второго аппарата: проверить масштаб, дообучить нейросеть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Малая выборка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От 6 до 36 нарушений на критерий, поэтому доверительные интервалы широкие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Больше размеченных снимков; отметки операторов из пилота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Отступы по ТЗ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По умолчанию измеряем 3 см сверху, 3 см снизу и 2 см сбоку по рисунку 6 ТЗ.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Нужен новый полный OOF-прогон после смены правила ROI.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Ось и сколиоз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Для эксперта сколиоз — не ошибка укладки, а сервис по одному углу не отличает сколиоз от наклона пациента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Размеченные случаи сколиоза или снимки грудного отдела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Разметка оператора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Линий и областей, которые оператор ставит на аппарате, в файлах нет — всё оценивается по изображению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Выгрузка снимков вместе с разметкой оператора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Модель точек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Фолды 0–3 обучены; модель доступна для диагностики, но итоговый F1 не улучшила.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Обучить пятый фолд и проверить на независимых снимках.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Telegram-бот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Файлы проходят через серверы Telegram, а ТЗ (п. 3.2) запрещает передавать снимки наружу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Бот — демонстрация на обезличенных данных; сам сервис в медорганизации работает без интернета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r>
              <a:t>20</a:t>
            </a:r>
          </a:p>
        </p:txBody>
      </p:sp>
      <p:sp>
        <p:nvSpPr>
          <p:cNvPr id="901" name="TextBox 900"/>
          <p:cNvSpPr txBox="1"/>
          <p:nvPr/>
        </p:nvSpPr>
        <p:spPr>
          <a:xfrm>
            <a:off x="548640" y="1188720"/>
            <a:ext cx="5943600" cy="10972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Спасибо!</a:t>
            </a:r>
          </a:p>
        </p:txBody>
      </p:sp>
      <p:sp>
        <p:nvSpPr>
          <p:cNvPr id="902" name="TextBox 901"/>
          <p:cNvSpPr txBox="1"/>
          <p:nvPr/>
        </p:nvSpPr>
        <p:spPr>
          <a:xfrm>
            <a:off x="548640" y="2286000"/>
            <a:ext cx="576072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Готовы ответить на вопросы</a:t>
            </a:r>
          </a:p>
        </p:txBody>
      </p:sp>
      <p:sp>
        <p:nvSpPr>
          <p:cNvPr id="903" name="TextBox 902"/>
          <p:cNvSpPr txBox="1"/>
          <p:nvPr/>
        </p:nvSpPr>
        <p:spPr>
          <a:xfrm>
            <a:off x="548640" y="315468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 spc="80">
                <a:solidFill>
                  <a:srgbClr val="FFD6E3"/>
                </a:solidFill>
                <a:latin typeface="Montserrat"/>
                <a:ea typeface="Montserrat"/>
                <a:cs typeface="Montserrat"/>
              </a:rPr>
              <a:t>РЕПОЗИТОРИЙ</a:t>
            </a:r>
          </a:p>
        </p:txBody>
      </p:sp>
      <p:sp>
        <p:nvSpPr>
          <p:cNvPr id="904" name="TextBox 903"/>
          <p:cNvSpPr txBox="1"/>
          <p:nvPr/>
        </p:nvSpPr>
        <p:spPr>
          <a:xfrm>
            <a:off x="548640" y="3392424"/>
            <a:ext cx="621792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github.com/theorcos239/LCT_2026</a:t>
            </a:r>
          </a:p>
        </p:txBody>
      </p:sp>
      <p:sp>
        <p:nvSpPr>
          <p:cNvPr id="905" name="TextBox 904"/>
          <p:cNvSpPr txBox="1"/>
          <p:nvPr/>
        </p:nvSpPr>
        <p:spPr>
          <a:xfrm>
            <a:off x="548640" y="3813048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 spc="80">
                <a:solidFill>
                  <a:srgbClr val="FFD6E3"/>
                </a:solidFill>
                <a:latin typeface="Montserrat"/>
                <a:ea typeface="Montserrat"/>
                <a:cs typeface="Montserrat"/>
              </a:rPr>
              <a:t>ВЕБ-ДЕМОНСТРАЦИЯ</a:t>
            </a:r>
          </a:p>
        </p:txBody>
      </p:sp>
      <p:sp>
        <p:nvSpPr>
          <p:cNvPr id="906" name="TextBox 905"/>
          <p:cNvSpPr txBox="1"/>
          <p:nvPr/>
        </p:nvSpPr>
        <p:spPr>
          <a:xfrm>
            <a:off x="548640" y="4050792"/>
            <a:ext cx="621792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https://89.208.196.172 — доступ по паролю</a:t>
            </a:r>
          </a:p>
        </p:txBody>
      </p:sp>
      <p:sp>
        <p:nvSpPr>
          <p:cNvPr id="907" name="TextBox 906"/>
          <p:cNvSpPr txBox="1"/>
          <p:nvPr/>
        </p:nvSpPr>
        <p:spPr>
          <a:xfrm>
            <a:off x="548640" y="4471416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 spc="80">
                <a:solidFill>
                  <a:srgbClr val="FFD6E3"/>
                </a:solidFill>
                <a:latin typeface="Montserrat"/>
                <a:ea typeface="Montserrat"/>
                <a:cs typeface="Montserrat"/>
              </a:rPr>
              <a:t>TELEGRAM-БОТ (ДЕМОНСТРАЦИЯ)</a:t>
            </a:r>
          </a:p>
        </p:txBody>
      </p:sp>
      <p:sp>
        <p:nvSpPr>
          <p:cNvPr id="908" name="TextBox 907"/>
          <p:cNvSpPr txBox="1"/>
          <p:nvPr/>
        </p:nvSpPr>
        <p:spPr>
          <a:xfrm>
            <a:off x="548640" y="4709160"/>
            <a:ext cx="621792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@LCT_bone_density_research_bot</a:t>
            </a:r>
          </a:p>
        </p:txBody>
      </p:sp>
      <p:sp>
        <p:nvSpPr>
          <p:cNvPr id="909" name="TextBox 908"/>
          <p:cNvSpPr txBox="1"/>
          <p:nvPr/>
        </p:nvSpPr>
        <p:spPr>
          <a:xfrm>
            <a:off x="548640" y="5129784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 spc="80">
                <a:solidFill>
                  <a:srgbClr val="FFD6E3"/>
                </a:solidFill>
                <a:latin typeface="Montserrat"/>
                <a:ea typeface="Montserrat"/>
                <a:cs typeface="Montserrat"/>
              </a:rPr>
              <a:t>docs/USER_GUIDE.md — работа с сервисом</a:t>
            </a:r>
          </a:p>
        </p:txBody>
      </p:sp>
      <p:sp>
        <p:nvSpPr>
          <p:cNvPr id="910" name="TextBox 909"/>
          <p:cNvSpPr txBox="1"/>
          <p:nvPr/>
        </p:nvSpPr>
        <p:spPr>
          <a:xfrm>
            <a:off x="548640" y="5367528"/>
            <a:ext cx="621792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docs/REVIEW.md — запуск за 5 минут</a:t>
            </a:r>
          </a:p>
        </p:txBody>
      </p:sp>
      <p:sp>
        <p:nvSpPr>
          <p:cNvPr id="911" name="Rounded Rectangle 910"/>
          <p:cNvSpPr/>
          <p:nvPr/>
        </p:nvSpPr>
        <p:spPr>
          <a:xfrm>
            <a:off x="6537960" y="3154680"/>
            <a:ext cx="16002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912" name="Picture 911" descr="qr_re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3246120"/>
            <a:ext cx="1417320" cy="1417320"/>
          </a:xfrm>
          <a:prstGeom prst="rect">
            <a:avLst/>
          </a:prstGeom>
        </p:spPr>
      </p:pic>
      <p:sp>
        <p:nvSpPr>
          <p:cNvPr id="913" name="TextBox 912"/>
          <p:cNvSpPr txBox="1"/>
          <p:nvPr/>
        </p:nvSpPr>
        <p:spPr>
          <a:xfrm>
            <a:off x="6537960" y="4846320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репозиторий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11047</TotalTime>
  <Words>4592</Words>
  <Application>Microsoft Office PowerPoint</Application>
  <PresentationFormat>Широкоэкранный</PresentationFormat>
  <Paragraphs>724</Paragraphs>
  <Slides>26</Slides>
  <Notes>26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26</vt:i4>
      </vt:variant>
    </vt:vector>
  </HeadingPairs>
  <TitlesOfParts>
    <vt:vector size="31" baseType="lpstr">
      <vt:lpstr>Arial</vt:lpstr>
      <vt:lpstr>Calibri</vt:lpstr>
      <vt:lpstr>Montserrat</vt:lpstr>
      <vt:lpstr>Wingdings</vt:lpstr>
      <vt:lpstr>Для Академия инноваторов 16_9</vt:lpstr>
      <vt:lpstr>Презентация PowerPoint</vt:lpstr>
      <vt:lpstr>Команда 239.Hack</vt:lpstr>
      <vt:lpstr>КОМАНДА</vt:lpstr>
      <vt:lpstr>ИСТОРИЯ И ВЫЗОВЫ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UM</cp:lastModifiedBy>
  <cp:revision>97</cp:revision>
  <dcterms:created xsi:type="dcterms:W3CDTF">2023-05-15T07:36:23Z</dcterms:created>
  <dcterms:modified xsi:type="dcterms:W3CDTF">2026-10-20T17:07:02Z</dcterms:modified>
</cp:coreProperties>
</file>