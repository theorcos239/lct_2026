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28"/>
  </p:notesMasterIdLst>
  <p:handoutMasterIdLst>
    <p:handoutMasterId r:id="rId29"/>
  </p:handoutMasterIdLst>
  <p:sldIdLst>
    <p:sldId id="365" r:id="rId2"/>
    <p:sldId id="366" r:id="rId3"/>
    <p:sldId id="362" r:id="rId4"/>
    <p:sldId id="364" r:id="rId5"/>
    <p:sldId id="367" r:id="rId6"/>
    <p:sldId id="368" r:id="rId7"/>
    <p:sldId id="369" r:id="rId8"/>
    <p:sldId id="370" r:id="rId9"/>
    <p:sldId id="371" r:id="rId10"/>
    <p:sldId id="372" r:id="rId11"/>
    <p:sldId id="373" r:id="rId12"/>
    <p:sldId id="374" r:id="rId13"/>
    <p:sldId id="375" r:id="rId14"/>
    <p:sldId id="376" r:id="rId15"/>
    <p:sldId id="377" r:id="rId16"/>
    <p:sldId id="378" r:id="rId17"/>
    <p:sldId id="379" r:id="rId18"/>
    <p:sldId id="380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</p:sldIdLst>
  <p:sldSz cx="12192000" cy="6858000"/>
  <p:notesSz cx="6858000" cy="9144000"/>
  <p:embeddedFontLst>
    <p:embeddedFont>
      <p:font typeface="Montserrat" pitchFamily="2" charset="-52"/>
      <p:regular r:id="rId30"/>
      <p:bold r:id="rId31"/>
      <p:italic r:id="rId32"/>
      <p:boldItalic r:id="rId33"/>
    </p:embeddedFont>
  </p:embeddedFontLst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</p14:sldIdLst>
        </p14:section>
        <p14:section name="Информация" id="{9FA27940-A45B-471D-96EC-3FCE80AE8A9B}">
          <p14:sldIdLst>
            <p14:sldId id="367"/>
          </p14:sldIdLst>
        </p14:section>
        <p14:section name="Материалы" id="{0F84D0DE-CEB1-417E-B269-8B3EB04B5FA6}">
          <p14:sldIdLst>
            <p14:sldId id="368"/>
          </p14:sldIdLst>
        </p14:section>
        <p14:section name="Шаблоны слайдов" id="{24401F80-F81B-49C3-8D55-70A14F0BF8FF}">
          <p14:sldIdLst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выступ</c:v>
                </c:pt>
              </c:strCache>
            </c:strRef>
          </c:tx>
          <c:spPr>
            <a:ln w="12700">
              <a:solidFill>
                <a:srgbClr val="8A83D1"/>
              </a:solidFill>
              <a:prstDash val="dash"/>
            </a:ln>
          </c:spPr>
          <c:marker>
            <c:symbol val="none"/>
          </c:marker>
          <c:xVal>
            <c:numRef>
              <c:f>Sheet1!$A$2:$A$58</c:f>
              <c:numCache>
                <c:formatCode>General</c:formatCode>
                <c:ptCount val="57"/>
                <c:pt idx="0">
                  <c:v>0</c:v>
                </c:pt>
                <c:pt idx="1">
                  <c:v>0</c:v>
                </c:pt>
                <c:pt idx="2">
                  <c:v>8.771929824561403E-3</c:v>
                </c:pt>
                <c:pt idx="3">
                  <c:v>1.7543859649122806E-2</c:v>
                </c:pt>
                <c:pt idx="4">
                  <c:v>1.7543859649122806E-2</c:v>
                </c:pt>
                <c:pt idx="5">
                  <c:v>2.6315789473684209E-2</c:v>
                </c:pt>
                <c:pt idx="6">
                  <c:v>2.6315789473684209E-2</c:v>
                </c:pt>
                <c:pt idx="7">
                  <c:v>2.6315789473684209E-2</c:v>
                </c:pt>
                <c:pt idx="8">
                  <c:v>3.5087719298245612E-2</c:v>
                </c:pt>
                <c:pt idx="9">
                  <c:v>4.3859649122807015E-2</c:v>
                </c:pt>
                <c:pt idx="10">
                  <c:v>4.3859649122807015E-2</c:v>
                </c:pt>
                <c:pt idx="11">
                  <c:v>4.3859649122807015E-2</c:v>
                </c:pt>
                <c:pt idx="12">
                  <c:v>5.2631578947368418E-2</c:v>
                </c:pt>
                <c:pt idx="13">
                  <c:v>5.2631578947368418E-2</c:v>
                </c:pt>
                <c:pt idx="14">
                  <c:v>6.1403508771929821E-2</c:v>
                </c:pt>
                <c:pt idx="15">
                  <c:v>6.1403508771929821E-2</c:v>
                </c:pt>
                <c:pt idx="16">
                  <c:v>7.0175438596491224E-2</c:v>
                </c:pt>
                <c:pt idx="17">
                  <c:v>7.0175438596491224E-2</c:v>
                </c:pt>
                <c:pt idx="18">
                  <c:v>7.8947368421052627E-2</c:v>
                </c:pt>
                <c:pt idx="19">
                  <c:v>7.8947368421052627E-2</c:v>
                </c:pt>
                <c:pt idx="20">
                  <c:v>7.8947368421052627E-2</c:v>
                </c:pt>
                <c:pt idx="21">
                  <c:v>7.8947368421052627E-2</c:v>
                </c:pt>
                <c:pt idx="22">
                  <c:v>8.771929824561403E-2</c:v>
                </c:pt>
                <c:pt idx="23">
                  <c:v>9.6491228070175433E-2</c:v>
                </c:pt>
                <c:pt idx="24">
                  <c:v>9.6491228070175433E-2</c:v>
                </c:pt>
                <c:pt idx="25">
                  <c:v>9.6491228070175433E-2</c:v>
                </c:pt>
                <c:pt idx="26">
                  <c:v>9.6491228070175433E-2</c:v>
                </c:pt>
                <c:pt idx="27">
                  <c:v>0.10526315789473684</c:v>
                </c:pt>
                <c:pt idx="28">
                  <c:v>0.11403508771929824</c:v>
                </c:pt>
                <c:pt idx="29">
                  <c:v>0.12280701754385964</c:v>
                </c:pt>
                <c:pt idx="30">
                  <c:v>0.13157894736842105</c:v>
                </c:pt>
                <c:pt idx="31">
                  <c:v>0.14035087719298245</c:v>
                </c:pt>
                <c:pt idx="32">
                  <c:v>0.14912280701754385</c:v>
                </c:pt>
                <c:pt idx="33">
                  <c:v>0.15789473684210525</c:v>
                </c:pt>
                <c:pt idx="34">
                  <c:v>0.16666666666666666</c:v>
                </c:pt>
                <c:pt idx="35">
                  <c:v>0.17543859649122806</c:v>
                </c:pt>
                <c:pt idx="36">
                  <c:v>0.18421052631578946</c:v>
                </c:pt>
                <c:pt idx="37">
                  <c:v>0.19298245614035087</c:v>
                </c:pt>
                <c:pt idx="38">
                  <c:v>0.19298245614035087</c:v>
                </c:pt>
                <c:pt idx="39">
                  <c:v>0.20175438596491227</c:v>
                </c:pt>
                <c:pt idx="40">
                  <c:v>0.21052631578947367</c:v>
                </c:pt>
                <c:pt idx="41">
                  <c:v>0.21929824561403508</c:v>
                </c:pt>
                <c:pt idx="42">
                  <c:v>0.22807017543859648</c:v>
                </c:pt>
                <c:pt idx="43">
                  <c:v>0.23684210526315788</c:v>
                </c:pt>
                <c:pt idx="44">
                  <c:v>0.24561403508771928</c:v>
                </c:pt>
                <c:pt idx="45">
                  <c:v>0.24561403508771928</c:v>
                </c:pt>
                <c:pt idx="46">
                  <c:v>0.24561403508771928</c:v>
                </c:pt>
                <c:pt idx="47">
                  <c:v>0.24561403508771928</c:v>
                </c:pt>
                <c:pt idx="48">
                  <c:v>0.25438596491228072</c:v>
                </c:pt>
                <c:pt idx="49">
                  <c:v>0.25438596491228072</c:v>
                </c:pt>
                <c:pt idx="50">
                  <c:v>0.26315789473684209</c:v>
                </c:pt>
                <c:pt idx="51">
                  <c:v>0.27192982456140352</c:v>
                </c:pt>
                <c:pt idx="52">
                  <c:v>0.2807017543859649</c:v>
                </c:pt>
                <c:pt idx="53">
                  <c:v>0.2807017543859649</c:v>
                </c:pt>
                <c:pt idx="54">
                  <c:v>0.28947368421052633</c:v>
                </c:pt>
                <c:pt idx="55">
                  <c:v>0.2982456140350877</c:v>
                </c:pt>
                <c:pt idx="56">
                  <c:v>1</c:v>
                </c:pt>
              </c:numCache>
            </c:numRef>
          </c:xVal>
          <c:yVal>
            <c:numRef>
              <c:f>Sheet1!$B$2:$B$58</c:f>
              <c:numCache>
                <c:formatCode>General</c:formatCode>
                <c:ptCount val="57"/>
                <c:pt idx="0">
                  <c:v>0</c:v>
                </c:pt>
                <c:pt idx="1">
                  <c:v>2.7777777777777776E-2</c:v>
                </c:pt>
                <c:pt idx="2">
                  <c:v>2.7777777777777776E-2</c:v>
                </c:pt>
                <c:pt idx="3">
                  <c:v>2.7777777777777776E-2</c:v>
                </c:pt>
                <c:pt idx="4">
                  <c:v>5.5555555555555552E-2</c:v>
                </c:pt>
                <c:pt idx="5">
                  <c:v>5.5555555555555552E-2</c:v>
                </c:pt>
                <c:pt idx="6">
                  <c:v>8.3333333333333329E-2</c:v>
                </c:pt>
                <c:pt idx="7">
                  <c:v>0.1111111111111111</c:v>
                </c:pt>
                <c:pt idx="8">
                  <c:v>0.1388888888888889</c:v>
                </c:pt>
                <c:pt idx="9">
                  <c:v>0.1388888888888889</c:v>
                </c:pt>
                <c:pt idx="10">
                  <c:v>0.16666666666666666</c:v>
                </c:pt>
                <c:pt idx="11">
                  <c:v>0.19444444444444445</c:v>
                </c:pt>
                <c:pt idx="12">
                  <c:v>0.19444444444444445</c:v>
                </c:pt>
                <c:pt idx="13">
                  <c:v>0.22222222222222221</c:v>
                </c:pt>
                <c:pt idx="14">
                  <c:v>0.22222222222222221</c:v>
                </c:pt>
                <c:pt idx="15">
                  <c:v>0.25</c:v>
                </c:pt>
                <c:pt idx="16">
                  <c:v>0.25</c:v>
                </c:pt>
                <c:pt idx="17">
                  <c:v>0.27777777777777779</c:v>
                </c:pt>
                <c:pt idx="18">
                  <c:v>0.27777777777777779</c:v>
                </c:pt>
                <c:pt idx="19">
                  <c:v>0.30555555555555558</c:v>
                </c:pt>
                <c:pt idx="20">
                  <c:v>0.33333333333333331</c:v>
                </c:pt>
                <c:pt idx="21">
                  <c:v>0.3611111111111111</c:v>
                </c:pt>
                <c:pt idx="22">
                  <c:v>0.3611111111111111</c:v>
                </c:pt>
                <c:pt idx="23">
                  <c:v>0.3611111111111111</c:v>
                </c:pt>
                <c:pt idx="24">
                  <c:v>0.3888888888888889</c:v>
                </c:pt>
                <c:pt idx="25">
                  <c:v>0.41666666666666669</c:v>
                </c:pt>
                <c:pt idx="26">
                  <c:v>0.44444444444444442</c:v>
                </c:pt>
                <c:pt idx="27">
                  <c:v>0.44444444444444442</c:v>
                </c:pt>
                <c:pt idx="28">
                  <c:v>0.44444444444444442</c:v>
                </c:pt>
                <c:pt idx="29">
                  <c:v>0.44444444444444442</c:v>
                </c:pt>
                <c:pt idx="30">
                  <c:v>0.44444444444444442</c:v>
                </c:pt>
                <c:pt idx="31">
                  <c:v>0.44444444444444442</c:v>
                </c:pt>
                <c:pt idx="32">
                  <c:v>0.44444444444444442</c:v>
                </c:pt>
                <c:pt idx="33">
                  <c:v>0.44444444444444442</c:v>
                </c:pt>
                <c:pt idx="34">
                  <c:v>0.44444444444444442</c:v>
                </c:pt>
                <c:pt idx="35">
                  <c:v>0.44444444444444442</c:v>
                </c:pt>
                <c:pt idx="36">
                  <c:v>0.44444444444444442</c:v>
                </c:pt>
                <c:pt idx="37">
                  <c:v>0.44444444444444442</c:v>
                </c:pt>
                <c:pt idx="38">
                  <c:v>0.47222222222222221</c:v>
                </c:pt>
                <c:pt idx="39">
                  <c:v>0.47222222222222221</c:v>
                </c:pt>
                <c:pt idx="40">
                  <c:v>0.47222222222222221</c:v>
                </c:pt>
                <c:pt idx="41">
                  <c:v>0.47222222222222221</c:v>
                </c:pt>
                <c:pt idx="42">
                  <c:v>0.47222222222222221</c:v>
                </c:pt>
                <c:pt idx="43">
                  <c:v>0.47222222222222221</c:v>
                </c:pt>
                <c:pt idx="44">
                  <c:v>0.47222222222222221</c:v>
                </c:pt>
                <c:pt idx="45">
                  <c:v>0.5</c:v>
                </c:pt>
                <c:pt idx="46">
                  <c:v>0.52777777777777779</c:v>
                </c:pt>
                <c:pt idx="47">
                  <c:v>0.55555555555555558</c:v>
                </c:pt>
                <c:pt idx="48">
                  <c:v>0.55555555555555558</c:v>
                </c:pt>
                <c:pt idx="49">
                  <c:v>0.58333333333333337</c:v>
                </c:pt>
                <c:pt idx="50">
                  <c:v>0.58333333333333337</c:v>
                </c:pt>
                <c:pt idx="51">
                  <c:v>0.58333333333333337</c:v>
                </c:pt>
                <c:pt idx="52">
                  <c:v>0.58333333333333337</c:v>
                </c:pt>
                <c:pt idx="53">
                  <c:v>0.61111111111111116</c:v>
                </c:pt>
                <c:pt idx="54">
                  <c:v>0.61111111111111116</c:v>
                </c:pt>
                <c:pt idx="55">
                  <c:v>0.61111111111111116</c:v>
                </c:pt>
                <c:pt idx="5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F1-4A2D-ADD6-41F5B2324D39}"/>
            </c:ext>
          </c:extLst>
        </c:ser>
        <c:ser>
          <c:idx val="1"/>
          <c:order val="1"/>
          <c:tx>
            <c:strRef>
              <c:f>Sheet1!$B$60</c:f>
              <c:strCache>
                <c:ptCount val="1"/>
                <c:pt idx="0">
                  <c:v>сеть</c:v>
                </c:pt>
              </c:strCache>
            </c:strRef>
          </c:tx>
          <c:spPr>
            <a:ln w="31750">
              <a:solidFill>
                <a:srgbClr val="FC3777"/>
              </a:solidFill>
            </a:ln>
          </c:spPr>
          <c:marker>
            <c:symbol val="none"/>
          </c:marker>
          <c:xVal>
            <c:numRef>
              <c:f>Sheet1!$A$61:$A$211</c:f>
              <c:numCache>
                <c:formatCode>General</c:formatCode>
                <c:ptCount val="1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8.771929824561403E-3</c:v>
                </c:pt>
                <c:pt idx="9">
                  <c:v>8.771929824561403E-3</c:v>
                </c:pt>
                <c:pt idx="10">
                  <c:v>1.7543859649122806E-2</c:v>
                </c:pt>
                <c:pt idx="11">
                  <c:v>1.7543859649122806E-2</c:v>
                </c:pt>
                <c:pt idx="12">
                  <c:v>2.6315789473684209E-2</c:v>
                </c:pt>
                <c:pt idx="13">
                  <c:v>3.5087719298245612E-2</c:v>
                </c:pt>
                <c:pt idx="14">
                  <c:v>3.5087719298245612E-2</c:v>
                </c:pt>
                <c:pt idx="15">
                  <c:v>3.5087719298245612E-2</c:v>
                </c:pt>
                <c:pt idx="16">
                  <c:v>4.3859649122807015E-2</c:v>
                </c:pt>
                <c:pt idx="17">
                  <c:v>5.2631578947368418E-2</c:v>
                </c:pt>
                <c:pt idx="18">
                  <c:v>6.1403508771929821E-2</c:v>
                </c:pt>
                <c:pt idx="19">
                  <c:v>6.1403508771929821E-2</c:v>
                </c:pt>
                <c:pt idx="20">
                  <c:v>6.1403508771929821E-2</c:v>
                </c:pt>
                <c:pt idx="21">
                  <c:v>6.1403508771929821E-2</c:v>
                </c:pt>
                <c:pt idx="22">
                  <c:v>7.0175438596491224E-2</c:v>
                </c:pt>
                <c:pt idx="23">
                  <c:v>7.8947368421052627E-2</c:v>
                </c:pt>
                <c:pt idx="24">
                  <c:v>8.771929824561403E-2</c:v>
                </c:pt>
                <c:pt idx="25">
                  <c:v>8.771929824561403E-2</c:v>
                </c:pt>
                <c:pt idx="26">
                  <c:v>8.771929824561403E-2</c:v>
                </c:pt>
                <c:pt idx="27">
                  <c:v>9.6491228070175433E-2</c:v>
                </c:pt>
                <c:pt idx="28">
                  <c:v>9.6491228070175433E-2</c:v>
                </c:pt>
                <c:pt idx="29">
                  <c:v>9.6491228070175433E-2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0.11403508771929824</c:v>
                </c:pt>
                <c:pt idx="33">
                  <c:v>0.12280701754385964</c:v>
                </c:pt>
                <c:pt idx="34">
                  <c:v>0.12280701754385964</c:v>
                </c:pt>
                <c:pt idx="35">
                  <c:v>0.13157894736842105</c:v>
                </c:pt>
                <c:pt idx="36">
                  <c:v>0.14035087719298245</c:v>
                </c:pt>
                <c:pt idx="37">
                  <c:v>0.14035087719298245</c:v>
                </c:pt>
                <c:pt idx="38">
                  <c:v>0.14912280701754385</c:v>
                </c:pt>
                <c:pt idx="39">
                  <c:v>0.15789473684210525</c:v>
                </c:pt>
                <c:pt idx="40">
                  <c:v>0.16666666666666666</c:v>
                </c:pt>
                <c:pt idx="41">
                  <c:v>0.16666666666666666</c:v>
                </c:pt>
                <c:pt idx="42">
                  <c:v>0.16666666666666666</c:v>
                </c:pt>
                <c:pt idx="43">
                  <c:v>0.16666666666666666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0.19298245614035087</c:v>
                </c:pt>
                <c:pt idx="48">
                  <c:v>0.20175438596491227</c:v>
                </c:pt>
                <c:pt idx="49">
                  <c:v>0.21052631578947367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0.22807017543859648</c:v>
                </c:pt>
                <c:pt idx="53">
                  <c:v>0.23684210526315788</c:v>
                </c:pt>
                <c:pt idx="54">
                  <c:v>0.24561403508771928</c:v>
                </c:pt>
                <c:pt idx="55">
                  <c:v>0.25438596491228072</c:v>
                </c:pt>
                <c:pt idx="56">
                  <c:v>0.26315789473684209</c:v>
                </c:pt>
                <c:pt idx="57">
                  <c:v>0.26315789473684209</c:v>
                </c:pt>
                <c:pt idx="58">
                  <c:v>0.27192982456140352</c:v>
                </c:pt>
                <c:pt idx="59">
                  <c:v>0.2807017543859649</c:v>
                </c:pt>
                <c:pt idx="60">
                  <c:v>0.28947368421052633</c:v>
                </c:pt>
                <c:pt idx="61">
                  <c:v>0.2982456140350877</c:v>
                </c:pt>
                <c:pt idx="62">
                  <c:v>0.30701754385964913</c:v>
                </c:pt>
                <c:pt idx="63">
                  <c:v>0.31578947368421051</c:v>
                </c:pt>
                <c:pt idx="64">
                  <c:v>0.31578947368421051</c:v>
                </c:pt>
                <c:pt idx="65">
                  <c:v>0.32456140350877194</c:v>
                </c:pt>
                <c:pt idx="66">
                  <c:v>0.33333333333333331</c:v>
                </c:pt>
                <c:pt idx="67">
                  <c:v>0.34210526315789475</c:v>
                </c:pt>
                <c:pt idx="68">
                  <c:v>0.34210526315789475</c:v>
                </c:pt>
                <c:pt idx="69">
                  <c:v>0.35087719298245612</c:v>
                </c:pt>
                <c:pt idx="70">
                  <c:v>0.35964912280701755</c:v>
                </c:pt>
                <c:pt idx="71">
                  <c:v>0.36842105263157893</c:v>
                </c:pt>
                <c:pt idx="72">
                  <c:v>0.37719298245614036</c:v>
                </c:pt>
                <c:pt idx="73">
                  <c:v>0.38596491228070173</c:v>
                </c:pt>
                <c:pt idx="74">
                  <c:v>0.39473684210526316</c:v>
                </c:pt>
                <c:pt idx="75">
                  <c:v>0.40350877192982454</c:v>
                </c:pt>
                <c:pt idx="76">
                  <c:v>0.41228070175438597</c:v>
                </c:pt>
                <c:pt idx="77">
                  <c:v>0.42105263157894735</c:v>
                </c:pt>
                <c:pt idx="78">
                  <c:v>0.42982456140350878</c:v>
                </c:pt>
                <c:pt idx="79">
                  <c:v>0.43859649122807015</c:v>
                </c:pt>
                <c:pt idx="80">
                  <c:v>0.44736842105263158</c:v>
                </c:pt>
                <c:pt idx="81">
                  <c:v>0.45614035087719296</c:v>
                </c:pt>
                <c:pt idx="82">
                  <c:v>0.46491228070175439</c:v>
                </c:pt>
                <c:pt idx="83">
                  <c:v>0.47368421052631576</c:v>
                </c:pt>
                <c:pt idx="84">
                  <c:v>0.48245614035087719</c:v>
                </c:pt>
                <c:pt idx="85">
                  <c:v>0.49122807017543857</c:v>
                </c:pt>
                <c:pt idx="86">
                  <c:v>0.5</c:v>
                </c:pt>
                <c:pt idx="87">
                  <c:v>0.5</c:v>
                </c:pt>
                <c:pt idx="88">
                  <c:v>0.50877192982456143</c:v>
                </c:pt>
                <c:pt idx="89">
                  <c:v>0.51754385964912286</c:v>
                </c:pt>
                <c:pt idx="90">
                  <c:v>0.52631578947368418</c:v>
                </c:pt>
                <c:pt idx="91">
                  <c:v>0.52631578947368418</c:v>
                </c:pt>
                <c:pt idx="92">
                  <c:v>0.53508771929824561</c:v>
                </c:pt>
                <c:pt idx="93">
                  <c:v>0.53508771929824561</c:v>
                </c:pt>
                <c:pt idx="94">
                  <c:v>0.54385964912280704</c:v>
                </c:pt>
                <c:pt idx="95">
                  <c:v>0.55263157894736847</c:v>
                </c:pt>
                <c:pt idx="96">
                  <c:v>0.55263157894736847</c:v>
                </c:pt>
                <c:pt idx="97">
                  <c:v>0.55263157894736847</c:v>
                </c:pt>
                <c:pt idx="98">
                  <c:v>0.56140350877192979</c:v>
                </c:pt>
                <c:pt idx="99">
                  <c:v>0.57017543859649122</c:v>
                </c:pt>
                <c:pt idx="100">
                  <c:v>0.57894736842105265</c:v>
                </c:pt>
                <c:pt idx="101">
                  <c:v>0.58771929824561409</c:v>
                </c:pt>
                <c:pt idx="102">
                  <c:v>0.59649122807017541</c:v>
                </c:pt>
                <c:pt idx="103">
                  <c:v>0.60526315789473684</c:v>
                </c:pt>
                <c:pt idx="104">
                  <c:v>0.61403508771929827</c:v>
                </c:pt>
                <c:pt idx="105">
                  <c:v>0.6228070175438597</c:v>
                </c:pt>
                <c:pt idx="106">
                  <c:v>0.63157894736842102</c:v>
                </c:pt>
                <c:pt idx="107">
                  <c:v>0.64035087719298245</c:v>
                </c:pt>
                <c:pt idx="108">
                  <c:v>0.64912280701754388</c:v>
                </c:pt>
                <c:pt idx="109">
                  <c:v>0.65789473684210531</c:v>
                </c:pt>
                <c:pt idx="110">
                  <c:v>0.66666666666666663</c:v>
                </c:pt>
                <c:pt idx="111">
                  <c:v>0.67543859649122806</c:v>
                </c:pt>
                <c:pt idx="112">
                  <c:v>0.68421052631578949</c:v>
                </c:pt>
                <c:pt idx="113">
                  <c:v>0.69298245614035092</c:v>
                </c:pt>
                <c:pt idx="114">
                  <c:v>0.70175438596491224</c:v>
                </c:pt>
                <c:pt idx="115">
                  <c:v>0.71052631578947367</c:v>
                </c:pt>
                <c:pt idx="116">
                  <c:v>0.7192982456140351</c:v>
                </c:pt>
                <c:pt idx="117">
                  <c:v>0.72807017543859653</c:v>
                </c:pt>
                <c:pt idx="118">
                  <c:v>0.73684210526315785</c:v>
                </c:pt>
                <c:pt idx="119">
                  <c:v>0.74561403508771928</c:v>
                </c:pt>
                <c:pt idx="120">
                  <c:v>0.75438596491228072</c:v>
                </c:pt>
                <c:pt idx="121">
                  <c:v>0.75438596491228072</c:v>
                </c:pt>
                <c:pt idx="122">
                  <c:v>0.76315789473684215</c:v>
                </c:pt>
                <c:pt idx="123">
                  <c:v>0.77192982456140347</c:v>
                </c:pt>
                <c:pt idx="124">
                  <c:v>0.7807017543859649</c:v>
                </c:pt>
                <c:pt idx="125">
                  <c:v>0.7807017543859649</c:v>
                </c:pt>
                <c:pt idx="126">
                  <c:v>0.78947368421052633</c:v>
                </c:pt>
                <c:pt idx="127">
                  <c:v>0.79824561403508776</c:v>
                </c:pt>
                <c:pt idx="128">
                  <c:v>0.80701754385964908</c:v>
                </c:pt>
                <c:pt idx="129">
                  <c:v>0.81578947368421051</c:v>
                </c:pt>
                <c:pt idx="130">
                  <c:v>0.82456140350877194</c:v>
                </c:pt>
                <c:pt idx="131">
                  <c:v>0.83333333333333337</c:v>
                </c:pt>
                <c:pt idx="132">
                  <c:v>0.84210526315789469</c:v>
                </c:pt>
                <c:pt idx="133">
                  <c:v>0.85087719298245612</c:v>
                </c:pt>
                <c:pt idx="134">
                  <c:v>0.85964912280701755</c:v>
                </c:pt>
                <c:pt idx="135">
                  <c:v>0.86842105263157898</c:v>
                </c:pt>
                <c:pt idx="136">
                  <c:v>0.8771929824561403</c:v>
                </c:pt>
                <c:pt idx="137">
                  <c:v>0.88596491228070173</c:v>
                </c:pt>
                <c:pt idx="138">
                  <c:v>0.89473684210526316</c:v>
                </c:pt>
                <c:pt idx="139">
                  <c:v>0.90350877192982459</c:v>
                </c:pt>
                <c:pt idx="140">
                  <c:v>0.91228070175438591</c:v>
                </c:pt>
                <c:pt idx="141">
                  <c:v>0.92105263157894735</c:v>
                </c:pt>
                <c:pt idx="142">
                  <c:v>0.92982456140350878</c:v>
                </c:pt>
                <c:pt idx="143">
                  <c:v>0.93859649122807021</c:v>
                </c:pt>
                <c:pt idx="144">
                  <c:v>0.94736842105263153</c:v>
                </c:pt>
                <c:pt idx="145">
                  <c:v>0.95614035087719296</c:v>
                </c:pt>
                <c:pt idx="146">
                  <c:v>0.96491228070175439</c:v>
                </c:pt>
                <c:pt idx="147">
                  <c:v>0.97368421052631582</c:v>
                </c:pt>
                <c:pt idx="148">
                  <c:v>0.98245614035087714</c:v>
                </c:pt>
                <c:pt idx="149">
                  <c:v>0.99122807017543857</c:v>
                </c:pt>
                <c:pt idx="150">
                  <c:v>1</c:v>
                </c:pt>
              </c:numCache>
            </c:numRef>
          </c:xVal>
          <c:yVal>
            <c:numRef>
              <c:f>Sheet1!$B$61:$B$211</c:f>
              <c:numCache>
                <c:formatCode>General</c:formatCode>
                <c:ptCount val="151"/>
                <c:pt idx="0">
                  <c:v>0</c:v>
                </c:pt>
                <c:pt idx="1">
                  <c:v>2.7777777777777776E-2</c:v>
                </c:pt>
                <c:pt idx="2">
                  <c:v>5.5555555555555552E-2</c:v>
                </c:pt>
                <c:pt idx="3">
                  <c:v>8.3333333333333329E-2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0.22222222222222221</c:v>
                </c:pt>
                <c:pt idx="10">
                  <c:v>0.22222222222222221</c:v>
                </c:pt>
                <c:pt idx="11">
                  <c:v>0.25</c:v>
                </c:pt>
                <c:pt idx="12">
                  <c:v>0.25</c:v>
                </c:pt>
                <c:pt idx="13">
                  <c:v>0.25</c:v>
                </c:pt>
                <c:pt idx="14">
                  <c:v>0.27777777777777779</c:v>
                </c:pt>
                <c:pt idx="15">
                  <c:v>0.30555555555555558</c:v>
                </c:pt>
                <c:pt idx="16">
                  <c:v>0.30555555555555558</c:v>
                </c:pt>
                <c:pt idx="17">
                  <c:v>0.30555555555555558</c:v>
                </c:pt>
                <c:pt idx="18">
                  <c:v>0.30555555555555558</c:v>
                </c:pt>
                <c:pt idx="19">
                  <c:v>0.33333333333333331</c:v>
                </c:pt>
                <c:pt idx="20">
                  <c:v>0.3611111111111111</c:v>
                </c:pt>
                <c:pt idx="21">
                  <c:v>0.3888888888888889</c:v>
                </c:pt>
                <c:pt idx="22">
                  <c:v>0.3888888888888889</c:v>
                </c:pt>
                <c:pt idx="23">
                  <c:v>0.3888888888888889</c:v>
                </c:pt>
                <c:pt idx="24">
                  <c:v>0.3888888888888889</c:v>
                </c:pt>
                <c:pt idx="25">
                  <c:v>0.41666666666666669</c:v>
                </c:pt>
                <c:pt idx="26">
                  <c:v>0.44444444444444442</c:v>
                </c:pt>
                <c:pt idx="27">
                  <c:v>0.44444444444444442</c:v>
                </c:pt>
                <c:pt idx="28">
                  <c:v>0.47222222222222221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0.52777777777777779</c:v>
                </c:pt>
                <c:pt idx="33">
                  <c:v>0.52777777777777779</c:v>
                </c:pt>
                <c:pt idx="34">
                  <c:v>0.55555555555555558</c:v>
                </c:pt>
                <c:pt idx="35">
                  <c:v>0.55555555555555558</c:v>
                </c:pt>
                <c:pt idx="36">
                  <c:v>0.55555555555555558</c:v>
                </c:pt>
                <c:pt idx="37">
                  <c:v>0.58333333333333337</c:v>
                </c:pt>
                <c:pt idx="38">
                  <c:v>0.58333333333333337</c:v>
                </c:pt>
                <c:pt idx="39">
                  <c:v>0.58333333333333337</c:v>
                </c:pt>
                <c:pt idx="40">
                  <c:v>0.58333333333333337</c:v>
                </c:pt>
                <c:pt idx="41">
                  <c:v>0.61111111111111116</c:v>
                </c:pt>
                <c:pt idx="42">
                  <c:v>0.63888888888888884</c:v>
                </c:pt>
                <c:pt idx="43">
                  <c:v>0.66666666666666663</c:v>
                </c:pt>
                <c:pt idx="44">
                  <c:v>0.66666666666666663</c:v>
                </c:pt>
                <c:pt idx="45">
                  <c:v>0.66666666666666663</c:v>
                </c:pt>
                <c:pt idx="46">
                  <c:v>0.66666666666666663</c:v>
                </c:pt>
                <c:pt idx="47">
                  <c:v>0.69444444444444442</c:v>
                </c:pt>
                <c:pt idx="48">
                  <c:v>0.69444444444444442</c:v>
                </c:pt>
                <c:pt idx="49">
                  <c:v>0.69444444444444442</c:v>
                </c:pt>
                <c:pt idx="50">
                  <c:v>0.72222222222222221</c:v>
                </c:pt>
                <c:pt idx="51">
                  <c:v>0.72222222222222221</c:v>
                </c:pt>
                <c:pt idx="52">
                  <c:v>0.72222222222222221</c:v>
                </c:pt>
                <c:pt idx="53">
                  <c:v>0.72222222222222221</c:v>
                </c:pt>
                <c:pt idx="54">
                  <c:v>0.72222222222222221</c:v>
                </c:pt>
                <c:pt idx="55">
                  <c:v>0.72222222222222221</c:v>
                </c:pt>
                <c:pt idx="56">
                  <c:v>0.72222222222222221</c:v>
                </c:pt>
                <c:pt idx="57">
                  <c:v>0.75</c:v>
                </c:pt>
                <c:pt idx="58">
                  <c:v>0.75</c:v>
                </c:pt>
                <c:pt idx="59">
                  <c:v>0.75</c:v>
                </c:pt>
                <c:pt idx="60">
                  <c:v>0.75</c:v>
                </c:pt>
                <c:pt idx="61">
                  <c:v>0.75</c:v>
                </c:pt>
                <c:pt idx="62">
                  <c:v>0.75</c:v>
                </c:pt>
                <c:pt idx="63">
                  <c:v>0.75</c:v>
                </c:pt>
                <c:pt idx="64">
                  <c:v>0.77777777777777779</c:v>
                </c:pt>
                <c:pt idx="65">
                  <c:v>0.77777777777777779</c:v>
                </c:pt>
                <c:pt idx="66">
                  <c:v>0.77777777777777779</c:v>
                </c:pt>
                <c:pt idx="67">
                  <c:v>0.77777777777777779</c:v>
                </c:pt>
                <c:pt idx="68">
                  <c:v>0.80555555555555558</c:v>
                </c:pt>
                <c:pt idx="69">
                  <c:v>0.80555555555555558</c:v>
                </c:pt>
                <c:pt idx="70">
                  <c:v>0.80555555555555558</c:v>
                </c:pt>
                <c:pt idx="71">
                  <c:v>0.80555555555555558</c:v>
                </c:pt>
                <c:pt idx="72">
                  <c:v>0.80555555555555558</c:v>
                </c:pt>
                <c:pt idx="73">
                  <c:v>0.80555555555555558</c:v>
                </c:pt>
                <c:pt idx="74">
                  <c:v>0.80555555555555558</c:v>
                </c:pt>
                <c:pt idx="75">
                  <c:v>0.80555555555555558</c:v>
                </c:pt>
                <c:pt idx="76">
                  <c:v>0.80555555555555558</c:v>
                </c:pt>
                <c:pt idx="77">
                  <c:v>0.80555555555555558</c:v>
                </c:pt>
                <c:pt idx="78">
                  <c:v>0.80555555555555558</c:v>
                </c:pt>
                <c:pt idx="79">
                  <c:v>0.80555555555555558</c:v>
                </c:pt>
                <c:pt idx="80">
                  <c:v>0.80555555555555558</c:v>
                </c:pt>
                <c:pt idx="81">
                  <c:v>0.80555555555555558</c:v>
                </c:pt>
                <c:pt idx="82">
                  <c:v>0.80555555555555558</c:v>
                </c:pt>
                <c:pt idx="83">
                  <c:v>0.80555555555555558</c:v>
                </c:pt>
                <c:pt idx="84">
                  <c:v>0.80555555555555558</c:v>
                </c:pt>
                <c:pt idx="85">
                  <c:v>0.80555555555555558</c:v>
                </c:pt>
                <c:pt idx="86">
                  <c:v>0.80555555555555558</c:v>
                </c:pt>
                <c:pt idx="87">
                  <c:v>0.83333333333333337</c:v>
                </c:pt>
                <c:pt idx="88">
                  <c:v>0.83333333333333337</c:v>
                </c:pt>
                <c:pt idx="89">
                  <c:v>0.83333333333333337</c:v>
                </c:pt>
                <c:pt idx="90">
                  <c:v>0.83333333333333337</c:v>
                </c:pt>
                <c:pt idx="91">
                  <c:v>0.86111111111111116</c:v>
                </c:pt>
                <c:pt idx="92">
                  <c:v>0.86111111111111116</c:v>
                </c:pt>
                <c:pt idx="93">
                  <c:v>0.88888888888888884</c:v>
                </c:pt>
                <c:pt idx="94">
                  <c:v>0.88888888888888884</c:v>
                </c:pt>
                <c:pt idx="95">
                  <c:v>0.88888888888888884</c:v>
                </c:pt>
                <c:pt idx="96">
                  <c:v>0.91666666666666663</c:v>
                </c:pt>
                <c:pt idx="97">
                  <c:v>0.94444444444444442</c:v>
                </c:pt>
                <c:pt idx="98">
                  <c:v>0.94444444444444442</c:v>
                </c:pt>
                <c:pt idx="99">
                  <c:v>0.94444444444444442</c:v>
                </c:pt>
                <c:pt idx="100">
                  <c:v>0.94444444444444442</c:v>
                </c:pt>
                <c:pt idx="101">
                  <c:v>0.94444444444444442</c:v>
                </c:pt>
                <c:pt idx="102">
                  <c:v>0.94444444444444442</c:v>
                </c:pt>
                <c:pt idx="103">
                  <c:v>0.94444444444444442</c:v>
                </c:pt>
                <c:pt idx="104">
                  <c:v>0.94444444444444442</c:v>
                </c:pt>
                <c:pt idx="105">
                  <c:v>0.94444444444444442</c:v>
                </c:pt>
                <c:pt idx="106">
                  <c:v>0.94444444444444442</c:v>
                </c:pt>
                <c:pt idx="107">
                  <c:v>0.94444444444444442</c:v>
                </c:pt>
                <c:pt idx="108">
                  <c:v>0.94444444444444442</c:v>
                </c:pt>
                <c:pt idx="109">
                  <c:v>0.94444444444444442</c:v>
                </c:pt>
                <c:pt idx="110">
                  <c:v>0.94444444444444442</c:v>
                </c:pt>
                <c:pt idx="111">
                  <c:v>0.94444444444444442</c:v>
                </c:pt>
                <c:pt idx="112">
                  <c:v>0.94444444444444442</c:v>
                </c:pt>
                <c:pt idx="113">
                  <c:v>0.94444444444444442</c:v>
                </c:pt>
                <c:pt idx="114">
                  <c:v>0.94444444444444442</c:v>
                </c:pt>
                <c:pt idx="115">
                  <c:v>0.94444444444444442</c:v>
                </c:pt>
                <c:pt idx="116">
                  <c:v>0.94444444444444442</c:v>
                </c:pt>
                <c:pt idx="117">
                  <c:v>0.94444444444444442</c:v>
                </c:pt>
                <c:pt idx="118">
                  <c:v>0.94444444444444442</c:v>
                </c:pt>
                <c:pt idx="119">
                  <c:v>0.94444444444444442</c:v>
                </c:pt>
                <c:pt idx="120">
                  <c:v>0.94444444444444442</c:v>
                </c:pt>
                <c:pt idx="121">
                  <c:v>0.97222222222222221</c:v>
                </c:pt>
                <c:pt idx="122">
                  <c:v>0.97222222222222221</c:v>
                </c:pt>
                <c:pt idx="123">
                  <c:v>0.97222222222222221</c:v>
                </c:pt>
                <c:pt idx="124">
                  <c:v>0.97222222222222221</c:v>
                </c:pt>
                <c:pt idx="125">
                  <c:v>1</c:v>
                </c:pt>
                <c:pt idx="126">
                  <c:v>1</c:v>
                </c:pt>
                <c:pt idx="127">
                  <c:v>1</c:v>
                </c:pt>
                <c:pt idx="128">
                  <c:v>1</c:v>
                </c:pt>
                <c:pt idx="129">
                  <c:v>1</c:v>
                </c:pt>
                <c:pt idx="130">
                  <c:v>1</c:v>
                </c:pt>
                <c:pt idx="131">
                  <c:v>1</c:v>
                </c:pt>
                <c:pt idx="132">
                  <c:v>1</c:v>
                </c:pt>
                <c:pt idx="133">
                  <c:v>1</c:v>
                </c:pt>
                <c:pt idx="134">
                  <c:v>1</c:v>
                </c:pt>
                <c:pt idx="135">
                  <c:v>1</c:v>
                </c:pt>
                <c:pt idx="136">
                  <c:v>1</c:v>
                </c:pt>
                <c:pt idx="137">
                  <c:v>1</c:v>
                </c:pt>
                <c:pt idx="138">
                  <c:v>1</c:v>
                </c:pt>
                <c:pt idx="139">
                  <c:v>1</c:v>
                </c:pt>
                <c:pt idx="140">
                  <c:v>1</c:v>
                </c:pt>
                <c:pt idx="141">
                  <c:v>1</c:v>
                </c:pt>
                <c:pt idx="142">
                  <c:v>1</c:v>
                </c:pt>
                <c:pt idx="143">
                  <c:v>1</c:v>
                </c:pt>
                <c:pt idx="144">
                  <c:v>1</c:v>
                </c:pt>
                <c:pt idx="145">
                  <c:v>1</c:v>
                </c:pt>
                <c:pt idx="146">
                  <c:v>1</c:v>
                </c:pt>
                <c:pt idx="147">
                  <c:v>1</c:v>
                </c:pt>
                <c:pt idx="148">
                  <c:v>1</c:v>
                </c:pt>
                <c:pt idx="149">
                  <c:v>1</c:v>
                </c:pt>
                <c:pt idx="15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FF1-4A2D-ADD6-41F5B2324D39}"/>
            </c:ext>
          </c:extLst>
        </c:ser>
        <c:ser>
          <c:idx val="2"/>
          <c:order val="2"/>
          <c:tx>
            <c:strRef>
              <c:f>Sheet1!$B$213</c:f>
              <c:strCache>
                <c:ptCount val="1"/>
                <c:pt idx="0">
                  <c:v>свод</c:v>
                </c:pt>
              </c:strCache>
            </c:strRef>
          </c:tx>
          <c:spPr>
            <a:ln w="31750">
              <a:solidFill>
                <a:srgbClr val="520977"/>
              </a:solidFill>
            </a:ln>
          </c:spPr>
          <c:marker>
            <c:symbol val="none"/>
          </c:marker>
          <c:xVal>
            <c:numRef>
              <c:f>Sheet1!$A$214:$A$364</c:f>
              <c:numCache>
                <c:formatCode>General</c:formatCode>
                <c:ptCount val="1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8.771929824561403E-3</c:v>
                </c:pt>
                <c:pt idx="9">
                  <c:v>8.771929824561403E-3</c:v>
                </c:pt>
                <c:pt idx="10">
                  <c:v>8.771929824561403E-3</c:v>
                </c:pt>
                <c:pt idx="11">
                  <c:v>8.771929824561403E-3</c:v>
                </c:pt>
                <c:pt idx="12">
                  <c:v>1.7543859649122806E-2</c:v>
                </c:pt>
                <c:pt idx="13">
                  <c:v>2.6315789473684209E-2</c:v>
                </c:pt>
                <c:pt idx="14">
                  <c:v>3.5087719298245612E-2</c:v>
                </c:pt>
                <c:pt idx="15">
                  <c:v>3.5087719298245612E-2</c:v>
                </c:pt>
                <c:pt idx="16">
                  <c:v>3.5087719298245612E-2</c:v>
                </c:pt>
                <c:pt idx="17">
                  <c:v>4.3859649122807015E-2</c:v>
                </c:pt>
                <c:pt idx="18">
                  <c:v>4.3859649122807015E-2</c:v>
                </c:pt>
                <c:pt idx="19">
                  <c:v>4.3859649122807015E-2</c:v>
                </c:pt>
                <c:pt idx="20">
                  <c:v>4.3859649122807015E-2</c:v>
                </c:pt>
                <c:pt idx="21">
                  <c:v>5.2631578947368418E-2</c:v>
                </c:pt>
                <c:pt idx="22">
                  <c:v>6.1403508771929821E-2</c:v>
                </c:pt>
                <c:pt idx="23">
                  <c:v>7.0175438596491224E-2</c:v>
                </c:pt>
                <c:pt idx="24">
                  <c:v>7.0175438596491224E-2</c:v>
                </c:pt>
                <c:pt idx="25">
                  <c:v>7.8947368421052627E-2</c:v>
                </c:pt>
                <c:pt idx="26">
                  <c:v>8.771929824561403E-2</c:v>
                </c:pt>
                <c:pt idx="27">
                  <c:v>8.771929824561403E-2</c:v>
                </c:pt>
                <c:pt idx="28">
                  <c:v>8.771929824561403E-2</c:v>
                </c:pt>
                <c:pt idx="29">
                  <c:v>9.6491228070175433E-2</c:v>
                </c:pt>
                <c:pt idx="30">
                  <c:v>0.10526315789473684</c:v>
                </c:pt>
                <c:pt idx="31">
                  <c:v>0.11403508771929824</c:v>
                </c:pt>
                <c:pt idx="32">
                  <c:v>0.12280701754385964</c:v>
                </c:pt>
                <c:pt idx="33">
                  <c:v>0.13157894736842105</c:v>
                </c:pt>
                <c:pt idx="34">
                  <c:v>0.13157894736842105</c:v>
                </c:pt>
                <c:pt idx="35">
                  <c:v>0.14035087719298245</c:v>
                </c:pt>
                <c:pt idx="36">
                  <c:v>0.14912280701754385</c:v>
                </c:pt>
                <c:pt idx="37">
                  <c:v>0.15789473684210525</c:v>
                </c:pt>
                <c:pt idx="38">
                  <c:v>0.16666666666666666</c:v>
                </c:pt>
                <c:pt idx="39">
                  <c:v>0.16666666666666666</c:v>
                </c:pt>
                <c:pt idx="40">
                  <c:v>0.16666666666666666</c:v>
                </c:pt>
                <c:pt idx="41">
                  <c:v>0.17543859649122806</c:v>
                </c:pt>
                <c:pt idx="42">
                  <c:v>0.17543859649122806</c:v>
                </c:pt>
                <c:pt idx="43">
                  <c:v>0.17543859649122806</c:v>
                </c:pt>
                <c:pt idx="44">
                  <c:v>0.17543859649122806</c:v>
                </c:pt>
                <c:pt idx="45">
                  <c:v>0.18421052631578946</c:v>
                </c:pt>
                <c:pt idx="46">
                  <c:v>0.19298245614035087</c:v>
                </c:pt>
                <c:pt idx="47">
                  <c:v>0.20175438596491227</c:v>
                </c:pt>
                <c:pt idx="48">
                  <c:v>0.20175438596491227</c:v>
                </c:pt>
                <c:pt idx="49">
                  <c:v>0.20175438596491227</c:v>
                </c:pt>
                <c:pt idx="50">
                  <c:v>0.21052631578947367</c:v>
                </c:pt>
                <c:pt idx="51">
                  <c:v>0.21929824561403508</c:v>
                </c:pt>
                <c:pt idx="52">
                  <c:v>0.21929824561403508</c:v>
                </c:pt>
                <c:pt idx="53">
                  <c:v>0.22807017543859648</c:v>
                </c:pt>
                <c:pt idx="54">
                  <c:v>0.22807017543859648</c:v>
                </c:pt>
                <c:pt idx="55">
                  <c:v>0.23684210526315788</c:v>
                </c:pt>
                <c:pt idx="56">
                  <c:v>0.24561403508771928</c:v>
                </c:pt>
                <c:pt idx="57">
                  <c:v>0.25438596491228072</c:v>
                </c:pt>
                <c:pt idx="58">
                  <c:v>0.26315789473684209</c:v>
                </c:pt>
                <c:pt idx="59">
                  <c:v>0.27192982456140352</c:v>
                </c:pt>
                <c:pt idx="60">
                  <c:v>0.2807017543859649</c:v>
                </c:pt>
                <c:pt idx="61">
                  <c:v>0.28947368421052633</c:v>
                </c:pt>
                <c:pt idx="62">
                  <c:v>0.2982456140350877</c:v>
                </c:pt>
                <c:pt idx="63">
                  <c:v>0.30701754385964913</c:v>
                </c:pt>
                <c:pt idx="64">
                  <c:v>0.30701754385964913</c:v>
                </c:pt>
                <c:pt idx="65">
                  <c:v>0.31578947368421051</c:v>
                </c:pt>
                <c:pt idx="66">
                  <c:v>0.32456140350877194</c:v>
                </c:pt>
                <c:pt idx="67">
                  <c:v>0.33333333333333331</c:v>
                </c:pt>
                <c:pt idx="68">
                  <c:v>0.34210526315789475</c:v>
                </c:pt>
                <c:pt idx="69">
                  <c:v>0.35087719298245612</c:v>
                </c:pt>
                <c:pt idx="70">
                  <c:v>0.35964912280701755</c:v>
                </c:pt>
                <c:pt idx="71">
                  <c:v>0.35964912280701755</c:v>
                </c:pt>
                <c:pt idx="72">
                  <c:v>0.36842105263157893</c:v>
                </c:pt>
                <c:pt idx="73">
                  <c:v>0.37719298245614036</c:v>
                </c:pt>
                <c:pt idx="74">
                  <c:v>0.38596491228070173</c:v>
                </c:pt>
                <c:pt idx="75">
                  <c:v>0.39473684210526316</c:v>
                </c:pt>
                <c:pt idx="76">
                  <c:v>0.40350877192982454</c:v>
                </c:pt>
                <c:pt idx="77">
                  <c:v>0.41228070175438597</c:v>
                </c:pt>
                <c:pt idx="78">
                  <c:v>0.42105263157894735</c:v>
                </c:pt>
                <c:pt idx="79">
                  <c:v>0.42982456140350878</c:v>
                </c:pt>
                <c:pt idx="80">
                  <c:v>0.43859649122807015</c:v>
                </c:pt>
                <c:pt idx="81">
                  <c:v>0.44736842105263158</c:v>
                </c:pt>
                <c:pt idx="82">
                  <c:v>0.45614035087719296</c:v>
                </c:pt>
                <c:pt idx="83">
                  <c:v>0.46491228070175439</c:v>
                </c:pt>
                <c:pt idx="84">
                  <c:v>0.47368421052631576</c:v>
                </c:pt>
                <c:pt idx="85">
                  <c:v>0.48245614035087719</c:v>
                </c:pt>
                <c:pt idx="86">
                  <c:v>0.49122807017543857</c:v>
                </c:pt>
                <c:pt idx="87">
                  <c:v>0.5</c:v>
                </c:pt>
                <c:pt idx="88">
                  <c:v>0.50877192982456143</c:v>
                </c:pt>
                <c:pt idx="89">
                  <c:v>0.50877192982456143</c:v>
                </c:pt>
                <c:pt idx="90">
                  <c:v>0.51754385964912286</c:v>
                </c:pt>
                <c:pt idx="91">
                  <c:v>0.52631578947368418</c:v>
                </c:pt>
                <c:pt idx="92">
                  <c:v>0.53508771929824561</c:v>
                </c:pt>
                <c:pt idx="93">
                  <c:v>0.54385964912280704</c:v>
                </c:pt>
                <c:pt idx="94">
                  <c:v>0.55263157894736847</c:v>
                </c:pt>
                <c:pt idx="95">
                  <c:v>0.55263157894736847</c:v>
                </c:pt>
                <c:pt idx="96">
                  <c:v>0.56140350877192979</c:v>
                </c:pt>
                <c:pt idx="97">
                  <c:v>0.57017543859649122</c:v>
                </c:pt>
                <c:pt idx="98">
                  <c:v>0.57894736842105265</c:v>
                </c:pt>
                <c:pt idx="99">
                  <c:v>0.57894736842105265</c:v>
                </c:pt>
                <c:pt idx="100">
                  <c:v>0.58771929824561409</c:v>
                </c:pt>
                <c:pt idx="101">
                  <c:v>0.59649122807017541</c:v>
                </c:pt>
                <c:pt idx="102">
                  <c:v>0.59649122807017541</c:v>
                </c:pt>
                <c:pt idx="103">
                  <c:v>0.60526315789473684</c:v>
                </c:pt>
                <c:pt idx="104">
                  <c:v>0.61403508771929827</c:v>
                </c:pt>
                <c:pt idx="105">
                  <c:v>0.61403508771929827</c:v>
                </c:pt>
                <c:pt idx="106">
                  <c:v>0.6228070175438597</c:v>
                </c:pt>
                <c:pt idx="107">
                  <c:v>0.63157894736842102</c:v>
                </c:pt>
                <c:pt idx="108">
                  <c:v>0.64035087719298245</c:v>
                </c:pt>
                <c:pt idx="109">
                  <c:v>0.64912280701754388</c:v>
                </c:pt>
                <c:pt idx="110">
                  <c:v>0.65789473684210531</c:v>
                </c:pt>
                <c:pt idx="111">
                  <c:v>0.66666666666666663</c:v>
                </c:pt>
                <c:pt idx="112">
                  <c:v>0.67543859649122806</c:v>
                </c:pt>
                <c:pt idx="113">
                  <c:v>0.68421052631578949</c:v>
                </c:pt>
                <c:pt idx="114">
                  <c:v>0.69298245614035092</c:v>
                </c:pt>
                <c:pt idx="115">
                  <c:v>0.70175438596491224</c:v>
                </c:pt>
                <c:pt idx="116">
                  <c:v>0.71052631578947367</c:v>
                </c:pt>
                <c:pt idx="117">
                  <c:v>0.7192982456140351</c:v>
                </c:pt>
                <c:pt idx="118">
                  <c:v>0.72807017543859653</c:v>
                </c:pt>
                <c:pt idx="119">
                  <c:v>0.73684210526315785</c:v>
                </c:pt>
                <c:pt idx="120">
                  <c:v>0.74561403508771928</c:v>
                </c:pt>
                <c:pt idx="121">
                  <c:v>0.75438596491228072</c:v>
                </c:pt>
                <c:pt idx="122">
                  <c:v>0.76315789473684215</c:v>
                </c:pt>
                <c:pt idx="123">
                  <c:v>0.77192982456140347</c:v>
                </c:pt>
                <c:pt idx="124">
                  <c:v>0.7807017543859649</c:v>
                </c:pt>
                <c:pt idx="125">
                  <c:v>0.78947368421052633</c:v>
                </c:pt>
                <c:pt idx="126">
                  <c:v>0.79824561403508776</c:v>
                </c:pt>
                <c:pt idx="127">
                  <c:v>0.79824561403508776</c:v>
                </c:pt>
                <c:pt idx="128">
                  <c:v>0.80701754385964908</c:v>
                </c:pt>
                <c:pt idx="129">
                  <c:v>0.81578947368421051</c:v>
                </c:pt>
                <c:pt idx="130">
                  <c:v>0.82456140350877194</c:v>
                </c:pt>
                <c:pt idx="131">
                  <c:v>0.83333333333333337</c:v>
                </c:pt>
                <c:pt idx="132">
                  <c:v>0.84210526315789469</c:v>
                </c:pt>
                <c:pt idx="133">
                  <c:v>0.85087719298245612</c:v>
                </c:pt>
                <c:pt idx="134">
                  <c:v>0.85964912280701755</c:v>
                </c:pt>
                <c:pt idx="135">
                  <c:v>0.86842105263157898</c:v>
                </c:pt>
                <c:pt idx="136">
                  <c:v>0.8771929824561403</c:v>
                </c:pt>
                <c:pt idx="137">
                  <c:v>0.88596491228070173</c:v>
                </c:pt>
                <c:pt idx="138">
                  <c:v>0.89473684210526316</c:v>
                </c:pt>
                <c:pt idx="139">
                  <c:v>0.90350877192982459</c:v>
                </c:pt>
                <c:pt idx="140">
                  <c:v>0.91228070175438591</c:v>
                </c:pt>
                <c:pt idx="141">
                  <c:v>0.92105263157894735</c:v>
                </c:pt>
                <c:pt idx="142">
                  <c:v>0.92982456140350878</c:v>
                </c:pt>
                <c:pt idx="143">
                  <c:v>0.93859649122807021</c:v>
                </c:pt>
                <c:pt idx="144">
                  <c:v>0.94736842105263153</c:v>
                </c:pt>
                <c:pt idx="145">
                  <c:v>0.95614035087719296</c:v>
                </c:pt>
                <c:pt idx="146">
                  <c:v>0.96491228070175439</c:v>
                </c:pt>
                <c:pt idx="147">
                  <c:v>0.97368421052631582</c:v>
                </c:pt>
                <c:pt idx="148">
                  <c:v>0.98245614035087714</c:v>
                </c:pt>
                <c:pt idx="149">
                  <c:v>0.99122807017543857</c:v>
                </c:pt>
                <c:pt idx="150">
                  <c:v>1</c:v>
                </c:pt>
              </c:numCache>
            </c:numRef>
          </c:xVal>
          <c:yVal>
            <c:numRef>
              <c:f>Sheet1!$B$214:$B$364</c:f>
              <c:numCache>
                <c:formatCode>General</c:formatCode>
                <c:ptCount val="151"/>
                <c:pt idx="0">
                  <c:v>0</c:v>
                </c:pt>
                <c:pt idx="1">
                  <c:v>2.7777777777777776E-2</c:v>
                </c:pt>
                <c:pt idx="2">
                  <c:v>5.5555555555555552E-2</c:v>
                </c:pt>
                <c:pt idx="3">
                  <c:v>8.3333333333333329E-2</c:v>
                </c:pt>
                <c:pt idx="4">
                  <c:v>0.1111111111111111</c:v>
                </c:pt>
                <c:pt idx="5">
                  <c:v>0.1388888888888889</c:v>
                </c:pt>
                <c:pt idx="6">
                  <c:v>0.16666666666666666</c:v>
                </c:pt>
                <c:pt idx="7">
                  <c:v>0.19444444444444445</c:v>
                </c:pt>
                <c:pt idx="8">
                  <c:v>0.19444444444444445</c:v>
                </c:pt>
                <c:pt idx="9">
                  <c:v>0.22222222222222221</c:v>
                </c:pt>
                <c:pt idx="10">
                  <c:v>0.25</c:v>
                </c:pt>
                <c:pt idx="11">
                  <c:v>0.27777777777777779</c:v>
                </c:pt>
                <c:pt idx="12">
                  <c:v>0.27777777777777779</c:v>
                </c:pt>
                <c:pt idx="13">
                  <c:v>0.27777777777777779</c:v>
                </c:pt>
                <c:pt idx="14">
                  <c:v>0.27777777777777779</c:v>
                </c:pt>
                <c:pt idx="15">
                  <c:v>0.30555555555555558</c:v>
                </c:pt>
                <c:pt idx="16">
                  <c:v>0.33333333333333331</c:v>
                </c:pt>
                <c:pt idx="17">
                  <c:v>0.33333333333333331</c:v>
                </c:pt>
                <c:pt idx="18">
                  <c:v>0.3611111111111111</c:v>
                </c:pt>
                <c:pt idx="19">
                  <c:v>0.3888888888888889</c:v>
                </c:pt>
                <c:pt idx="20">
                  <c:v>0.41666666666666669</c:v>
                </c:pt>
                <c:pt idx="21">
                  <c:v>0.41666666666666669</c:v>
                </c:pt>
                <c:pt idx="22">
                  <c:v>0.41666666666666669</c:v>
                </c:pt>
                <c:pt idx="23">
                  <c:v>0.41666666666666669</c:v>
                </c:pt>
                <c:pt idx="24">
                  <c:v>0.44444444444444442</c:v>
                </c:pt>
                <c:pt idx="25">
                  <c:v>0.44444444444444442</c:v>
                </c:pt>
                <c:pt idx="26">
                  <c:v>0.44444444444444442</c:v>
                </c:pt>
                <c:pt idx="27">
                  <c:v>0.47222222222222221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  <c:pt idx="31">
                  <c:v>0.5</c:v>
                </c:pt>
                <c:pt idx="32">
                  <c:v>0.5</c:v>
                </c:pt>
                <c:pt idx="33">
                  <c:v>0.5</c:v>
                </c:pt>
                <c:pt idx="34">
                  <c:v>0.52777777777777779</c:v>
                </c:pt>
                <c:pt idx="35">
                  <c:v>0.52777777777777779</c:v>
                </c:pt>
                <c:pt idx="36">
                  <c:v>0.52777777777777779</c:v>
                </c:pt>
                <c:pt idx="37">
                  <c:v>0.52777777777777779</c:v>
                </c:pt>
                <c:pt idx="38">
                  <c:v>0.52777777777777779</c:v>
                </c:pt>
                <c:pt idx="39">
                  <c:v>0.55555555555555558</c:v>
                </c:pt>
                <c:pt idx="40">
                  <c:v>0.58333333333333337</c:v>
                </c:pt>
                <c:pt idx="41">
                  <c:v>0.58333333333333337</c:v>
                </c:pt>
                <c:pt idx="42">
                  <c:v>0.61111111111111116</c:v>
                </c:pt>
                <c:pt idx="43">
                  <c:v>0.63888888888888884</c:v>
                </c:pt>
                <c:pt idx="44">
                  <c:v>0.66666666666666663</c:v>
                </c:pt>
                <c:pt idx="45">
                  <c:v>0.66666666666666663</c:v>
                </c:pt>
                <c:pt idx="46">
                  <c:v>0.66666666666666663</c:v>
                </c:pt>
                <c:pt idx="47">
                  <c:v>0.66666666666666663</c:v>
                </c:pt>
                <c:pt idx="48">
                  <c:v>0.69444444444444442</c:v>
                </c:pt>
                <c:pt idx="49">
                  <c:v>0.72222222222222221</c:v>
                </c:pt>
                <c:pt idx="50">
                  <c:v>0.72222222222222221</c:v>
                </c:pt>
                <c:pt idx="51">
                  <c:v>0.72222222222222221</c:v>
                </c:pt>
                <c:pt idx="52">
                  <c:v>0.75</c:v>
                </c:pt>
                <c:pt idx="53">
                  <c:v>0.75</c:v>
                </c:pt>
                <c:pt idx="54">
                  <c:v>0.77777777777777779</c:v>
                </c:pt>
                <c:pt idx="55">
                  <c:v>0.77777777777777779</c:v>
                </c:pt>
                <c:pt idx="56">
                  <c:v>0.77777777777777779</c:v>
                </c:pt>
                <c:pt idx="57">
                  <c:v>0.77777777777777779</c:v>
                </c:pt>
                <c:pt idx="58">
                  <c:v>0.77777777777777779</c:v>
                </c:pt>
                <c:pt idx="59">
                  <c:v>0.77777777777777779</c:v>
                </c:pt>
                <c:pt idx="60">
                  <c:v>0.77777777777777779</c:v>
                </c:pt>
                <c:pt idx="61">
                  <c:v>0.77777777777777779</c:v>
                </c:pt>
                <c:pt idx="62">
                  <c:v>0.77777777777777779</c:v>
                </c:pt>
                <c:pt idx="63">
                  <c:v>0.77777777777777779</c:v>
                </c:pt>
                <c:pt idx="64">
                  <c:v>0.80555555555555558</c:v>
                </c:pt>
                <c:pt idx="65">
                  <c:v>0.80555555555555558</c:v>
                </c:pt>
                <c:pt idx="66">
                  <c:v>0.80555555555555558</c:v>
                </c:pt>
                <c:pt idx="67">
                  <c:v>0.80555555555555558</c:v>
                </c:pt>
                <c:pt idx="68">
                  <c:v>0.80555555555555558</c:v>
                </c:pt>
                <c:pt idx="69">
                  <c:v>0.80555555555555558</c:v>
                </c:pt>
                <c:pt idx="70">
                  <c:v>0.80555555555555558</c:v>
                </c:pt>
                <c:pt idx="71">
                  <c:v>0.83333333333333337</c:v>
                </c:pt>
                <c:pt idx="72">
                  <c:v>0.83333333333333337</c:v>
                </c:pt>
                <c:pt idx="73">
                  <c:v>0.83333333333333337</c:v>
                </c:pt>
                <c:pt idx="74">
                  <c:v>0.83333333333333337</c:v>
                </c:pt>
                <c:pt idx="75">
                  <c:v>0.83333333333333337</c:v>
                </c:pt>
                <c:pt idx="76">
                  <c:v>0.83333333333333337</c:v>
                </c:pt>
                <c:pt idx="77">
                  <c:v>0.83333333333333337</c:v>
                </c:pt>
                <c:pt idx="78">
                  <c:v>0.83333333333333337</c:v>
                </c:pt>
                <c:pt idx="79">
                  <c:v>0.83333333333333337</c:v>
                </c:pt>
                <c:pt idx="80">
                  <c:v>0.83333333333333337</c:v>
                </c:pt>
                <c:pt idx="81">
                  <c:v>0.83333333333333337</c:v>
                </c:pt>
                <c:pt idx="82">
                  <c:v>0.83333333333333337</c:v>
                </c:pt>
                <c:pt idx="83">
                  <c:v>0.83333333333333337</c:v>
                </c:pt>
                <c:pt idx="84">
                  <c:v>0.83333333333333337</c:v>
                </c:pt>
                <c:pt idx="85">
                  <c:v>0.83333333333333337</c:v>
                </c:pt>
                <c:pt idx="86">
                  <c:v>0.83333333333333337</c:v>
                </c:pt>
                <c:pt idx="87">
                  <c:v>0.83333333333333337</c:v>
                </c:pt>
                <c:pt idx="88">
                  <c:v>0.83333333333333337</c:v>
                </c:pt>
                <c:pt idx="89">
                  <c:v>0.86111111111111116</c:v>
                </c:pt>
                <c:pt idx="90">
                  <c:v>0.86111111111111116</c:v>
                </c:pt>
                <c:pt idx="91">
                  <c:v>0.86111111111111116</c:v>
                </c:pt>
                <c:pt idx="92">
                  <c:v>0.86111111111111116</c:v>
                </c:pt>
                <c:pt idx="93">
                  <c:v>0.86111111111111116</c:v>
                </c:pt>
                <c:pt idx="94">
                  <c:v>0.86111111111111116</c:v>
                </c:pt>
                <c:pt idx="95">
                  <c:v>0.88888888888888884</c:v>
                </c:pt>
                <c:pt idx="96">
                  <c:v>0.88888888888888884</c:v>
                </c:pt>
                <c:pt idx="97">
                  <c:v>0.88888888888888884</c:v>
                </c:pt>
                <c:pt idx="98">
                  <c:v>0.88888888888888884</c:v>
                </c:pt>
                <c:pt idx="99">
                  <c:v>0.91666666666666663</c:v>
                </c:pt>
                <c:pt idx="100">
                  <c:v>0.91666666666666663</c:v>
                </c:pt>
                <c:pt idx="101">
                  <c:v>0.91666666666666663</c:v>
                </c:pt>
                <c:pt idx="102">
                  <c:v>0.94444444444444442</c:v>
                </c:pt>
                <c:pt idx="103">
                  <c:v>0.94444444444444442</c:v>
                </c:pt>
                <c:pt idx="104">
                  <c:v>0.94444444444444442</c:v>
                </c:pt>
                <c:pt idx="105">
                  <c:v>0.97222222222222221</c:v>
                </c:pt>
                <c:pt idx="106">
                  <c:v>0.97222222222222221</c:v>
                </c:pt>
                <c:pt idx="107">
                  <c:v>0.97222222222222221</c:v>
                </c:pt>
                <c:pt idx="108">
                  <c:v>0.97222222222222221</c:v>
                </c:pt>
                <c:pt idx="109">
                  <c:v>0.97222222222222221</c:v>
                </c:pt>
                <c:pt idx="110">
                  <c:v>0.97222222222222221</c:v>
                </c:pt>
                <c:pt idx="111">
                  <c:v>0.97222222222222221</c:v>
                </c:pt>
                <c:pt idx="112">
                  <c:v>0.97222222222222221</c:v>
                </c:pt>
                <c:pt idx="113">
                  <c:v>0.97222222222222221</c:v>
                </c:pt>
                <c:pt idx="114">
                  <c:v>0.97222222222222221</c:v>
                </c:pt>
                <c:pt idx="115">
                  <c:v>0.97222222222222221</c:v>
                </c:pt>
                <c:pt idx="116">
                  <c:v>0.97222222222222221</c:v>
                </c:pt>
                <c:pt idx="117">
                  <c:v>0.97222222222222221</c:v>
                </c:pt>
                <c:pt idx="118">
                  <c:v>0.97222222222222221</c:v>
                </c:pt>
                <c:pt idx="119">
                  <c:v>0.97222222222222221</c:v>
                </c:pt>
                <c:pt idx="120">
                  <c:v>0.97222222222222221</c:v>
                </c:pt>
                <c:pt idx="121">
                  <c:v>0.97222222222222221</c:v>
                </c:pt>
                <c:pt idx="122">
                  <c:v>0.97222222222222221</c:v>
                </c:pt>
                <c:pt idx="123">
                  <c:v>0.97222222222222221</c:v>
                </c:pt>
                <c:pt idx="124">
                  <c:v>0.97222222222222221</c:v>
                </c:pt>
                <c:pt idx="125">
                  <c:v>0.97222222222222221</c:v>
                </c:pt>
                <c:pt idx="126">
                  <c:v>0.97222222222222221</c:v>
                </c:pt>
                <c:pt idx="127">
                  <c:v>1</c:v>
                </c:pt>
                <c:pt idx="128">
                  <c:v>1</c:v>
                </c:pt>
                <c:pt idx="129">
                  <c:v>1</c:v>
                </c:pt>
                <c:pt idx="130">
                  <c:v>1</c:v>
                </c:pt>
                <c:pt idx="131">
                  <c:v>1</c:v>
                </c:pt>
                <c:pt idx="132">
                  <c:v>1</c:v>
                </c:pt>
                <c:pt idx="133">
                  <c:v>1</c:v>
                </c:pt>
                <c:pt idx="134">
                  <c:v>1</c:v>
                </c:pt>
                <c:pt idx="135">
                  <c:v>1</c:v>
                </c:pt>
                <c:pt idx="136">
                  <c:v>1</c:v>
                </c:pt>
                <c:pt idx="137">
                  <c:v>1</c:v>
                </c:pt>
                <c:pt idx="138">
                  <c:v>1</c:v>
                </c:pt>
                <c:pt idx="139">
                  <c:v>1</c:v>
                </c:pt>
                <c:pt idx="140">
                  <c:v>1</c:v>
                </c:pt>
                <c:pt idx="141">
                  <c:v>1</c:v>
                </c:pt>
                <c:pt idx="142">
                  <c:v>1</c:v>
                </c:pt>
                <c:pt idx="143">
                  <c:v>1</c:v>
                </c:pt>
                <c:pt idx="144">
                  <c:v>1</c:v>
                </c:pt>
                <c:pt idx="145">
                  <c:v>1</c:v>
                </c:pt>
                <c:pt idx="146">
                  <c:v>1</c:v>
                </c:pt>
                <c:pt idx="147">
                  <c:v>1</c:v>
                </c:pt>
                <c:pt idx="148">
                  <c:v>1</c:v>
                </c:pt>
                <c:pt idx="149">
                  <c:v>1</c:v>
                </c:pt>
                <c:pt idx="15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2FF1-4A2D-ADD6-41F5B2324D39}"/>
            </c:ext>
          </c:extLst>
        </c:ser>
        <c:ser>
          <c:idx val="3"/>
          <c:order val="3"/>
          <c:tx>
            <c:strRef>
              <c:f>Sheet1!$B$366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8B8599"/>
              </a:solidFill>
              <a:prstDash val="dash"/>
            </a:ln>
          </c:spPr>
          <c:marker>
            <c:symbol val="none"/>
          </c:marker>
          <c:xVal>
            <c:numRef>
              <c:f>Sheet1!$A$367:$A$368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Sheet1!$B$367:$B$368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FF1-4A2D-ADD6-41F5B2324D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"/>
          <c:min val="0"/>
        </c:scaling>
        <c:delete val="0"/>
        <c:axPos val="b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8B8599"/>
          </a:solidFill>
          <a:latin typeface="Montserrat"/>
        </a:defRPr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top-hat</c:v>
                </c:pt>
              </c:strCache>
            </c:strRef>
          </c:tx>
          <c:spPr>
            <a:ln w="12700">
              <a:solidFill>
                <a:srgbClr val="8A83D1"/>
              </a:solidFill>
              <a:prstDash val="dash"/>
            </a:ln>
          </c:spPr>
          <c:marker>
            <c:symbol val="none"/>
          </c:marker>
          <c:xVal>
            <c:numRef>
              <c:f>Sheet1!$A$2:$A$98</c:f>
              <c:numCache>
                <c:formatCode>General</c:formatCode>
                <c:ptCount val="97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1.2195121951219513E-2</c:v>
                </c:pt>
                <c:pt idx="4">
                  <c:v>1.2195121951219513E-2</c:v>
                </c:pt>
                <c:pt idx="5">
                  <c:v>2.4390243902439025E-2</c:v>
                </c:pt>
                <c:pt idx="6">
                  <c:v>3.6585365853658534E-2</c:v>
                </c:pt>
                <c:pt idx="7">
                  <c:v>3.6585365853658534E-2</c:v>
                </c:pt>
                <c:pt idx="8">
                  <c:v>3.6585365853658534E-2</c:v>
                </c:pt>
                <c:pt idx="9">
                  <c:v>3.6585365853658534E-2</c:v>
                </c:pt>
                <c:pt idx="10">
                  <c:v>3.6585365853658534E-2</c:v>
                </c:pt>
                <c:pt idx="11">
                  <c:v>3.6585365853658534E-2</c:v>
                </c:pt>
                <c:pt idx="12">
                  <c:v>3.6585365853658534E-2</c:v>
                </c:pt>
                <c:pt idx="13">
                  <c:v>4.878048780487805E-2</c:v>
                </c:pt>
                <c:pt idx="14">
                  <c:v>4.878048780487805E-2</c:v>
                </c:pt>
                <c:pt idx="15">
                  <c:v>6.097560975609756E-2</c:v>
                </c:pt>
                <c:pt idx="16">
                  <c:v>7.3170731707317069E-2</c:v>
                </c:pt>
                <c:pt idx="17">
                  <c:v>8.5365853658536592E-2</c:v>
                </c:pt>
                <c:pt idx="18">
                  <c:v>9.7560975609756101E-2</c:v>
                </c:pt>
                <c:pt idx="19">
                  <c:v>0.10975609756097561</c:v>
                </c:pt>
                <c:pt idx="20">
                  <c:v>0.12195121951219512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0.14634146341463414</c:v>
                </c:pt>
                <c:pt idx="24">
                  <c:v>0.15853658536585366</c:v>
                </c:pt>
                <c:pt idx="25">
                  <c:v>0.17073170731707318</c:v>
                </c:pt>
                <c:pt idx="26">
                  <c:v>0.18292682926829268</c:v>
                </c:pt>
                <c:pt idx="27">
                  <c:v>0.1951219512195122</c:v>
                </c:pt>
                <c:pt idx="28">
                  <c:v>0.2073170731707317</c:v>
                </c:pt>
                <c:pt idx="29">
                  <c:v>0.21951219512195122</c:v>
                </c:pt>
                <c:pt idx="30">
                  <c:v>0.23170731707317074</c:v>
                </c:pt>
                <c:pt idx="31">
                  <c:v>0.24390243902439024</c:v>
                </c:pt>
                <c:pt idx="32">
                  <c:v>0.25609756097560976</c:v>
                </c:pt>
                <c:pt idx="33">
                  <c:v>0.26829268292682928</c:v>
                </c:pt>
                <c:pt idx="34">
                  <c:v>0.28048780487804881</c:v>
                </c:pt>
                <c:pt idx="35">
                  <c:v>0.29268292682926828</c:v>
                </c:pt>
                <c:pt idx="36">
                  <c:v>0.3048780487804878</c:v>
                </c:pt>
                <c:pt idx="37">
                  <c:v>0.31707317073170732</c:v>
                </c:pt>
                <c:pt idx="38">
                  <c:v>0.32926829268292684</c:v>
                </c:pt>
                <c:pt idx="39">
                  <c:v>0.32926829268292684</c:v>
                </c:pt>
                <c:pt idx="40">
                  <c:v>0.34146341463414637</c:v>
                </c:pt>
                <c:pt idx="41">
                  <c:v>0.35365853658536583</c:v>
                </c:pt>
                <c:pt idx="42">
                  <c:v>0.36585365853658536</c:v>
                </c:pt>
                <c:pt idx="43">
                  <c:v>0.37804878048780488</c:v>
                </c:pt>
                <c:pt idx="44">
                  <c:v>0.3902439024390244</c:v>
                </c:pt>
                <c:pt idx="45">
                  <c:v>0.40243902439024393</c:v>
                </c:pt>
                <c:pt idx="46">
                  <c:v>0.41463414634146339</c:v>
                </c:pt>
                <c:pt idx="47">
                  <c:v>0.42682926829268292</c:v>
                </c:pt>
                <c:pt idx="48">
                  <c:v>0.43902439024390244</c:v>
                </c:pt>
                <c:pt idx="49">
                  <c:v>0.43902439024390244</c:v>
                </c:pt>
                <c:pt idx="50">
                  <c:v>0.45121951219512196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0.57317073170731703</c:v>
                </c:pt>
                <c:pt idx="62">
                  <c:v>0.58536585365853655</c:v>
                </c:pt>
                <c:pt idx="63">
                  <c:v>0.6097560975609756</c:v>
                </c:pt>
                <c:pt idx="64">
                  <c:v>0.62195121951219512</c:v>
                </c:pt>
                <c:pt idx="65">
                  <c:v>0.63414634146341464</c:v>
                </c:pt>
                <c:pt idx="66">
                  <c:v>0.64634146341463417</c:v>
                </c:pt>
                <c:pt idx="67">
                  <c:v>0.65853658536585369</c:v>
                </c:pt>
                <c:pt idx="68">
                  <c:v>0.67073170731707321</c:v>
                </c:pt>
                <c:pt idx="69">
                  <c:v>0.67073170731707321</c:v>
                </c:pt>
                <c:pt idx="70">
                  <c:v>0.68292682926829273</c:v>
                </c:pt>
                <c:pt idx="71">
                  <c:v>0.69512195121951215</c:v>
                </c:pt>
                <c:pt idx="72">
                  <c:v>0.70731707317073167</c:v>
                </c:pt>
                <c:pt idx="73">
                  <c:v>0.71951219512195119</c:v>
                </c:pt>
                <c:pt idx="74">
                  <c:v>0.73170731707317072</c:v>
                </c:pt>
                <c:pt idx="75">
                  <c:v>0.74390243902439024</c:v>
                </c:pt>
                <c:pt idx="76">
                  <c:v>0.75609756097560976</c:v>
                </c:pt>
                <c:pt idx="77">
                  <c:v>0.76829268292682928</c:v>
                </c:pt>
                <c:pt idx="78">
                  <c:v>0.78048780487804881</c:v>
                </c:pt>
                <c:pt idx="79">
                  <c:v>0.79268292682926833</c:v>
                </c:pt>
                <c:pt idx="80">
                  <c:v>0.80487804878048785</c:v>
                </c:pt>
                <c:pt idx="81">
                  <c:v>0.81707317073170727</c:v>
                </c:pt>
                <c:pt idx="82">
                  <c:v>0.82926829268292679</c:v>
                </c:pt>
                <c:pt idx="83">
                  <c:v>0.84146341463414631</c:v>
                </c:pt>
                <c:pt idx="84">
                  <c:v>0.85365853658536583</c:v>
                </c:pt>
                <c:pt idx="85">
                  <c:v>0.86585365853658536</c:v>
                </c:pt>
                <c:pt idx="86">
                  <c:v>0.87804878048780488</c:v>
                </c:pt>
                <c:pt idx="87">
                  <c:v>0.90243902439024393</c:v>
                </c:pt>
                <c:pt idx="88">
                  <c:v>0.91463414634146345</c:v>
                </c:pt>
                <c:pt idx="89">
                  <c:v>0.92682926829268297</c:v>
                </c:pt>
                <c:pt idx="90">
                  <c:v>0.93902439024390238</c:v>
                </c:pt>
                <c:pt idx="91">
                  <c:v>0.95121951219512191</c:v>
                </c:pt>
                <c:pt idx="92">
                  <c:v>0.96341463414634143</c:v>
                </c:pt>
                <c:pt idx="93">
                  <c:v>0.97560975609756095</c:v>
                </c:pt>
                <c:pt idx="94">
                  <c:v>0.97560975609756095</c:v>
                </c:pt>
                <c:pt idx="95">
                  <c:v>0.98780487804878048</c:v>
                </c:pt>
                <c:pt idx="96">
                  <c:v>1</c:v>
                </c:pt>
              </c:numCache>
            </c:numRef>
          </c:xVal>
          <c:yVal>
            <c:numRef>
              <c:f>Sheet1!$B$2:$B$98</c:f>
              <c:numCache>
                <c:formatCode>General</c:formatCode>
                <c:ptCount val="97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0.11764705882352941</c:v>
                </c:pt>
                <c:pt idx="4">
                  <c:v>0.17647058823529413</c:v>
                </c:pt>
                <c:pt idx="5">
                  <c:v>0.17647058823529413</c:v>
                </c:pt>
                <c:pt idx="6">
                  <c:v>0.17647058823529413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0.41176470588235292</c:v>
                </c:pt>
                <c:pt idx="11">
                  <c:v>0.47058823529411764</c:v>
                </c:pt>
                <c:pt idx="12">
                  <c:v>0.52941176470588236</c:v>
                </c:pt>
                <c:pt idx="13">
                  <c:v>0.52941176470588236</c:v>
                </c:pt>
                <c:pt idx="14">
                  <c:v>0.58823529411764708</c:v>
                </c:pt>
                <c:pt idx="15">
                  <c:v>0.58823529411764708</c:v>
                </c:pt>
                <c:pt idx="16">
                  <c:v>0.58823529411764708</c:v>
                </c:pt>
                <c:pt idx="17">
                  <c:v>0.58823529411764708</c:v>
                </c:pt>
                <c:pt idx="18">
                  <c:v>0.58823529411764708</c:v>
                </c:pt>
                <c:pt idx="19">
                  <c:v>0.58823529411764708</c:v>
                </c:pt>
                <c:pt idx="20">
                  <c:v>0.58823529411764708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0.6470588235294118</c:v>
                </c:pt>
                <c:pt idx="24">
                  <c:v>0.6470588235294118</c:v>
                </c:pt>
                <c:pt idx="25">
                  <c:v>0.6470588235294118</c:v>
                </c:pt>
                <c:pt idx="26">
                  <c:v>0.6470588235294118</c:v>
                </c:pt>
                <c:pt idx="27">
                  <c:v>0.6470588235294118</c:v>
                </c:pt>
                <c:pt idx="28">
                  <c:v>0.6470588235294118</c:v>
                </c:pt>
                <c:pt idx="29">
                  <c:v>0.6470588235294118</c:v>
                </c:pt>
                <c:pt idx="30">
                  <c:v>0.70588235294117652</c:v>
                </c:pt>
                <c:pt idx="31">
                  <c:v>0.70588235294117652</c:v>
                </c:pt>
                <c:pt idx="32">
                  <c:v>0.70588235294117652</c:v>
                </c:pt>
                <c:pt idx="33">
                  <c:v>0.70588235294117652</c:v>
                </c:pt>
                <c:pt idx="34">
                  <c:v>0.70588235294117652</c:v>
                </c:pt>
                <c:pt idx="35">
                  <c:v>0.70588235294117652</c:v>
                </c:pt>
                <c:pt idx="36">
                  <c:v>0.70588235294117652</c:v>
                </c:pt>
                <c:pt idx="37">
                  <c:v>0.70588235294117652</c:v>
                </c:pt>
                <c:pt idx="38">
                  <c:v>0.70588235294117652</c:v>
                </c:pt>
                <c:pt idx="39">
                  <c:v>0.76470588235294112</c:v>
                </c:pt>
                <c:pt idx="40">
                  <c:v>0.76470588235294112</c:v>
                </c:pt>
                <c:pt idx="41">
                  <c:v>0.76470588235294112</c:v>
                </c:pt>
                <c:pt idx="42">
                  <c:v>0.76470588235294112</c:v>
                </c:pt>
                <c:pt idx="43">
                  <c:v>0.76470588235294112</c:v>
                </c:pt>
                <c:pt idx="44">
                  <c:v>0.76470588235294112</c:v>
                </c:pt>
                <c:pt idx="45">
                  <c:v>0.76470588235294112</c:v>
                </c:pt>
                <c:pt idx="46">
                  <c:v>0.76470588235294112</c:v>
                </c:pt>
                <c:pt idx="47">
                  <c:v>0.76470588235294112</c:v>
                </c:pt>
                <c:pt idx="48">
                  <c:v>0.76470588235294112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0.88235294117647056</c:v>
                </c:pt>
                <c:pt idx="52">
                  <c:v>0.88235294117647056</c:v>
                </c:pt>
                <c:pt idx="53">
                  <c:v>0.88235294117647056</c:v>
                </c:pt>
                <c:pt idx="54">
                  <c:v>0.88235294117647056</c:v>
                </c:pt>
                <c:pt idx="55">
                  <c:v>0.88235294117647056</c:v>
                </c:pt>
                <c:pt idx="56">
                  <c:v>0.88235294117647056</c:v>
                </c:pt>
                <c:pt idx="57">
                  <c:v>0.88235294117647056</c:v>
                </c:pt>
                <c:pt idx="58">
                  <c:v>0.88235294117647056</c:v>
                </c:pt>
                <c:pt idx="59">
                  <c:v>0.88235294117647056</c:v>
                </c:pt>
                <c:pt idx="60">
                  <c:v>0.88235294117647056</c:v>
                </c:pt>
                <c:pt idx="61">
                  <c:v>0.88235294117647056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0.88235294117647056</c:v>
                </c:pt>
                <c:pt idx="67">
                  <c:v>0.88235294117647056</c:v>
                </c:pt>
                <c:pt idx="68">
                  <c:v>0.88235294117647056</c:v>
                </c:pt>
                <c:pt idx="69">
                  <c:v>0.94117647058823528</c:v>
                </c:pt>
                <c:pt idx="70">
                  <c:v>0.94117647058823528</c:v>
                </c:pt>
                <c:pt idx="71">
                  <c:v>0.94117647058823528</c:v>
                </c:pt>
                <c:pt idx="72">
                  <c:v>0.94117647058823528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0.94117647058823528</c:v>
                </c:pt>
                <c:pt idx="76">
                  <c:v>0.94117647058823528</c:v>
                </c:pt>
                <c:pt idx="77">
                  <c:v>0.94117647058823528</c:v>
                </c:pt>
                <c:pt idx="78">
                  <c:v>0.94117647058823528</c:v>
                </c:pt>
                <c:pt idx="79">
                  <c:v>0.94117647058823528</c:v>
                </c:pt>
                <c:pt idx="80">
                  <c:v>0.94117647058823528</c:v>
                </c:pt>
                <c:pt idx="81">
                  <c:v>0.94117647058823528</c:v>
                </c:pt>
                <c:pt idx="82">
                  <c:v>0.94117647058823528</c:v>
                </c:pt>
                <c:pt idx="83">
                  <c:v>0.94117647058823528</c:v>
                </c:pt>
                <c:pt idx="84">
                  <c:v>0.94117647058823528</c:v>
                </c:pt>
                <c:pt idx="85">
                  <c:v>0.94117647058823528</c:v>
                </c:pt>
                <c:pt idx="86">
                  <c:v>0.94117647058823528</c:v>
                </c:pt>
                <c:pt idx="87">
                  <c:v>0.94117647058823528</c:v>
                </c:pt>
                <c:pt idx="88">
                  <c:v>0.94117647058823528</c:v>
                </c:pt>
                <c:pt idx="89">
                  <c:v>0.94117647058823528</c:v>
                </c:pt>
                <c:pt idx="90">
                  <c:v>0.94117647058823528</c:v>
                </c:pt>
                <c:pt idx="91">
                  <c:v>0.94117647058823528</c:v>
                </c:pt>
                <c:pt idx="92">
                  <c:v>0.94117647058823528</c:v>
                </c:pt>
                <c:pt idx="93">
                  <c:v>0.94117647058823528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F51-411E-A3A7-E49D7244DBE9}"/>
            </c:ext>
          </c:extLst>
        </c:ser>
        <c:ser>
          <c:idx val="1"/>
          <c:order val="1"/>
          <c:tx>
            <c:strRef>
              <c:f>Sheet1!$B$100</c:f>
              <c:strCache>
                <c:ptCount val="1"/>
                <c:pt idx="0">
                  <c:v>сеть</c:v>
                </c:pt>
              </c:strCache>
            </c:strRef>
          </c:tx>
          <c:spPr>
            <a:ln w="31750">
              <a:solidFill>
                <a:srgbClr val="FC3777"/>
              </a:solidFill>
            </a:ln>
          </c:spPr>
          <c:marker>
            <c:symbol val="none"/>
          </c:marker>
          <c:xVal>
            <c:numRef>
              <c:f>Sheet1!$A$101:$A$200</c:f>
              <c:numCache>
                <c:formatCode>General</c:formatCode>
                <c:ptCount val="100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2.4390243902439025E-2</c:v>
                </c:pt>
                <c:pt idx="4">
                  <c:v>2.4390243902439025E-2</c:v>
                </c:pt>
                <c:pt idx="5">
                  <c:v>2.4390243902439025E-2</c:v>
                </c:pt>
                <c:pt idx="6">
                  <c:v>2.4390243902439025E-2</c:v>
                </c:pt>
                <c:pt idx="7">
                  <c:v>3.6585365853658534E-2</c:v>
                </c:pt>
                <c:pt idx="8">
                  <c:v>3.6585365853658534E-2</c:v>
                </c:pt>
                <c:pt idx="9">
                  <c:v>3.6585365853658534E-2</c:v>
                </c:pt>
                <c:pt idx="10">
                  <c:v>3.6585365853658534E-2</c:v>
                </c:pt>
                <c:pt idx="11">
                  <c:v>3.6585365853658534E-2</c:v>
                </c:pt>
                <c:pt idx="12">
                  <c:v>3.6585365853658534E-2</c:v>
                </c:pt>
                <c:pt idx="13">
                  <c:v>4.878048780487805E-2</c:v>
                </c:pt>
                <c:pt idx="14">
                  <c:v>6.097560975609756E-2</c:v>
                </c:pt>
                <c:pt idx="15">
                  <c:v>6.097560975609756E-2</c:v>
                </c:pt>
                <c:pt idx="16">
                  <c:v>7.3170731707317069E-2</c:v>
                </c:pt>
                <c:pt idx="17">
                  <c:v>7.3170731707317069E-2</c:v>
                </c:pt>
                <c:pt idx="18">
                  <c:v>8.5365853658536592E-2</c:v>
                </c:pt>
                <c:pt idx="19">
                  <c:v>9.7560975609756101E-2</c:v>
                </c:pt>
                <c:pt idx="20">
                  <c:v>0.10975609756097561</c:v>
                </c:pt>
                <c:pt idx="21">
                  <c:v>0.12195121951219512</c:v>
                </c:pt>
                <c:pt idx="22">
                  <c:v>0.13414634146341464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0.15853658536585366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0.1951219512195122</c:v>
                </c:pt>
                <c:pt idx="30">
                  <c:v>0.2073170731707317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0.26829268292682928</c:v>
                </c:pt>
                <c:pt idx="37">
                  <c:v>0.28048780487804881</c:v>
                </c:pt>
                <c:pt idx="38">
                  <c:v>0.29268292682926828</c:v>
                </c:pt>
                <c:pt idx="39">
                  <c:v>0.3048780487804878</c:v>
                </c:pt>
                <c:pt idx="40">
                  <c:v>0.31707317073170732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0.37804878048780488</c:v>
                </c:pt>
                <c:pt idx="46">
                  <c:v>0.3902439024390244</c:v>
                </c:pt>
                <c:pt idx="47">
                  <c:v>0.40243902439024393</c:v>
                </c:pt>
                <c:pt idx="48">
                  <c:v>0.41463414634146339</c:v>
                </c:pt>
                <c:pt idx="49">
                  <c:v>0.42682926829268292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0.56097560975609762</c:v>
                </c:pt>
                <c:pt idx="62">
                  <c:v>0.57317073170731703</c:v>
                </c:pt>
                <c:pt idx="63">
                  <c:v>0.58536585365853655</c:v>
                </c:pt>
                <c:pt idx="64">
                  <c:v>0.59756097560975607</c:v>
                </c:pt>
                <c:pt idx="65">
                  <c:v>0.6097560975609756</c:v>
                </c:pt>
                <c:pt idx="66">
                  <c:v>0.6097560975609756</c:v>
                </c:pt>
                <c:pt idx="67">
                  <c:v>0.62195121951219512</c:v>
                </c:pt>
                <c:pt idx="68">
                  <c:v>0.63414634146341464</c:v>
                </c:pt>
                <c:pt idx="69">
                  <c:v>0.64634146341463417</c:v>
                </c:pt>
                <c:pt idx="70">
                  <c:v>0.65853658536585369</c:v>
                </c:pt>
                <c:pt idx="71">
                  <c:v>0.67073170731707321</c:v>
                </c:pt>
                <c:pt idx="72">
                  <c:v>0.68292682926829273</c:v>
                </c:pt>
                <c:pt idx="73">
                  <c:v>0.69512195121951215</c:v>
                </c:pt>
                <c:pt idx="74">
                  <c:v>0.70731707317073167</c:v>
                </c:pt>
                <c:pt idx="75">
                  <c:v>0.71951219512195119</c:v>
                </c:pt>
                <c:pt idx="76">
                  <c:v>0.73170731707317072</c:v>
                </c:pt>
                <c:pt idx="77">
                  <c:v>0.74390243902439024</c:v>
                </c:pt>
                <c:pt idx="78">
                  <c:v>0.75609756097560976</c:v>
                </c:pt>
                <c:pt idx="79">
                  <c:v>0.75609756097560976</c:v>
                </c:pt>
                <c:pt idx="80">
                  <c:v>0.76829268292682928</c:v>
                </c:pt>
                <c:pt idx="81">
                  <c:v>0.78048780487804881</c:v>
                </c:pt>
                <c:pt idx="82">
                  <c:v>0.79268292682926833</c:v>
                </c:pt>
                <c:pt idx="83">
                  <c:v>0.80487804878048785</c:v>
                </c:pt>
                <c:pt idx="84">
                  <c:v>0.81707317073170727</c:v>
                </c:pt>
                <c:pt idx="85">
                  <c:v>0.82926829268292679</c:v>
                </c:pt>
                <c:pt idx="86">
                  <c:v>0.84146341463414631</c:v>
                </c:pt>
                <c:pt idx="87">
                  <c:v>0.85365853658536583</c:v>
                </c:pt>
                <c:pt idx="88">
                  <c:v>0.86585365853658536</c:v>
                </c:pt>
                <c:pt idx="89">
                  <c:v>0.87804878048780488</c:v>
                </c:pt>
                <c:pt idx="90">
                  <c:v>0.8902439024390244</c:v>
                </c:pt>
                <c:pt idx="91">
                  <c:v>0.90243902439024393</c:v>
                </c:pt>
                <c:pt idx="92">
                  <c:v>0.91463414634146345</c:v>
                </c:pt>
                <c:pt idx="93">
                  <c:v>0.92682926829268297</c:v>
                </c:pt>
                <c:pt idx="94">
                  <c:v>0.93902439024390238</c:v>
                </c:pt>
                <c:pt idx="95">
                  <c:v>0.95121951219512191</c:v>
                </c:pt>
                <c:pt idx="96">
                  <c:v>0.96341463414634143</c:v>
                </c:pt>
                <c:pt idx="97">
                  <c:v>0.97560975609756095</c:v>
                </c:pt>
                <c:pt idx="98">
                  <c:v>0.98780487804878048</c:v>
                </c:pt>
                <c:pt idx="99">
                  <c:v>1</c:v>
                </c:pt>
              </c:numCache>
            </c:numRef>
          </c:xVal>
          <c:yVal>
            <c:numRef>
              <c:f>Sheet1!$B$101:$B$200</c:f>
              <c:numCache>
                <c:formatCode>General</c:formatCode>
                <c:ptCount val="100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5.8823529411764705E-2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0.23529411764705882</c:v>
                </c:pt>
                <c:pt idx="8">
                  <c:v>0.29411764705882354</c:v>
                </c:pt>
                <c:pt idx="9">
                  <c:v>0.35294117647058826</c:v>
                </c:pt>
                <c:pt idx="10">
                  <c:v>0.41176470588235292</c:v>
                </c:pt>
                <c:pt idx="11">
                  <c:v>0.47058823529411764</c:v>
                </c:pt>
                <c:pt idx="12">
                  <c:v>0.52941176470588236</c:v>
                </c:pt>
                <c:pt idx="13">
                  <c:v>0.52941176470588236</c:v>
                </c:pt>
                <c:pt idx="14">
                  <c:v>0.52941176470588236</c:v>
                </c:pt>
                <c:pt idx="15">
                  <c:v>0.58823529411764708</c:v>
                </c:pt>
                <c:pt idx="16">
                  <c:v>0.58823529411764708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0.6470588235294118</c:v>
                </c:pt>
                <c:pt idx="20">
                  <c:v>0.6470588235294118</c:v>
                </c:pt>
                <c:pt idx="21">
                  <c:v>0.6470588235294118</c:v>
                </c:pt>
                <c:pt idx="22">
                  <c:v>0.6470588235294118</c:v>
                </c:pt>
                <c:pt idx="23">
                  <c:v>0.70588235294117652</c:v>
                </c:pt>
                <c:pt idx="24">
                  <c:v>0.70588235294117652</c:v>
                </c:pt>
                <c:pt idx="25">
                  <c:v>0.70588235294117652</c:v>
                </c:pt>
                <c:pt idx="26">
                  <c:v>0.76470588235294112</c:v>
                </c:pt>
                <c:pt idx="27">
                  <c:v>0.76470588235294112</c:v>
                </c:pt>
                <c:pt idx="28">
                  <c:v>0.76470588235294112</c:v>
                </c:pt>
                <c:pt idx="29">
                  <c:v>0.76470588235294112</c:v>
                </c:pt>
                <c:pt idx="30">
                  <c:v>0.76470588235294112</c:v>
                </c:pt>
                <c:pt idx="31">
                  <c:v>0.82352941176470584</c:v>
                </c:pt>
                <c:pt idx="32">
                  <c:v>0.82352941176470584</c:v>
                </c:pt>
                <c:pt idx="33">
                  <c:v>0.82352941176470584</c:v>
                </c:pt>
                <c:pt idx="34">
                  <c:v>0.82352941176470584</c:v>
                </c:pt>
                <c:pt idx="35">
                  <c:v>0.82352941176470584</c:v>
                </c:pt>
                <c:pt idx="36">
                  <c:v>0.82352941176470584</c:v>
                </c:pt>
                <c:pt idx="37">
                  <c:v>0.82352941176470584</c:v>
                </c:pt>
                <c:pt idx="38">
                  <c:v>0.82352941176470584</c:v>
                </c:pt>
                <c:pt idx="39">
                  <c:v>0.82352941176470584</c:v>
                </c:pt>
                <c:pt idx="40">
                  <c:v>0.82352941176470584</c:v>
                </c:pt>
                <c:pt idx="41">
                  <c:v>0.82352941176470584</c:v>
                </c:pt>
                <c:pt idx="42">
                  <c:v>0.82352941176470584</c:v>
                </c:pt>
                <c:pt idx="43">
                  <c:v>0.82352941176470584</c:v>
                </c:pt>
                <c:pt idx="44">
                  <c:v>0.82352941176470584</c:v>
                </c:pt>
                <c:pt idx="45">
                  <c:v>0.82352941176470584</c:v>
                </c:pt>
                <c:pt idx="46">
                  <c:v>0.82352941176470584</c:v>
                </c:pt>
                <c:pt idx="47">
                  <c:v>0.82352941176470584</c:v>
                </c:pt>
                <c:pt idx="48">
                  <c:v>0.82352941176470584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0.82352941176470584</c:v>
                </c:pt>
                <c:pt idx="52">
                  <c:v>0.82352941176470584</c:v>
                </c:pt>
                <c:pt idx="53">
                  <c:v>0.82352941176470584</c:v>
                </c:pt>
                <c:pt idx="54">
                  <c:v>0.82352941176470584</c:v>
                </c:pt>
                <c:pt idx="55">
                  <c:v>0.82352941176470584</c:v>
                </c:pt>
                <c:pt idx="56">
                  <c:v>0.82352941176470584</c:v>
                </c:pt>
                <c:pt idx="57">
                  <c:v>0.82352941176470584</c:v>
                </c:pt>
                <c:pt idx="58">
                  <c:v>0.82352941176470584</c:v>
                </c:pt>
                <c:pt idx="59">
                  <c:v>0.82352941176470584</c:v>
                </c:pt>
                <c:pt idx="60">
                  <c:v>0.82352941176470584</c:v>
                </c:pt>
                <c:pt idx="61">
                  <c:v>0.88235294117647056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0.94117647058823528</c:v>
                </c:pt>
                <c:pt idx="67">
                  <c:v>0.94117647058823528</c:v>
                </c:pt>
                <c:pt idx="68">
                  <c:v>0.94117647058823528</c:v>
                </c:pt>
                <c:pt idx="69">
                  <c:v>0.94117647058823528</c:v>
                </c:pt>
                <c:pt idx="70">
                  <c:v>0.94117647058823528</c:v>
                </c:pt>
                <c:pt idx="71">
                  <c:v>0.94117647058823528</c:v>
                </c:pt>
                <c:pt idx="72">
                  <c:v>0.94117647058823528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0.94117647058823528</c:v>
                </c:pt>
                <c:pt idx="76">
                  <c:v>0.94117647058823528</c:v>
                </c:pt>
                <c:pt idx="77">
                  <c:v>0.94117647058823528</c:v>
                </c:pt>
                <c:pt idx="78">
                  <c:v>0.94117647058823528</c:v>
                </c:pt>
                <c:pt idx="79">
                  <c:v>1</c:v>
                </c:pt>
                <c:pt idx="80">
                  <c:v>1</c:v>
                </c:pt>
                <c:pt idx="81">
                  <c:v>1</c:v>
                </c:pt>
                <c:pt idx="82">
                  <c:v>1</c:v>
                </c:pt>
                <c:pt idx="83">
                  <c:v>1</c:v>
                </c:pt>
                <c:pt idx="84">
                  <c:v>1</c:v>
                </c:pt>
                <c:pt idx="85">
                  <c:v>1</c:v>
                </c:pt>
                <c:pt idx="86">
                  <c:v>1</c:v>
                </c:pt>
                <c:pt idx="87">
                  <c:v>1</c:v>
                </c:pt>
                <c:pt idx="88">
                  <c:v>1</c:v>
                </c:pt>
                <c:pt idx="89">
                  <c:v>1</c:v>
                </c:pt>
                <c:pt idx="90">
                  <c:v>1</c:v>
                </c:pt>
                <c:pt idx="91">
                  <c:v>1</c:v>
                </c:pt>
                <c:pt idx="92">
                  <c:v>1</c:v>
                </c:pt>
                <c:pt idx="93">
                  <c:v>1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  <c:pt idx="97">
                  <c:v>1</c:v>
                </c:pt>
                <c:pt idx="98">
                  <c:v>1</c:v>
                </c:pt>
                <c:pt idx="99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F51-411E-A3A7-E49D7244DBE9}"/>
            </c:ext>
          </c:extLst>
        </c:ser>
        <c:ser>
          <c:idx val="2"/>
          <c:order val="2"/>
          <c:tx>
            <c:strRef>
              <c:f>Sheet1!$B$202</c:f>
              <c:strCache>
                <c:ptCount val="1"/>
                <c:pt idx="0">
                  <c:v>свод</c:v>
                </c:pt>
              </c:strCache>
            </c:strRef>
          </c:tx>
          <c:spPr>
            <a:ln w="31750">
              <a:solidFill>
                <a:srgbClr val="520977"/>
              </a:solidFill>
            </a:ln>
          </c:spPr>
          <c:marker>
            <c:symbol val="none"/>
          </c:marker>
          <c:xVal>
            <c:numRef>
              <c:f>Sheet1!$A$203:$A$302</c:f>
              <c:numCache>
                <c:formatCode>General</c:formatCode>
                <c:ptCount val="100"/>
                <c:pt idx="0">
                  <c:v>0</c:v>
                </c:pt>
                <c:pt idx="1">
                  <c:v>0</c:v>
                </c:pt>
                <c:pt idx="2">
                  <c:v>1.2195121951219513E-2</c:v>
                </c:pt>
                <c:pt idx="3">
                  <c:v>1.2195121951219513E-2</c:v>
                </c:pt>
                <c:pt idx="4">
                  <c:v>2.4390243902439025E-2</c:v>
                </c:pt>
                <c:pt idx="5">
                  <c:v>2.4390243902439025E-2</c:v>
                </c:pt>
                <c:pt idx="6">
                  <c:v>2.4390243902439025E-2</c:v>
                </c:pt>
                <c:pt idx="7">
                  <c:v>2.4390243902439025E-2</c:v>
                </c:pt>
                <c:pt idx="8">
                  <c:v>2.4390243902439025E-2</c:v>
                </c:pt>
                <c:pt idx="9">
                  <c:v>2.4390243902439025E-2</c:v>
                </c:pt>
                <c:pt idx="10">
                  <c:v>2.4390243902439025E-2</c:v>
                </c:pt>
                <c:pt idx="11">
                  <c:v>2.4390243902439025E-2</c:v>
                </c:pt>
                <c:pt idx="12">
                  <c:v>2.4390243902439025E-2</c:v>
                </c:pt>
                <c:pt idx="13">
                  <c:v>3.6585365853658534E-2</c:v>
                </c:pt>
                <c:pt idx="14">
                  <c:v>3.6585365853658534E-2</c:v>
                </c:pt>
                <c:pt idx="15">
                  <c:v>4.878048780487805E-2</c:v>
                </c:pt>
                <c:pt idx="16">
                  <c:v>6.097560975609756E-2</c:v>
                </c:pt>
                <c:pt idx="17">
                  <c:v>7.3170731707317069E-2</c:v>
                </c:pt>
                <c:pt idx="18">
                  <c:v>8.5365853658536592E-2</c:v>
                </c:pt>
                <c:pt idx="19">
                  <c:v>8.5365853658536592E-2</c:v>
                </c:pt>
                <c:pt idx="20">
                  <c:v>9.7560975609756101E-2</c:v>
                </c:pt>
                <c:pt idx="21">
                  <c:v>0.10975609756097561</c:v>
                </c:pt>
                <c:pt idx="22">
                  <c:v>0.12195121951219512</c:v>
                </c:pt>
                <c:pt idx="23">
                  <c:v>0.13414634146341464</c:v>
                </c:pt>
                <c:pt idx="24">
                  <c:v>0.14634146341463414</c:v>
                </c:pt>
                <c:pt idx="25">
                  <c:v>0.14634146341463414</c:v>
                </c:pt>
                <c:pt idx="26">
                  <c:v>0.15853658536585366</c:v>
                </c:pt>
                <c:pt idx="27">
                  <c:v>0.17073170731707318</c:v>
                </c:pt>
                <c:pt idx="28">
                  <c:v>0.18292682926829268</c:v>
                </c:pt>
                <c:pt idx="29">
                  <c:v>0.18292682926829268</c:v>
                </c:pt>
                <c:pt idx="30">
                  <c:v>0.1951219512195122</c:v>
                </c:pt>
                <c:pt idx="31">
                  <c:v>0.2073170731707317</c:v>
                </c:pt>
                <c:pt idx="32">
                  <c:v>0.21951219512195122</c:v>
                </c:pt>
                <c:pt idx="33">
                  <c:v>0.23170731707317074</c:v>
                </c:pt>
                <c:pt idx="34">
                  <c:v>0.24390243902439024</c:v>
                </c:pt>
                <c:pt idx="35">
                  <c:v>0.25609756097560976</c:v>
                </c:pt>
                <c:pt idx="36">
                  <c:v>0.26829268292682928</c:v>
                </c:pt>
                <c:pt idx="37">
                  <c:v>0.28048780487804881</c:v>
                </c:pt>
                <c:pt idx="38">
                  <c:v>0.29268292682926828</c:v>
                </c:pt>
                <c:pt idx="39">
                  <c:v>0.3048780487804878</c:v>
                </c:pt>
                <c:pt idx="40">
                  <c:v>0.31707317073170732</c:v>
                </c:pt>
                <c:pt idx="41">
                  <c:v>0.32926829268292684</c:v>
                </c:pt>
                <c:pt idx="42">
                  <c:v>0.34146341463414637</c:v>
                </c:pt>
                <c:pt idx="43">
                  <c:v>0.35365853658536583</c:v>
                </c:pt>
                <c:pt idx="44">
                  <c:v>0.36585365853658536</c:v>
                </c:pt>
                <c:pt idx="45">
                  <c:v>0.37804878048780488</c:v>
                </c:pt>
                <c:pt idx="46">
                  <c:v>0.3902439024390244</c:v>
                </c:pt>
                <c:pt idx="47">
                  <c:v>0.40243902439024393</c:v>
                </c:pt>
                <c:pt idx="48">
                  <c:v>0.41463414634146339</c:v>
                </c:pt>
                <c:pt idx="49">
                  <c:v>0.42682926829268292</c:v>
                </c:pt>
                <c:pt idx="50">
                  <c:v>0.43902439024390244</c:v>
                </c:pt>
                <c:pt idx="51">
                  <c:v>0.45121951219512196</c:v>
                </c:pt>
                <c:pt idx="52">
                  <c:v>0.46341463414634149</c:v>
                </c:pt>
                <c:pt idx="53">
                  <c:v>0.47560975609756095</c:v>
                </c:pt>
                <c:pt idx="54">
                  <c:v>0.48780487804878048</c:v>
                </c:pt>
                <c:pt idx="55">
                  <c:v>0.5</c:v>
                </c:pt>
                <c:pt idx="56">
                  <c:v>0.51219512195121952</c:v>
                </c:pt>
                <c:pt idx="57">
                  <c:v>0.52439024390243905</c:v>
                </c:pt>
                <c:pt idx="58">
                  <c:v>0.53658536585365857</c:v>
                </c:pt>
                <c:pt idx="59">
                  <c:v>0.54878048780487809</c:v>
                </c:pt>
                <c:pt idx="60">
                  <c:v>0.56097560975609762</c:v>
                </c:pt>
                <c:pt idx="61">
                  <c:v>0.57317073170731703</c:v>
                </c:pt>
                <c:pt idx="62">
                  <c:v>0.57317073170731703</c:v>
                </c:pt>
                <c:pt idx="63">
                  <c:v>0.58536585365853655</c:v>
                </c:pt>
                <c:pt idx="64">
                  <c:v>0.59756097560975607</c:v>
                </c:pt>
                <c:pt idx="65">
                  <c:v>0.6097560975609756</c:v>
                </c:pt>
                <c:pt idx="66">
                  <c:v>0.62195121951219512</c:v>
                </c:pt>
                <c:pt idx="67">
                  <c:v>0.63414634146341464</c:v>
                </c:pt>
                <c:pt idx="68">
                  <c:v>0.64634146341463417</c:v>
                </c:pt>
                <c:pt idx="69">
                  <c:v>0.65853658536585369</c:v>
                </c:pt>
                <c:pt idx="70">
                  <c:v>0.67073170731707321</c:v>
                </c:pt>
                <c:pt idx="71">
                  <c:v>0.68292682926829273</c:v>
                </c:pt>
                <c:pt idx="72">
                  <c:v>0.69512195121951215</c:v>
                </c:pt>
                <c:pt idx="73">
                  <c:v>0.69512195121951215</c:v>
                </c:pt>
                <c:pt idx="74">
                  <c:v>0.70731707317073167</c:v>
                </c:pt>
                <c:pt idx="75">
                  <c:v>0.70731707317073167</c:v>
                </c:pt>
                <c:pt idx="76">
                  <c:v>0.71951219512195119</c:v>
                </c:pt>
                <c:pt idx="77">
                  <c:v>0.73170731707317072</c:v>
                </c:pt>
                <c:pt idx="78">
                  <c:v>0.74390243902439024</c:v>
                </c:pt>
                <c:pt idx="79">
                  <c:v>0.75609756097560976</c:v>
                </c:pt>
                <c:pt idx="80">
                  <c:v>0.76829268292682928</c:v>
                </c:pt>
                <c:pt idx="81">
                  <c:v>0.78048780487804881</c:v>
                </c:pt>
                <c:pt idx="82">
                  <c:v>0.79268292682926833</c:v>
                </c:pt>
                <c:pt idx="83">
                  <c:v>0.80487804878048785</c:v>
                </c:pt>
                <c:pt idx="84">
                  <c:v>0.81707317073170727</c:v>
                </c:pt>
                <c:pt idx="85">
                  <c:v>0.82926829268292679</c:v>
                </c:pt>
                <c:pt idx="86">
                  <c:v>0.84146341463414631</c:v>
                </c:pt>
                <c:pt idx="87">
                  <c:v>0.85365853658536583</c:v>
                </c:pt>
                <c:pt idx="88">
                  <c:v>0.86585365853658536</c:v>
                </c:pt>
                <c:pt idx="89">
                  <c:v>0.87804878048780488</c:v>
                </c:pt>
                <c:pt idx="90">
                  <c:v>0.8902439024390244</c:v>
                </c:pt>
                <c:pt idx="91">
                  <c:v>0.90243902439024393</c:v>
                </c:pt>
                <c:pt idx="92">
                  <c:v>0.91463414634146345</c:v>
                </c:pt>
                <c:pt idx="93">
                  <c:v>0.92682926829268297</c:v>
                </c:pt>
                <c:pt idx="94">
                  <c:v>0.93902439024390238</c:v>
                </c:pt>
                <c:pt idx="95">
                  <c:v>0.95121951219512191</c:v>
                </c:pt>
                <c:pt idx="96">
                  <c:v>0.96341463414634143</c:v>
                </c:pt>
                <c:pt idx="97">
                  <c:v>0.97560975609756095</c:v>
                </c:pt>
                <c:pt idx="98">
                  <c:v>0.98780487804878048</c:v>
                </c:pt>
                <c:pt idx="99">
                  <c:v>1</c:v>
                </c:pt>
              </c:numCache>
            </c:numRef>
          </c:xVal>
          <c:yVal>
            <c:numRef>
              <c:f>Sheet1!$B$203:$B$302</c:f>
              <c:numCache>
                <c:formatCode>General</c:formatCode>
                <c:ptCount val="100"/>
                <c:pt idx="0">
                  <c:v>0</c:v>
                </c:pt>
                <c:pt idx="1">
                  <c:v>5.8823529411764705E-2</c:v>
                </c:pt>
                <c:pt idx="2">
                  <c:v>5.8823529411764705E-2</c:v>
                </c:pt>
                <c:pt idx="3">
                  <c:v>0.11764705882352941</c:v>
                </c:pt>
                <c:pt idx="4">
                  <c:v>0.11764705882352941</c:v>
                </c:pt>
                <c:pt idx="5">
                  <c:v>0.17647058823529413</c:v>
                </c:pt>
                <c:pt idx="6">
                  <c:v>0.23529411764705882</c:v>
                </c:pt>
                <c:pt idx="7">
                  <c:v>0.29411764705882354</c:v>
                </c:pt>
                <c:pt idx="8">
                  <c:v>0.35294117647058826</c:v>
                </c:pt>
                <c:pt idx="9">
                  <c:v>0.41176470588235292</c:v>
                </c:pt>
                <c:pt idx="10">
                  <c:v>0.47058823529411764</c:v>
                </c:pt>
                <c:pt idx="11">
                  <c:v>0.52941176470588236</c:v>
                </c:pt>
                <c:pt idx="12">
                  <c:v>0.58823529411764708</c:v>
                </c:pt>
                <c:pt idx="13">
                  <c:v>0.58823529411764708</c:v>
                </c:pt>
                <c:pt idx="14">
                  <c:v>0.6470588235294118</c:v>
                </c:pt>
                <c:pt idx="15">
                  <c:v>0.6470588235294118</c:v>
                </c:pt>
                <c:pt idx="16">
                  <c:v>0.6470588235294118</c:v>
                </c:pt>
                <c:pt idx="17">
                  <c:v>0.6470588235294118</c:v>
                </c:pt>
                <c:pt idx="18">
                  <c:v>0.6470588235294118</c:v>
                </c:pt>
                <c:pt idx="19">
                  <c:v>0.70588235294117652</c:v>
                </c:pt>
                <c:pt idx="20">
                  <c:v>0.70588235294117652</c:v>
                </c:pt>
                <c:pt idx="21">
                  <c:v>0.70588235294117652</c:v>
                </c:pt>
                <c:pt idx="22">
                  <c:v>0.70588235294117652</c:v>
                </c:pt>
                <c:pt idx="23">
                  <c:v>0.70588235294117652</c:v>
                </c:pt>
                <c:pt idx="24">
                  <c:v>0.70588235294117652</c:v>
                </c:pt>
                <c:pt idx="25">
                  <c:v>0.76470588235294112</c:v>
                </c:pt>
                <c:pt idx="26">
                  <c:v>0.76470588235294112</c:v>
                </c:pt>
                <c:pt idx="27">
                  <c:v>0.76470588235294112</c:v>
                </c:pt>
                <c:pt idx="28">
                  <c:v>0.76470588235294112</c:v>
                </c:pt>
                <c:pt idx="29">
                  <c:v>0.82352941176470584</c:v>
                </c:pt>
                <c:pt idx="30">
                  <c:v>0.82352941176470584</c:v>
                </c:pt>
                <c:pt idx="31">
                  <c:v>0.82352941176470584</c:v>
                </c:pt>
                <c:pt idx="32">
                  <c:v>0.82352941176470584</c:v>
                </c:pt>
                <c:pt idx="33">
                  <c:v>0.82352941176470584</c:v>
                </c:pt>
                <c:pt idx="34">
                  <c:v>0.82352941176470584</c:v>
                </c:pt>
                <c:pt idx="35">
                  <c:v>0.82352941176470584</c:v>
                </c:pt>
                <c:pt idx="36">
                  <c:v>0.82352941176470584</c:v>
                </c:pt>
                <c:pt idx="37">
                  <c:v>0.82352941176470584</c:v>
                </c:pt>
                <c:pt idx="38">
                  <c:v>0.82352941176470584</c:v>
                </c:pt>
                <c:pt idx="39">
                  <c:v>0.82352941176470584</c:v>
                </c:pt>
                <c:pt idx="40">
                  <c:v>0.82352941176470584</c:v>
                </c:pt>
                <c:pt idx="41">
                  <c:v>0.82352941176470584</c:v>
                </c:pt>
                <c:pt idx="42">
                  <c:v>0.82352941176470584</c:v>
                </c:pt>
                <c:pt idx="43">
                  <c:v>0.82352941176470584</c:v>
                </c:pt>
                <c:pt idx="44">
                  <c:v>0.82352941176470584</c:v>
                </c:pt>
                <c:pt idx="45">
                  <c:v>0.82352941176470584</c:v>
                </c:pt>
                <c:pt idx="46">
                  <c:v>0.82352941176470584</c:v>
                </c:pt>
                <c:pt idx="47">
                  <c:v>0.82352941176470584</c:v>
                </c:pt>
                <c:pt idx="48">
                  <c:v>0.82352941176470584</c:v>
                </c:pt>
                <c:pt idx="49">
                  <c:v>0.82352941176470584</c:v>
                </c:pt>
                <c:pt idx="50">
                  <c:v>0.82352941176470584</c:v>
                </c:pt>
                <c:pt idx="51">
                  <c:v>0.82352941176470584</c:v>
                </c:pt>
                <c:pt idx="52">
                  <c:v>0.82352941176470584</c:v>
                </c:pt>
                <c:pt idx="53">
                  <c:v>0.82352941176470584</c:v>
                </c:pt>
                <c:pt idx="54">
                  <c:v>0.82352941176470584</c:v>
                </c:pt>
                <c:pt idx="55">
                  <c:v>0.82352941176470584</c:v>
                </c:pt>
                <c:pt idx="56">
                  <c:v>0.82352941176470584</c:v>
                </c:pt>
                <c:pt idx="57">
                  <c:v>0.82352941176470584</c:v>
                </c:pt>
                <c:pt idx="58">
                  <c:v>0.82352941176470584</c:v>
                </c:pt>
                <c:pt idx="59">
                  <c:v>0.82352941176470584</c:v>
                </c:pt>
                <c:pt idx="60">
                  <c:v>0.82352941176470584</c:v>
                </c:pt>
                <c:pt idx="61">
                  <c:v>0.82352941176470584</c:v>
                </c:pt>
                <c:pt idx="62">
                  <c:v>0.88235294117647056</c:v>
                </c:pt>
                <c:pt idx="63">
                  <c:v>0.88235294117647056</c:v>
                </c:pt>
                <c:pt idx="64">
                  <c:v>0.88235294117647056</c:v>
                </c:pt>
                <c:pt idx="65">
                  <c:v>0.88235294117647056</c:v>
                </c:pt>
                <c:pt idx="66">
                  <c:v>0.88235294117647056</c:v>
                </c:pt>
                <c:pt idx="67">
                  <c:v>0.88235294117647056</c:v>
                </c:pt>
                <c:pt idx="68">
                  <c:v>0.88235294117647056</c:v>
                </c:pt>
                <c:pt idx="69">
                  <c:v>0.88235294117647056</c:v>
                </c:pt>
                <c:pt idx="70">
                  <c:v>0.88235294117647056</c:v>
                </c:pt>
                <c:pt idx="71">
                  <c:v>0.88235294117647056</c:v>
                </c:pt>
                <c:pt idx="72">
                  <c:v>0.88235294117647056</c:v>
                </c:pt>
                <c:pt idx="73">
                  <c:v>0.94117647058823528</c:v>
                </c:pt>
                <c:pt idx="74">
                  <c:v>0.94117647058823528</c:v>
                </c:pt>
                <c:pt idx="75">
                  <c:v>1</c:v>
                </c:pt>
                <c:pt idx="76">
                  <c:v>1</c:v>
                </c:pt>
                <c:pt idx="77">
                  <c:v>1</c:v>
                </c:pt>
                <c:pt idx="78">
                  <c:v>1</c:v>
                </c:pt>
                <c:pt idx="79">
                  <c:v>1</c:v>
                </c:pt>
                <c:pt idx="80">
                  <c:v>1</c:v>
                </c:pt>
                <c:pt idx="81">
                  <c:v>1</c:v>
                </c:pt>
                <c:pt idx="82">
                  <c:v>1</c:v>
                </c:pt>
                <c:pt idx="83">
                  <c:v>1</c:v>
                </c:pt>
                <c:pt idx="84">
                  <c:v>1</c:v>
                </c:pt>
                <c:pt idx="85">
                  <c:v>1</c:v>
                </c:pt>
                <c:pt idx="86">
                  <c:v>1</c:v>
                </c:pt>
                <c:pt idx="87">
                  <c:v>1</c:v>
                </c:pt>
                <c:pt idx="88">
                  <c:v>1</c:v>
                </c:pt>
                <c:pt idx="89">
                  <c:v>1</c:v>
                </c:pt>
                <c:pt idx="90">
                  <c:v>1</c:v>
                </c:pt>
                <c:pt idx="91">
                  <c:v>1</c:v>
                </c:pt>
                <c:pt idx="92">
                  <c:v>1</c:v>
                </c:pt>
                <c:pt idx="93">
                  <c:v>1</c:v>
                </c:pt>
                <c:pt idx="94">
                  <c:v>1</c:v>
                </c:pt>
                <c:pt idx="95">
                  <c:v>1</c:v>
                </c:pt>
                <c:pt idx="96">
                  <c:v>1</c:v>
                </c:pt>
                <c:pt idx="97">
                  <c:v>1</c:v>
                </c:pt>
                <c:pt idx="98">
                  <c:v>1</c:v>
                </c:pt>
                <c:pt idx="99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AF51-411E-A3A7-E49D7244DBE9}"/>
            </c:ext>
          </c:extLst>
        </c:ser>
        <c:ser>
          <c:idx val="3"/>
          <c:order val="3"/>
          <c:tx>
            <c:strRef>
              <c:f>Sheet1!$B$304</c:f>
              <c:strCache>
                <c:ptCount val="1"/>
                <c:pt idx="0">
                  <c:v>случайно</c:v>
                </c:pt>
              </c:strCache>
            </c:strRef>
          </c:tx>
          <c:spPr>
            <a:ln w="12700">
              <a:solidFill>
                <a:srgbClr val="8B8599"/>
              </a:solidFill>
              <a:prstDash val="dash"/>
            </a:ln>
          </c:spPr>
          <c:marker>
            <c:symbol val="none"/>
          </c:marker>
          <c:xVal>
            <c:numRef>
              <c:f>Sheet1!$A$305:$A$306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Sheet1!$B$305:$B$306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AF51-411E-A3A7-E49D7244DB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28940872"/>
        <c:axId val="-2129643912"/>
      </c:scatterChart>
      <c:valAx>
        <c:axId val="-2128940872"/>
        <c:scaling>
          <c:orientation val="minMax"/>
          <c:max val="1"/>
          <c:min val="0"/>
        </c:scaling>
        <c:delete val="0"/>
        <c:axPos val="b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9643912"/>
        <c:crosses val="autoZero"/>
        <c:crossBetween val="midCat"/>
        <c:majorUnit val="0.2"/>
      </c:valAx>
      <c:valAx>
        <c:axId val="-2129643912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CCEE4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C9C3DA"/>
            </a:solidFill>
          </a:ln>
        </c:spPr>
        <c:crossAx val="-2128940872"/>
        <c:crosses val="autoZero"/>
        <c:crossBetween val="midCat"/>
        <c:majorUnit val="0.2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8B8599"/>
          </a:solidFill>
          <a:latin typeface="Montserrat"/>
        </a:defRPr>
      </a:pPr>
      <a:endParaRPr lang="ru-RU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Здравствуйте, мы — команда [название команды]. Наша задача от Департамента здравоохранения Москвы — сервис искусственного интеллекта, который оценивает качество исследований плотности костей.</a:t>
            </a:r>
          </a:p>
          <a:p>
            <a:endParaRPr/>
          </a:p>
          <a:p>
            <a:r>
              <a:t>Мы сделали сервис, который проверяет каждый снимок позвоночника и бедра по пяти критериям ТЗ и объясняет каждое замечание числом и картинкой.</a:t>
            </a:r>
          </a:p>
          <a:p>
            <a:endParaRPr/>
          </a:p>
          <a:p>
            <a:r>
              <a:t>Если спросят: Решение целиком локальное: снимки не покидают контейнер или компьютер.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Коротко о решении: сервис определяет область снимка, находит нарушения укладки и отступов и объясняет их в миллиметрах и градусах — 1.6 секунды на исследование на обычном процессоре.</a:t>
            </a:r>
          </a:p>
          <a:p>
            <a:endParaRPr/>
          </a:p>
          <a:p>
            <a:r>
              <a:t>Уникальность — в проверяемости: вердикт — это измерение с нормой из ТЗ, нейросеть подключена там, где признак — форма, и показывает тепловую карту. А отступы мы согласовали с тем, как их на самом деле оценивает эксперт.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Наша команда: [Имя Фамилия] — [роль в команде], [Имя Фамилия] — [роль в команде].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выбрали эту задачу, потому что ошибка укладки незаметно портит измерение плотности кости, а проверяет её сегодня только врач вручную. И потому что её можно решить прозрачно: каждое замечание — число с нормой.</a:t>
            </a:r>
          </a:p>
          <a:p>
            <a:endParaRPr/>
          </a:p>
          <a:p>
            <a:r>
              <a:t>Главные вызовы — мало нарушений в данных и расхождение эталона с буквой ТЗ по отступам. Первое мы закрыли честной оценкой по исследованиям, второе — разбором всех расхождений.</a:t>
            </a:r>
          </a:p>
          <a:p>
            <a:endParaRPr/>
          </a:p>
          <a:p>
            <a:r>
              <a:t>Если спросят: PixelSpacing в файлах пуст: масштаб восстановлен по анатомии, по шагу «позвонок + диск».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Технически это конвейер: чтение DICOM с дедупликацией, определение области, пять независимых критериев и свод. Геометрия меряет, сверточная сеть добавляет второе мнение по ротации и посторонним предметам. Честная оценка: F1 0.58, ROC-AUC 0.78.</a:t>
            </a:r>
          </a:p>
          <a:p>
            <a:endParaRPr/>
          </a:p>
          <a:p>
            <a:r>
              <a:t>Для здравоохранения — это контроль качества в момент съёмки: лаборант исправляет укладку, пока пациент на столе, врач получает заключение в PACS. Внедряется через DICOM-роутер, без GPU.</a:t>
            </a:r>
          </a:p>
          <a:p>
            <a:endParaRPr/>
          </a:p>
          <a:p>
            <a:r>
              <a:t>Если спросят: Интерфейсов четыре: веб, приложение для Windows, Telegram-бот,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Плотность кости считается внутри области интереса. Если позвоночник наклонён, бедро повёрнуто или в кадр попала застёжка белья, программа денситометра измеряет не то, и ошибка переходит в T-критерий и в ложную динамику.</a:t>
            </a:r>
          </a:p>
          <a:p>
            <a:endParaRPr/>
          </a:p>
          <a:p>
            <a:r>
              <a:t>Наш сервис — не диагност, а контролёр: он отвечает, можно ли интерпретировать исследование и почему нет. На снимках — норма и ротация бедра.</a:t>
            </a:r>
          </a:p>
          <a:p>
            <a:endParaRPr/>
          </a:p>
          <a:p>
            <a:r>
              <a:t>Если спросят: Повторная укладка, пока пациент на столе, дешевле повторного визита и лишней дозы.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Таксономия повторяет ТЗ: пять кодов плюс «область не определена». Задача мультилейбловая: у каждого пятого исследования больше одного нарушения, поэтому критерии независимы и в отчёт идут все сработавшие коды.</a:t>
            </a:r>
          </a:p>
          <a:p>
            <a:endParaRPr/>
          </a:p>
          <a:p>
            <a:r>
              <a:t>У каждого кода есть измерение в физических единицах; для ротации и посторонних предметов к нему добавлена сверточная сеть.</a:t>
            </a:r>
          </a:p>
          <a:p>
            <a:endParaRPr/>
          </a:p>
          <a:p>
            <a:r>
              <a:t>Если спросят: Коды совпадают с GET /taxonomy и колонкой violation_type.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 наборе 100 исследований и 499 файлов, но уникальных снимков 252: Lunar выгружает один снимок по нескольку раз с новыми UID. Дубликаты находим по пикселям — до разбиения на фолды, это первая защита от утечки.</a:t>
            </a:r>
          </a:p>
          <a:p>
            <a:endParaRPr/>
          </a:p>
          <a:p>
            <a:r>
              <a:t>Нарушений мало: 6 по укладке, 7 по отступам, 36 по ротации. Поэтому основа решения — измерения.</a:t>
            </a:r>
          </a:p>
          <a:p>
            <a:endParaRPr/>
          </a:p>
          <a:p>
            <a:r>
              <a:t>Если спросят: Своя разметка: 242 снимка × 29 ключевых точек по протоколу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Пять фолдов, группа — исследование: позвоночник и оба бедра пациента всегда в одном фолде. Всё, что подбирается, подбирается только на обучающих фолдах: пороги, веса сети, свод и его порог. Поэтому метрики — честные, на снимках, которых модель не видела.</a:t>
            </a:r>
          </a:p>
          <a:p>
            <a:endParaRPr/>
          </a:p>
          <a:p>
            <a:r>
              <a:t>Если спросят: Доверительные интервалы — бутстрэп по исследованиям, а не по снимкам.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Мы строили решение от измерений: вердикт должен проверяться глазами. Самый трудный критерий — ротация: разрыв между классами по выступу малого вертела около двух миллиметров.</a:t>
            </a:r>
          </a:p>
          <a:p>
            <a:endParaRPr/>
          </a:p>
          <a:p>
            <a:r>
              <a:t>Контур даёт ROC-AUC 0.68, модель вида кадра — 0.50, модель ключевых точек не преодолела барьер точности, сверточная сеть — 0.80, а свод сети с геометрией — 0.82.</a:t>
            </a:r>
          </a:p>
          <a:p>
            <a:endParaRPr/>
          </a:p>
          <a:p>
            <a:r>
              <a:t>Если спросят: Для оси сеть проверяли тоже: ROC-AUC 0.51 — сигнала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Конвейер линейный: чтение с дедупликацией, область, независимые критерии и свод. На вход — выгрузка из PACS как есть, на выход — таблица ровно в формате ТЗ, визуализация и DICOM SR.</a:t>
            </a:r>
          </a:p>
          <a:p>
            <a:endParaRPr/>
          </a:p>
          <a:p>
            <a:r>
              <a:t>Всё в одном контейнере без сети; вычисления в один поток дают побитовую воспроизводимость.</a:t>
            </a:r>
          </a:p>
          <a:p>
            <a:endParaRPr/>
          </a:p>
          <a:p>
            <a:r>
              <a:t>Если спросят: Читаются RLE, JPEG, JPEG-LS, JPEG 2000, MONOCHROME1, VOI LUT; зеркальная выгрузка приводится к стандартному виду.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Шесть модулей. Четыре — геометрия и линейные модели: область, позвоночник, длина поля и отступы бедра, выступ малого вертела. Пятый — ансамбль из трёх ResNet-34 на onnxruntime. Шестой — наша модель ключевых точек: обучены два фолда из пяти, на них по оси она не хуже контура, но в 12 раз медленнее, поэтому включается флагом.</a:t>
            </a:r>
          </a:p>
          <a:p>
            <a:endParaRPr/>
          </a:p>
          <a:p>
            <a:r>
              <a:t>Если спросят: ONNX-веса хранятся в fp16 — файл вдвое меньше.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 модели всё приводится к миллиметрам и к одной стороне. После — калиброванные пороги, свод и вероятности по Платту: оператор видит, насколько система уверена.</a:t>
            </a:r>
          </a:p>
          <a:p>
            <a:endParaRPr/>
          </a:p>
          <a:p>
            <a:r>
              <a:t>Если спросят: Для сети яркость нормализуется по перцентилям: 12-битный снимок не сломает вход.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Это честные числа: каждый вердикт вынесен моделью и порогом, которые этот снимок не видели. По классу «есть нарушение» F1 0.58, ROC-AUC 0.78; у исходного решения было 0.49 и 0.68.</a:t>
            </a:r>
          </a:p>
          <a:p>
            <a:endParaRPr/>
          </a:p>
          <a:p>
            <a:r>
              <a:t>Больше всего выросли отступы ROI — F1 0.35 → 0.71 — и ротация. Интервалы широкие: нарушений 6–36 на критерий, и мы этого не прячем.</a:t>
            </a:r>
          </a:p>
          <a:p>
            <a:endParaRPr/>
          </a:p>
          <a:p>
            <a:r>
              <a:t>Если спросят: macro-F1 по типам нарушений: 0.395 → 0.497. Бедро: F1 0.60, ROC-AUC 0.82; позвоночник: F1 0.55. Область определяется верно на 252 снимках из 252, обработано 100 % файлов.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ROC-кривые out-of-fold. Для ротации сеть заметно лучше геометрии, свод добавляет ещё. Для посторонних предметов сеть дополняет морфологический фильтр там, где предмет не яркий.</a:t>
            </a:r>
          </a:p>
          <a:p>
            <a:endParaRPr/>
          </a:p>
          <a:p>
            <a:r>
              <a:t>Вердикт, у которого свод и порог подобраны без отложенного фолда: ротация F1 0.55 против 0.48 у одного выступа.</a:t>
            </a:r>
          </a:p>
          <a:p>
            <a:endParaRPr/>
          </a:p>
          <a:p>
            <a:r>
              <a:t>Если спросят: Порог — доля нарушений в обучающей выборке: максимум F1 на 36 примерах переносится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Решения, которые изменила честная оценка. Модель точек пока обучена на двух фолдах из пяти: на них по оси она не хуже контура, но в 12 раз медленнее, поэтому выключена по умолчанию. Для укладки правило «обе оценки согласны» было лучшим на всей выборке и провалилось out-of-fold.</a:t>
            </a:r>
          </a:p>
          <a:p>
            <a:endParaRPr/>
          </a:p>
          <a:p>
            <a:r>
              <a:t>Если спросят: ResNet-18 — 0.76, EfficientNet-B0 — 0.73, ResNet-34 — 0.77, ансамбль — 0.80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Разбор ошибок показал, как оценивает эксперт. Отступы ROI он судит по длине поля сканирования: правило «поле не короче 3 см + вертел — седалищная кость + 3 см» совпадает с ним в 5 случаях из 7 при 2 лишних, F1 0.71 против 0.35. Порог не подбирался по меткам.</a:t>
            </a:r>
          </a:p>
          <a:p>
            <a:endParaRPr/>
          </a:p>
          <a:p>
            <a:r>
              <a:t>Второе: при сколиозе эксперт не ставит нарушение оси ни в одном из 14 случаев, хотя угол доходит до 8.8 градуса. Это главный источник наших ложных срабатываний по оси.</a:t>
            </a:r>
          </a:p>
          <a:p>
            <a:endParaRPr/>
          </a:p>
          <a:p>
            <a:r>
              <a:t>Если спросят: Режим строго по рисунку 6 ТЗ включается флагом --roi-rule margins.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Четыре настоящих снимка, где сервис согласен с экспертом. Ось 8.7 градуса. Посторонний предмет: морфология и сеть указывают на одну структуру. Ротация: тепловая карта сети на вертельной области. Отступы: поле короче нужного.</a:t>
            </a:r>
          </a:p>
          <a:p>
            <a:endParaRPr/>
          </a:p>
          <a:p>
            <a:r>
              <a:t>Если спросят: Вероятности сети на кейсах — out-of-fold.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Медиана — 1.6 секунды на исследование при лимите три минуты, на одном ядре. GPU не нужен. Результат воспроизводим побитово.</a:t>
            </a:r>
          </a:p>
          <a:p>
            <a:endParaRPr/>
          </a:p>
          <a:p>
            <a:r>
              <a:t>Если спросят: Весь набор — 2.4 минуты в один процесс. Минимум — 2 ядра, 2 ГБ памяти, 2 ГБ диска.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Сервис доступен четырьмя способами: веб-интерфейс, приложение для Windows с установщиком, Telegram-бот и API. Конвейер один, отчёты совпадают побитово.</a:t>
            </a:r>
          </a:p>
          <a:p>
            <a:endParaRPr/>
          </a:p>
          <a:p>
            <a:r>
              <a:t>Оператор видит снимок с разметкой, измерения с нормой и флаги, отмечает согласие с вердиктом. В PACS заключение уходит как DICOM SR.</a:t>
            </a:r>
          </a:p>
          <a:p>
            <a:endParaRPr/>
          </a:p>
          <a:p>
            <a:r>
              <a:t>Если спросят: Бот передаёт файлы через Telegram, поэтому он для обезличенных данных и по умолчанию выключен; основной контур работает без сети, как требует ТЗ 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Для лаборанта — подсказка в момент съёмки. Для врача — исследования, которые можно интерпретировать, и заключение о качестве рядом со снимком. Для медорганизации — меньше повторных исследований и единый стандарт контроля.</a:t>
            </a:r>
          </a:p>
          <a:p>
            <a:endParaRPr/>
          </a:p>
          <a:p>
            <a:r>
              <a:t>Разворачивается на обычном сервере или ноутбуке, без GPU и без передачи снимков наружу.</a:t>
            </a:r>
          </a:p>
          <a:p>
            <a:endParaRPr/>
          </a:p>
          <a:p>
            <a:r>
              <a:t>Если спросят: Эффект измеряем в пилоте: доля повторов из-за укладки и время врача на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Главные ограничения: один аппарат, маленькая выборка и то, что правило отступов мы согласовали с экспертом, а не с буквой рисунка 6. Для каждого записано, что нужно, чтобы его снять.</a:t>
            </a:r>
          </a:p>
          <a:p>
            <a:endParaRPr/>
          </a:p>
          <a:p>
            <a:r>
              <a:t>Если спросят: Половина тела Th12 не проверяется: разметки этого уровня в данных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Внедрение в три шага. Теневой режим: сервис стоит за DICOM-роутером и ничего не меняет в работе врача. Затем — ассистент лаборанта. И масштабирование на другие аппараты с дообучением. Для каждого шага есть измеримая метрика.</a:t>
            </a:r>
          </a:p>
          <a:p>
            <a:endParaRPr/>
          </a:p>
          <a:p>
            <a:r>
              <a:t>Если спросят: Дообучение сети — одна команда, 6 минут на критерий на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Дальше — пилот, больше размеченных нарушений ротации и оси, дообучение модели точек на оставшихся фолдах и второй аппарат.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Сейчас покажу вживую: загружаем архив из семи исследований, проходим по одному снимку каждого типа нарушения, отмечаем согласие и выгружаем отчёт.</a:t>
            </a:r>
          </a:p>
          <a:p>
            <a:endParaRPr/>
          </a:p>
          <a:p>
            <a:r>
              <a:t>Если спросят: Нет Docker — настольное приложение; с телефона — бот @LCT_bone_density_research_bot, /demo.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Спасибо! Репозиторий, установщик и бот — по ссылкам на слайде.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29.09.2026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29.09.2026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29.09.2026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29.09.2026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moscow_medici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66928"/>
            <a:ext cx="246888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481328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постановщик задачи — Департамент здравоохранения Москвы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9476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качества DXA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262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Сервис ИИ для оценки качества исследований плотности костей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532120"/>
            <a:ext cx="548640" cy="3810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56692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Команда [название команды] · ЛЦТ 2026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ui_results.png"/>
          <p:cNvPicPr>
            <a:picLocks noChangeAspect="1"/>
          </p:cNvPicPr>
          <p:nvPr/>
        </p:nvPicPr>
        <p:blipFill>
          <a:blip r:embed="rId4"/>
          <a:srcRect b="2165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716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300" dirty="0">
                <a:solidFill>
                  <a:schemeClr val="tx1"/>
                </a:solidFill>
              </a:rPr>
              <a:t>Вердикт проверяется глазами: измерение с нормой из ТЗ, нейросеть — там, где признак — форма, с тепловой картой. Отступы ROI оцениваются так, как их оценивает эксперт.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[ФИО капитана], [специальность]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[как образовалась команда]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[где учатся или работают участники]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[город, регион]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Команда [название команды]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916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300" dirty="0">
                <a:solidFill>
                  <a:schemeClr val="tx1"/>
                </a:solidFill>
              </a:rPr>
              <a:t>Сервис проверяет DXA-снимок позвоночника и бедра по пяти критериям ТЗ до того, как исследование уйдёт к врачу: определяет область, находит нарушения укладки и отступов и объясняет каждое в миллиметрах и градусах. Локально на CPU, 1.6 с на исследование.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5071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32299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[ник в мессенджере]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[номер телефона]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[место работы или учёбы]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32299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4642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01870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[роль в команде]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[ник в мессенджере]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[номер телефона]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[место работы или учёбы]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401870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[Имя Фамилия]</a:t>
            </a:r>
          </a:p>
        </p:txBody>
      </p:sp>
      <p:sp>
        <p:nvSpPr>
          <p:cNvPr id="68" name="Oval 67"/>
          <p:cNvSpPr/>
          <p:nvPr/>
        </p:nvSpPr>
        <p:spPr>
          <a:xfrm>
            <a:off x="4326483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  <p:sp>
        <p:nvSpPr>
          <p:cNvPr id="69" name="Oval 68"/>
          <p:cNvSpPr/>
          <p:nvPr/>
        </p:nvSpPr>
        <p:spPr>
          <a:xfrm>
            <a:off x="6630771" y="1897380"/>
            <a:ext cx="1234440" cy="1234440"/>
          </a:xfrm>
          <a:prstGeom prst="ellipse">
            <a:avLst/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И ВЫЗОВЫ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[Как собрались, участвовали ли вместе в прошлых хакатонах или проектах, интересные факты о команде.]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241280" cy="1143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Мало нарушений (6–36 на критерий) — честная out-of-fold оценка по исследованиям вместо подбора на всей выборке; сеть только там, где геометрии мало.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Эталон расходился с буквой ТЗ по отступам ROI — разобрали все расхождения и нашли, как оценивает эксперт: по длине поля. Пустой PixelSpacing — масштаб восстановили по анатомии.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укладки незаметно портит измерение плотности кости и оценку лечения, а проверяет её сегодня только врач вручную. И её можно решить прозрачно: каждое замечание — число с нормой из ТЗ, которое врач проверит глазами.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872483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КОРОТКО О РЕШЕНИИ</a:t>
            </a:r>
          </a:p>
        </p:txBody>
      </p:sp>
      <p:sp>
        <p:nvSpPr>
          <p:cNvPr id="901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5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2" name="Rounded Rectangle 901"/>
          <p:cNvSpPr/>
          <p:nvPr/>
        </p:nvSpPr>
        <p:spPr>
          <a:xfrm>
            <a:off x="346075" y="1207008"/>
            <a:ext cx="5440680" cy="49926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3" name="TextBox 902"/>
          <p:cNvSpPr txBox="1"/>
          <p:nvPr/>
        </p:nvSpPr>
        <p:spPr>
          <a:xfrm>
            <a:off x="620395" y="14813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Техническая суть решения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620395" y="2075688"/>
            <a:ext cx="4892040" cy="39867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Вход — DICOM или zip как из PACS: дубликаты схлопываются по пикселям, ориентация приводится к стандартному виду.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Область снимка — позвоночник, левое и правое бедро или «не DXA»: верно на 252 из 252.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Пять критериев ТЗ — измерения в мм и градусах; для ротации и посторонних предметов — ансамбль ResNet-34 в своде с геометрией.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Выход — таблица ТЗ 2.5, снимки с разметкой и тепловой картой, DICOM SR.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Out-of-fold: F1 0.58, ROC-AUC 0.78; 1.6 с на исследование на CPU, без сети.</a:t>
            </a:r>
          </a:p>
        </p:txBody>
      </p:sp>
      <p:sp>
        <p:nvSpPr>
          <p:cNvPr id="905" name="Rounded Rectangle 904"/>
          <p:cNvSpPr/>
          <p:nvPr/>
        </p:nvSpPr>
        <p:spPr>
          <a:xfrm>
            <a:off x="6225667" y="1207008"/>
            <a:ext cx="5440680" cy="49926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6" name="TextBox 905"/>
          <p:cNvSpPr txBox="1"/>
          <p:nvPr/>
        </p:nvSpPr>
        <p:spPr>
          <a:xfrm>
            <a:off x="6499987" y="148132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Маркетинговая суть решения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6499987" y="2075688"/>
            <a:ext cx="4892040" cy="39867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Для кого: лаборанты и врачи отделений денситометрии, служба контроля качества лучевой диагностики.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Ценность: замечание приходит, пока пациент на столе, — меньше повторных исследований и ошибок в плотности кости.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Внедрение: DICOM-роутер → сервис → заключение DICOM SR в PACS; теневой режим → ассистент → сеть медорганизаций.</a:t>
            </a:r>
          </a:p>
          <a:p>
            <a:pPr marL="219456" indent="-219456">
              <a:lnSpc>
                <a:spcPct val="112000"/>
              </a:lnSpc>
              <a:spcAft>
                <a:spcPts val="800"/>
              </a:spcAft>
              <a:buClr>
                <a:srgbClr val="FF0053"/>
              </a:buClr>
              <a:buFont typeface="Arial"/>
              <a:buChar char="▪"/>
            </a:pPr>
            <a:r>
              <a:rPr sz="13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Поставка: контейнер для сервера, установщик для Windows, бот для показа; GPU не нужен.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059935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КЛИНИЧЕСКАЯ 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Ошибку укладки дешевле поймать, пока пациент на столе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6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303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ПОЧЕМУ ЭТО ВАЖНО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346075" y="2148840"/>
            <a:ext cx="5577840" cy="182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Плотность кости считается в области интереса. Позвоночник наклонён, бедро повёрнуто, в кадре застёжка белья — денситометр меряет не то.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Ошибка уходит в T-критерий и ложную динамику: повторное облучение или неверная оценка лечения.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Сегодня качество проверяет врач вручную, по памяти о критериях для каждой области.</a:t>
            </a:r>
          </a:p>
        </p:txBody>
      </p:sp>
      <p:sp>
        <p:nvSpPr>
          <p:cNvPr id="905" name="Rounded Rectangle 904"/>
          <p:cNvSpPr/>
          <p:nvPr/>
        </p:nvSpPr>
        <p:spPr>
          <a:xfrm>
            <a:off x="346075" y="393192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6" name="Picture 905" descr="ok_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736" y="3931920"/>
            <a:ext cx="1895877" cy="1956816"/>
          </a:xfrm>
          <a:prstGeom prst="rect">
            <a:avLst/>
          </a:prstGeom>
        </p:spPr>
      </p:pic>
      <p:sp>
        <p:nvSpPr>
          <p:cNvPr id="907" name="TextBox 906"/>
          <p:cNvSpPr txBox="1"/>
          <p:nvPr/>
        </p:nvSpPr>
        <p:spPr>
          <a:xfrm>
            <a:off x="492379" y="5952744"/>
            <a:ext cx="245059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норма: вертел виден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3199003" y="3931920"/>
            <a:ext cx="2743200" cy="228600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9" name="Picture 908" descr="rot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4840" y="3931920"/>
            <a:ext cx="2331525" cy="1956816"/>
          </a:xfrm>
          <a:prstGeom prst="rect">
            <a:avLst/>
          </a:prstGeom>
        </p:spPr>
      </p:pic>
      <p:sp>
        <p:nvSpPr>
          <p:cNvPr id="910" name="TextBox 909"/>
          <p:cNvSpPr txBox="1"/>
          <p:nvPr/>
        </p:nvSpPr>
        <p:spPr>
          <a:xfrm>
            <a:off x="3345307" y="5952744"/>
            <a:ext cx="245059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ротация: контур плавный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6355080" y="182880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ЧТО ДЕЛАЕТ СЕРВИС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6355080" y="21945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949440" y="21762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Проверяет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6949440" y="25420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Каждый снимок по пяти критериям ТЗ: укладка, ось, посторонние предметы, ротация бедра, отступы области интереса.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6355080" y="35661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6949440" y="35478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Объясняет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6949440" y="39136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«Ось 6.9° при норме до 5°», «поле 12.4 см, нужно 12.9 см», ориентиры и тепловая карта на снимке.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6355080" y="493776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6949440" y="491947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Отдаёт человеку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949440" y="5285232"/>
            <a:ext cx="484632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Лаборант исправляет укладку, пока пациент на столе; врач видит заключение DICOM SR рядом со снимком в PACS.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434840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ТАКСОНОМИЯ НАРУШЕНИЙ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Пять критериев ТЗ, у каждого — измерение в физических единицах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7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graphicFrame>
        <p:nvGraphicFramePr>
          <p:cNvPr id="903" name="Table 902"/>
          <p:cNvGraphicFramePr>
            <a:graphicFrameLocks noGrp="1"/>
          </p:cNvGraphicFramePr>
          <p:nvPr/>
        </p:nvGraphicFramePr>
        <p:xfrm>
          <a:off x="346075" y="1828800"/>
          <a:ext cx="7818119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963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12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0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КОД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КРИТЕРИЙ ТЗ 2.3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КАК ИЗМЕРЯЕМ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НОРМА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spine_position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видны верхние края подвздошных костей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доля кости в нижних латеральных зонах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&gt; 0.001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spine_axis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наклон оси до 5°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прямая по центрам тел; вторая оценка — по краям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≤ 5° (порог 4°)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spine_artifacts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нет посторонних предметов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white top-hat + сеть, свод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p &lt; 0.17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hip_rotation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нет ротации (малый вертел)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выступ малого вертела + сеть, свод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p &lt; 0.24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hip_roi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3 / 3 / 2 см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длина поля: 3 см + вертел — седалищная + 3 см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≥ 12.9 см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undetermined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область не определена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фильтр «не похоже на DXA»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ручной разбор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04" name="Rounded Rectangle 903"/>
          <p:cNvSpPr/>
          <p:nvPr/>
        </p:nvSpPr>
        <p:spPr>
          <a:xfrm>
            <a:off x="8412480" y="1828800"/>
            <a:ext cx="3410712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5" name="TextBox 904"/>
          <p:cNvSpPr txBox="1"/>
          <p:nvPr/>
        </p:nvSpPr>
        <p:spPr>
          <a:xfrm>
            <a:off x="8631936" y="2011680"/>
            <a:ext cx="2971800" cy="243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Несколько нарушений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8631936" y="2346960"/>
            <a:ext cx="2971800" cy="1493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 20 из 100 исследований нарушений больше одного. Критерии независимы, в отчёт идут все: spine_axis;spine_artifacts. quality_class = 1, если сработал хоть один.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8412480" y="4114800"/>
            <a:ext cx="3410712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8631936" y="4297680"/>
            <a:ext cx="2971800" cy="243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Сбой чтения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631936" y="4632960"/>
            <a:ext cx="2971800" cy="899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Непрочитанный файл — строка Failure с текстом ошибки и quality_class =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252 снимков, 6–36 нарушений на критерий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8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557784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100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62039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исследований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235775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499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235775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DICOM-файлов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4095115" y="2057400"/>
            <a:ext cx="16459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252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095115" y="2545080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уникальных снимков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620395" y="315468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Дубликаты (Lunar выгружает снимок по нескольку раз с разными UID) находим по MD5 пикселей — до разбиения на фолды.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Позвоночник 99, левое бедро 79, правое 74; не больше трёх снимков на исследование.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Один аппарат — GE Lunar Prodigy Advance. PixelSpacing пуст: масштаб 0.600 / 0.607 мм/px восстановлен по шагу «позвонок + диск».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Своя разметка: 242 снимка × 29 ключевых точек.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126480" y="1828800"/>
            <a:ext cx="5696712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6400800" y="20574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Нарушений мало, и они разные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400800" y="25603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Укладка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8549640" y="2596896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5" name="Rounded Rectangle 914"/>
          <p:cNvSpPr/>
          <p:nvPr/>
        </p:nvSpPr>
        <p:spPr>
          <a:xfrm>
            <a:off x="8549640" y="2596896"/>
            <a:ext cx="84124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10029139" y="25603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6 из 99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6400800" y="298094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Ось &gt; 5°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8549640" y="3017520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Rounded Rectangle 918"/>
          <p:cNvSpPr/>
          <p:nvPr/>
        </p:nvSpPr>
        <p:spPr>
          <a:xfrm>
            <a:off x="8549640" y="3017520"/>
            <a:ext cx="140207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10029139" y="29809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10 из 99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6400800" y="34015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Посторонние предметы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8549640" y="3438144"/>
            <a:ext cx="1388059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Rounded Rectangle 922"/>
          <p:cNvSpPr/>
          <p:nvPr/>
        </p:nvSpPr>
        <p:spPr>
          <a:xfrm>
            <a:off x="8549640" y="3438144"/>
            <a:ext cx="238353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10029139" y="34015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17 из 99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6400800" y="38221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Ротация бедра</a:t>
            </a:r>
          </a:p>
        </p:txBody>
      </p:sp>
      <p:sp>
        <p:nvSpPr>
          <p:cNvPr id="926" name="Rounded Rectangle 925"/>
          <p:cNvSpPr/>
          <p:nvPr/>
        </p:nvSpPr>
        <p:spPr>
          <a:xfrm>
            <a:off x="8549640" y="3858768"/>
            <a:ext cx="2103120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7" name="Rounded Rectangle 926"/>
          <p:cNvSpPr/>
          <p:nvPr/>
        </p:nvSpPr>
        <p:spPr>
          <a:xfrm>
            <a:off x="8549640" y="3858768"/>
            <a:ext cx="504748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8" name="TextBox 927"/>
          <p:cNvSpPr txBox="1"/>
          <p:nvPr/>
        </p:nvSpPr>
        <p:spPr>
          <a:xfrm>
            <a:off x="10744200" y="38221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36 из 150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6400800" y="42428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ROI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8549640" y="4279392"/>
            <a:ext cx="2103120" cy="201168"/>
          </a:xfrm>
          <a:prstGeom prst="roundRect">
            <a:avLst>
              <a:gd name="adj" fmla="val 40000"/>
            </a:avLst>
          </a:prstGeom>
          <a:solidFill>
            <a:srgbClr val="FFD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1" name="Rounded Rectangle 930"/>
          <p:cNvSpPr/>
          <p:nvPr/>
        </p:nvSpPr>
        <p:spPr>
          <a:xfrm>
            <a:off x="8549640" y="4279392"/>
            <a:ext cx="98145" cy="201168"/>
          </a:xfrm>
          <a:prstGeom prst="roundRect">
            <a:avLst>
              <a:gd name="adj" fmla="val 4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2" name="TextBox 931"/>
          <p:cNvSpPr txBox="1"/>
          <p:nvPr/>
        </p:nvSpPr>
        <p:spPr>
          <a:xfrm>
            <a:off x="10744200" y="42428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7 из 150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640080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48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640080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исследований из 100
с нарушением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818388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20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818388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 несколькими
нарушениями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9966960" y="484632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72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9966960" y="527304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снимка из 249
с нарушением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059935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РАЗБИЕНИЕ И УТЕЧКИ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Честная оценка: исследование целиком в одном фолде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9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711835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фолд 0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1681099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фолд 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2650363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фолд 2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619627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фолд 3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4588891" y="1828800"/>
            <a:ext cx="89611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фолд 4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346075" y="219456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#1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711835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1681099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2650363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3619627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4588891" y="2121408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346075" y="2615184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#2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711835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1681099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2650363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3619627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4588891" y="2542032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346075" y="303580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#3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711835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1681099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2650363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3619627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4588891" y="2962656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346075" y="345643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#4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711835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1681099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29" name="Rounded Rectangle 928"/>
          <p:cNvSpPr/>
          <p:nvPr/>
        </p:nvSpPr>
        <p:spPr>
          <a:xfrm>
            <a:off x="2650363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0" name="Rounded Rectangle 929"/>
          <p:cNvSpPr/>
          <p:nvPr/>
        </p:nvSpPr>
        <p:spPr>
          <a:xfrm>
            <a:off x="3619627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4588891" y="3383280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346075" y="3877056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#5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711835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4" name="Rounded Rectangle 933"/>
          <p:cNvSpPr/>
          <p:nvPr/>
        </p:nvSpPr>
        <p:spPr>
          <a:xfrm>
            <a:off x="1681099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5" name="Rounded Rectangle 934"/>
          <p:cNvSpPr/>
          <p:nvPr/>
        </p:nvSpPr>
        <p:spPr>
          <a:xfrm>
            <a:off x="2650363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6" name="Rounded Rectangle 935"/>
          <p:cNvSpPr/>
          <p:nvPr/>
        </p:nvSpPr>
        <p:spPr>
          <a:xfrm>
            <a:off x="3619627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обучение</a:t>
            </a:r>
          </a:p>
        </p:txBody>
      </p:sp>
      <p:sp>
        <p:nvSpPr>
          <p:cNvPr id="937" name="Rounded Rectangle 936"/>
          <p:cNvSpPr/>
          <p:nvPr/>
        </p:nvSpPr>
        <p:spPr>
          <a:xfrm>
            <a:off x="4588891" y="3803904"/>
            <a:ext cx="896112" cy="338328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проверка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346075" y="4389120"/>
            <a:ext cx="5303520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5 фолдов по 20 исследований, folds.csv в репозитории. Страты: норма 52, ротация 14, артефакты 14, ось 8, укладка 6, ROI 6 исследований.</a:t>
            </a:r>
          </a:p>
        </p:txBody>
      </p:sp>
      <p:sp>
        <p:nvSpPr>
          <p:cNvPr id="939" name="Rounded Rectangle 938"/>
          <p:cNvSpPr/>
          <p:nvPr/>
        </p:nvSpPr>
        <p:spPr>
          <a:xfrm>
            <a:off x="6126480" y="1828800"/>
            <a:ext cx="56967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0" name="TextBox 939"/>
          <p:cNvSpPr txBox="1"/>
          <p:nvPr/>
        </p:nvSpPr>
        <p:spPr>
          <a:xfrm>
            <a:off x="6345936" y="2011680"/>
            <a:ext cx="525780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Группа — исследование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6345936" y="2316480"/>
            <a:ext cx="5257800" cy="3627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Позвоночник и оба бедра пациента всегда в одном фолде: разнесённые бёдра завысили бы метрику.</a:t>
            </a:r>
          </a:p>
        </p:txBody>
      </p:sp>
      <p:sp>
        <p:nvSpPr>
          <p:cNvPr id="942" name="Rounded Rectangle 941"/>
          <p:cNvSpPr/>
          <p:nvPr/>
        </p:nvSpPr>
        <p:spPr>
          <a:xfrm>
            <a:off x="6126480" y="2926080"/>
            <a:ext cx="56967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3" name="TextBox 942"/>
          <p:cNvSpPr txBox="1"/>
          <p:nvPr/>
        </p:nvSpPr>
        <p:spPr>
          <a:xfrm>
            <a:off x="6345936" y="3108960"/>
            <a:ext cx="525780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Страта — редчайшее нарушение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6345936" y="3413760"/>
            <a:ext cx="5257800" cy="3627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 каждом фолде есть примеры самых редких классов.</a:t>
            </a:r>
          </a:p>
        </p:txBody>
      </p:sp>
      <p:sp>
        <p:nvSpPr>
          <p:cNvPr id="945" name="Rounded Rectangle 944"/>
          <p:cNvSpPr/>
          <p:nvPr/>
        </p:nvSpPr>
        <p:spPr>
          <a:xfrm>
            <a:off x="6126480" y="4023360"/>
            <a:ext cx="56967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6" name="TextBox 945"/>
          <p:cNvSpPr txBox="1"/>
          <p:nvPr/>
        </p:nvSpPr>
        <p:spPr>
          <a:xfrm>
            <a:off x="6345936" y="4206240"/>
            <a:ext cx="525780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Подбор только на обучающих фолдах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6345936" y="4511040"/>
            <a:ext cx="5257800" cy="3627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Пороги, коридор нормы, веса сети, свод и его порог.</a:t>
            </a:r>
          </a:p>
        </p:txBody>
      </p:sp>
      <p:sp>
        <p:nvSpPr>
          <p:cNvPr id="948" name="Rounded Rectangle 947"/>
          <p:cNvSpPr/>
          <p:nvPr/>
        </p:nvSpPr>
        <p:spPr>
          <a:xfrm>
            <a:off x="6126480" y="5120640"/>
            <a:ext cx="56967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9" name="TextBox 948"/>
          <p:cNvSpPr txBox="1"/>
          <p:nvPr/>
        </p:nvSpPr>
        <p:spPr>
          <a:xfrm>
            <a:off x="6345936" y="5303520"/>
            <a:ext cx="525780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Дисбаланс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6345936" y="5608320"/>
            <a:ext cx="5257800" cy="3627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Вес класса в потере сети, порог по доле нарушений, ДИ бутстрэпом по исследованиям.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Геометрия там, где критерий — измерение; сеть — где форма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10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7040880" cy="41605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29968"/>
            <a:ext cx="649224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пробовали для ротации бедра</a:t>
            </a:r>
          </a:p>
        </p:txBody>
      </p:sp>
      <p:graphicFrame>
        <p:nvGraphicFramePr>
          <p:cNvPr id="905" name="Table 904"/>
          <p:cNvGraphicFramePr>
            <a:graphicFrameLocks noGrp="1"/>
          </p:cNvGraphicFramePr>
          <p:nvPr/>
        </p:nvGraphicFramePr>
        <p:xfrm>
          <a:off x="620395" y="2468880"/>
          <a:ext cx="6492240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ВАРИАНТ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ROC-AUC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ВЫВОД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выступ малого вертела по контуру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разрыв классов ≈ 2 мм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вид кадра, логистическая регрессия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вертел теряется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модель ключевых точек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—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ошибка выступа 0.75 мм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ResNet-34, одна модель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зависит от сида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ансамбль трёх сидов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стабильнее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свод: ансамбль + геометрия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 поставке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06" name="Rounded Rectangle 905"/>
          <p:cNvSpPr/>
          <p:nvPr/>
        </p:nvSpPr>
        <p:spPr>
          <a:xfrm>
            <a:off x="7589520" y="182880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7" name="TextBox 906"/>
          <p:cNvSpPr txBox="1"/>
          <p:nvPr/>
        </p:nvSpPr>
        <p:spPr>
          <a:xfrm>
            <a:off x="7808976" y="2011680"/>
            <a:ext cx="379476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Принцип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7808976" y="2316480"/>
            <a:ext cx="3794760" cy="6827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Вердикт проверяется глазами: «ось 6.9°», «поле 12.4 см». Основа — геометрия в мм и градусах.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7589520" y="324612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0" name="TextBox 909"/>
          <p:cNvSpPr txBox="1"/>
          <p:nvPr/>
        </p:nvSpPr>
        <p:spPr>
          <a:xfrm>
            <a:off x="7808976" y="3429000"/>
            <a:ext cx="379476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Где геометрии мало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7808976" y="3733800"/>
            <a:ext cx="3794760" cy="6827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Ротация и посторонние предметы — признаки формы: там геометрию дополняет сеть, вердикт — свод, тепловая карта показывает, куда смотрела сеть.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7589520" y="4663440"/>
            <a:ext cx="4233672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3" name="TextBox 912"/>
          <p:cNvSpPr txBox="1"/>
          <p:nvPr/>
        </p:nvSpPr>
        <p:spPr>
          <a:xfrm>
            <a:off x="7808976" y="4846320"/>
            <a:ext cx="379476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Где сеть не нужна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808976" y="5151120"/>
            <a:ext cx="3794760" cy="6827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Ось, укладка, отступы — прямые измерения. Сеть для оси: ROC-AUC 0.51.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747772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Один контейнер, пять шагов, ни одного обращения в сеть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11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cxnSp>
        <p:nvCxnSpPr>
          <p:cNvPr id="903" name="Connector 902"/>
          <p:cNvCxnSpPr/>
          <p:nvPr/>
        </p:nvCxnSpPr>
        <p:spPr>
          <a:xfrm>
            <a:off x="556387" y="2039112"/>
            <a:ext cx="9183888" cy="0"/>
          </a:xfrm>
          <a:prstGeom prst="line">
            <a:avLst/>
          </a:prstGeom>
          <a:ln w="15875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Rounded Rectangle 903"/>
          <p:cNvSpPr/>
          <p:nvPr/>
        </p:nvSpPr>
        <p:spPr>
          <a:xfrm>
            <a:off x="34607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46075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DICOM, zip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46075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выгрузка из PACS как есть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2642047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2642047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pydicom + gdcm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2642047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сжатие, ориентация, дубликаты</a:t>
            </a:r>
          </a:p>
        </p:txBody>
      </p:sp>
      <p:sp>
        <p:nvSpPr>
          <p:cNvPr id="910" name="Rounded Rectangle 909"/>
          <p:cNvSpPr/>
          <p:nvPr/>
        </p:nvSpPr>
        <p:spPr>
          <a:xfrm>
            <a:off x="4938019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938019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region_clf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4938019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позвоночник, бёдра, «не DXA»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7233991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233991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геометрия + CNN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233991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пять критериев независимо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9529963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9529963" y="2377440"/>
            <a:ext cx="21130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свод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9529963" y="2697480"/>
            <a:ext cx="206737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класс, вероятности, текст, SR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346075" y="3291840"/>
            <a:ext cx="3749039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565531" y="3474720"/>
            <a:ext cx="3310127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Выход по ТЗ 2.5 и 2.7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65531" y="3779520"/>
            <a:ext cx="3310127" cy="563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xlsx или csv, строка на снимок, 8 колонок ТЗ; zip с визуализацией; zip с DICOM SR.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4204843" y="3291840"/>
            <a:ext cx="3749039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4424299" y="3474720"/>
            <a:ext cx="3310127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4424299" y="3779520"/>
            <a:ext cx="3310127" cy="563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Веб-приложение, приложение для Windows, Telegram-бот, CLI и REST API.</a:t>
            </a:r>
          </a:p>
        </p:txBody>
      </p:sp>
      <p:sp>
        <p:nvSpPr>
          <p:cNvPr id="925" name="Rounded Rectangle 924"/>
          <p:cNvSpPr/>
          <p:nvPr/>
        </p:nvSpPr>
        <p:spPr>
          <a:xfrm>
            <a:off x="8063611" y="3291840"/>
            <a:ext cx="3749039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6" name="TextBox 925"/>
          <p:cNvSpPr txBox="1"/>
          <p:nvPr/>
        </p:nvSpPr>
        <p:spPr>
          <a:xfrm>
            <a:off x="8283067" y="3474720"/>
            <a:ext cx="3310127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Контейнер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283067" y="3779520"/>
            <a:ext cx="3310127" cy="563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python:3.11-slim по дайджесту, lock-файл, onnxruntime на CPU, один поток — побитово тот же отчёт.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346075" y="4617720"/>
            <a:ext cx="114798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ФРАГМЕНТ НАСТОЯЩЕГО ОТЧЁТА: ВОСЕМЬ КОЛОНОК ТЗ 2.5</a:t>
            </a:r>
          </a:p>
        </p:txBody>
      </p:sp>
      <p:graphicFrame>
        <p:nvGraphicFramePr>
          <p:cNvPr id="929" name="Table 928"/>
          <p:cNvGraphicFramePr>
            <a:graphicFrameLocks noGrp="1"/>
          </p:cNvGraphicFramePr>
          <p:nvPr/>
        </p:nvGraphicFramePr>
        <p:xfrm>
          <a:off x="346075" y="4892040"/>
          <a:ext cx="11479859" cy="137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30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0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06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79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1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2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PATH_TO_STUDY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STUDY_UID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IMAGE_UID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ANATOMICAL_REGION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QUALITY_CLASS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VIOLATION_TYPE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PROCESSING_STATUS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TIME_OF_PROCESSING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…2140700150015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lh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0.9472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…0150606100110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spine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1.2375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…8683246248872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…4090106081007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…3101101110913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0.3429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…8814728642117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…3011205010113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…5070904121304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rh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hip_rotation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Success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0.4389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81051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Шесть модулей, у каждого своя проверяемая задача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12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REGION_CLF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Область снимка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60604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Признаки кадра + логистическая регрессия; фильтр новизны отсекает не-DXA на ручной разбор.</a:t>
            </a:r>
          </a:p>
        </p:txBody>
      </p:sp>
      <p:cxnSp>
        <p:nvCxnSpPr>
          <p:cNvPr id="907" name="Connector 906"/>
          <p:cNvCxnSpPr/>
          <p:nvPr/>
        </p:nvCxnSpPr>
        <p:spPr>
          <a:xfrm>
            <a:off x="565531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" name="TextBox 907"/>
          <p:cNvSpPr txBox="1"/>
          <p:nvPr/>
        </p:nvSpPr>
        <p:spPr>
          <a:xfrm>
            <a:off x="565531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252 / 252 снимка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4218559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0" name="TextBox 909"/>
          <p:cNvSpPr txBox="1"/>
          <p:nvPr/>
        </p:nvSpPr>
        <p:spPr>
          <a:xfrm>
            <a:off x="4438015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SPINE_QC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438015" y="228600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Позвоночник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4438015" y="260604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Маска кости, коридор колонны, центры тел. Ось — Тейл–Сен, укладка — масса гребней, артефакты — white top-hat.</a:t>
            </a:r>
          </a:p>
        </p:txBody>
      </p:sp>
      <p:cxnSp>
        <p:nvCxnSpPr>
          <p:cNvPr id="913" name="Connector 912"/>
          <p:cNvCxnSpPr/>
          <p:nvPr/>
        </p:nvCxnSpPr>
        <p:spPr>
          <a:xfrm>
            <a:off x="4438015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4" name="TextBox 913"/>
          <p:cNvSpPr txBox="1"/>
          <p:nvPr/>
        </p:nvSpPr>
        <p:spPr>
          <a:xfrm>
            <a:off x="4438015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ROC-AUC OOF: ось 0.82 · укладка 0.82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8091043" y="1828800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8310499" y="201168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HIP_ROI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8310499" y="228600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Отступы бедра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8310499" y="260604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Длина поля сканирования против 3 см + вертел — седалищная + 3 см; отступы по рисунку 6 — справочно.</a:t>
            </a:r>
          </a:p>
        </p:txBody>
      </p:sp>
      <p:cxnSp>
        <p:nvCxnSpPr>
          <p:cNvPr id="919" name="Connector 918"/>
          <p:cNvCxnSpPr/>
          <p:nvPr/>
        </p:nvCxnSpPr>
        <p:spPr>
          <a:xfrm>
            <a:off x="8310499" y="3474720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0" name="TextBox 919"/>
          <p:cNvSpPr txBox="1"/>
          <p:nvPr/>
        </p:nvSpPr>
        <p:spPr>
          <a:xfrm>
            <a:off x="8310499" y="354787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F1 0.71 · ROC-AUC 0.94</a:t>
            </a:r>
          </a:p>
        </p:txBody>
      </p:sp>
      <p:sp>
        <p:nvSpPr>
          <p:cNvPr id="921" name="Rounded Rectangle 920"/>
          <p:cNvSpPr/>
          <p:nvPr/>
        </p:nvSpPr>
        <p:spPr>
          <a:xfrm>
            <a:off x="346075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2" name="TextBox 921"/>
          <p:cNvSpPr txBox="1"/>
          <p:nvPr/>
        </p:nvSpPr>
        <p:spPr>
          <a:xfrm>
            <a:off x="565531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HIP_ROTATION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65531" y="454456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Ротация: геометрия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565531" y="4864608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Выступ малого вертела над медиальным контуром диафиза, мм²; коридор ловит пере- и недоротацию.</a:t>
            </a:r>
          </a:p>
        </p:txBody>
      </p:sp>
      <p:cxnSp>
        <p:nvCxnSpPr>
          <p:cNvPr id="925" name="Connector 924"/>
          <p:cNvCxnSpPr/>
          <p:nvPr/>
        </p:nvCxnSpPr>
        <p:spPr>
          <a:xfrm>
            <a:off x="565531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6" name="TextBox 925"/>
          <p:cNvSpPr txBox="1"/>
          <p:nvPr/>
        </p:nvSpPr>
        <p:spPr>
          <a:xfrm>
            <a:off x="565531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коридор 96–272 мм²</a:t>
            </a:r>
          </a:p>
        </p:txBody>
      </p:sp>
      <p:sp>
        <p:nvSpPr>
          <p:cNvPr id="927" name="Rounded Rectangle 926"/>
          <p:cNvSpPr/>
          <p:nvPr/>
        </p:nvSpPr>
        <p:spPr>
          <a:xfrm>
            <a:off x="4218559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8" name="TextBox 927"/>
          <p:cNvSpPr txBox="1"/>
          <p:nvPr/>
        </p:nvSpPr>
        <p:spPr>
          <a:xfrm>
            <a:off x="4438015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CNN_QC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4438015" y="454456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 и предметы: сеть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4438015" y="4864608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ResNet-34, 320 px, ансамбль 3 сидов, ONNX на CPU; свод с геометрией, тепловая карта.</a:t>
            </a:r>
          </a:p>
        </p:txBody>
      </p:sp>
      <p:cxnSp>
        <p:nvCxnSpPr>
          <p:cNvPr id="931" name="Connector 930"/>
          <p:cNvCxnSpPr/>
          <p:nvPr/>
        </p:nvCxnSpPr>
        <p:spPr>
          <a:xfrm>
            <a:off x="4438015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TextBox 931"/>
          <p:cNvSpPr txBox="1"/>
          <p:nvPr/>
        </p:nvSpPr>
        <p:spPr>
          <a:xfrm>
            <a:off x="4438015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ROC-AUC свода 0.82 и 0.85 · 43 МБ × 3</a:t>
            </a:r>
          </a:p>
        </p:txBody>
      </p:sp>
      <p:sp>
        <p:nvSpPr>
          <p:cNvPr id="933" name="Rounded Rectangle 932"/>
          <p:cNvSpPr/>
          <p:nvPr/>
        </p:nvSpPr>
        <p:spPr>
          <a:xfrm>
            <a:off x="8091043" y="4087368"/>
            <a:ext cx="3730752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4" name="TextBox 933"/>
          <p:cNvSpPr txBox="1"/>
          <p:nvPr/>
        </p:nvSpPr>
        <p:spPr>
          <a:xfrm>
            <a:off x="8310499" y="427024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DXA_QC · ПО ФЛАГУ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8310499" y="4544568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Ключевые точки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8310499" y="4864608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U-Net + ResNet-34, 29 точек; обучены фолды 0–1 из 5. По оси не хуже контура, но в 12 раз медленнее — по флагу.</a:t>
            </a:r>
          </a:p>
        </p:txBody>
      </p:sp>
      <p:cxnSp>
        <p:nvCxnSpPr>
          <p:cNvPr id="937" name="Connector 936"/>
          <p:cNvCxnSpPr/>
          <p:nvPr/>
        </p:nvCxnSpPr>
        <p:spPr>
          <a:xfrm>
            <a:off x="8310499" y="5733288"/>
            <a:ext cx="3291840" cy="0"/>
          </a:xfrm>
          <a:prstGeom prst="line">
            <a:avLst/>
          </a:prstGeom>
          <a:ln w="12700">
            <a:solidFill>
              <a:srgbClr val="FF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8" name="TextBox 937"/>
          <p:cNvSpPr txBox="1"/>
          <p:nvPr/>
        </p:nvSpPr>
        <p:spPr>
          <a:xfrm>
            <a:off x="8310499" y="5806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ошибка 0.9–2.4 мм · угол 0.50°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6121907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ПРЕДОБРАБОТКА И ПОСТОБРАБОТКА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Всё приводится к миллиметрам до модели и к вероятности после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13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ПРЕДОБРАБОТКА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346075" y="2194560"/>
            <a:ext cx="5394960" cy="402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Сжатые синтаксисы, инверсия MONOCHROME1, VOI LUT.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Ориентация по PatientOrientation: зеркальная выгрузка → стандартный AP-вид.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Дедупликация по MD5 пикселей: одна строка отчёта на снимок.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Правое бедро отражается в левое: измерения и сеть видят одну сторону.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Маска кости и масштаб мм/px: пороги в мм, градусах, мм².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Для сети: яркость по перцентилям 0.5–99.5, длинная сторона → 320 px.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6106795" y="1828800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ПОСТОБРАБОТКА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6106795" y="2194560"/>
            <a:ext cx="5394960" cy="402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Пороги и коридоры — из калибровки на обучающих фолдах.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ROI — по длине поля, как оценивает эксперт.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Свод сети с геометрией; порог — доля нарушений в обучении.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Платт для каждого критерия → quality_probability = 1 − Π(1 − p).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Расхождение методов — флаг и низкая уверенность.</a:t>
            </a:r>
          </a:p>
          <a:p>
            <a:pPr marL="219456" indent="-219456">
              <a:lnSpc>
                <a:spcPct val="112000"/>
              </a:lnSpc>
              <a:spcAft>
                <a:spcPts val="900"/>
              </a:spcAft>
              <a:buClr>
                <a:srgbClr val="FF0053"/>
              </a:buClr>
              <a:buFont typeface="Arial"/>
              <a:buChar char="▪"/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Текст по-русски, снимок с тепловой картой, DICOM SR.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685031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МЕТРИКИ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Out-of-fold с 95% доверительными интервалами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14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OUT-OF-FOLD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283464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НАР./N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61188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ЧУВСТВ.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434340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СПЕЦИФ.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512064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F1, 95% ДИ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758952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F1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45820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ROC-AUC, 95% ДИ (0.4–1)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1018520" y="1737360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AUC</a:t>
            </a:r>
          </a:p>
        </p:txBody>
      </p:sp>
      <p:cxnSp>
        <p:nvCxnSpPr>
          <p:cNvPr id="911" name="Connector 910"/>
          <p:cNvCxnSpPr/>
          <p:nvPr/>
        </p:nvCxnSpPr>
        <p:spPr>
          <a:xfrm>
            <a:off x="346075" y="2011680"/>
            <a:ext cx="11479860" cy="0"/>
          </a:xfrm>
          <a:prstGeom prst="line">
            <a:avLst/>
          </a:prstGeom>
          <a:ln w="19050">
            <a:solidFill>
              <a:srgbClr val="520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2" name="TextBox 911"/>
          <p:cNvSpPr txBox="1"/>
          <p:nvPr/>
        </p:nvSpPr>
        <p:spPr>
          <a:xfrm>
            <a:off x="346075" y="21854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Укладка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83464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6/99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361188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0.67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4343400" y="2185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0.84</a:t>
            </a:r>
          </a:p>
        </p:txBody>
      </p:sp>
      <p:cxnSp>
        <p:nvCxnSpPr>
          <p:cNvPr id="916" name="Connector 915"/>
          <p:cNvCxnSpPr/>
          <p:nvPr/>
        </p:nvCxnSpPr>
        <p:spPr>
          <a:xfrm>
            <a:off x="5120640" y="22951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7" name="Connector 916"/>
          <p:cNvCxnSpPr/>
          <p:nvPr/>
        </p:nvCxnSpPr>
        <p:spPr>
          <a:xfrm>
            <a:off x="51206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8" name="Connector 917"/>
          <p:cNvCxnSpPr/>
          <p:nvPr/>
        </p:nvCxnSpPr>
        <p:spPr>
          <a:xfrm>
            <a:off x="56921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9" name="Connector 918"/>
          <p:cNvCxnSpPr/>
          <p:nvPr/>
        </p:nvCxnSpPr>
        <p:spPr>
          <a:xfrm>
            <a:off x="62636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0" name="Connector 919"/>
          <p:cNvCxnSpPr/>
          <p:nvPr/>
        </p:nvCxnSpPr>
        <p:spPr>
          <a:xfrm>
            <a:off x="68351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1" name="Connector 920"/>
          <p:cNvCxnSpPr/>
          <p:nvPr/>
        </p:nvCxnSpPr>
        <p:spPr>
          <a:xfrm>
            <a:off x="740664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2" name="Connector 921"/>
          <p:cNvCxnSpPr/>
          <p:nvPr/>
        </p:nvCxnSpPr>
        <p:spPr>
          <a:xfrm>
            <a:off x="5296323" y="2295144"/>
            <a:ext cx="107122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3" name="Oval 922"/>
          <p:cNvSpPr/>
          <p:nvPr/>
        </p:nvSpPr>
        <p:spPr>
          <a:xfrm>
            <a:off x="5792724" y="22357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7589520" y="21854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0.32</a:t>
            </a:r>
          </a:p>
        </p:txBody>
      </p:sp>
      <p:cxnSp>
        <p:nvCxnSpPr>
          <p:cNvPr id="925" name="Connector 924"/>
          <p:cNvCxnSpPr/>
          <p:nvPr/>
        </p:nvCxnSpPr>
        <p:spPr>
          <a:xfrm>
            <a:off x="8458200" y="22951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6" name="Connector 925"/>
          <p:cNvCxnSpPr/>
          <p:nvPr/>
        </p:nvCxnSpPr>
        <p:spPr>
          <a:xfrm>
            <a:off x="845820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7" name="Connector 926"/>
          <p:cNvCxnSpPr/>
          <p:nvPr/>
        </p:nvCxnSpPr>
        <p:spPr>
          <a:xfrm>
            <a:off x="902970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8" name="Connector 927"/>
          <p:cNvCxnSpPr/>
          <p:nvPr/>
        </p:nvCxnSpPr>
        <p:spPr>
          <a:xfrm>
            <a:off x="9601199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9" name="Connector 928"/>
          <p:cNvCxnSpPr/>
          <p:nvPr/>
        </p:nvCxnSpPr>
        <p:spPr>
          <a:xfrm>
            <a:off x="1017270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0" name="Connector 929"/>
          <p:cNvCxnSpPr/>
          <p:nvPr/>
        </p:nvCxnSpPr>
        <p:spPr>
          <a:xfrm>
            <a:off x="10744200" y="22585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1" name="Connector 930"/>
          <p:cNvCxnSpPr/>
          <p:nvPr/>
        </p:nvCxnSpPr>
        <p:spPr>
          <a:xfrm>
            <a:off x="9145542" y="2295144"/>
            <a:ext cx="142326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2" name="Oval 931"/>
          <p:cNvSpPr/>
          <p:nvPr/>
        </p:nvSpPr>
        <p:spPr>
          <a:xfrm>
            <a:off x="10008796" y="22357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3" name="TextBox 932"/>
          <p:cNvSpPr txBox="1"/>
          <p:nvPr/>
        </p:nvSpPr>
        <p:spPr>
          <a:xfrm>
            <a:off x="11018520" y="21854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934" name="Connector 933"/>
          <p:cNvCxnSpPr/>
          <p:nvPr/>
        </p:nvCxnSpPr>
        <p:spPr>
          <a:xfrm>
            <a:off x="346075" y="25237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TextBox 934"/>
          <p:cNvSpPr txBox="1"/>
          <p:nvPr/>
        </p:nvSpPr>
        <p:spPr>
          <a:xfrm>
            <a:off x="346075" y="26426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Ось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283464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10/99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361188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0.30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4343400" y="2642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0.88</a:t>
            </a:r>
          </a:p>
        </p:txBody>
      </p:sp>
      <p:cxnSp>
        <p:nvCxnSpPr>
          <p:cNvPr id="939" name="Connector 938"/>
          <p:cNvCxnSpPr/>
          <p:nvPr/>
        </p:nvCxnSpPr>
        <p:spPr>
          <a:xfrm>
            <a:off x="5120640" y="27523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0" name="Connector 939"/>
          <p:cNvCxnSpPr/>
          <p:nvPr/>
        </p:nvCxnSpPr>
        <p:spPr>
          <a:xfrm>
            <a:off x="51206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1" name="Connector 940"/>
          <p:cNvCxnSpPr/>
          <p:nvPr/>
        </p:nvCxnSpPr>
        <p:spPr>
          <a:xfrm>
            <a:off x="56921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2" name="Connector 941"/>
          <p:cNvCxnSpPr/>
          <p:nvPr/>
        </p:nvCxnSpPr>
        <p:spPr>
          <a:xfrm>
            <a:off x="62636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3" name="Connector 942"/>
          <p:cNvCxnSpPr/>
          <p:nvPr/>
        </p:nvCxnSpPr>
        <p:spPr>
          <a:xfrm>
            <a:off x="68351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4" name="Connector 943"/>
          <p:cNvCxnSpPr/>
          <p:nvPr/>
        </p:nvCxnSpPr>
        <p:spPr>
          <a:xfrm>
            <a:off x="740664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5" name="Connector 944"/>
          <p:cNvCxnSpPr/>
          <p:nvPr/>
        </p:nvCxnSpPr>
        <p:spPr>
          <a:xfrm>
            <a:off x="5120640" y="2752344"/>
            <a:ext cx="110358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6" name="Oval 945"/>
          <p:cNvSpPr/>
          <p:nvPr/>
        </p:nvSpPr>
        <p:spPr>
          <a:xfrm>
            <a:off x="5632704" y="26929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7" name="TextBox 946"/>
          <p:cNvSpPr txBox="1"/>
          <p:nvPr/>
        </p:nvSpPr>
        <p:spPr>
          <a:xfrm>
            <a:off x="7589520" y="26426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0.25</a:t>
            </a:r>
          </a:p>
        </p:txBody>
      </p:sp>
      <p:cxnSp>
        <p:nvCxnSpPr>
          <p:cNvPr id="948" name="Connector 947"/>
          <p:cNvCxnSpPr/>
          <p:nvPr/>
        </p:nvCxnSpPr>
        <p:spPr>
          <a:xfrm>
            <a:off x="8458200" y="275234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9" name="Connector 948"/>
          <p:cNvCxnSpPr/>
          <p:nvPr/>
        </p:nvCxnSpPr>
        <p:spPr>
          <a:xfrm>
            <a:off x="845820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0" name="Connector 949"/>
          <p:cNvCxnSpPr/>
          <p:nvPr/>
        </p:nvCxnSpPr>
        <p:spPr>
          <a:xfrm>
            <a:off x="902970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>
            <a:off x="9601199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>
            <a:off x="1017270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>
            <a:off x="10744200" y="271576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>
            <a:off x="9676382" y="2752344"/>
            <a:ext cx="776197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5" name="Oval 954"/>
          <p:cNvSpPr/>
          <p:nvPr/>
        </p:nvSpPr>
        <p:spPr>
          <a:xfrm>
            <a:off x="10012662" y="2692908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6" name="TextBox 955"/>
          <p:cNvSpPr txBox="1"/>
          <p:nvPr/>
        </p:nvSpPr>
        <p:spPr>
          <a:xfrm>
            <a:off x="11018520" y="2642616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957" name="Connector 956"/>
          <p:cNvCxnSpPr/>
          <p:nvPr/>
        </p:nvCxnSpPr>
        <p:spPr>
          <a:xfrm>
            <a:off x="346075" y="29809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8" name="TextBox 957"/>
          <p:cNvSpPr txBox="1"/>
          <p:nvPr/>
        </p:nvSpPr>
        <p:spPr>
          <a:xfrm>
            <a:off x="346075" y="30998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Посторонние предметы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283464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17/99</a:t>
            </a:r>
          </a:p>
        </p:txBody>
      </p:sp>
      <p:sp>
        <p:nvSpPr>
          <p:cNvPr id="960" name="TextBox 959"/>
          <p:cNvSpPr txBox="1"/>
          <p:nvPr/>
        </p:nvSpPr>
        <p:spPr>
          <a:xfrm>
            <a:off x="361188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4343400" y="3099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0.93</a:t>
            </a:r>
          </a:p>
        </p:txBody>
      </p:sp>
      <p:cxnSp>
        <p:nvCxnSpPr>
          <p:cNvPr id="962" name="Connector 961"/>
          <p:cNvCxnSpPr/>
          <p:nvPr/>
        </p:nvCxnSpPr>
        <p:spPr>
          <a:xfrm>
            <a:off x="5120640" y="3118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>
            <a:off x="51206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>
            <a:off x="56921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>
            <a:off x="62636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>
            <a:off x="68351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740664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5915770" y="3118104"/>
            <a:ext cx="97467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9" name="Oval 968"/>
          <p:cNvSpPr/>
          <p:nvPr/>
        </p:nvSpPr>
        <p:spPr>
          <a:xfrm>
            <a:off x="6397702" y="3067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0" name="Connector 969"/>
          <p:cNvCxnSpPr/>
          <p:nvPr/>
        </p:nvCxnSpPr>
        <p:spPr>
          <a:xfrm>
            <a:off x="5120640" y="3310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51206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56921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>
            <a:off x="62636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68351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740664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>
            <a:off x="6114553" y="3310128"/>
            <a:ext cx="868840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Oval 976"/>
          <p:cNvSpPr/>
          <p:nvPr/>
        </p:nvSpPr>
        <p:spPr>
          <a:xfrm>
            <a:off x="6540380" y="3250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8" name="TextBox 977"/>
          <p:cNvSpPr txBox="1"/>
          <p:nvPr/>
        </p:nvSpPr>
        <p:spPr>
          <a:xfrm>
            <a:off x="7589520" y="3017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0.58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7589520" y="3200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cxnSp>
        <p:nvCxnSpPr>
          <p:cNvPr id="980" name="Connector 979"/>
          <p:cNvCxnSpPr/>
          <p:nvPr/>
        </p:nvCxnSpPr>
        <p:spPr>
          <a:xfrm>
            <a:off x="8458200" y="3118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845820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902970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>
            <a:off x="9601199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>
            <a:off x="1017270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>
            <a:off x="10744200" y="3081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>
            <a:off x="9373783" y="3118104"/>
            <a:ext cx="106752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7" name="Oval 986"/>
          <p:cNvSpPr/>
          <p:nvPr/>
        </p:nvSpPr>
        <p:spPr>
          <a:xfrm>
            <a:off x="9908129" y="3067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88" name="Connector 987"/>
          <p:cNvCxnSpPr/>
          <p:nvPr/>
        </p:nvCxnSpPr>
        <p:spPr>
          <a:xfrm>
            <a:off x="8458200" y="3310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845820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902970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9601199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17270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744200" y="3273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9675862" y="3310128"/>
            <a:ext cx="898692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5" name="Oval 994"/>
          <p:cNvSpPr/>
          <p:nvPr/>
        </p:nvSpPr>
        <p:spPr>
          <a:xfrm>
            <a:off x="10094405" y="3250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6" name="TextBox 995"/>
          <p:cNvSpPr txBox="1"/>
          <p:nvPr/>
        </p:nvSpPr>
        <p:spPr>
          <a:xfrm>
            <a:off x="11018520" y="3017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0.79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1018520" y="3200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0.85</a:t>
            </a:r>
          </a:p>
        </p:txBody>
      </p:sp>
      <p:cxnSp>
        <p:nvCxnSpPr>
          <p:cNvPr id="998" name="Connector 997"/>
          <p:cNvCxnSpPr/>
          <p:nvPr/>
        </p:nvCxnSpPr>
        <p:spPr>
          <a:xfrm>
            <a:off x="346075" y="34381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9" name="TextBox 998"/>
          <p:cNvSpPr txBox="1"/>
          <p:nvPr/>
        </p:nvSpPr>
        <p:spPr>
          <a:xfrm>
            <a:off x="346075" y="35570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Ротация бедра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283464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36/150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61188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0.67</a:t>
            </a:r>
          </a:p>
        </p:txBody>
      </p:sp>
      <p:sp>
        <p:nvSpPr>
          <p:cNvPr id="1002" name="TextBox 1001"/>
          <p:cNvSpPr txBox="1"/>
          <p:nvPr/>
        </p:nvSpPr>
        <p:spPr>
          <a:xfrm>
            <a:off x="434340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0.76</a:t>
            </a:r>
          </a:p>
        </p:txBody>
      </p:sp>
      <p:cxnSp>
        <p:nvCxnSpPr>
          <p:cNvPr id="1003" name="Connector 1002"/>
          <p:cNvCxnSpPr/>
          <p:nvPr/>
        </p:nvCxnSpPr>
        <p:spPr>
          <a:xfrm>
            <a:off x="5120640" y="35753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51206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56921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>
            <a:off x="62636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>
            <a:off x="68351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740664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5809554" y="3575304"/>
            <a:ext cx="728445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0" name="Oval 1009"/>
          <p:cNvSpPr/>
          <p:nvPr/>
        </p:nvSpPr>
        <p:spPr>
          <a:xfrm>
            <a:off x="6163652" y="35250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1" name="Connector 1010"/>
          <p:cNvCxnSpPr/>
          <p:nvPr/>
        </p:nvCxnSpPr>
        <p:spPr>
          <a:xfrm>
            <a:off x="5120640" y="37673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51206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56921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>
            <a:off x="62636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>
            <a:off x="68351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>
            <a:off x="740664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>
            <a:off x="6022108" y="3767328"/>
            <a:ext cx="651329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8" name="Oval 1017"/>
          <p:cNvSpPr/>
          <p:nvPr/>
        </p:nvSpPr>
        <p:spPr>
          <a:xfrm>
            <a:off x="6322445" y="37078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7589520" y="34747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0.48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7589520" y="36576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0.55</a:t>
            </a:r>
          </a:p>
        </p:txBody>
      </p:sp>
      <p:cxnSp>
        <p:nvCxnSpPr>
          <p:cNvPr id="1021" name="Connector 1020"/>
          <p:cNvCxnSpPr/>
          <p:nvPr/>
        </p:nvCxnSpPr>
        <p:spPr>
          <a:xfrm>
            <a:off x="8458200" y="35753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>
            <a:off x="845820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902970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9601199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1017270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10744200" y="35387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9022646" y="3575304"/>
            <a:ext cx="943090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8" name="Oval 1027"/>
          <p:cNvSpPr/>
          <p:nvPr/>
        </p:nvSpPr>
        <p:spPr>
          <a:xfrm>
            <a:off x="9465684" y="35250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29" name="Connector 1028"/>
          <p:cNvCxnSpPr/>
          <p:nvPr/>
        </p:nvCxnSpPr>
        <p:spPr>
          <a:xfrm>
            <a:off x="8458200" y="37673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>
            <a:off x="845820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902970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9601199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017270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>
            <a:off x="10744200" y="37307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>
            <a:off x="9666241" y="3767328"/>
            <a:ext cx="67965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Oval 1035"/>
          <p:cNvSpPr/>
          <p:nvPr/>
        </p:nvSpPr>
        <p:spPr>
          <a:xfrm>
            <a:off x="9982921" y="37078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7" name="TextBox 1036"/>
          <p:cNvSpPr txBox="1"/>
          <p:nvPr/>
        </p:nvSpPr>
        <p:spPr>
          <a:xfrm>
            <a:off x="11018520" y="34747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11018520" y="36576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346075" y="38953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TextBox 1039"/>
          <p:cNvSpPr txBox="1"/>
          <p:nvPr/>
        </p:nvSpPr>
        <p:spPr>
          <a:xfrm>
            <a:off x="346075" y="40142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Отступы ROI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283464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7/150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361188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4343400" y="40142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0.99</a:t>
            </a:r>
          </a:p>
        </p:txBody>
      </p:sp>
      <p:cxnSp>
        <p:nvCxnSpPr>
          <p:cNvPr id="1044" name="Connector 1043"/>
          <p:cNvCxnSpPr/>
          <p:nvPr/>
        </p:nvCxnSpPr>
        <p:spPr>
          <a:xfrm>
            <a:off x="5120640" y="40325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51206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>
            <a:off x="56921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>
            <a:off x="62636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>
            <a:off x="68351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>
            <a:off x="740664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>
            <a:off x="5120640" y="4032504"/>
            <a:ext cx="141889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Oval 1050"/>
          <p:cNvSpPr/>
          <p:nvPr/>
        </p:nvSpPr>
        <p:spPr>
          <a:xfrm>
            <a:off x="5865478" y="39822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2" name="Connector 1051"/>
          <p:cNvCxnSpPr/>
          <p:nvPr/>
        </p:nvCxnSpPr>
        <p:spPr>
          <a:xfrm>
            <a:off x="5120640" y="42245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>
            <a:off x="51206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>
            <a:off x="56921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>
            <a:off x="62636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>
            <a:off x="68351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740664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5628640" y="4224528"/>
            <a:ext cx="165768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9" name="Oval 1058"/>
          <p:cNvSpPr/>
          <p:nvPr/>
        </p:nvSpPr>
        <p:spPr>
          <a:xfrm>
            <a:off x="6694061" y="41650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0" name="TextBox 1059"/>
          <p:cNvSpPr txBox="1"/>
          <p:nvPr/>
        </p:nvSpPr>
        <p:spPr>
          <a:xfrm>
            <a:off x="7589520" y="39319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0.35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7589520" y="41148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cxnSp>
        <p:nvCxnSpPr>
          <p:cNvPr id="1062" name="Connector 1061"/>
          <p:cNvCxnSpPr/>
          <p:nvPr/>
        </p:nvCxnSpPr>
        <p:spPr>
          <a:xfrm>
            <a:off x="8458200" y="40325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>
            <a:off x="845820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902970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9601199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>
            <a:off x="1017270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>
            <a:off x="10744200" y="39959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>
            <a:off x="9740169" y="4032504"/>
            <a:ext cx="974452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9" name="Oval 1068"/>
          <p:cNvSpPr/>
          <p:nvPr/>
        </p:nvSpPr>
        <p:spPr>
          <a:xfrm>
            <a:off x="10280935" y="39822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0" name="Connector 1069"/>
          <p:cNvCxnSpPr/>
          <p:nvPr/>
        </p:nvCxnSpPr>
        <p:spPr>
          <a:xfrm>
            <a:off x="8458200" y="42245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1" name="Connector 1070"/>
          <p:cNvCxnSpPr/>
          <p:nvPr/>
        </p:nvCxnSpPr>
        <p:spPr>
          <a:xfrm>
            <a:off x="845820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 1071"/>
          <p:cNvCxnSpPr/>
          <p:nvPr/>
        </p:nvCxnSpPr>
        <p:spPr>
          <a:xfrm>
            <a:off x="902970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3" name="Connector 1072"/>
          <p:cNvCxnSpPr/>
          <p:nvPr/>
        </p:nvCxnSpPr>
        <p:spPr>
          <a:xfrm>
            <a:off x="9601199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Connector 1073"/>
          <p:cNvCxnSpPr/>
          <p:nvPr/>
        </p:nvCxnSpPr>
        <p:spPr>
          <a:xfrm>
            <a:off x="1017270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5" name="Connector 1074"/>
          <p:cNvCxnSpPr/>
          <p:nvPr/>
        </p:nvCxnSpPr>
        <p:spPr>
          <a:xfrm>
            <a:off x="10744200" y="41879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6" name="Connector 1075"/>
          <p:cNvCxnSpPr/>
          <p:nvPr/>
        </p:nvCxnSpPr>
        <p:spPr>
          <a:xfrm>
            <a:off x="10056792" y="4224528"/>
            <a:ext cx="687408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Oval 1076"/>
          <p:cNvSpPr/>
          <p:nvPr/>
        </p:nvSpPr>
        <p:spPr>
          <a:xfrm>
            <a:off x="10452586" y="41650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8" name="TextBox 1077"/>
          <p:cNvSpPr txBox="1"/>
          <p:nvPr/>
        </p:nvSpPr>
        <p:spPr>
          <a:xfrm>
            <a:off x="11018520" y="39319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0.89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11018520" y="41148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0.94</a:t>
            </a:r>
          </a:p>
        </p:txBody>
      </p:sp>
      <p:cxnSp>
        <p:nvCxnSpPr>
          <p:cNvPr id="1080" name="Connector 1079"/>
          <p:cNvCxnSpPr/>
          <p:nvPr/>
        </p:nvCxnSpPr>
        <p:spPr>
          <a:xfrm>
            <a:off x="346075" y="43525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1" name="TextBox 1080"/>
          <p:cNvSpPr txBox="1"/>
          <p:nvPr/>
        </p:nvSpPr>
        <p:spPr>
          <a:xfrm>
            <a:off x="346075" y="44714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Позвоночник, кадр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283464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31/99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361188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0.65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4343400" y="44714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cxnSp>
        <p:nvCxnSpPr>
          <p:cNvPr id="1085" name="Connector 1084"/>
          <p:cNvCxnSpPr/>
          <p:nvPr/>
        </p:nvCxnSpPr>
        <p:spPr>
          <a:xfrm>
            <a:off x="5120640" y="44897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6" name="Connector 1085"/>
          <p:cNvCxnSpPr/>
          <p:nvPr/>
        </p:nvCxnSpPr>
        <p:spPr>
          <a:xfrm>
            <a:off x="51206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 1086"/>
          <p:cNvCxnSpPr/>
          <p:nvPr/>
        </p:nvCxnSpPr>
        <p:spPr>
          <a:xfrm>
            <a:off x="56921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8" name="Connector 1087"/>
          <p:cNvCxnSpPr/>
          <p:nvPr/>
        </p:nvCxnSpPr>
        <p:spPr>
          <a:xfrm>
            <a:off x="62636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 1088"/>
          <p:cNvCxnSpPr/>
          <p:nvPr/>
        </p:nvCxnSpPr>
        <p:spPr>
          <a:xfrm>
            <a:off x="68351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740664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>
            <a:off x="5882640" y="4489704"/>
            <a:ext cx="673395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2" name="Oval 1091"/>
          <p:cNvSpPr/>
          <p:nvPr/>
        </p:nvSpPr>
        <p:spPr>
          <a:xfrm>
            <a:off x="6180690" y="44394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93" name="Connector 1092"/>
          <p:cNvCxnSpPr/>
          <p:nvPr/>
        </p:nvCxnSpPr>
        <p:spPr>
          <a:xfrm>
            <a:off x="5120640" y="46817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51206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>
            <a:off x="56921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62636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>
            <a:off x="68351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740664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>
            <a:off x="6035040" y="4681728"/>
            <a:ext cx="63106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0" name="Oval 1099"/>
          <p:cNvSpPr/>
          <p:nvPr/>
        </p:nvSpPr>
        <p:spPr>
          <a:xfrm>
            <a:off x="6313806" y="46222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1" name="TextBox 1100"/>
          <p:cNvSpPr txBox="1"/>
          <p:nvPr/>
        </p:nvSpPr>
        <p:spPr>
          <a:xfrm>
            <a:off x="7589520" y="43891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0.49</a:t>
            </a:r>
          </a:p>
        </p:txBody>
      </p:sp>
      <p:sp>
        <p:nvSpPr>
          <p:cNvPr id="1102" name="TextBox 1101"/>
          <p:cNvSpPr txBox="1"/>
          <p:nvPr/>
        </p:nvSpPr>
        <p:spPr>
          <a:xfrm>
            <a:off x="7589520" y="45720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0.55</a:t>
            </a:r>
          </a:p>
        </p:txBody>
      </p:sp>
      <p:cxnSp>
        <p:nvCxnSpPr>
          <p:cNvPr id="1103" name="Connector 1102"/>
          <p:cNvCxnSpPr/>
          <p:nvPr/>
        </p:nvCxnSpPr>
        <p:spPr>
          <a:xfrm>
            <a:off x="8458200" y="44897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845820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902970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>
            <a:off x="9601199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017270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>
            <a:off x="10744200" y="44531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8947667" y="4489704"/>
            <a:ext cx="89007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0" name="Oval 1109"/>
          <p:cNvSpPr/>
          <p:nvPr/>
        </p:nvSpPr>
        <p:spPr>
          <a:xfrm>
            <a:off x="9341068" y="44394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1" name="Connector 1110"/>
          <p:cNvCxnSpPr/>
          <p:nvPr/>
        </p:nvCxnSpPr>
        <p:spPr>
          <a:xfrm>
            <a:off x="8458200" y="46817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845820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>
            <a:off x="902970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9601199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>
            <a:off x="1017270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10744200" y="46451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>
            <a:off x="9216429" y="4681728"/>
            <a:ext cx="86516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06649" y="46222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9" name="TextBox 1118"/>
          <p:cNvSpPr txBox="1"/>
          <p:nvPr/>
        </p:nvSpPr>
        <p:spPr>
          <a:xfrm>
            <a:off x="11018520" y="43891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0.64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11018520" y="45720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0.72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346075" y="48097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346075" y="49286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Бедро, кадр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283464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41/150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361188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0.71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4343400" y="49286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0.75</a:t>
            </a:r>
          </a:p>
        </p:txBody>
      </p:sp>
      <p:cxnSp>
        <p:nvCxnSpPr>
          <p:cNvPr id="1126" name="Connector 1125"/>
          <p:cNvCxnSpPr/>
          <p:nvPr/>
        </p:nvCxnSpPr>
        <p:spPr>
          <a:xfrm>
            <a:off x="5120640" y="49469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7" name="Connector 1126"/>
          <p:cNvCxnSpPr/>
          <p:nvPr/>
        </p:nvCxnSpPr>
        <p:spPr>
          <a:xfrm>
            <a:off x="51206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 1127"/>
          <p:cNvCxnSpPr/>
          <p:nvPr/>
        </p:nvCxnSpPr>
        <p:spPr>
          <a:xfrm>
            <a:off x="56921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Connector 1128"/>
          <p:cNvCxnSpPr/>
          <p:nvPr/>
        </p:nvCxnSpPr>
        <p:spPr>
          <a:xfrm>
            <a:off x="62636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 1129"/>
          <p:cNvCxnSpPr/>
          <p:nvPr/>
        </p:nvCxnSpPr>
        <p:spPr>
          <a:xfrm>
            <a:off x="68351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Connector 1130"/>
          <p:cNvCxnSpPr/>
          <p:nvPr/>
        </p:nvCxnSpPr>
        <p:spPr>
          <a:xfrm>
            <a:off x="740664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2" name="Connector 1131"/>
          <p:cNvCxnSpPr/>
          <p:nvPr/>
        </p:nvCxnSpPr>
        <p:spPr>
          <a:xfrm>
            <a:off x="5891805" y="4946904"/>
            <a:ext cx="655356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3" name="Oval 1132"/>
          <p:cNvSpPr/>
          <p:nvPr/>
        </p:nvSpPr>
        <p:spPr>
          <a:xfrm>
            <a:off x="6213348" y="48966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4" name="Connector 1133"/>
          <p:cNvCxnSpPr/>
          <p:nvPr/>
        </p:nvCxnSpPr>
        <p:spPr>
          <a:xfrm>
            <a:off x="5120640" y="51389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5" name="Connector 1134"/>
          <p:cNvCxnSpPr/>
          <p:nvPr/>
        </p:nvCxnSpPr>
        <p:spPr>
          <a:xfrm>
            <a:off x="51206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6" name="Connector 1135"/>
          <p:cNvCxnSpPr/>
          <p:nvPr/>
        </p:nvCxnSpPr>
        <p:spPr>
          <a:xfrm>
            <a:off x="56921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7" name="Connector 1136"/>
          <p:cNvCxnSpPr/>
          <p:nvPr/>
        </p:nvCxnSpPr>
        <p:spPr>
          <a:xfrm>
            <a:off x="62636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8" name="Connector 1137"/>
          <p:cNvCxnSpPr/>
          <p:nvPr/>
        </p:nvCxnSpPr>
        <p:spPr>
          <a:xfrm>
            <a:off x="68351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" name="Connector 1138"/>
          <p:cNvCxnSpPr/>
          <p:nvPr/>
        </p:nvCxnSpPr>
        <p:spPr>
          <a:xfrm>
            <a:off x="740664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>
            <a:off x="6156769" y="5138928"/>
            <a:ext cx="602171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1" name="Oval 1140"/>
          <p:cNvSpPr/>
          <p:nvPr/>
        </p:nvSpPr>
        <p:spPr>
          <a:xfrm>
            <a:off x="6428090" y="50794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2" name="TextBox 1141"/>
          <p:cNvSpPr txBox="1"/>
          <p:nvPr/>
        </p:nvSpPr>
        <p:spPr>
          <a:xfrm>
            <a:off x="7589520" y="48463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0.50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7589520" y="50292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0.60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8458200" y="49469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845820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Connector 1145"/>
          <p:cNvCxnSpPr/>
          <p:nvPr/>
        </p:nvCxnSpPr>
        <p:spPr>
          <a:xfrm>
            <a:off x="902970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7" name="Connector 1146"/>
          <p:cNvCxnSpPr/>
          <p:nvPr/>
        </p:nvCxnSpPr>
        <p:spPr>
          <a:xfrm>
            <a:off x="9601199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8" name="Connector 1147"/>
          <p:cNvCxnSpPr/>
          <p:nvPr/>
        </p:nvCxnSpPr>
        <p:spPr>
          <a:xfrm>
            <a:off x="1017270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9" name="Connector 1148"/>
          <p:cNvCxnSpPr/>
          <p:nvPr/>
        </p:nvCxnSpPr>
        <p:spPr>
          <a:xfrm>
            <a:off x="10744200" y="49103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0" name="Connector 1149"/>
          <p:cNvCxnSpPr/>
          <p:nvPr/>
        </p:nvCxnSpPr>
        <p:spPr>
          <a:xfrm>
            <a:off x="9072733" y="4946904"/>
            <a:ext cx="915143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Oval 1150"/>
          <p:cNvSpPr/>
          <p:nvPr/>
        </p:nvSpPr>
        <p:spPr>
          <a:xfrm>
            <a:off x="9493532" y="48966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2" name="Connector 1151"/>
          <p:cNvCxnSpPr/>
          <p:nvPr/>
        </p:nvCxnSpPr>
        <p:spPr>
          <a:xfrm>
            <a:off x="8458200" y="51389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3" name="Connector 1152"/>
          <p:cNvCxnSpPr/>
          <p:nvPr/>
        </p:nvCxnSpPr>
        <p:spPr>
          <a:xfrm>
            <a:off x="845820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4" name="Connector 1153"/>
          <p:cNvCxnSpPr/>
          <p:nvPr/>
        </p:nvCxnSpPr>
        <p:spPr>
          <a:xfrm>
            <a:off x="902970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5" name="Connector 1154"/>
          <p:cNvCxnSpPr/>
          <p:nvPr/>
        </p:nvCxnSpPr>
        <p:spPr>
          <a:xfrm>
            <a:off x="9601199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6" name="Connector 1155"/>
          <p:cNvCxnSpPr/>
          <p:nvPr/>
        </p:nvCxnSpPr>
        <p:spPr>
          <a:xfrm>
            <a:off x="1017270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7" name="Connector 1156"/>
          <p:cNvCxnSpPr/>
          <p:nvPr/>
        </p:nvCxnSpPr>
        <p:spPr>
          <a:xfrm>
            <a:off x="10744200" y="51023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8" name="Connector 1157"/>
          <p:cNvCxnSpPr/>
          <p:nvPr/>
        </p:nvCxnSpPr>
        <p:spPr>
          <a:xfrm>
            <a:off x="9706612" y="5138928"/>
            <a:ext cx="637948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9" name="Oval 1158"/>
          <p:cNvSpPr/>
          <p:nvPr/>
        </p:nvSpPr>
        <p:spPr>
          <a:xfrm>
            <a:off x="9994633" y="50794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0" name="TextBox 1159"/>
          <p:cNvSpPr txBox="1"/>
          <p:nvPr/>
        </p:nvSpPr>
        <p:spPr>
          <a:xfrm>
            <a:off x="11018520" y="48463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1018520" y="50292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0.82</a:t>
            </a:r>
          </a:p>
        </p:txBody>
      </p:sp>
      <p:cxnSp>
        <p:nvCxnSpPr>
          <p:cNvPr id="1162" name="Connector 1161"/>
          <p:cNvCxnSpPr/>
          <p:nvPr/>
        </p:nvCxnSpPr>
        <p:spPr>
          <a:xfrm>
            <a:off x="346075" y="52669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3" name="TextBox 1162"/>
          <p:cNvSpPr txBox="1"/>
          <p:nvPr/>
        </p:nvSpPr>
        <p:spPr>
          <a:xfrm>
            <a:off x="346075" y="538581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Всего, «есть нарушение»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283464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72/249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361188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4343400" y="5385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0.72</a:t>
            </a:r>
          </a:p>
        </p:txBody>
      </p:sp>
      <p:cxnSp>
        <p:nvCxnSpPr>
          <p:cNvPr id="1167" name="Connector 1166"/>
          <p:cNvCxnSpPr/>
          <p:nvPr/>
        </p:nvCxnSpPr>
        <p:spPr>
          <a:xfrm>
            <a:off x="5120640" y="5404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8" name="Connector 1167"/>
          <p:cNvCxnSpPr/>
          <p:nvPr/>
        </p:nvCxnSpPr>
        <p:spPr>
          <a:xfrm>
            <a:off x="51206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9" name="Connector 1168"/>
          <p:cNvCxnSpPr/>
          <p:nvPr/>
        </p:nvCxnSpPr>
        <p:spPr>
          <a:xfrm>
            <a:off x="56921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0" name="Connector 1169"/>
          <p:cNvCxnSpPr/>
          <p:nvPr/>
        </p:nvCxnSpPr>
        <p:spPr>
          <a:xfrm>
            <a:off x="62636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1" name="Connector 1170"/>
          <p:cNvCxnSpPr/>
          <p:nvPr/>
        </p:nvCxnSpPr>
        <p:spPr>
          <a:xfrm>
            <a:off x="68351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2" name="Connector 1171"/>
          <p:cNvCxnSpPr/>
          <p:nvPr/>
        </p:nvCxnSpPr>
        <p:spPr>
          <a:xfrm>
            <a:off x="740664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3" name="Connector 1172"/>
          <p:cNvCxnSpPr/>
          <p:nvPr/>
        </p:nvCxnSpPr>
        <p:spPr>
          <a:xfrm>
            <a:off x="6015664" y="5404104"/>
            <a:ext cx="455269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4" name="Oval 1173"/>
          <p:cNvSpPr/>
          <p:nvPr/>
        </p:nvSpPr>
        <p:spPr>
          <a:xfrm>
            <a:off x="6200210" y="5353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75" name="Connector 1174"/>
          <p:cNvCxnSpPr/>
          <p:nvPr/>
        </p:nvCxnSpPr>
        <p:spPr>
          <a:xfrm>
            <a:off x="5120640" y="5596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6" name="Connector 1175"/>
          <p:cNvCxnSpPr/>
          <p:nvPr/>
        </p:nvCxnSpPr>
        <p:spPr>
          <a:xfrm>
            <a:off x="51206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7" name="Connector 1176"/>
          <p:cNvCxnSpPr/>
          <p:nvPr/>
        </p:nvCxnSpPr>
        <p:spPr>
          <a:xfrm>
            <a:off x="56921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8" name="Connector 1177"/>
          <p:cNvCxnSpPr/>
          <p:nvPr/>
        </p:nvCxnSpPr>
        <p:spPr>
          <a:xfrm>
            <a:off x="62636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9" name="Connector 1178"/>
          <p:cNvCxnSpPr/>
          <p:nvPr/>
        </p:nvCxnSpPr>
        <p:spPr>
          <a:xfrm>
            <a:off x="68351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0" name="Connector 1179"/>
          <p:cNvCxnSpPr/>
          <p:nvPr/>
        </p:nvCxnSpPr>
        <p:spPr>
          <a:xfrm>
            <a:off x="740664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1" name="Connector 1180"/>
          <p:cNvCxnSpPr/>
          <p:nvPr/>
        </p:nvCxnSpPr>
        <p:spPr>
          <a:xfrm>
            <a:off x="6209178" y="5596128"/>
            <a:ext cx="427574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2" name="Oval 1181"/>
          <p:cNvSpPr/>
          <p:nvPr/>
        </p:nvSpPr>
        <p:spPr>
          <a:xfrm>
            <a:off x="6379015" y="5536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3" name="TextBox 1182"/>
          <p:cNvSpPr txBox="1"/>
          <p:nvPr/>
        </p:nvSpPr>
        <p:spPr>
          <a:xfrm>
            <a:off x="7589520" y="5303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0.49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7589520" y="5486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0.58</a:t>
            </a:r>
          </a:p>
        </p:txBody>
      </p:sp>
      <p:cxnSp>
        <p:nvCxnSpPr>
          <p:cNvPr id="1185" name="Connector 1184"/>
          <p:cNvCxnSpPr/>
          <p:nvPr/>
        </p:nvCxnSpPr>
        <p:spPr>
          <a:xfrm>
            <a:off x="8458200" y="5404104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6" name="Connector 1185"/>
          <p:cNvCxnSpPr/>
          <p:nvPr/>
        </p:nvCxnSpPr>
        <p:spPr>
          <a:xfrm>
            <a:off x="845820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7" name="Connector 1186"/>
          <p:cNvCxnSpPr/>
          <p:nvPr/>
        </p:nvCxnSpPr>
        <p:spPr>
          <a:xfrm>
            <a:off x="902970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8" name="Connector 1187"/>
          <p:cNvCxnSpPr/>
          <p:nvPr/>
        </p:nvCxnSpPr>
        <p:spPr>
          <a:xfrm>
            <a:off x="9601199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9" name="Connector 1188"/>
          <p:cNvCxnSpPr/>
          <p:nvPr/>
        </p:nvCxnSpPr>
        <p:spPr>
          <a:xfrm>
            <a:off x="1017270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0" name="Connector 1189"/>
          <p:cNvCxnSpPr/>
          <p:nvPr/>
        </p:nvCxnSpPr>
        <p:spPr>
          <a:xfrm>
            <a:off x="10744200" y="5367528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1" name="Connector 1190"/>
          <p:cNvCxnSpPr/>
          <p:nvPr/>
        </p:nvCxnSpPr>
        <p:spPr>
          <a:xfrm>
            <a:off x="9235388" y="5404104"/>
            <a:ext cx="595818" cy="0"/>
          </a:xfrm>
          <a:prstGeom prst="line">
            <a:avLst/>
          </a:prstGeom>
          <a:ln w="3810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476824" y="5353812"/>
            <a:ext cx="100584" cy="100584"/>
          </a:xfrm>
          <a:prstGeom prst="ellipse">
            <a:avLst/>
          </a:prstGeom>
          <a:solidFill>
            <a:srgbClr val="8A83D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3" name="Connector 1192"/>
          <p:cNvCxnSpPr/>
          <p:nvPr/>
        </p:nvCxnSpPr>
        <p:spPr>
          <a:xfrm>
            <a:off x="8458200" y="5596128"/>
            <a:ext cx="2286000" cy="0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4" name="Connector 1193"/>
          <p:cNvCxnSpPr/>
          <p:nvPr/>
        </p:nvCxnSpPr>
        <p:spPr>
          <a:xfrm>
            <a:off x="845820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5" name="Connector 1194"/>
          <p:cNvCxnSpPr/>
          <p:nvPr/>
        </p:nvCxnSpPr>
        <p:spPr>
          <a:xfrm>
            <a:off x="902970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6" name="Connector 1195"/>
          <p:cNvCxnSpPr/>
          <p:nvPr/>
        </p:nvCxnSpPr>
        <p:spPr>
          <a:xfrm>
            <a:off x="9601199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Connector 1196"/>
          <p:cNvCxnSpPr/>
          <p:nvPr/>
        </p:nvCxnSpPr>
        <p:spPr>
          <a:xfrm>
            <a:off x="1017270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8" name="Connector 1197"/>
          <p:cNvCxnSpPr/>
          <p:nvPr/>
        </p:nvCxnSpPr>
        <p:spPr>
          <a:xfrm>
            <a:off x="10744200" y="5559552"/>
            <a:ext cx="0" cy="73152"/>
          </a:xfrm>
          <a:prstGeom prst="line">
            <a:avLst/>
          </a:prstGeom>
          <a:ln w="9525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Connector 1198"/>
          <p:cNvCxnSpPr/>
          <p:nvPr/>
        </p:nvCxnSpPr>
        <p:spPr>
          <a:xfrm>
            <a:off x="9659685" y="5596128"/>
            <a:ext cx="501806" cy="0"/>
          </a:xfrm>
          <a:prstGeom prst="line">
            <a:avLst/>
          </a:prstGeom>
          <a:ln w="38100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Oval 1199"/>
          <p:cNvSpPr/>
          <p:nvPr/>
        </p:nvSpPr>
        <p:spPr>
          <a:xfrm>
            <a:off x="9864705" y="5536692"/>
            <a:ext cx="118872" cy="118872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1" name="TextBox 1200"/>
          <p:cNvSpPr txBox="1"/>
          <p:nvPr/>
        </p:nvSpPr>
        <p:spPr>
          <a:xfrm>
            <a:off x="11018520" y="530352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0.68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11018520" y="548640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0.78</a:t>
            </a:r>
          </a:p>
        </p:txBody>
      </p:sp>
      <p:cxnSp>
        <p:nvCxnSpPr>
          <p:cNvPr id="1203" name="Connector 1202"/>
          <p:cNvCxnSpPr/>
          <p:nvPr/>
        </p:nvCxnSpPr>
        <p:spPr>
          <a:xfrm>
            <a:off x="346075" y="5724144"/>
            <a:ext cx="11479860" cy="0"/>
          </a:xfrm>
          <a:prstGeom prst="line">
            <a:avLst/>
          </a:prstGeom>
          <a:ln w="6350">
            <a:solidFill>
              <a:srgbClr val="C9C3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4" name="Rectangle 1203"/>
          <p:cNvSpPr/>
          <p:nvPr/>
        </p:nvSpPr>
        <p:spPr>
          <a:xfrm>
            <a:off x="346075" y="5870448"/>
            <a:ext cx="274320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5" name="TextBox 1204"/>
          <p:cNvSpPr txBox="1"/>
          <p:nvPr/>
        </p:nvSpPr>
        <p:spPr>
          <a:xfrm>
            <a:off x="693547" y="58064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исходное решение: геометрия, ROI по рисунку 6</a:t>
            </a:r>
          </a:p>
        </p:txBody>
      </p:sp>
      <p:sp>
        <p:nvSpPr>
          <p:cNvPr id="1206" name="Rectangle 1205"/>
          <p:cNvSpPr/>
          <p:nvPr/>
        </p:nvSpPr>
        <p:spPr>
          <a:xfrm>
            <a:off x="4572000" y="5870448"/>
            <a:ext cx="274320" cy="91440"/>
          </a:xfrm>
          <a:prstGeom prst="rect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07" name="TextBox 1206"/>
          <p:cNvSpPr txBox="1"/>
          <p:nvPr/>
        </p:nvSpPr>
        <p:spPr>
          <a:xfrm>
            <a:off x="4919472" y="580644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сейчас: сеть + правило эксперта для ROI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8229600" y="5806440"/>
            <a:ext cx="3593592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macro-F1 0.40 → 0.50 · область 252/252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935224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ЭКСПЕРИМЕНТЫ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Сеть поверх геометрии: ROC-кривые out-of-fold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15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 бедра · 36 из 150</a:t>
            </a:r>
          </a:p>
        </p:txBody>
      </p:sp>
      <p:graphicFrame>
        <p:nvGraphicFramePr>
          <p:cNvPr id="904" name="Chart 903"/>
          <p:cNvGraphicFramePr>
            <a:graphicFrameLocks noGrp="1"/>
          </p:cNvGraphicFramePr>
          <p:nvPr/>
        </p:nvGraphicFramePr>
        <p:xfrm>
          <a:off x="254635" y="2194560"/>
          <a:ext cx="3246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5" name="Rectangle 904"/>
          <p:cNvSpPr/>
          <p:nvPr/>
        </p:nvSpPr>
        <p:spPr>
          <a:xfrm>
            <a:off x="3637915" y="2377440"/>
            <a:ext cx="256032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6" name="TextBox 905"/>
          <p:cNvSpPr txBox="1"/>
          <p:nvPr/>
        </p:nvSpPr>
        <p:spPr>
          <a:xfrm>
            <a:off x="3985387" y="229514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выступ 0.68</a:t>
            </a:r>
          </a:p>
        </p:txBody>
      </p:sp>
      <p:sp>
        <p:nvSpPr>
          <p:cNvPr id="907" name="Rectangle 906"/>
          <p:cNvSpPr/>
          <p:nvPr/>
        </p:nvSpPr>
        <p:spPr>
          <a:xfrm>
            <a:off x="3637915" y="2688336"/>
            <a:ext cx="256032" cy="91440"/>
          </a:xfrm>
          <a:prstGeom prst="rect">
            <a:avLst/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3985387" y="260604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сеть 0.80</a:t>
            </a:r>
          </a:p>
        </p:txBody>
      </p:sp>
      <p:sp>
        <p:nvSpPr>
          <p:cNvPr id="909" name="Rectangle 908"/>
          <p:cNvSpPr/>
          <p:nvPr/>
        </p:nvSpPr>
        <p:spPr>
          <a:xfrm>
            <a:off x="3637915" y="2999232"/>
            <a:ext cx="256032" cy="91440"/>
          </a:xfrm>
          <a:prstGeom prst="rect">
            <a:avLst/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0" name="TextBox 909"/>
          <p:cNvSpPr txBox="1"/>
          <p:nvPr/>
        </p:nvSpPr>
        <p:spPr>
          <a:xfrm>
            <a:off x="3985387" y="291693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свод 0.82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3637915" y="338328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вердикт вложенно: свод и порог без отложенного фолда</a:t>
            </a:r>
          </a:p>
        </p:txBody>
      </p:sp>
      <p:graphicFrame>
        <p:nvGraphicFramePr>
          <p:cNvPr id="912" name="Table 911"/>
          <p:cNvGraphicFramePr>
            <a:graphicFrameLocks noGrp="1"/>
          </p:cNvGraphicFramePr>
          <p:nvPr/>
        </p:nvGraphicFramePr>
        <p:xfrm>
          <a:off x="3637915" y="3931920"/>
          <a:ext cx="2285999" cy="932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95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95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4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ЧУВ.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СПЕЦ.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выступ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свод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13" name="TextBox 912"/>
          <p:cNvSpPr txBox="1"/>
          <p:nvPr/>
        </p:nvSpPr>
        <p:spPr>
          <a:xfrm>
            <a:off x="346075" y="553212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1 − специфичность →   ↑ чувствительность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615251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Посторонние предметы · 17 из 99</a:t>
            </a:r>
          </a:p>
        </p:txBody>
      </p:sp>
      <p:graphicFrame>
        <p:nvGraphicFramePr>
          <p:cNvPr id="915" name="Chart 914"/>
          <p:cNvGraphicFramePr>
            <a:graphicFrameLocks noGrp="1"/>
          </p:cNvGraphicFramePr>
          <p:nvPr/>
        </p:nvGraphicFramePr>
        <p:xfrm>
          <a:off x="6061075" y="2194560"/>
          <a:ext cx="324612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16" name="Rectangle 915"/>
          <p:cNvSpPr/>
          <p:nvPr/>
        </p:nvSpPr>
        <p:spPr>
          <a:xfrm>
            <a:off x="9444355" y="2377440"/>
            <a:ext cx="256032" cy="91440"/>
          </a:xfrm>
          <a:prstGeom prst="rect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7" name="TextBox 916"/>
          <p:cNvSpPr txBox="1"/>
          <p:nvPr/>
        </p:nvSpPr>
        <p:spPr>
          <a:xfrm>
            <a:off x="9791827" y="229514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top-hat 0.79</a:t>
            </a:r>
          </a:p>
        </p:txBody>
      </p:sp>
      <p:sp>
        <p:nvSpPr>
          <p:cNvPr id="918" name="Rectangle 917"/>
          <p:cNvSpPr/>
          <p:nvPr/>
        </p:nvSpPr>
        <p:spPr>
          <a:xfrm>
            <a:off x="9444355" y="2688336"/>
            <a:ext cx="256032" cy="91440"/>
          </a:xfrm>
          <a:prstGeom prst="rect">
            <a:avLst/>
          </a:prstGeom>
          <a:solidFill>
            <a:srgbClr val="FC3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TextBox 918"/>
          <p:cNvSpPr txBox="1"/>
          <p:nvPr/>
        </p:nvSpPr>
        <p:spPr>
          <a:xfrm>
            <a:off x="9791827" y="260604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сеть 0.83</a:t>
            </a:r>
          </a:p>
        </p:txBody>
      </p:sp>
      <p:sp>
        <p:nvSpPr>
          <p:cNvPr id="920" name="Rectangle 919"/>
          <p:cNvSpPr/>
          <p:nvPr/>
        </p:nvSpPr>
        <p:spPr>
          <a:xfrm>
            <a:off x="9444355" y="2999232"/>
            <a:ext cx="256032" cy="91440"/>
          </a:xfrm>
          <a:prstGeom prst="rect">
            <a:avLst/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9791827" y="2916936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свод 0.85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9444355" y="338328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вердикт вложенно: свод и порог без отложенного фолда</a:t>
            </a:r>
          </a:p>
        </p:txBody>
      </p:sp>
      <p:graphicFrame>
        <p:nvGraphicFramePr>
          <p:cNvPr id="923" name="Table 922"/>
          <p:cNvGraphicFramePr>
            <a:graphicFrameLocks noGrp="1"/>
          </p:cNvGraphicFramePr>
          <p:nvPr/>
        </p:nvGraphicFramePr>
        <p:xfrm>
          <a:off x="9444355" y="3931920"/>
          <a:ext cx="2285999" cy="9326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95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95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4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ЧУВ.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СПЕЦ.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top-hat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0.58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свод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0.65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24" name="TextBox 923"/>
          <p:cNvSpPr txBox="1"/>
          <p:nvPr/>
        </p:nvSpPr>
        <p:spPr>
          <a:xfrm>
            <a:off x="6152515" y="5532120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 i="0">
                <a:solidFill>
                  <a:srgbClr val="8B8599"/>
                </a:solidFill>
                <a:latin typeface="Montserrat"/>
                <a:ea typeface="Montserrat"/>
                <a:cs typeface="Montserrat"/>
              </a:rPr>
              <a:t>1 − специфичность →   ↑ чувствительность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247388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СРАВНЕНИЕ ВАРИАНТОВ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проверили и почему оставили то, что оставили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16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Контур против модели точек</a:t>
            </a:r>
          </a:p>
        </p:txBody>
      </p:sp>
      <p:graphicFrame>
        <p:nvGraphicFramePr>
          <p:cNvPr id="904" name="Table 903"/>
          <p:cNvGraphicFramePr>
            <a:graphicFrameLocks noGrp="1"/>
          </p:cNvGraphicFramePr>
          <p:nvPr/>
        </p:nvGraphicFramePr>
        <p:xfrm>
          <a:off x="346075" y="2212848"/>
          <a:ext cx="5486398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5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8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80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ФОЛДЫ 0–1, OUT-OF-FOLD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КОНТУР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ТОЧКИ U-NET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ось: F1 / ROC-AUC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0.33 / 0.76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0.50 / 0.79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macro-F1 по типам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0.541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0.571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время на снимок, CPU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28 мс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347 мс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05" name="TextBox 904"/>
          <p:cNvSpPr txBox="1"/>
          <p:nvPr/>
        </p:nvSpPr>
        <p:spPr>
          <a:xfrm>
            <a:off x="346075" y="3840480"/>
            <a:ext cx="54864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Нарушений оси на этих фолдах всего 4. Модель обучена на двух фолдах из пяти и на порядок медленнее — по умолчанию выключена.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6172200" y="1828800"/>
            <a:ext cx="5650992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Правило свода для укладки</a:t>
            </a:r>
          </a:p>
        </p:txBody>
      </p:sp>
      <p:graphicFrame>
        <p:nvGraphicFramePr>
          <p:cNvPr id="907" name="Table 906"/>
          <p:cNvGraphicFramePr>
            <a:graphicFrameLocks noGrp="1"/>
          </p:cNvGraphicFramePr>
          <p:nvPr/>
        </p:nvGraphicFramePr>
        <p:xfrm>
          <a:off x="6172200" y="2212848"/>
          <a:ext cx="5650990" cy="16459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7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1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1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22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OUT-OF-FOLD, 6 НАРУШЕНИЙ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НАЙДЕНО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ЛИШНИХ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геометрия (в поставке)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вид кадра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0.44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обе согласны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0.29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любая из двух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08" name="TextBox 907"/>
          <p:cNvSpPr txBox="1"/>
          <p:nvPr/>
        </p:nvSpPr>
        <p:spPr>
          <a:xfrm>
            <a:off x="6172200" y="3840480"/>
            <a:ext cx="5650992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На всей выборке лучшим казалось согласие обеих оценок (F1 0.73); out-of-fold оно ловит одно нарушение из шести.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346075" y="4709160"/>
            <a:ext cx="1147986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Сеть для ротации: что перебрали (ROC-AUC out-of-fold)</a:t>
            </a:r>
          </a:p>
        </p:txBody>
      </p:sp>
      <p:graphicFrame>
        <p:nvGraphicFramePr>
          <p:cNvPr id="910" name="Table 909"/>
          <p:cNvGraphicFramePr>
            <a:graphicFrameLocks noGrp="1"/>
          </p:cNvGraphicFramePr>
          <p:nvPr/>
        </p:nvGraphicFramePr>
        <p:xfrm>
          <a:off x="346075" y="5093208"/>
          <a:ext cx="11479860" cy="7680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39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399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RESNET-18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EFFICIENTNET-B0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RESNET-34, 256 PX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RESNET-34, 1 СИД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ЭНКОДЕР ТОЧЕК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RESNET-34 × 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+ ГЕОМЕТРИЯ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0.76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0.73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0.80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0053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122676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АНАЛИЗ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Разбор ошибок показал, как оценивает эксперт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17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5715000" cy="4343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2540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620395" y="2029968"/>
            <a:ext cx="52120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ОТСТУПЫ ROI · ЧТО ДЕЛАЕТ ЭКСПЕРТ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620395" y="22860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Судит по длине поля</a:t>
            </a:r>
          </a:p>
        </p:txBody>
      </p:sp>
      <p:graphicFrame>
        <p:nvGraphicFramePr>
          <p:cNvPr id="906" name="Table 905"/>
          <p:cNvGraphicFramePr>
            <a:graphicFrameLocks noGrp="1"/>
          </p:cNvGraphicFramePr>
          <p:nvPr/>
        </p:nvGraphicFramePr>
        <p:xfrm>
          <a:off x="620395" y="2788920"/>
          <a:ext cx="5166357" cy="12070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60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23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05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0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ПРАВИЛО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НАЙДЕНО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ЛИШНИХ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F1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AUC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отступы по рисунку 6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4/7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12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0.35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0.89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длина поля ≥ 12.9 см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5/7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0.71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0.94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solidFill>
                      <a:srgbClr val="FFD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7" name="TextBox 906"/>
          <p:cNvSpPr txBox="1"/>
          <p:nvPr/>
        </p:nvSpPr>
        <p:spPr>
          <a:xfrm>
            <a:off x="620395" y="4114800"/>
            <a:ext cx="5166360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Эксперт ставит «норму» при 1.7–3.0 см под седалищной костью и «нарушение» на коротких полях. Правило длины поля не подбиралось по меткам: 30 мм — из ТЗ, 69 мм от вертела до седалищной кости — медиана анатомии. Отступы по рисунку 6 считаются и показываются; режим строго по ТЗ — флаг --roi-rule margins.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6263640" y="1828800"/>
            <a:ext cx="555955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9" name="TextBox 908"/>
          <p:cNvSpPr txBox="1"/>
          <p:nvPr/>
        </p:nvSpPr>
        <p:spPr>
          <a:xfrm>
            <a:off x="6483096" y="2011680"/>
            <a:ext cx="51206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Ось: сколиоз — не нарушение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6483096" y="2316480"/>
            <a:ext cx="512064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При сколиозе эксперт не ставит нарушение оси ни в одном из 14 случаев, даже при угле до 8.8°. Это главный источник наших лишних срабатываний; по поясничному треку сколиоз от наклона не отличить (сеть — ROC-AUC 0.51).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263640" y="3639312"/>
            <a:ext cx="555955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6483096" y="3822192"/>
            <a:ext cx="51206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Ротация: сеть против выступа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483096" y="4126992"/>
            <a:ext cx="5120640" cy="563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Расхождений сети и выступа: 41 из 150; прав свод — 25, выступ — 16. Такие снимки помечены флагом.</a:t>
            </a:r>
          </a:p>
        </p:txBody>
      </p:sp>
      <p:sp>
        <p:nvSpPr>
          <p:cNvPr id="914" name="Rounded Rectangle 913"/>
          <p:cNvSpPr/>
          <p:nvPr/>
        </p:nvSpPr>
        <p:spPr>
          <a:xfrm>
            <a:off x="6263640" y="4965192"/>
            <a:ext cx="555955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5" name="TextBox 914"/>
          <p:cNvSpPr txBox="1"/>
          <p:nvPr/>
        </p:nvSpPr>
        <p:spPr>
          <a:xfrm>
            <a:off x="6483096" y="5148072"/>
            <a:ext cx="51206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Укладка: 6 примеров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6483096" y="5452872"/>
            <a:ext cx="5120640" cy="563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ROC-AUC 0.82, но отсечка на фолде с одним-двумя нарушениями неустойчива: F1 out-of-fold 0.32.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1623060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Каждое замечание видно на снимке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18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4" name="Picture 903" descr="ax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75" y="2170894"/>
            <a:ext cx="2753379" cy="2909403"/>
          </a:xfrm>
          <a:prstGeom prst="rect">
            <a:avLst/>
          </a:prstGeom>
        </p:spPr>
      </p:pic>
      <p:sp>
        <p:nvSpPr>
          <p:cNvPr id="905" name="TextBox 904"/>
          <p:cNvSpPr txBox="1"/>
          <p:nvPr/>
        </p:nvSpPr>
        <p:spPr>
          <a:xfrm>
            <a:off x="492379" y="5486400"/>
            <a:ext cx="2460771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ось 8.7°, норма до 5°
spine_axis · эксперт согласен</a:t>
            </a:r>
          </a:p>
        </p:txBody>
      </p:sp>
      <p:sp>
        <p:nvSpPr>
          <p:cNvPr id="906" name="Rounded Rectangle 905"/>
          <p:cNvSpPr/>
          <p:nvPr/>
        </p:nvSpPr>
        <p:spPr>
          <a:xfrm>
            <a:off x="3254902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07" name="Picture 906" descr="artifa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4902" y="2180072"/>
            <a:ext cx="2753379" cy="2891047"/>
          </a:xfrm>
          <a:prstGeom prst="rect">
            <a:avLst/>
          </a:prstGeom>
        </p:spPr>
      </p:pic>
      <p:sp>
        <p:nvSpPr>
          <p:cNvPr id="908" name="TextBox 907"/>
          <p:cNvSpPr txBox="1"/>
          <p:nvPr/>
        </p:nvSpPr>
        <p:spPr>
          <a:xfrm>
            <a:off x="3401206" y="5486400"/>
            <a:ext cx="2460771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посторонний предмет · сеть 1.00
spine_artifacts · эксперт согласен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6163729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0" name="Picture 909" descr="rot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729" y="2470160"/>
            <a:ext cx="2753379" cy="2310871"/>
          </a:xfrm>
          <a:prstGeom prst="rect">
            <a:avLst/>
          </a:prstGeom>
        </p:spPr>
      </p:pic>
      <p:sp>
        <p:nvSpPr>
          <p:cNvPr id="911" name="TextBox 910"/>
          <p:cNvSpPr txBox="1"/>
          <p:nvPr/>
        </p:nvSpPr>
        <p:spPr>
          <a:xfrm>
            <a:off x="6310033" y="5486400"/>
            <a:ext cx="2460771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выступ 12 мм² (норма 96–272)
hip_rotation · эксперт согласен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9072556" y="1828800"/>
            <a:ext cx="2753379" cy="4160520"/>
          </a:xfrm>
          <a:prstGeom prst="roundRect">
            <a:avLst>
              <a:gd name="adj" fmla="val 4000"/>
            </a:avLst>
          </a:prstGeom>
          <a:solidFill>
            <a:srgbClr val="120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3" name="Picture 912" descr="ro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2556" y="2612746"/>
            <a:ext cx="2753379" cy="2025700"/>
          </a:xfrm>
          <a:prstGeom prst="rect">
            <a:avLst/>
          </a:prstGeom>
        </p:spPr>
      </p:pic>
      <p:sp>
        <p:nvSpPr>
          <p:cNvPr id="914" name="TextBox 913"/>
          <p:cNvSpPr txBox="1"/>
          <p:nvPr/>
        </p:nvSpPr>
        <p:spPr>
          <a:xfrm>
            <a:off x="9218860" y="5486400"/>
            <a:ext cx="2460771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 i="0">
                <a:solidFill>
                  <a:srgbClr val="D9D2E6"/>
                </a:solidFill>
                <a:latin typeface="Montserrat"/>
                <a:ea typeface="Montserrat"/>
                <a:cs typeface="Montserrat"/>
              </a:rPr>
              <a:t>поле 12.5 см &lt; 12.9 см
hip_roi · эксперт согласен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46075" y="6080760"/>
            <a:ext cx="114798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Снимки обучающего набора, вероятности сети — out-of-fold. Оранжевым — тепловая карта сети, голубым — ориентиры, зелёным и красным — пороги.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4622292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СКОРОСТЬ И ТРЕБОВАНИЯ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Секунды на исследование на обычном процессоре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19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TextBox 902"/>
          <p:cNvSpPr txBox="1"/>
          <p:nvPr/>
        </p:nvSpPr>
        <p:spPr>
          <a:xfrm>
            <a:off x="346075" y="182880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1.6</a:t>
            </a:r>
            <a:r>
              <a:rPr sz="162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 с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346075" y="237744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медиана на исследование
(максимум 2.3 с)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043555" y="182880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180</a:t>
            </a:r>
            <a:r>
              <a:rPr sz="162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 с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043555" y="237744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лимит ТЗ 2.7
на исследование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346075" y="315468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444</a:t>
            </a:r>
            <a:r>
              <a:rPr sz="162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 мс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346075" y="37033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медиана на снимок,
один поток CPU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3043555" y="3154680"/>
            <a:ext cx="256032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2.4</a:t>
            </a:r>
            <a:r>
              <a:rPr sz="162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 мин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3043555" y="3703320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все 100 исследований
в один процесс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346075" y="4617720"/>
            <a:ext cx="5303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ХУДШЕЕ ИССЛЕДОВАНИЕ ПРОТИВ ЛИМИТА, В МАСШТАБЕ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346075" y="4919472"/>
            <a:ext cx="5120640" cy="292608"/>
          </a:xfrm>
          <a:prstGeom prst="roundRect">
            <a:avLst>
              <a:gd name="adj" fmla="val 3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3" name="Rounded Rectangle 912"/>
          <p:cNvSpPr/>
          <p:nvPr/>
        </p:nvSpPr>
        <p:spPr>
          <a:xfrm>
            <a:off x="346075" y="4919472"/>
            <a:ext cx="73152" cy="292608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4" name="TextBox 913"/>
          <p:cNvSpPr txBox="1"/>
          <p:nvPr/>
        </p:nvSpPr>
        <p:spPr>
          <a:xfrm>
            <a:off x="574675" y="4965192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2.3 с — 1.3 % лимита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46075" y="5394960"/>
            <a:ext cx="53035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 контейнере (Linux, Python 3.11) — 158 с на 100 исследований с оверлеями и SR. Без сети — 27 мс на снимок.</a:t>
            </a:r>
          </a:p>
        </p:txBody>
      </p:sp>
      <p:graphicFrame>
        <p:nvGraphicFramePr>
          <p:cNvPr id="916" name="Table 915"/>
          <p:cNvGraphicFramePr>
            <a:graphicFrameLocks noGrp="1"/>
          </p:cNvGraphicFramePr>
          <p:nvPr/>
        </p:nvGraphicFramePr>
        <p:xfrm>
          <a:off x="6217920" y="1828800"/>
          <a:ext cx="5605271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342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89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21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МИНИМУМ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РЕКОМЕНДУЕТСЯ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CPU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 ядра x86-64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 ядра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RAM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 ГБ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4 ГБ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диск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2 ГБ (образ 1.4 ГБ)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5 ГБ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GPU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 нужен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не нужен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Docker или Windows 10/11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Linux-сервер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17" name="Rounded Rectangle 916"/>
          <p:cNvSpPr/>
          <p:nvPr/>
        </p:nvSpPr>
        <p:spPr>
          <a:xfrm>
            <a:off x="6217920" y="4526280"/>
            <a:ext cx="5605272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8" name="TextBox 917"/>
          <p:cNvSpPr txBox="1"/>
          <p:nvPr/>
        </p:nvSpPr>
        <p:spPr>
          <a:xfrm>
            <a:off x="6437376" y="4709160"/>
            <a:ext cx="516636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Воспроизводимость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6437376" y="5013960"/>
            <a:ext cx="5166360" cy="929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Повторный прогон на тех же данных даёт побитово тот же отчёт: фиксированный порядок обхода, модели на диске, вычисления в один поток. Контейнер, приложение и Python сверены на 252 снимках.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560320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Четыре входа в один конвейер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20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6446520" cy="4251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Oval 903"/>
          <p:cNvSpPr/>
          <p:nvPr/>
        </p:nvSpPr>
        <p:spPr>
          <a:xfrm>
            <a:off x="519811" y="1956816"/>
            <a:ext cx="109728" cy="109728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5" name="Oval 904"/>
          <p:cNvSpPr/>
          <p:nvPr/>
        </p:nvSpPr>
        <p:spPr>
          <a:xfrm>
            <a:off x="702691" y="1956816"/>
            <a:ext cx="109728" cy="109728"/>
          </a:xfrm>
          <a:prstGeom prst="ellipse">
            <a:avLst/>
          </a:prstGeom>
          <a:solidFill>
            <a:srgbClr val="8A83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6" name="Oval 905"/>
          <p:cNvSpPr/>
          <p:nvPr/>
        </p:nvSpPr>
        <p:spPr>
          <a:xfrm>
            <a:off x="885571" y="1956816"/>
            <a:ext cx="109728" cy="109728"/>
          </a:xfrm>
          <a:prstGeom prst="ellipse">
            <a:avLst/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7" name="Rounded Rectangle 906"/>
          <p:cNvSpPr/>
          <p:nvPr/>
        </p:nvSpPr>
        <p:spPr>
          <a:xfrm>
            <a:off x="1260475" y="1920240"/>
            <a:ext cx="5349240" cy="201168"/>
          </a:xfrm>
          <a:prstGeom prst="roundRect">
            <a:avLst>
              <a:gd name="adj" fmla="val 50000"/>
            </a:avLst>
          </a:prstGeom>
          <a:solidFill>
            <a:srgbClr val="DCC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1397635" y="192938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localhost:8000 — веб-приложение и окно для Windows</a:t>
            </a:r>
          </a:p>
        </p:txBody>
      </p:sp>
      <p:pic>
        <p:nvPicPr>
          <p:cNvPr id="909" name="Picture 908" descr="ui_rot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227" y="2259540"/>
            <a:ext cx="6300216" cy="3701376"/>
          </a:xfrm>
          <a:prstGeom prst="rect">
            <a:avLst/>
          </a:prstGeom>
        </p:spPr>
      </p:pic>
      <p:sp>
        <p:nvSpPr>
          <p:cNvPr id="910" name="Rounded Rectangle 909"/>
          <p:cNvSpPr/>
          <p:nvPr/>
        </p:nvSpPr>
        <p:spPr>
          <a:xfrm>
            <a:off x="6995160" y="1828800"/>
            <a:ext cx="2148840" cy="4251960"/>
          </a:xfrm>
          <a:prstGeom prst="roundRect">
            <a:avLst>
              <a:gd name="adj" fmla="val 12000"/>
            </a:avLst>
          </a:prstGeom>
          <a:solidFill>
            <a:srgbClr val="2D14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1" name="Picture 910" descr="bot_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9460" y="2103120"/>
            <a:ext cx="1920240" cy="3840480"/>
          </a:xfrm>
          <a:prstGeom prst="rect">
            <a:avLst/>
          </a:prstGeom>
        </p:spPr>
      </p:pic>
      <p:sp>
        <p:nvSpPr>
          <p:cNvPr id="912" name="Rounded Rectangle 911"/>
          <p:cNvSpPr/>
          <p:nvPr/>
        </p:nvSpPr>
        <p:spPr>
          <a:xfrm>
            <a:off x="7749540" y="1920240"/>
            <a:ext cx="640080" cy="91440"/>
          </a:xfrm>
          <a:prstGeom prst="roundRect">
            <a:avLst>
              <a:gd name="adj" fmla="val 50000"/>
            </a:avLst>
          </a:prstGeom>
          <a:solidFill>
            <a:srgbClr val="1C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3" name="Rounded Rectangle 912"/>
          <p:cNvSpPr/>
          <p:nvPr/>
        </p:nvSpPr>
        <p:spPr>
          <a:xfrm>
            <a:off x="9326880" y="1828800"/>
            <a:ext cx="24963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4" name="TextBox 913"/>
          <p:cNvSpPr txBox="1"/>
          <p:nvPr/>
        </p:nvSpPr>
        <p:spPr>
          <a:xfrm>
            <a:off x="9546336" y="2011680"/>
            <a:ext cx="2057400" cy="1828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Веб-приложение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9546336" y="2285999"/>
            <a:ext cx="2057400" cy="3931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Папка или zip, снимки с разметкой; ставится из браузера.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9326880" y="2907792"/>
            <a:ext cx="24963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7" name="TextBox 916"/>
          <p:cNvSpPr txBox="1"/>
          <p:nvPr/>
        </p:nvSpPr>
        <p:spPr>
          <a:xfrm>
            <a:off x="9546336" y="3090672"/>
            <a:ext cx="2057400" cy="1828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Windows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9546336" y="3364991"/>
            <a:ext cx="2057400" cy="3931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Установщик без прав администратора, консоль для пакетов.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9326880" y="3986784"/>
            <a:ext cx="24963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9546336" y="4169664"/>
            <a:ext cx="2057400" cy="1828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Telegram-бот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9546336" y="4443983"/>
            <a:ext cx="2057400" cy="3931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Вердикт, снимки и отчёт в чате; обезличенные данные.</a:t>
            </a:r>
          </a:p>
        </p:txBody>
      </p:sp>
      <p:sp>
        <p:nvSpPr>
          <p:cNvPr id="922" name="Rounded Rectangle 921"/>
          <p:cNvSpPr/>
          <p:nvPr/>
        </p:nvSpPr>
        <p:spPr>
          <a:xfrm>
            <a:off x="9326880" y="5065776"/>
            <a:ext cx="2496312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3" name="TextBox 922"/>
          <p:cNvSpPr txBox="1"/>
          <p:nvPr/>
        </p:nvSpPr>
        <p:spPr>
          <a:xfrm>
            <a:off x="9546336" y="5248656"/>
            <a:ext cx="2057400" cy="1828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API и PACS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9546336" y="5522975"/>
            <a:ext cx="2057400" cy="3931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POST /batch → отчёт; DICOM SR в то же исследование.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5934455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ЦЕННОСТЬ ДЛЯ ЗДРАВООХРАНЕНИЯ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Качество исследования — в момент съёмки, а не на повторе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21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ЛАБОРАНТ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Подсказка у аппарата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606040"/>
            <a:ext cx="3310127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Замечание с числом и нормой через 2 секунды: укладку исправляют, пока пациент на столе.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4213987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4433443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ВРАЧ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433443" y="2286000"/>
            <a:ext cx="331012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Исследование, которое можно читать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433443" y="2834640"/>
            <a:ext cx="331012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Заключение о качестве DICOM SR рядом со снимком; сомнительные снимки помечены флагами.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8081899" y="1828800"/>
            <a:ext cx="3749039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8301355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МЕДОРГАНИЗАЦИЯ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8301355" y="2286000"/>
            <a:ext cx="3310127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Меньше повторов, единый стандарт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8301355" y="2834640"/>
            <a:ext cx="331012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Одни и те же критерии ТЗ для всех аппаратов и смен; доля нарушений — в мониторинге.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346075" y="4160520"/>
            <a:ext cx="5669280" cy="2011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565531" y="4343400"/>
            <a:ext cx="523036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поставляется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565531" y="4663440"/>
            <a:ext cx="5230368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Контейнер для сервера МО или облака Департамента.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Установщик для Windows — ноутбук в кабинете без Docker.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GPU и интернет не нужны, снимки не уходят наружу.</a:t>
            </a:r>
          </a:p>
        </p:txBody>
      </p:sp>
      <p:sp>
        <p:nvSpPr>
          <p:cNvPr id="918" name="Rounded Rectangle 917"/>
          <p:cNvSpPr/>
          <p:nvPr/>
        </p:nvSpPr>
        <p:spPr>
          <a:xfrm>
            <a:off x="6152515" y="4160520"/>
            <a:ext cx="5669280" cy="2011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9" name="TextBox 918"/>
          <p:cNvSpPr txBox="1"/>
          <p:nvPr/>
        </p:nvSpPr>
        <p:spPr>
          <a:xfrm>
            <a:off x="6371971" y="4343400"/>
            <a:ext cx="5230368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Как измеряем эффект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371971" y="4663440"/>
            <a:ext cx="5230368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Доля повторных исследований из-за укладки: до и после.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Согласие с экспертом на слепой выборке раз в месяц.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Время врача на контроль качества.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747772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Что сервис не умеет и почему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22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graphicFrame>
        <p:nvGraphicFramePr>
          <p:cNvPr id="903" name="Table 902"/>
          <p:cNvGraphicFramePr>
            <a:graphicFrameLocks noGrp="1"/>
          </p:cNvGraphicFramePr>
          <p:nvPr/>
        </p:nvGraphicFramePr>
        <p:xfrm>
          <a:off x="346075" y="1828800"/>
          <a:ext cx="11479859" cy="42428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87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50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0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ОГРАНИЧЕНИЕ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ПОЧЕМУ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520977"/>
                          </a:solidFill>
                          <a:latin typeface="Montserrat"/>
                          <a:ea typeface="Montserrat"/>
                          <a:cs typeface="Montserrat"/>
                        </a:rPr>
                        <a:t>ЧТО НУЖНО, ЧТОБЫ СНЯТЬ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520977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Один аппарат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Все снимки — GE Lunar Prodigy Advance; PixelSpacing пуст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Снимки второго аппарата: проверить масштаб, дообучить сеть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5209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Малая выборка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6–36 нарушений на критерий, интервалы широкие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Больше разметки; отметки операторов из пилота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ROI — как эксперт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Вердикт по длине поля, а не буквально по рисунку 6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Решение организаторов; режим по ТЗ уже есть флагом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Ось и сколиоз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Эксперт не считает сколиоз нарушением оси, мы его не отличаем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Разметка сколиоза или грудного отдела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Разметка оператора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 данных нет ROI и линий — всё по изображению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Выгрузка с оверлеями денситометра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Половина тела Th12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Разметки уровня Th12 нет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Разметка Th12; модель точек уже выдаёт th12_top/bottom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Бот и Telegram</a:t>
                      </a:r>
                    </a:p>
                  </a:txBody>
                  <a:tcPr marL="45720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Файлы идут через серверы Telegram (ТЗ 3.2)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C1D22"/>
                          </a:solidFill>
                          <a:latin typeface="Montserrat"/>
                          <a:ea typeface="Montserrat"/>
                          <a:cs typeface="Montserrat"/>
                        </a:rPr>
                        <a:t>Только обезличенные данные; основной контур — без сети</a:t>
                      </a:r>
                    </a:p>
                  </a:txBody>
                  <a:tcPr marL="64008" marR="73152" marT="27432" marB="27432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9C3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C9C3D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872483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ВНЕДРЕНИЕ И ПИЛОТ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Теневой режим → ассистент лаборанта → сеть медорганизаций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23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cxnSp>
        <p:nvCxnSpPr>
          <p:cNvPr id="903" name="Connector 902"/>
          <p:cNvCxnSpPr/>
          <p:nvPr/>
        </p:nvCxnSpPr>
        <p:spPr>
          <a:xfrm>
            <a:off x="556387" y="2039112"/>
            <a:ext cx="7653240" cy="0"/>
          </a:xfrm>
          <a:prstGeom prst="line">
            <a:avLst/>
          </a:prstGeom>
          <a:ln w="15875">
            <a:solidFill>
              <a:srgbClr val="FF00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4" name="Rounded Rectangle 903"/>
          <p:cNvSpPr/>
          <p:nvPr/>
        </p:nvSpPr>
        <p:spPr>
          <a:xfrm>
            <a:off x="34607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34607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1–2 · ТЕНЕВОЙ РЕЖИМ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34607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1–2 медорганизации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346075" y="2971800"/>
            <a:ext cx="355230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DICOM-роутер отправляет копии в сервис, SR возвращается в PACS «не проверено». Считаем согласие с экспертом.</a:t>
            </a:r>
          </a:p>
        </p:txBody>
      </p:sp>
      <p:sp>
        <p:nvSpPr>
          <p:cNvPr id="908" name="Rounded Rectangle 907"/>
          <p:cNvSpPr/>
          <p:nvPr/>
        </p:nvSpPr>
        <p:spPr>
          <a:xfrm>
            <a:off x="417269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17269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3–6 · АССИСТЕНТ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17269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Замечание до отпуска пациента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4172695" y="2971800"/>
            <a:ext cx="355230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Результат у лаборанта через 2–3 с после снимка. Отметки операторов — в перекалибровку.</a:t>
            </a:r>
          </a:p>
        </p:txBody>
      </p:sp>
      <p:sp>
        <p:nvSpPr>
          <p:cNvPr id="912" name="Rounded Rectangle 911"/>
          <p:cNvSpPr/>
          <p:nvPr/>
        </p:nvSpPr>
        <p:spPr>
          <a:xfrm>
            <a:off x="7999315" y="1828800"/>
            <a:ext cx="420624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7999315" y="2377440"/>
            <a:ext cx="35523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МЕСЯЦЫ 6–12 · МАСШТАБИРОВАНИЕ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999315" y="2633472"/>
            <a:ext cx="35980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Другие аппараты и сеть МО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999315" y="2971800"/>
            <a:ext cx="3552300" cy="685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Проверка масштаба, дообучение сети на снимках аппарата, мониторинг доли нарушений.</a:t>
            </a:r>
          </a:p>
        </p:txBody>
      </p:sp>
      <p:sp>
        <p:nvSpPr>
          <p:cNvPr id="916" name="Rounded Rectangle 915"/>
          <p:cNvSpPr/>
          <p:nvPr/>
        </p:nvSpPr>
        <p:spPr>
          <a:xfrm>
            <a:off x="346075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7" name="TextBox 916"/>
          <p:cNvSpPr txBox="1"/>
          <p:nvPr/>
        </p:nvSpPr>
        <p:spPr>
          <a:xfrm>
            <a:off x="565531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КАЧЕСТВО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565531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Согласие с экспертом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565531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Чувствительность и специфичность на слепой выборке врача, раз в месяц.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4190983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4410439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ПАЦИЕНТ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4410439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Повторные исследования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4410439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Доля повторов из-за укладки по журналу МО: до и после.</a:t>
            </a:r>
          </a:p>
        </p:txBody>
      </p:sp>
      <p:sp>
        <p:nvSpPr>
          <p:cNvPr id="924" name="Rounded Rectangle 923"/>
          <p:cNvSpPr/>
          <p:nvPr/>
        </p:nvSpPr>
        <p:spPr>
          <a:xfrm>
            <a:off x="8035891" y="3749040"/>
            <a:ext cx="37168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5" name="TextBox 924"/>
          <p:cNvSpPr txBox="1"/>
          <p:nvPr/>
        </p:nvSpPr>
        <p:spPr>
          <a:xfrm>
            <a:off x="8255347" y="3931920"/>
            <a:ext cx="32779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МЕТРИКА ПИЛОТА · ВРАЧ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8255347" y="4206240"/>
            <a:ext cx="327798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Время на контроль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8255347" y="4511040"/>
            <a:ext cx="3277980" cy="472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Хронометраж на 50 исследованиях; сервис — 2 с на исследование.</a:t>
            </a:r>
          </a:p>
        </p:txBody>
      </p:sp>
      <p:sp>
        <p:nvSpPr>
          <p:cNvPr id="928" name="Rounded Rectangle 927"/>
          <p:cNvSpPr/>
          <p:nvPr/>
        </p:nvSpPr>
        <p:spPr>
          <a:xfrm>
            <a:off x="346075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9" name="TextBox 928"/>
          <p:cNvSpPr txBox="1"/>
          <p:nvPr/>
        </p:nvSpPr>
        <p:spPr>
          <a:xfrm>
            <a:off x="510667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ДЕНСИТОМЕТР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510667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</a:t>
            </a:r>
          </a:p>
        </p:txBody>
      </p:sp>
      <p:sp>
        <p:nvSpPr>
          <p:cNvPr id="931" name="Rounded Rectangle 930"/>
          <p:cNvSpPr/>
          <p:nvPr/>
        </p:nvSpPr>
        <p:spPr>
          <a:xfrm>
            <a:off x="2693253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2" name="TextBox 931"/>
          <p:cNvSpPr txBox="1"/>
          <p:nvPr/>
        </p:nvSpPr>
        <p:spPr>
          <a:xfrm>
            <a:off x="2857845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PACS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2857845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DICOM-роутер</a:t>
            </a:r>
          </a:p>
        </p:txBody>
      </p:sp>
      <p:cxnSp>
        <p:nvCxnSpPr>
          <p:cNvPr id="934" name="Connector 933"/>
          <p:cNvCxnSpPr/>
          <p:nvPr/>
        </p:nvCxnSpPr>
        <p:spPr>
          <a:xfrm>
            <a:off x="2464653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5" name="Rounded Rectangle 934"/>
          <p:cNvSpPr/>
          <p:nvPr/>
        </p:nvSpPr>
        <p:spPr>
          <a:xfrm>
            <a:off x="5040431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6" name="TextBox 935"/>
          <p:cNvSpPr txBox="1"/>
          <p:nvPr/>
        </p:nvSpPr>
        <p:spPr>
          <a:xfrm>
            <a:off x="5205023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СЕРВИС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5205023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контроль качества</a:t>
            </a:r>
          </a:p>
        </p:txBody>
      </p:sp>
      <p:cxnSp>
        <p:nvCxnSpPr>
          <p:cNvPr id="938" name="Connector 937"/>
          <p:cNvCxnSpPr/>
          <p:nvPr/>
        </p:nvCxnSpPr>
        <p:spPr>
          <a:xfrm>
            <a:off x="4811831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9" name="Rounded Rectangle 938"/>
          <p:cNvSpPr/>
          <p:nvPr/>
        </p:nvSpPr>
        <p:spPr>
          <a:xfrm>
            <a:off x="7387609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0" name="TextBox 939"/>
          <p:cNvSpPr txBox="1"/>
          <p:nvPr/>
        </p:nvSpPr>
        <p:spPr>
          <a:xfrm>
            <a:off x="7552201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НАЗАД В PACS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7552201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DICOM SR</a:t>
            </a:r>
          </a:p>
        </p:txBody>
      </p:sp>
      <p:cxnSp>
        <p:nvCxnSpPr>
          <p:cNvPr id="942" name="Connector 941"/>
          <p:cNvCxnSpPr/>
          <p:nvPr/>
        </p:nvCxnSpPr>
        <p:spPr>
          <a:xfrm>
            <a:off x="7159009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3" name="Rounded Rectangle 942"/>
          <p:cNvSpPr/>
          <p:nvPr/>
        </p:nvSpPr>
        <p:spPr>
          <a:xfrm>
            <a:off x="9734787" y="5303520"/>
            <a:ext cx="2091146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4" name="TextBox 943"/>
          <p:cNvSpPr txBox="1"/>
          <p:nvPr/>
        </p:nvSpPr>
        <p:spPr>
          <a:xfrm>
            <a:off x="9899379" y="5413248"/>
            <a:ext cx="1816826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ЛАБОРАНТ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9899379" y="5669280"/>
            <a:ext cx="18168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веб-интерфейс</a:t>
            </a:r>
          </a:p>
        </p:txBody>
      </p:sp>
      <p:cxnSp>
        <p:nvCxnSpPr>
          <p:cNvPr id="946" name="Connector 945"/>
          <p:cNvCxnSpPr/>
          <p:nvPr/>
        </p:nvCxnSpPr>
        <p:spPr>
          <a:xfrm>
            <a:off x="9506187" y="5715000"/>
            <a:ext cx="201168" cy="0"/>
          </a:xfrm>
          <a:prstGeom prst="line">
            <a:avLst/>
          </a:prstGeom>
          <a:ln w="15875">
            <a:solidFill>
              <a:srgbClr val="520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3310127" cy="620919"/>
          </a:xfrm>
          <a:prstGeom prst="roundRect">
            <a:avLst>
              <a:gd name="adj" fmla="val 187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ПЛАНЫ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Что сделаем дальше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24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82880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4" name="TextBox 903"/>
          <p:cNvSpPr txBox="1"/>
          <p:nvPr/>
        </p:nvSpPr>
        <p:spPr>
          <a:xfrm>
            <a:off x="565531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1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65531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Пилот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65531" y="260604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Теневой режим в 1–2 медорганизациях; отметки операторов — в перекалибровку раз в месяц.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4213987" y="182880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8" name="TextBox 907"/>
          <p:cNvSpPr txBox="1"/>
          <p:nvPr/>
        </p:nvSpPr>
        <p:spPr>
          <a:xfrm>
            <a:off x="4433443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2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4433443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Больше нарушений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4433443" y="260604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Разметка ротации и оси: вложенный F1 ротации 0.55 при ROC-AUC 0.82 — отсечке не хватает примеров.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8081899" y="182880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2" name="TextBox 911"/>
          <p:cNvSpPr txBox="1"/>
          <p:nvPr/>
        </p:nvSpPr>
        <p:spPr>
          <a:xfrm>
            <a:off x="8301355" y="20116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3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8301355" y="228600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Модель точек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8301355" y="260604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Дообучить фолды 2–4; согласованная расшифровка позвоночника уже снизила ошибки уровня. Дальше — Th12 для верхней границы укладки.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346075" y="406908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6" name="TextBox 915"/>
          <p:cNvSpPr txBox="1"/>
          <p:nvPr/>
        </p:nvSpPr>
        <p:spPr>
          <a:xfrm>
            <a:off x="565531" y="425196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4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565531" y="45262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Второй аппарат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565531" y="484632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Hologic и другие Lunar: проверка масштаба, дообучение сети тем же скриптом.</a:t>
            </a:r>
          </a:p>
        </p:txBody>
      </p:sp>
      <p:sp>
        <p:nvSpPr>
          <p:cNvPr id="919" name="Rounded Rectangle 918"/>
          <p:cNvSpPr/>
          <p:nvPr/>
        </p:nvSpPr>
        <p:spPr>
          <a:xfrm>
            <a:off x="4213987" y="406908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0" name="TextBox 919"/>
          <p:cNvSpPr txBox="1"/>
          <p:nvPr/>
        </p:nvSpPr>
        <p:spPr>
          <a:xfrm>
            <a:off x="4433443" y="425196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ШАГ 5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4433443" y="45262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Интеграция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4433443" y="484632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DICOM-роутер и SR в PACS, мониторинг доли нарушений по аппаратам и сменам.</a:t>
            </a:r>
          </a:p>
        </p:txBody>
      </p:sp>
      <p:sp>
        <p:nvSpPr>
          <p:cNvPr id="923" name="Rounded Rectangle 922"/>
          <p:cNvSpPr/>
          <p:nvPr/>
        </p:nvSpPr>
        <p:spPr>
          <a:xfrm>
            <a:off x="8081899" y="4069080"/>
            <a:ext cx="3749039" cy="2103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4" name="TextBox 923"/>
          <p:cNvSpPr txBox="1"/>
          <p:nvPr/>
        </p:nvSpPr>
        <p:spPr>
          <a:xfrm>
            <a:off x="8301355" y="425196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 spc="8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СЕЙЧАС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8301355" y="4526280"/>
            <a:ext cx="3310127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Уже готово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8301355" y="4846320"/>
            <a:ext cx="3310127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Контейнер, API, веб-приложение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Установщик для Windows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Telegram-бот, документация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6075" y="324562"/>
            <a:ext cx="2935224" cy="620919"/>
          </a:xfrm>
          <a:prstGeom prst="roundRect">
            <a:avLst>
              <a:gd name="adj" fmla="val 18700"/>
            </a:avLst>
          </a:prstGeom>
          <a:solidFill>
            <a:srgbClr val="5209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0" tIns="0" rIns="182880" bIns="0" rtlCol="0" anchor="ctr"/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09728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2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Сценарий демонстрации, 3 минуты</a:t>
            </a:r>
          </a:p>
        </p:txBody>
      </p:sp>
      <p:sp>
        <p:nvSpPr>
          <p:cNvPr id="902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520977"/>
                </a:solidFill>
                <a:latin typeface="Montserrat"/>
              </a:rPr>
              <a:t>25</a:t>
            </a:fld>
            <a:endParaRPr lang="ru-RU" sz="1200">
              <a:solidFill>
                <a:srgbClr val="520977"/>
              </a:solidFill>
              <a:latin typeface="Montserrat"/>
            </a:endParaRPr>
          </a:p>
        </p:txBody>
      </p:sp>
      <p:sp>
        <p:nvSpPr>
          <p:cNvPr id="903" name="Rounded Rectangle 902"/>
          <p:cNvSpPr/>
          <p:nvPr/>
        </p:nvSpPr>
        <p:spPr>
          <a:xfrm>
            <a:off x="346075" y="178308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894715" y="184708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./build.sh &amp;&amp; ./run.sh → http://localhost:8000 (или приложение)</a:t>
            </a:r>
          </a:p>
        </p:txBody>
      </p:sp>
      <p:sp>
        <p:nvSpPr>
          <p:cNvPr id="905" name="Rounded Rectangle 904"/>
          <p:cNvSpPr/>
          <p:nvPr/>
        </p:nvSpPr>
        <p:spPr>
          <a:xfrm>
            <a:off x="346075" y="2295144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894715" y="2359152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Перетащить demo.zip: 7 исследований, все типы нарушений</a:t>
            </a:r>
          </a:p>
        </p:txBody>
      </p:sp>
      <p:sp>
        <p:nvSpPr>
          <p:cNvPr id="907" name="Rounded Rectangle 906"/>
          <p:cNvSpPr/>
          <p:nvPr/>
        </p:nvSpPr>
        <p:spPr>
          <a:xfrm>
            <a:off x="346075" y="2807208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94715" y="2871216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Фильтр «Ротация»: тепловая карта, свод, выступ в мм²</a:t>
            </a:r>
          </a:p>
        </p:txBody>
      </p:sp>
      <p:sp>
        <p:nvSpPr>
          <p:cNvPr id="909" name="Rounded Rectangle 908"/>
          <p:cNvSpPr/>
          <p:nvPr/>
        </p:nvSpPr>
        <p:spPr>
          <a:xfrm>
            <a:off x="346075" y="3319272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894715" y="33832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Ось с порогом; отступы: длина поля и линии рисунка 6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346075" y="3831336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894715" y="3895344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Отметить «согласен» (A) и «не согласен», выгрузить отметки</a:t>
            </a:r>
          </a:p>
        </p:txBody>
      </p:sp>
      <p:sp>
        <p:nvSpPr>
          <p:cNvPr id="913" name="Rounded Rectangle 912"/>
          <p:cNvSpPr/>
          <p:nvPr/>
        </p:nvSpPr>
        <p:spPr>
          <a:xfrm>
            <a:off x="346075" y="43434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6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894715" y="4407408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Скачать xlsx (8 колонок ТЗ) и DICOM SR</a:t>
            </a:r>
          </a:p>
        </p:txBody>
      </p:sp>
      <p:sp>
        <p:nvSpPr>
          <p:cNvPr id="915" name="Rounded Rectangle 914"/>
          <p:cNvSpPr/>
          <p:nvPr/>
        </p:nvSpPr>
        <p:spPr>
          <a:xfrm>
            <a:off x="346075" y="4855464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FF0053"/>
                </a:solidFill>
                <a:latin typeface="Montserrat"/>
                <a:ea typeface="Montserrat"/>
                <a:cs typeface="Montserrat"/>
              </a:rPr>
              <a:t>7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894715" y="4919472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1C1D22"/>
                </a:solidFill>
                <a:latin typeface="Montserrat"/>
                <a:ea typeface="Montserrat"/>
                <a:cs typeface="Montserrat"/>
              </a:rPr>
              <a:t>С телефона: Telegram-бот, команда /demo</a:t>
            </a:r>
          </a:p>
        </p:txBody>
      </p:sp>
      <p:sp>
        <p:nvSpPr>
          <p:cNvPr id="917" name="Rounded Rectangle 916"/>
          <p:cNvSpPr/>
          <p:nvPr/>
        </p:nvSpPr>
        <p:spPr>
          <a:xfrm>
            <a:off x="6949440" y="1828800"/>
            <a:ext cx="487375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8" name="TextBox 917"/>
          <p:cNvSpPr txBox="1"/>
          <p:nvPr/>
        </p:nvSpPr>
        <p:spPr>
          <a:xfrm>
            <a:off x="7168896" y="2011680"/>
            <a:ext cx="44348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Запасной вариант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7168896" y="2316480"/>
            <a:ext cx="4434840" cy="746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Нет Docker — приложение для Windows; нет сети — слайды «Кейсы» и «Интерфейсы»; сценарий — docs/DEMO.md.</a:t>
            </a:r>
          </a:p>
        </p:txBody>
      </p:sp>
      <p:sp>
        <p:nvSpPr>
          <p:cNvPr id="920" name="Rounded Rectangle 919"/>
          <p:cNvSpPr/>
          <p:nvPr/>
        </p:nvSpPr>
        <p:spPr>
          <a:xfrm>
            <a:off x="6949440" y="3337560"/>
            <a:ext cx="487375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C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1" name="TextBox 920"/>
          <p:cNvSpPr txBox="1"/>
          <p:nvPr/>
        </p:nvSpPr>
        <p:spPr>
          <a:xfrm>
            <a:off x="7168896" y="3520440"/>
            <a:ext cx="4434840" cy="213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168896" y="3825240"/>
            <a:ext cx="4434840" cy="838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19456" indent="-219456" algn="l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github.com/theorcos239/LCT_2026</a:t>
            </a:r>
          </a:p>
          <a:p>
            <a:pPr marL="219456" indent="-219456">
              <a:lnSpc>
                <a:spcPct val="112000"/>
              </a:lnSpc>
              <a:spcAft>
                <a:spcPts val="500"/>
              </a:spcAft>
              <a:buClr>
                <a:srgbClr val="FF0053"/>
              </a:buClr>
              <a:buFont typeface="Arial"/>
              <a:buChar char="▪"/>
            </a:pPr>
            <a:r>
              <a:rPr sz="12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README · REVIEW · инструкции · DEMO</a:t>
            </a:r>
          </a:p>
        </p:txBody>
      </p:sp>
      <p:cxnSp>
        <p:nvCxnSpPr>
          <p:cNvPr id="923" name="Connector 922"/>
          <p:cNvCxnSpPr/>
          <p:nvPr/>
        </p:nvCxnSpPr>
        <p:spPr>
          <a:xfrm>
            <a:off x="346075" y="5532120"/>
            <a:ext cx="11479860" cy="0"/>
          </a:xfrm>
          <a:prstGeom prst="line">
            <a:avLst/>
          </a:prstGeom>
          <a:ln w="19050">
            <a:solidFill>
              <a:srgbClr val="520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4" name="TextBox 923"/>
          <p:cNvSpPr txBox="1"/>
          <p:nvPr/>
        </p:nvSpPr>
        <p:spPr>
          <a:xfrm>
            <a:off x="346075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Контейнер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346075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build.sh / run.sh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2642047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Отчёт ТЗ 2.5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2642047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xlsx/csv, 8 колонок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4938019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ТЗ 2.6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4938019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оверлеи, SR, интерфейс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7233991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Интерфейсы</a:t>
            </a:r>
          </a:p>
        </p:txBody>
      </p:sp>
      <p:sp>
        <p:nvSpPr>
          <p:cNvPr id="931" name="TextBox 930"/>
          <p:cNvSpPr txBox="1"/>
          <p:nvPr/>
        </p:nvSpPr>
        <p:spPr>
          <a:xfrm>
            <a:off x="7233991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веб, Windows, бот, API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9529963" y="562356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520977"/>
                </a:solidFill>
                <a:latin typeface="Montserrat"/>
                <a:ea typeface="Montserrat"/>
                <a:cs typeface="Montserrat"/>
              </a:rPr>
              <a:t>Автотесты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9529963" y="5897880"/>
            <a:ext cx="215881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4458"/>
                </a:solidFill>
                <a:latin typeface="Montserrat"/>
                <a:ea typeface="Montserrat"/>
                <a:cs typeface="Montserrat"/>
              </a:rPr>
              <a:t>сервис — 64, бот —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Номер слайда"/>
          <p:cNvSpPr>
            <a:spLocks noGrp="1"/>
          </p:cNvSpPr>
          <p:nvPr>
            <p:ph type="sldNum" sz="quarter" idx="4"/>
          </p:nvPr>
        </p:nvSpPr>
        <p:spPr>
          <a:xfrm>
            <a:off x="11064240" y="6355080"/>
            <a:ext cx="868680" cy="365760"/>
          </a:xfrm>
        </p:spPr>
        <p:txBody>
          <a:bodyPr/>
          <a:lstStyle/>
          <a:p>
            <a:pPr algn="r"/>
            <a:fld id="{52DCC5B9-D646-4B76-891F-6FF4E74E9CB4}" type="slidenum">
              <a:rPr lang="ru-RU" sz="1200">
                <a:solidFill>
                  <a:srgbClr val="FFFFFF"/>
                </a:solidFill>
                <a:latin typeface="Montserrat"/>
              </a:rPr>
              <a:t>26</a:t>
            </a:fld>
            <a:endParaRPr lang="ru-RU" sz="1200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901" name="TextBox 900"/>
          <p:cNvSpPr txBox="1"/>
          <p:nvPr/>
        </p:nvSpPr>
        <p:spPr>
          <a:xfrm>
            <a:off x="548640" y="1188720"/>
            <a:ext cx="5943600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Спасибо!</a:t>
            </a:r>
          </a:p>
        </p:txBody>
      </p:sp>
      <p:sp>
        <p:nvSpPr>
          <p:cNvPr id="902" name="TextBox 901"/>
          <p:cNvSpPr txBox="1"/>
          <p:nvPr/>
        </p:nvSpPr>
        <p:spPr>
          <a:xfrm>
            <a:off x="548640" y="228600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Готовы ответить на вопросы</a:t>
            </a:r>
          </a:p>
        </p:txBody>
      </p:sp>
      <p:sp>
        <p:nvSpPr>
          <p:cNvPr id="903" name="TextBox 902"/>
          <p:cNvSpPr txBox="1"/>
          <p:nvPr/>
        </p:nvSpPr>
        <p:spPr>
          <a:xfrm>
            <a:off x="548640" y="31546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  <p:sp>
        <p:nvSpPr>
          <p:cNvPr id="904" name="TextBox 903"/>
          <p:cNvSpPr txBox="1"/>
          <p:nvPr/>
        </p:nvSpPr>
        <p:spPr>
          <a:xfrm>
            <a:off x="548640" y="3392424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github.com/theorcos239/LCT_2026</a:t>
            </a:r>
          </a:p>
        </p:txBody>
      </p:sp>
      <p:sp>
        <p:nvSpPr>
          <p:cNvPr id="905" name="TextBox 904"/>
          <p:cNvSpPr txBox="1"/>
          <p:nvPr/>
        </p:nvSpPr>
        <p:spPr>
          <a:xfrm>
            <a:off x="548640" y="3813048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УСТАНОВЩИК ДЛЯ WINDOWS</a:t>
            </a:r>
          </a:p>
        </p:txBody>
      </p:sp>
      <p:sp>
        <p:nvSpPr>
          <p:cNvPr id="906" name="TextBox 905"/>
          <p:cNvSpPr txBox="1"/>
          <p:nvPr/>
        </p:nvSpPr>
        <p:spPr>
          <a:xfrm>
            <a:off x="548640" y="4050792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release/DXA-QC-Setup-1.0.0.exe в репозитории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548640" y="4471416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TELEGRAM-БОТ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548640" y="4709160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@LCT_bone_density_research_bot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548640" y="5129784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 spc="80">
                <a:solidFill>
                  <a:srgbClr val="FFD6E3"/>
                </a:solidFill>
                <a:latin typeface="Montserrat"/>
                <a:ea typeface="Montserrat"/>
                <a:cs typeface="Montserrat"/>
              </a:rPr>
              <a:t>ДЛЯ ПРОВЕРЯЮЩИХ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548640" y="5367528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docs/REVIEW.md — запуск за 5 минут</a:t>
            </a:r>
          </a:p>
        </p:txBody>
      </p:sp>
      <p:sp>
        <p:nvSpPr>
          <p:cNvPr id="911" name="Rounded Rectangle 910"/>
          <p:cNvSpPr/>
          <p:nvPr/>
        </p:nvSpPr>
        <p:spPr>
          <a:xfrm>
            <a:off x="6537960" y="3154680"/>
            <a:ext cx="1600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12" name="Picture 911" descr="qr_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46120"/>
            <a:ext cx="1417320" cy="1417320"/>
          </a:xfrm>
          <a:prstGeom prst="rect">
            <a:avLst/>
          </a:prstGeom>
        </p:spPr>
      </p:pic>
      <p:sp>
        <p:nvSpPr>
          <p:cNvPr id="913" name="TextBox 912"/>
          <p:cNvSpPr txBox="1"/>
          <p:nvPr/>
        </p:nvSpPr>
        <p:spPr>
          <a:xfrm>
            <a:off x="6537960" y="484632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репозиторий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5272</Words>
  <Application>Microsoft Office PowerPoint</Application>
  <PresentationFormat>Широкоэкранный</PresentationFormat>
  <Paragraphs>817</Paragraphs>
  <Slides>26</Slides>
  <Notes>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1" baseType="lpstr">
      <vt:lpstr>Arial</vt:lpstr>
      <vt:lpstr>Calibri</vt:lpstr>
      <vt:lpstr>Montserrat</vt:lpstr>
      <vt:lpstr>Wingdings</vt:lpstr>
      <vt:lpstr>Для Академия инноваторов 16_9</vt:lpstr>
      <vt:lpstr>Презентация PowerPoint</vt:lpstr>
      <vt:lpstr>Команда [название команды]</vt:lpstr>
      <vt:lpstr>КОМАНДА</vt:lpstr>
      <vt:lpstr>ИСТОРИЯ И ВЫЗОВЫ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UM</cp:lastModifiedBy>
  <cp:revision>96</cp:revision>
  <dcterms:created xsi:type="dcterms:W3CDTF">2023-05-15T07:36:23Z</dcterms:created>
  <dcterms:modified xsi:type="dcterms:W3CDTF">2026-09-29T16:43:37Z</dcterms:modified>
</cp:coreProperties>
</file>