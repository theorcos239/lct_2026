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8"/>
  </p:notesMasterIdLst>
  <p:handoutMasterIdLst>
    <p:handoutMasterId r:id="rId29"/>
  </p:handoutMasterIdLst>
  <p:sldIdLst>
    <p:sldId id="365" r:id="rId2"/>
    <p:sldId id="366" r:id="rId3"/>
    <p:sldId id="362" r:id="rId4"/>
    <p:sldId id="364" r:id="rId5"/>
    <p:sldId id="367" r:id="rId6"/>
    <p:sldId id="368" r:id="rId7"/>
    <p:sldId id="369" r:id="rId8"/>
    <p:sldId id="370" r:id="rId9"/>
    <p:sldId id="371" r:id="rId10"/>
    <p:sldId id="372" r:id="rId11"/>
    <p:sldId id="373" r:id="rId12"/>
    <p:sldId id="374" r:id="rId13"/>
    <p:sldId id="375" r:id="rId14"/>
    <p:sldId id="376" r:id="rId15"/>
    <p:sldId id="377" r:id="rId16"/>
    <p:sldId id="378" r:id="rId17"/>
    <p:sldId id="379" r:id="rId18"/>
    <p:sldId id="380" r:id="rId19"/>
    <p:sldId id="381" r:id="rId20"/>
    <p:sldId id="382" r:id="rId21"/>
    <p:sldId id="383" r:id="rId22"/>
    <p:sldId id="384" r:id="rId23"/>
    <p:sldId id="385" r:id="rId24"/>
    <p:sldId id="386" r:id="rId25"/>
    <p:sldId id="387" r:id="rId26"/>
    <p:sldId id="388" r:id="rId27"/>
  </p:sldIdLst>
  <p:sldSz cx="12192000" cy="6858000"/>
  <p:notesSz cx="6858000" cy="9144000"/>
  <p:embeddedFontLst>
    <p:embeddedFont>
      <p:font typeface="Montserrat" pitchFamily="2" charset="-52"/>
      <p:regular r:id="rId30"/>
      <p:bold r:id="rId31"/>
      <p:italic r:id="rId32"/>
      <p:boldItalic r:id="rId33"/>
    </p:embeddedFont>
  </p:embeddedFontLst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</p14:sldIdLst>
        </p14:section>
        <p14:section name="Информация" id="{9FA27940-A45B-471D-96EC-3FCE80AE8A9B}">
          <p14:sldIdLst>
            <p14:sldId id="367"/>
          </p14:sldIdLst>
        </p14:section>
        <p14:section name="Материалы" id="{0F84D0DE-CEB1-417E-B269-8B3EB04B5FA6}">
          <p14:sldIdLst>
            <p14:sldId id="368"/>
          </p14:sldIdLst>
        </p14:section>
        <p14:section name="Шаблоны слайдов" id="{24401F80-F81B-49C3-8D55-70A14F0BF8FF}">
          <p14:sldIdLst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выступ</c:v>
                </c:pt>
              </c:strCache>
            </c:strRef>
          </c:tx>
          <c:spPr>
            <a:ln w="12700">
              <a:solidFill>
                <a:srgbClr val="8A83D1"/>
              </a:solidFill>
              <a:prstDash val="dash"/>
            </a:ln>
          </c:spPr>
          <c:marker>
            <c:symbol val="none"/>
          </c:marker>
          <c:xVal>
            <c:numRef>
              <c:f>Sheet1!$A$2:$A$58</c:f>
              <c:numCache>
                <c:formatCode>General</c:formatCode>
                <c:ptCount val="57"/>
                <c:pt idx="0">
                  <c:v>0</c:v>
                </c:pt>
                <c:pt idx="1">
                  <c:v>0</c:v>
                </c:pt>
                <c:pt idx="2">
                  <c:v>8.771929824561403E-3</c:v>
                </c:pt>
                <c:pt idx="3">
                  <c:v>1.7543859649122806E-2</c:v>
                </c:pt>
                <c:pt idx="4">
                  <c:v>1.7543859649122806E-2</c:v>
                </c:pt>
                <c:pt idx="5">
                  <c:v>2.6315789473684209E-2</c:v>
                </c:pt>
                <c:pt idx="6">
                  <c:v>2.6315789473684209E-2</c:v>
                </c:pt>
                <c:pt idx="7">
                  <c:v>2.6315789473684209E-2</c:v>
                </c:pt>
                <c:pt idx="8">
                  <c:v>3.5087719298245612E-2</c:v>
                </c:pt>
                <c:pt idx="9">
                  <c:v>4.3859649122807015E-2</c:v>
                </c:pt>
                <c:pt idx="10">
                  <c:v>4.3859649122807015E-2</c:v>
                </c:pt>
                <c:pt idx="11">
                  <c:v>4.3859649122807015E-2</c:v>
                </c:pt>
                <c:pt idx="12">
                  <c:v>5.2631578947368418E-2</c:v>
                </c:pt>
                <c:pt idx="13">
                  <c:v>5.2631578947368418E-2</c:v>
                </c:pt>
                <c:pt idx="14">
                  <c:v>6.1403508771929821E-2</c:v>
                </c:pt>
                <c:pt idx="15">
                  <c:v>6.1403508771929821E-2</c:v>
                </c:pt>
                <c:pt idx="16">
                  <c:v>7.0175438596491224E-2</c:v>
                </c:pt>
                <c:pt idx="17">
                  <c:v>7.0175438596491224E-2</c:v>
                </c:pt>
                <c:pt idx="18">
                  <c:v>7.8947368421052627E-2</c:v>
                </c:pt>
                <c:pt idx="19">
                  <c:v>7.8947368421052627E-2</c:v>
                </c:pt>
                <c:pt idx="20">
                  <c:v>7.8947368421052627E-2</c:v>
                </c:pt>
                <c:pt idx="21">
                  <c:v>7.8947368421052627E-2</c:v>
                </c:pt>
                <c:pt idx="22">
                  <c:v>8.771929824561403E-2</c:v>
                </c:pt>
                <c:pt idx="23">
                  <c:v>9.6491228070175433E-2</c:v>
                </c:pt>
                <c:pt idx="24">
                  <c:v>9.6491228070175433E-2</c:v>
                </c:pt>
                <c:pt idx="25">
                  <c:v>9.6491228070175433E-2</c:v>
                </c:pt>
                <c:pt idx="26">
                  <c:v>9.6491228070175433E-2</c:v>
                </c:pt>
                <c:pt idx="27">
                  <c:v>0.10526315789473684</c:v>
                </c:pt>
                <c:pt idx="28">
                  <c:v>0.11403508771929824</c:v>
                </c:pt>
                <c:pt idx="29">
                  <c:v>0.12280701754385964</c:v>
                </c:pt>
                <c:pt idx="30">
                  <c:v>0.13157894736842105</c:v>
                </c:pt>
                <c:pt idx="31">
                  <c:v>0.14035087719298245</c:v>
                </c:pt>
                <c:pt idx="32">
                  <c:v>0.14912280701754385</c:v>
                </c:pt>
                <c:pt idx="33">
                  <c:v>0.15789473684210525</c:v>
                </c:pt>
                <c:pt idx="34">
                  <c:v>0.16666666666666666</c:v>
                </c:pt>
                <c:pt idx="35">
                  <c:v>0.17543859649122806</c:v>
                </c:pt>
                <c:pt idx="36">
                  <c:v>0.18421052631578946</c:v>
                </c:pt>
                <c:pt idx="37">
                  <c:v>0.19298245614035087</c:v>
                </c:pt>
                <c:pt idx="38">
                  <c:v>0.19298245614035087</c:v>
                </c:pt>
                <c:pt idx="39">
                  <c:v>0.20175438596491227</c:v>
                </c:pt>
                <c:pt idx="40">
                  <c:v>0.21052631578947367</c:v>
                </c:pt>
                <c:pt idx="41">
                  <c:v>0.21929824561403508</c:v>
                </c:pt>
                <c:pt idx="42">
                  <c:v>0.22807017543859648</c:v>
                </c:pt>
                <c:pt idx="43">
                  <c:v>0.23684210526315788</c:v>
                </c:pt>
                <c:pt idx="44">
                  <c:v>0.24561403508771928</c:v>
                </c:pt>
                <c:pt idx="45">
                  <c:v>0.24561403508771928</c:v>
                </c:pt>
                <c:pt idx="46">
                  <c:v>0.24561403508771928</c:v>
                </c:pt>
                <c:pt idx="47">
                  <c:v>0.24561403508771928</c:v>
                </c:pt>
                <c:pt idx="48">
                  <c:v>0.25438596491228072</c:v>
                </c:pt>
                <c:pt idx="49">
                  <c:v>0.25438596491228072</c:v>
                </c:pt>
                <c:pt idx="50">
                  <c:v>0.26315789473684209</c:v>
                </c:pt>
                <c:pt idx="51">
                  <c:v>0.27192982456140352</c:v>
                </c:pt>
                <c:pt idx="52">
                  <c:v>0.2807017543859649</c:v>
                </c:pt>
                <c:pt idx="53">
                  <c:v>0.2807017543859649</c:v>
                </c:pt>
                <c:pt idx="54">
                  <c:v>0.28947368421052633</c:v>
                </c:pt>
                <c:pt idx="55">
                  <c:v>0.2982456140350877</c:v>
                </c:pt>
                <c:pt idx="56">
                  <c:v>1</c:v>
                </c:pt>
              </c:numCache>
            </c:numRef>
          </c:xVal>
          <c:yVal>
            <c:numRef>
              <c:f>Sheet1!$B$2:$B$58</c:f>
              <c:numCache>
                <c:formatCode>General</c:formatCode>
                <c:ptCount val="57"/>
                <c:pt idx="0">
                  <c:v>0</c:v>
                </c:pt>
                <c:pt idx="1">
                  <c:v>2.7777777777777776E-2</c:v>
                </c:pt>
                <c:pt idx="2">
                  <c:v>2.7777777777777776E-2</c:v>
                </c:pt>
                <c:pt idx="3">
                  <c:v>2.7777777777777776E-2</c:v>
                </c:pt>
                <c:pt idx="4">
                  <c:v>5.5555555555555552E-2</c:v>
                </c:pt>
                <c:pt idx="5">
                  <c:v>5.5555555555555552E-2</c:v>
                </c:pt>
                <c:pt idx="6">
                  <c:v>8.3333333333333329E-2</c:v>
                </c:pt>
                <c:pt idx="7">
                  <c:v>0.1111111111111111</c:v>
                </c:pt>
                <c:pt idx="8">
                  <c:v>0.1388888888888889</c:v>
                </c:pt>
                <c:pt idx="9">
                  <c:v>0.1388888888888889</c:v>
                </c:pt>
                <c:pt idx="10">
                  <c:v>0.16666666666666666</c:v>
                </c:pt>
                <c:pt idx="11">
                  <c:v>0.19444444444444445</c:v>
                </c:pt>
                <c:pt idx="12">
                  <c:v>0.19444444444444445</c:v>
                </c:pt>
                <c:pt idx="13">
                  <c:v>0.22222222222222221</c:v>
                </c:pt>
                <c:pt idx="14">
                  <c:v>0.22222222222222221</c:v>
                </c:pt>
                <c:pt idx="15">
                  <c:v>0.25</c:v>
                </c:pt>
                <c:pt idx="16">
                  <c:v>0.25</c:v>
                </c:pt>
                <c:pt idx="17">
                  <c:v>0.27777777777777779</c:v>
                </c:pt>
                <c:pt idx="18">
                  <c:v>0.27777777777777779</c:v>
                </c:pt>
                <c:pt idx="19">
                  <c:v>0.30555555555555558</c:v>
                </c:pt>
                <c:pt idx="20">
                  <c:v>0.33333333333333331</c:v>
                </c:pt>
                <c:pt idx="21">
                  <c:v>0.3611111111111111</c:v>
                </c:pt>
                <c:pt idx="22">
                  <c:v>0.3611111111111111</c:v>
                </c:pt>
                <c:pt idx="23">
                  <c:v>0.3611111111111111</c:v>
                </c:pt>
                <c:pt idx="24">
                  <c:v>0.3888888888888889</c:v>
                </c:pt>
                <c:pt idx="25">
                  <c:v>0.41666666666666669</c:v>
                </c:pt>
                <c:pt idx="26">
                  <c:v>0.44444444444444442</c:v>
                </c:pt>
                <c:pt idx="27">
                  <c:v>0.44444444444444442</c:v>
                </c:pt>
                <c:pt idx="28">
                  <c:v>0.44444444444444442</c:v>
                </c:pt>
                <c:pt idx="29">
                  <c:v>0.44444444444444442</c:v>
                </c:pt>
                <c:pt idx="30">
                  <c:v>0.44444444444444442</c:v>
                </c:pt>
                <c:pt idx="31">
                  <c:v>0.44444444444444442</c:v>
                </c:pt>
                <c:pt idx="32">
                  <c:v>0.44444444444444442</c:v>
                </c:pt>
                <c:pt idx="33">
                  <c:v>0.44444444444444442</c:v>
                </c:pt>
                <c:pt idx="34">
                  <c:v>0.44444444444444442</c:v>
                </c:pt>
                <c:pt idx="35">
                  <c:v>0.44444444444444442</c:v>
                </c:pt>
                <c:pt idx="36">
                  <c:v>0.44444444444444442</c:v>
                </c:pt>
                <c:pt idx="37">
                  <c:v>0.44444444444444442</c:v>
                </c:pt>
                <c:pt idx="38">
                  <c:v>0.47222222222222221</c:v>
                </c:pt>
                <c:pt idx="39">
                  <c:v>0.47222222222222221</c:v>
                </c:pt>
                <c:pt idx="40">
                  <c:v>0.47222222222222221</c:v>
                </c:pt>
                <c:pt idx="41">
                  <c:v>0.47222222222222221</c:v>
                </c:pt>
                <c:pt idx="42">
                  <c:v>0.47222222222222221</c:v>
                </c:pt>
                <c:pt idx="43">
                  <c:v>0.47222222222222221</c:v>
                </c:pt>
                <c:pt idx="44">
                  <c:v>0.47222222222222221</c:v>
                </c:pt>
                <c:pt idx="45">
                  <c:v>0.5</c:v>
                </c:pt>
                <c:pt idx="46">
                  <c:v>0.52777777777777779</c:v>
                </c:pt>
                <c:pt idx="47">
                  <c:v>0.55555555555555558</c:v>
                </c:pt>
                <c:pt idx="48">
                  <c:v>0.55555555555555558</c:v>
                </c:pt>
                <c:pt idx="49">
                  <c:v>0.58333333333333337</c:v>
                </c:pt>
                <c:pt idx="50">
                  <c:v>0.58333333333333337</c:v>
                </c:pt>
                <c:pt idx="51">
                  <c:v>0.58333333333333337</c:v>
                </c:pt>
                <c:pt idx="52">
                  <c:v>0.58333333333333337</c:v>
                </c:pt>
                <c:pt idx="53">
                  <c:v>0.61111111111111116</c:v>
                </c:pt>
                <c:pt idx="54">
                  <c:v>0.61111111111111116</c:v>
                </c:pt>
                <c:pt idx="55">
                  <c:v>0.61111111111111116</c:v>
                </c:pt>
                <c:pt idx="5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C3B-44A2-945E-A26D1770641B}"/>
            </c:ext>
          </c:extLst>
        </c:ser>
        <c:ser>
          <c:idx val="1"/>
          <c:order val="1"/>
          <c:tx>
            <c:strRef>
              <c:f>Sheet1!$B$60</c:f>
              <c:strCache>
                <c:ptCount val="1"/>
                <c:pt idx="0">
                  <c:v>нейросеть</c:v>
                </c:pt>
              </c:strCache>
            </c:strRef>
          </c:tx>
          <c:spPr>
            <a:ln w="31750">
              <a:solidFill>
                <a:srgbClr val="FC3777"/>
              </a:solidFill>
            </a:ln>
          </c:spPr>
          <c:marker>
            <c:symbol val="none"/>
          </c:marker>
          <c:xVal>
            <c:numRef>
              <c:f>Sheet1!$A$61:$A$211</c:f>
              <c:numCache>
                <c:formatCode>General</c:formatCode>
                <c:ptCount val="15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8.771929824561403E-3</c:v>
                </c:pt>
                <c:pt idx="9">
                  <c:v>8.771929824561403E-3</c:v>
                </c:pt>
                <c:pt idx="10">
                  <c:v>1.7543859649122806E-2</c:v>
                </c:pt>
                <c:pt idx="11">
                  <c:v>1.7543859649122806E-2</c:v>
                </c:pt>
                <c:pt idx="12">
                  <c:v>2.6315789473684209E-2</c:v>
                </c:pt>
                <c:pt idx="13">
                  <c:v>3.5087719298245612E-2</c:v>
                </c:pt>
                <c:pt idx="14">
                  <c:v>3.5087719298245612E-2</c:v>
                </c:pt>
                <c:pt idx="15">
                  <c:v>3.5087719298245612E-2</c:v>
                </c:pt>
                <c:pt idx="16">
                  <c:v>4.3859649122807015E-2</c:v>
                </c:pt>
                <c:pt idx="17">
                  <c:v>5.2631578947368418E-2</c:v>
                </c:pt>
                <c:pt idx="18">
                  <c:v>6.1403508771929821E-2</c:v>
                </c:pt>
                <c:pt idx="19">
                  <c:v>6.1403508771929821E-2</c:v>
                </c:pt>
                <c:pt idx="20">
                  <c:v>6.1403508771929821E-2</c:v>
                </c:pt>
                <c:pt idx="21">
                  <c:v>6.1403508771929821E-2</c:v>
                </c:pt>
                <c:pt idx="22">
                  <c:v>7.0175438596491224E-2</c:v>
                </c:pt>
                <c:pt idx="23">
                  <c:v>7.8947368421052627E-2</c:v>
                </c:pt>
                <c:pt idx="24">
                  <c:v>8.771929824561403E-2</c:v>
                </c:pt>
                <c:pt idx="25">
                  <c:v>8.771929824561403E-2</c:v>
                </c:pt>
                <c:pt idx="26">
                  <c:v>8.771929824561403E-2</c:v>
                </c:pt>
                <c:pt idx="27">
                  <c:v>9.6491228070175433E-2</c:v>
                </c:pt>
                <c:pt idx="28">
                  <c:v>9.6491228070175433E-2</c:v>
                </c:pt>
                <c:pt idx="29">
                  <c:v>9.6491228070175433E-2</c:v>
                </c:pt>
                <c:pt idx="30">
                  <c:v>0.10526315789473684</c:v>
                </c:pt>
                <c:pt idx="31">
                  <c:v>0.11403508771929824</c:v>
                </c:pt>
                <c:pt idx="32">
                  <c:v>0.11403508771929824</c:v>
                </c:pt>
                <c:pt idx="33">
                  <c:v>0.12280701754385964</c:v>
                </c:pt>
                <c:pt idx="34">
                  <c:v>0.12280701754385964</c:v>
                </c:pt>
                <c:pt idx="35">
                  <c:v>0.13157894736842105</c:v>
                </c:pt>
                <c:pt idx="36">
                  <c:v>0.14035087719298245</c:v>
                </c:pt>
                <c:pt idx="37">
                  <c:v>0.14035087719298245</c:v>
                </c:pt>
                <c:pt idx="38">
                  <c:v>0.14912280701754385</c:v>
                </c:pt>
                <c:pt idx="39">
                  <c:v>0.15789473684210525</c:v>
                </c:pt>
                <c:pt idx="40">
                  <c:v>0.16666666666666666</c:v>
                </c:pt>
                <c:pt idx="41">
                  <c:v>0.16666666666666666</c:v>
                </c:pt>
                <c:pt idx="42">
                  <c:v>0.16666666666666666</c:v>
                </c:pt>
                <c:pt idx="43">
                  <c:v>0.16666666666666666</c:v>
                </c:pt>
                <c:pt idx="44">
                  <c:v>0.17543859649122806</c:v>
                </c:pt>
                <c:pt idx="45">
                  <c:v>0.18421052631578946</c:v>
                </c:pt>
                <c:pt idx="46">
                  <c:v>0.19298245614035087</c:v>
                </c:pt>
                <c:pt idx="47">
                  <c:v>0.19298245614035087</c:v>
                </c:pt>
                <c:pt idx="48">
                  <c:v>0.20175438596491227</c:v>
                </c:pt>
                <c:pt idx="49">
                  <c:v>0.21052631578947367</c:v>
                </c:pt>
                <c:pt idx="50">
                  <c:v>0.21052631578947367</c:v>
                </c:pt>
                <c:pt idx="51">
                  <c:v>0.21929824561403508</c:v>
                </c:pt>
                <c:pt idx="52">
                  <c:v>0.22807017543859648</c:v>
                </c:pt>
                <c:pt idx="53">
                  <c:v>0.23684210526315788</c:v>
                </c:pt>
                <c:pt idx="54">
                  <c:v>0.24561403508771928</c:v>
                </c:pt>
                <c:pt idx="55">
                  <c:v>0.25438596491228072</c:v>
                </c:pt>
                <c:pt idx="56">
                  <c:v>0.26315789473684209</c:v>
                </c:pt>
                <c:pt idx="57">
                  <c:v>0.26315789473684209</c:v>
                </c:pt>
                <c:pt idx="58">
                  <c:v>0.27192982456140352</c:v>
                </c:pt>
                <c:pt idx="59">
                  <c:v>0.2807017543859649</c:v>
                </c:pt>
                <c:pt idx="60">
                  <c:v>0.28947368421052633</c:v>
                </c:pt>
                <c:pt idx="61">
                  <c:v>0.2982456140350877</c:v>
                </c:pt>
                <c:pt idx="62">
                  <c:v>0.30701754385964913</c:v>
                </c:pt>
                <c:pt idx="63">
                  <c:v>0.31578947368421051</c:v>
                </c:pt>
                <c:pt idx="64">
                  <c:v>0.31578947368421051</c:v>
                </c:pt>
                <c:pt idx="65">
                  <c:v>0.32456140350877194</c:v>
                </c:pt>
                <c:pt idx="66">
                  <c:v>0.33333333333333331</c:v>
                </c:pt>
                <c:pt idx="67">
                  <c:v>0.34210526315789475</c:v>
                </c:pt>
                <c:pt idx="68">
                  <c:v>0.34210526315789475</c:v>
                </c:pt>
                <c:pt idx="69">
                  <c:v>0.35087719298245612</c:v>
                </c:pt>
                <c:pt idx="70">
                  <c:v>0.35964912280701755</c:v>
                </c:pt>
                <c:pt idx="71">
                  <c:v>0.36842105263157893</c:v>
                </c:pt>
                <c:pt idx="72">
                  <c:v>0.37719298245614036</c:v>
                </c:pt>
                <c:pt idx="73">
                  <c:v>0.38596491228070173</c:v>
                </c:pt>
                <c:pt idx="74">
                  <c:v>0.39473684210526316</c:v>
                </c:pt>
                <c:pt idx="75">
                  <c:v>0.40350877192982454</c:v>
                </c:pt>
                <c:pt idx="76">
                  <c:v>0.41228070175438597</c:v>
                </c:pt>
                <c:pt idx="77">
                  <c:v>0.42105263157894735</c:v>
                </c:pt>
                <c:pt idx="78">
                  <c:v>0.42982456140350878</c:v>
                </c:pt>
                <c:pt idx="79">
                  <c:v>0.43859649122807015</c:v>
                </c:pt>
                <c:pt idx="80">
                  <c:v>0.44736842105263158</c:v>
                </c:pt>
                <c:pt idx="81">
                  <c:v>0.45614035087719296</c:v>
                </c:pt>
                <c:pt idx="82">
                  <c:v>0.46491228070175439</c:v>
                </c:pt>
                <c:pt idx="83">
                  <c:v>0.47368421052631576</c:v>
                </c:pt>
                <c:pt idx="84">
                  <c:v>0.48245614035087719</c:v>
                </c:pt>
                <c:pt idx="85">
                  <c:v>0.49122807017543857</c:v>
                </c:pt>
                <c:pt idx="86">
                  <c:v>0.5</c:v>
                </c:pt>
                <c:pt idx="87">
                  <c:v>0.5</c:v>
                </c:pt>
                <c:pt idx="88">
                  <c:v>0.50877192982456143</c:v>
                </c:pt>
                <c:pt idx="89">
                  <c:v>0.51754385964912286</c:v>
                </c:pt>
                <c:pt idx="90">
                  <c:v>0.52631578947368418</c:v>
                </c:pt>
                <c:pt idx="91">
                  <c:v>0.52631578947368418</c:v>
                </c:pt>
                <c:pt idx="92">
                  <c:v>0.53508771929824561</c:v>
                </c:pt>
                <c:pt idx="93">
                  <c:v>0.53508771929824561</c:v>
                </c:pt>
                <c:pt idx="94">
                  <c:v>0.54385964912280704</c:v>
                </c:pt>
                <c:pt idx="95">
                  <c:v>0.55263157894736847</c:v>
                </c:pt>
                <c:pt idx="96">
                  <c:v>0.55263157894736847</c:v>
                </c:pt>
                <c:pt idx="97">
                  <c:v>0.55263157894736847</c:v>
                </c:pt>
                <c:pt idx="98">
                  <c:v>0.56140350877192979</c:v>
                </c:pt>
                <c:pt idx="99">
                  <c:v>0.57017543859649122</c:v>
                </c:pt>
                <c:pt idx="100">
                  <c:v>0.57894736842105265</c:v>
                </c:pt>
                <c:pt idx="101">
                  <c:v>0.58771929824561409</c:v>
                </c:pt>
                <c:pt idx="102">
                  <c:v>0.59649122807017541</c:v>
                </c:pt>
                <c:pt idx="103">
                  <c:v>0.60526315789473684</c:v>
                </c:pt>
                <c:pt idx="104">
                  <c:v>0.61403508771929827</c:v>
                </c:pt>
                <c:pt idx="105">
                  <c:v>0.6228070175438597</c:v>
                </c:pt>
                <c:pt idx="106">
                  <c:v>0.63157894736842102</c:v>
                </c:pt>
                <c:pt idx="107">
                  <c:v>0.64035087719298245</c:v>
                </c:pt>
                <c:pt idx="108">
                  <c:v>0.64912280701754388</c:v>
                </c:pt>
                <c:pt idx="109">
                  <c:v>0.65789473684210531</c:v>
                </c:pt>
                <c:pt idx="110">
                  <c:v>0.66666666666666663</c:v>
                </c:pt>
                <c:pt idx="111">
                  <c:v>0.67543859649122806</c:v>
                </c:pt>
                <c:pt idx="112">
                  <c:v>0.68421052631578949</c:v>
                </c:pt>
                <c:pt idx="113">
                  <c:v>0.69298245614035092</c:v>
                </c:pt>
                <c:pt idx="114">
                  <c:v>0.70175438596491224</c:v>
                </c:pt>
                <c:pt idx="115">
                  <c:v>0.71052631578947367</c:v>
                </c:pt>
                <c:pt idx="116">
                  <c:v>0.7192982456140351</c:v>
                </c:pt>
                <c:pt idx="117">
                  <c:v>0.72807017543859653</c:v>
                </c:pt>
                <c:pt idx="118">
                  <c:v>0.73684210526315785</c:v>
                </c:pt>
                <c:pt idx="119">
                  <c:v>0.74561403508771928</c:v>
                </c:pt>
                <c:pt idx="120">
                  <c:v>0.75438596491228072</c:v>
                </c:pt>
                <c:pt idx="121">
                  <c:v>0.75438596491228072</c:v>
                </c:pt>
                <c:pt idx="122">
                  <c:v>0.76315789473684215</c:v>
                </c:pt>
                <c:pt idx="123">
                  <c:v>0.77192982456140347</c:v>
                </c:pt>
                <c:pt idx="124">
                  <c:v>0.7807017543859649</c:v>
                </c:pt>
                <c:pt idx="125">
                  <c:v>0.7807017543859649</c:v>
                </c:pt>
                <c:pt idx="126">
                  <c:v>0.78947368421052633</c:v>
                </c:pt>
                <c:pt idx="127">
                  <c:v>0.79824561403508776</c:v>
                </c:pt>
                <c:pt idx="128">
                  <c:v>0.80701754385964908</c:v>
                </c:pt>
                <c:pt idx="129">
                  <c:v>0.81578947368421051</c:v>
                </c:pt>
                <c:pt idx="130">
                  <c:v>0.82456140350877194</c:v>
                </c:pt>
                <c:pt idx="131">
                  <c:v>0.83333333333333337</c:v>
                </c:pt>
                <c:pt idx="132">
                  <c:v>0.84210526315789469</c:v>
                </c:pt>
                <c:pt idx="133">
                  <c:v>0.85087719298245612</c:v>
                </c:pt>
                <c:pt idx="134">
                  <c:v>0.85964912280701755</c:v>
                </c:pt>
                <c:pt idx="135">
                  <c:v>0.86842105263157898</c:v>
                </c:pt>
                <c:pt idx="136">
                  <c:v>0.8771929824561403</c:v>
                </c:pt>
                <c:pt idx="137">
                  <c:v>0.88596491228070173</c:v>
                </c:pt>
                <c:pt idx="138">
                  <c:v>0.89473684210526316</c:v>
                </c:pt>
                <c:pt idx="139">
                  <c:v>0.90350877192982459</c:v>
                </c:pt>
                <c:pt idx="140">
                  <c:v>0.91228070175438591</c:v>
                </c:pt>
                <c:pt idx="141">
                  <c:v>0.92105263157894735</c:v>
                </c:pt>
                <c:pt idx="142">
                  <c:v>0.92982456140350878</c:v>
                </c:pt>
                <c:pt idx="143">
                  <c:v>0.93859649122807021</c:v>
                </c:pt>
                <c:pt idx="144">
                  <c:v>0.94736842105263153</c:v>
                </c:pt>
                <c:pt idx="145">
                  <c:v>0.95614035087719296</c:v>
                </c:pt>
                <c:pt idx="146">
                  <c:v>0.96491228070175439</c:v>
                </c:pt>
                <c:pt idx="147">
                  <c:v>0.97368421052631582</c:v>
                </c:pt>
                <c:pt idx="148">
                  <c:v>0.98245614035087714</c:v>
                </c:pt>
                <c:pt idx="149">
                  <c:v>0.99122807017543857</c:v>
                </c:pt>
                <c:pt idx="150">
                  <c:v>1</c:v>
                </c:pt>
              </c:numCache>
            </c:numRef>
          </c:xVal>
          <c:yVal>
            <c:numRef>
              <c:f>Sheet1!$B$61:$B$211</c:f>
              <c:numCache>
                <c:formatCode>General</c:formatCode>
                <c:ptCount val="151"/>
                <c:pt idx="0">
                  <c:v>0</c:v>
                </c:pt>
                <c:pt idx="1">
                  <c:v>2.7777777777777776E-2</c:v>
                </c:pt>
                <c:pt idx="2">
                  <c:v>5.5555555555555552E-2</c:v>
                </c:pt>
                <c:pt idx="3">
                  <c:v>8.3333333333333329E-2</c:v>
                </c:pt>
                <c:pt idx="4">
                  <c:v>0.1111111111111111</c:v>
                </c:pt>
                <c:pt idx="5">
                  <c:v>0.1388888888888889</c:v>
                </c:pt>
                <c:pt idx="6">
                  <c:v>0.16666666666666666</c:v>
                </c:pt>
                <c:pt idx="7">
                  <c:v>0.19444444444444445</c:v>
                </c:pt>
                <c:pt idx="8">
                  <c:v>0.19444444444444445</c:v>
                </c:pt>
                <c:pt idx="9">
                  <c:v>0.22222222222222221</c:v>
                </c:pt>
                <c:pt idx="10">
                  <c:v>0.22222222222222221</c:v>
                </c:pt>
                <c:pt idx="11">
                  <c:v>0.25</c:v>
                </c:pt>
                <c:pt idx="12">
                  <c:v>0.25</c:v>
                </c:pt>
                <c:pt idx="13">
                  <c:v>0.25</c:v>
                </c:pt>
                <c:pt idx="14">
                  <c:v>0.27777777777777779</c:v>
                </c:pt>
                <c:pt idx="15">
                  <c:v>0.30555555555555558</c:v>
                </c:pt>
                <c:pt idx="16">
                  <c:v>0.30555555555555558</c:v>
                </c:pt>
                <c:pt idx="17">
                  <c:v>0.30555555555555558</c:v>
                </c:pt>
                <c:pt idx="18">
                  <c:v>0.30555555555555558</c:v>
                </c:pt>
                <c:pt idx="19">
                  <c:v>0.33333333333333331</c:v>
                </c:pt>
                <c:pt idx="20">
                  <c:v>0.3611111111111111</c:v>
                </c:pt>
                <c:pt idx="21">
                  <c:v>0.3888888888888889</c:v>
                </c:pt>
                <c:pt idx="22">
                  <c:v>0.3888888888888889</c:v>
                </c:pt>
                <c:pt idx="23">
                  <c:v>0.3888888888888889</c:v>
                </c:pt>
                <c:pt idx="24">
                  <c:v>0.3888888888888889</c:v>
                </c:pt>
                <c:pt idx="25">
                  <c:v>0.41666666666666669</c:v>
                </c:pt>
                <c:pt idx="26">
                  <c:v>0.44444444444444442</c:v>
                </c:pt>
                <c:pt idx="27">
                  <c:v>0.44444444444444442</c:v>
                </c:pt>
                <c:pt idx="28">
                  <c:v>0.47222222222222221</c:v>
                </c:pt>
                <c:pt idx="29">
                  <c:v>0.5</c:v>
                </c:pt>
                <c:pt idx="30">
                  <c:v>0.5</c:v>
                </c:pt>
                <c:pt idx="31">
                  <c:v>0.5</c:v>
                </c:pt>
                <c:pt idx="32">
                  <c:v>0.52777777777777779</c:v>
                </c:pt>
                <c:pt idx="33">
                  <c:v>0.52777777777777779</c:v>
                </c:pt>
                <c:pt idx="34">
                  <c:v>0.55555555555555558</c:v>
                </c:pt>
                <c:pt idx="35">
                  <c:v>0.55555555555555558</c:v>
                </c:pt>
                <c:pt idx="36">
                  <c:v>0.55555555555555558</c:v>
                </c:pt>
                <c:pt idx="37">
                  <c:v>0.58333333333333337</c:v>
                </c:pt>
                <c:pt idx="38">
                  <c:v>0.58333333333333337</c:v>
                </c:pt>
                <c:pt idx="39">
                  <c:v>0.58333333333333337</c:v>
                </c:pt>
                <c:pt idx="40">
                  <c:v>0.58333333333333337</c:v>
                </c:pt>
                <c:pt idx="41">
                  <c:v>0.61111111111111116</c:v>
                </c:pt>
                <c:pt idx="42">
                  <c:v>0.63888888888888884</c:v>
                </c:pt>
                <c:pt idx="43">
                  <c:v>0.66666666666666663</c:v>
                </c:pt>
                <c:pt idx="44">
                  <c:v>0.66666666666666663</c:v>
                </c:pt>
                <c:pt idx="45">
                  <c:v>0.66666666666666663</c:v>
                </c:pt>
                <c:pt idx="46">
                  <c:v>0.66666666666666663</c:v>
                </c:pt>
                <c:pt idx="47">
                  <c:v>0.69444444444444442</c:v>
                </c:pt>
                <c:pt idx="48">
                  <c:v>0.69444444444444442</c:v>
                </c:pt>
                <c:pt idx="49">
                  <c:v>0.69444444444444442</c:v>
                </c:pt>
                <c:pt idx="50">
                  <c:v>0.72222222222222221</c:v>
                </c:pt>
                <c:pt idx="51">
                  <c:v>0.72222222222222221</c:v>
                </c:pt>
                <c:pt idx="52">
                  <c:v>0.72222222222222221</c:v>
                </c:pt>
                <c:pt idx="53">
                  <c:v>0.72222222222222221</c:v>
                </c:pt>
                <c:pt idx="54">
                  <c:v>0.72222222222222221</c:v>
                </c:pt>
                <c:pt idx="55">
                  <c:v>0.72222222222222221</c:v>
                </c:pt>
                <c:pt idx="56">
                  <c:v>0.72222222222222221</c:v>
                </c:pt>
                <c:pt idx="57">
                  <c:v>0.75</c:v>
                </c:pt>
                <c:pt idx="58">
                  <c:v>0.75</c:v>
                </c:pt>
                <c:pt idx="59">
                  <c:v>0.75</c:v>
                </c:pt>
                <c:pt idx="60">
                  <c:v>0.75</c:v>
                </c:pt>
                <c:pt idx="61">
                  <c:v>0.75</c:v>
                </c:pt>
                <c:pt idx="62">
                  <c:v>0.75</c:v>
                </c:pt>
                <c:pt idx="63">
                  <c:v>0.75</c:v>
                </c:pt>
                <c:pt idx="64">
                  <c:v>0.77777777777777779</c:v>
                </c:pt>
                <c:pt idx="65">
                  <c:v>0.77777777777777779</c:v>
                </c:pt>
                <c:pt idx="66">
                  <c:v>0.77777777777777779</c:v>
                </c:pt>
                <c:pt idx="67">
                  <c:v>0.77777777777777779</c:v>
                </c:pt>
                <c:pt idx="68">
                  <c:v>0.80555555555555558</c:v>
                </c:pt>
                <c:pt idx="69">
                  <c:v>0.80555555555555558</c:v>
                </c:pt>
                <c:pt idx="70">
                  <c:v>0.80555555555555558</c:v>
                </c:pt>
                <c:pt idx="71">
                  <c:v>0.80555555555555558</c:v>
                </c:pt>
                <c:pt idx="72">
                  <c:v>0.80555555555555558</c:v>
                </c:pt>
                <c:pt idx="73">
                  <c:v>0.80555555555555558</c:v>
                </c:pt>
                <c:pt idx="74">
                  <c:v>0.80555555555555558</c:v>
                </c:pt>
                <c:pt idx="75">
                  <c:v>0.80555555555555558</c:v>
                </c:pt>
                <c:pt idx="76">
                  <c:v>0.80555555555555558</c:v>
                </c:pt>
                <c:pt idx="77">
                  <c:v>0.80555555555555558</c:v>
                </c:pt>
                <c:pt idx="78">
                  <c:v>0.80555555555555558</c:v>
                </c:pt>
                <c:pt idx="79">
                  <c:v>0.80555555555555558</c:v>
                </c:pt>
                <c:pt idx="80">
                  <c:v>0.80555555555555558</c:v>
                </c:pt>
                <c:pt idx="81">
                  <c:v>0.80555555555555558</c:v>
                </c:pt>
                <c:pt idx="82">
                  <c:v>0.80555555555555558</c:v>
                </c:pt>
                <c:pt idx="83">
                  <c:v>0.80555555555555558</c:v>
                </c:pt>
                <c:pt idx="84">
                  <c:v>0.80555555555555558</c:v>
                </c:pt>
                <c:pt idx="85">
                  <c:v>0.80555555555555558</c:v>
                </c:pt>
                <c:pt idx="86">
                  <c:v>0.80555555555555558</c:v>
                </c:pt>
                <c:pt idx="87">
                  <c:v>0.83333333333333337</c:v>
                </c:pt>
                <c:pt idx="88">
                  <c:v>0.83333333333333337</c:v>
                </c:pt>
                <c:pt idx="89">
                  <c:v>0.83333333333333337</c:v>
                </c:pt>
                <c:pt idx="90">
                  <c:v>0.83333333333333337</c:v>
                </c:pt>
                <c:pt idx="91">
                  <c:v>0.86111111111111116</c:v>
                </c:pt>
                <c:pt idx="92">
                  <c:v>0.86111111111111116</c:v>
                </c:pt>
                <c:pt idx="93">
                  <c:v>0.88888888888888884</c:v>
                </c:pt>
                <c:pt idx="94">
                  <c:v>0.88888888888888884</c:v>
                </c:pt>
                <c:pt idx="95">
                  <c:v>0.88888888888888884</c:v>
                </c:pt>
                <c:pt idx="96">
                  <c:v>0.91666666666666663</c:v>
                </c:pt>
                <c:pt idx="97">
                  <c:v>0.94444444444444442</c:v>
                </c:pt>
                <c:pt idx="98">
                  <c:v>0.94444444444444442</c:v>
                </c:pt>
                <c:pt idx="99">
                  <c:v>0.94444444444444442</c:v>
                </c:pt>
                <c:pt idx="100">
                  <c:v>0.94444444444444442</c:v>
                </c:pt>
                <c:pt idx="101">
                  <c:v>0.94444444444444442</c:v>
                </c:pt>
                <c:pt idx="102">
                  <c:v>0.94444444444444442</c:v>
                </c:pt>
                <c:pt idx="103">
                  <c:v>0.94444444444444442</c:v>
                </c:pt>
                <c:pt idx="104">
                  <c:v>0.94444444444444442</c:v>
                </c:pt>
                <c:pt idx="105">
                  <c:v>0.94444444444444442</c:v>
                </c:pt>
                <c:pt idx="106">
                  <c:v>0.94444444444444442</c:v>
                </c:pt>
                <c:pt idx="107">
                  <c:v>0.94444444444444442</c:v>
                </c:pt>
                <c:pt idx="108">
                  <c:v>0.94444444444444442</c:v>
                </c:pt>
                <c:pt idx="109">
                  <c:v>0.94444444444444442</c:v>
                </c:pt>
                <c:pt idx="110">
                  <c:v>0.94444444444444442</c:v>
                </c:pt>
                <c:pt idx="111">
                  <c:v>0.94444444444444442</c:v>
                </c:pt>
                <c:pt idx="112">
                  <c:v>0.94444444444444442</c:v>
                </c:pt>
                <c:pt idx="113">
                  <c:v>0.94444444444444442</c:v>
                </c:pt>
                <c:pt idx="114">
                  <c:v>0.94444444444444442</c:v>
                </c:pt>
                <c:pt idx="115">
                  <c:v>0.94444444444444442</c:v>
                </c:pt>
                <c:pt idx="116">
                  <c:v>0.94444444444444442</c:v>
                </c:pt>
                <c:pt idx="117">
                  <c:v>0.94444444444444442</c:v>
                </c:pt>
                <c:pt idx="118">
                  <c:v>0.94444444444444442</c:v>
                </c:pt>
                <c:pt idx="119">
                  <c:v>0.94444444444444442</c:v>
                </c:pt>
                <c:pt idx="120">
                  <c:v>0.94444444444444442</c:v>
                </c:pt>
                <c:pt idx="121">
                  <c:v>0.97222222222222221</c:v>
                </c:pt>
                <c:pt idx="122">
                  <c:v>0.97222222222222221</c:v>
                </c:pt>
                <c:pt idx="123">
                  <c:v>0.97222222222222221</c:v>
                </c:pt>
                <c:pt idx="124">
                  <c:v>0.97222222222222221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C3B-44A2-945E-A26D1770641B}"/>
            </c:ext>
          </c:extLst>
        </c:ser>
        <c:ser>
          <c:idx val="2"/>
          <c:order val="2"/>
          <c:tx>
            <c:strRef>
              <c:f>Sheet1!$B$213</c:f>
              <c:strCache>
                <c:ptCount val="1"/>
                <c:pt idx="0">
                  <c:v>нейросеть + измерение</c:v>
                </c:pt>
              </c:strCache>
            </c:strRef>
          </c:tx>
          <c:spPr>
            <a:ln w="31750">
              <a:solidFill>
                <a:srgbClr val="520977"/>
              </a:solidFill>
            </a:ln>
          </c:spPr>
          <c:marker>
            <c:symbol val="none"/>
          </c:marker>
          <c:xVal>
            <c:numRef>
              <c:f>Sheet1!$A$214:$A$364</c:f>
              <c:numCache>
                <c:formatCode>General</c:formatCode>
                <c:ptCount val="15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8.771929824561403E-3</c:v>
                </c:pt>
                <c:pt idx="9">
                  <c:v>8.771929824561403E-3</c:v>
                </c:pt>
                <c:pt idx="10">
                  <c:v>8.771929824561403E-3</c:v>
                </c:pt>
                <c:pt idx="11">
                  <c:v>8.771929824561403E-3</c:v>
                </c:pt>
                <c:pt idx="12">
                  <c:v>1.7543859649122806E-2</c:v>
                </c:pt>
                <c:pt idx="13">
                  <c:v>2.6315789473684209E-2</c:v>
                </c:pt>
                <c:pt idx="14">
                  <c:v>3.5087719298245612E-2</c:v>
                </c:pt>
                <c:pt idx="15">
                  <c:v>3.5087719298245612E-2</c:v>
                </c:pt>
                <c:pt idx="16">
                  <c:v>3.5087719298245612E-2</c:v>
                </c:pt>
                <c:pt idx="17">
                  <c:v>4.3859649122807015E-2</c:v>
                </c:pt>
                <c:pt idx="18">
                  <c:v>4.3859649122807015E-2</c:v>
                </c:pt>
                <c:pt idx="19">
                  <c:v>4.3859649122807015E-2</c:v>
                </c:pt>
                <c:pt idx="20">
                  <c:v>4.3859649122807015E-2</c:v>
                </c:pt>
                <c:pt idx="21">
                  <c:v>5.2631578947368418E-2</c:v>
                </c:pt>
                <c:pt idx="22">
                  <c:v>6.1403508771929821E-2</c:v>
                </c:pt>
                <c:pt idx="23">
                  <c:v>7.0175438596491224E-2</c:v>
                </c:pt>
                <c:pt idx="24">
                  <c:v>7.0175438596491224E-2</c:v>
                </c:pt>
                <c:pt idx="25">
                  <c:v>7.8947368421052627E-2</c:v>
                </c:pt>
                <c:pt idx="26">
                  <c:v>8.771929824561403E-2</c:v>
                </c:pt>
                <c:pt idx="27">
                  <c:v>8.771929824561403E-2</c:v>
                </c:pt>
                <c:pt idx="28">
                  <c:v>8.771929824561403E-2</c:v>
                </c:pt>
                <c:pt idx="29">
                  <c:v>9.6491228070175433E-2</c:v>
                </c:pt>
                <c:pt idx="30">
                  <c:v>0.10526315789473684</c:v>
                </c:pt>
                <c:pt idx="31">
                  <c:v>0.11403508771929824</c:v>
                </c:pt>
                <c:pt idx="32">
                  <c:v>0.12280701754385964</c:v>
                </c:pt>
                <c:pt idx="33">
                  <c:v>0.13157894736842105</c:v>
                </c:pt>
                <c:pt idx="34">
                  <c:v>0.13157894736842105</c:v>
                </c:pt>
                <c:pt idx="35">
                  <c:v>0.14035087719298245</c:v>
                </c:pt>
                <c:pt idx="36">
                  <c:v>0.14912280701754385</c:v>
                </c:pt>
                <c:pt idx="37">
                  <c:v>0.15789473684210525</c:v>
                </c:pt>
                <c:pt idx="38">
                  <c:v>0.16666666666666666</c:v>
                </c:pt>
                <c:pt idx="39">
                  <c:v>0.16666666666666666</c:v>
                </c:pt>
                <c:pt idx="40">
                  <c:v>0.16666666666666666</c:v>
                </c:pt>
                <c:pt idx="41">
                  <c:v>0.17543859649122806</c:v>
                </c:pt>
                <c:pt idx="42">
                  <c:v>0.17543859649122806</c:v>
                </c:pt>
                <c:pt idx="43">
                  <c:v>0.17543859649122806</c:v>
                </c:pt>
                <c:pt idx="44">
                  <c:v>0.17543859649122806</c:v>
                </c:pt>
                <c:pt idx="45">
                  <c:v>0.18421052631578946</c:v>
                </c:pt>
                <c:pt idx="46">
                  <c:v>0.19298245614035087</c:v>
                </c:pt>
                <c:pt idx="47">
                  <c:v>0.20175438596491227</c:v>
                </c:pt>
                <c:pt idx="48">
                  <c:v>0.20175438596491227</c:v>
                </c:pt>
                <c:pt idx="49">
                  <c:v>0.20175438596491227</c:v>
                </c:pt>
                <c:pt idx="50">
                  <c:v>0.21052631578947367</c:v>
                </c:pt>
                <c:pt idx="51">
                  <c:v>0.21929824561403508</c:v>
                </c:pt>
                <c:pt idx="52">
                  <c:v>0.21929824561403508</c:v>
                </c:pt>
                <c:pt idx="53">
                  <c:v>0.22807017543859648</c:v>
                </c:pt>
                <c:pt idx="54">
                  <c:v>0.22807017543859648</c:v>
                </c:pt>
                <c:pt idx="55">
                  <c:v>0.23684210526315788</c:v>
                </c:pt>
                <c:pt idx="56">
                  <c:v>0.24561403508771928</c:v>
                </c:pt>
                <c:pt idx="57">
                  <c:v>0.25438596491228072</c:v>
                </c:pt>
                <c:pt idx="58">
                  <c:v>0.26315789473684209</c:v>
                </c:pt>
                <c:pt idx="59">
                  <c:v>0.27192982456140352</c:v>
                </c:pt>
                <c:pt idx="60">
                  <c:v>0.2807017543859649</c:v>
                </c:pt>
                <c:pt idx="61">
                  <c:v>0.28947368421052633</c:v>
                </c:pt>
                <c:pt idx="62">
                  <c:v>0.2982456140350877</c:v>
                </c:pt>
                <c:pt idx="63">
                  <c:v>0.30701754385964913</c:v>
                </c:pt>
                <c:pt idx="64">
                  <c:v>0.30701754385964913</c:v>
                </c:pt>
                <c:pt idx="65">
                  <c:v>0.31578947368421051</c:v>
                </c:pt>
                <c:pt idx="66">
                  <c:v>0.32456140350877194</c:v>
                </c:pt>
                <c:pt idx="67">
                  <c:v>0.33333333333333331</c:v>
                </c:pt>
                <c:pt idx="68">
                  <c:v>0.34210526315789475</c:v>
                </c:pt>
                <c:pt idx="69">
                  <c:v>0.35087719298245612</c:v>
                </c:pt>
                <c:pt idx="70">
                  <c:v>0.35964912280701755</c:v>
                </c:pt>
                <c:pt idx="71">
                  <c:v>0.35964912280701755</c:v>
                </c:pt>
                <c:pt idx="72">
                  <c:v>0.36842105263157893</c:v>
                </c:pt>
                <c:pt idx="73">
                  <c:v>0.37719298245614036</c:v>
                </c:pt>
                <c:pt idx="74">
                  <c:v>0.38596491228070173</c:v>
                </c:pt>
                <c:pt idx="75">
                  <c:v>0.39473684210526316</c:v>
                </c:pt>
                <c:pt idx="76">
                  <c:v>0.40350877192982454</c:v>
                </c:pt>
                <c:pt idx="77">
                  <c:v>0.41228070175438597</c:v>
                </c:pt>
                <c:pt idx="78">
                  <c:v>0.42105263157894735</c:v>
                </c:pt>
                <c:pt idx="79">
                  <c:v>0.42982456140350878</c:v>
                </c:pt>
                <c:pt idx="80">
                  <c:v>0.43859649122807015</c:v>
                </c:pt>
                <c:pt idx="81">
                  <c:v>0.44736842105263158</c:v>
                </c:pt>
                <c:pt idx="82">
                  <c:v>0.45614035087719296</c:v>
                </c:pt>
                <c:pt idx="83">
                  <c:v>0.46491228070175439</c:v>
                </c:pt>
                <c:pt idx="84">
                  <c:v>0.47368421052631576</c:v>
                </c:pt>
                <c:pt idx="85">
                  <c:v>0.48245614035087719</c:v>
                </c:pt>
                <c:pt idx="86">
                  <c:v>0.49122807017543857</c:v>
                </c:pt>
                <c:pt idx="87">
                  <c:v>0.5</c:v>
                </c:pt>
                <c:pt idx="88">
                  <c:v>0.50877192982456143</c:v>
                </c:pt>
                <c:pt idx="89">
                  <c:v>0.50877192982456143</c:v>
                </c:pt>
                <c:pt idx="90">
                  <c:v>0.51754385964912286</c:v>
                </c:pt>
                <c:pt idx="91">
                  <c:v>0.52631578947368418</c:v>
                </c:pt>
                <c:pt idx="92">
                  <c:v>0.53508771929824561</c:v>
                </c:pt>
                <c:pt idx="93">
                  <c:v>0.54385964912280704</c:v>
                </c:pt>
                <c:pt idx="94">
                  <c:v>0.55263157894736847</c:v>
                </c:pt>
                <c:pt idx="95">
                  <c:v>0.55263157894736847</c:v>
                </c:pt>
                <c:pt idx="96">
                  <c:v>0.56140350877192979</c:v>
                </c:pt>
                <c:pt idx="97">
                  <c:v>0.57017543859649122</c:v>
                </c:pt>
                <c:pt idx="98">
                  <c:v>0.57894736842105265</c:v>
                </c:pt>
                <c:pt idx="99">
                  <c:v>0.57894736842105265</c:v>
                </c:pt>
                <c:pt idx="100">
                  <c:v>0.58771929824561409</c:v>
                </c:pt>
                <c:pt idx="101">
                  <c:v>0.59649122807017541</c:v>
                </c:pt>
                <c:pt idx="102">
                  <c:v>0.59649122807017541</c:v>
                </c:pt>
                <c:pt idx="103">
                  <c:v>0.60526315789473684</c:v>
                </c:pt>
                <c:pt idx="104">
                  <c:v>0.61403508771929827</c:v>
                </c:pt>
                <c:pt idx="105">
                  <c:v>0.61403508771929827</c:v>
                </c:pt>
                <c:pt idx="106">
                  <c:v>0.6228070175438597</c:v>
                </c:pt>
                <c:pt idx="107">
                  <c:v>0.63157894736842102</c:v>
                </c:pt>
                <c:pt idx="108">
                  <c:v>0.64035087719298245</c:v>
                </c:pt>
                <c:pt idx="109">
                  <c:v>0.64912280701754388</c:v>
                </c:pt>
                <c:pt idx="110">
                  <c:v>0.65789473684210531</c:v>
                </c:pt>
                <c:pt idx="111">
                  <c:v>0.66666666666666663</c:v>
                </c:pt>
                <c:pt idx="112">
                  <c:v>0.67543859649122806</c:v>
                </c:pt>
                <c:pt idx="113">
                  <c:v>0.68421052631578949</c:v>
                </c:pt>
                <c:pt idx="114">
                  <c:v>0.69298245614035092</c:v>
                </c:pt>
                <c:pt idx="115">
                  <c:v>0.70175438596491224</c:v>
                </c:pt>
                <c:pt idx="116">
                  <c:v>0.71052631578947367</c:v>
                </c:pt>
                <c:pt idx="117">
                  <c:v>0.7192982456140351</c:v>
                </c:pt>
                <c:pt idx="118">
                  <c:v>0.72807017543859653</c:v>
                </c:pt>
                <c:pt idx="119">
                  <c:v>0.73684210526315785</c:v>
                </c:pt>
                <c:pt idx="120">
                  <c:v>0.74561403508771928</c:v>
                </c:pt>
                <c:pt idx="121">
                  <c:v>0.75438596491228072</c:v>
                </c:pt>
                <c:pt idx="122">
                  <c:v>0.76315789473684215</c:v>
                </c:pt>
                <c:pt idx="123">
                  <c:v>0.77192982456140347</c:v>
                </c:pt>
                <c:pt idx="124">
                  <c:v>0.7807017543859649</c:v>
                </c:pt>
                <c:pt idx="125">
                  <c:v>0.78947368421052633</c:v>
                </c:pt>
                <c:pt idx="126">
                  <c:v>0.79824561403508776</c:v>
                </c:pt>
                <c:pt idx="127">
                  <c:v>0.79824561403508776</c:v>
                </c:pt>
                <c:pt idx="128">
                  <c:v>0.80701754385964908</c:v>
                </c:pt>
                <c:pt idx="129">
                  <c:v>0.81578947368421051</c:v>
                </c:pt>
                <c:pt idx="130">
                  <c:v>0.82456140350877194</c:v>
                </c:pt>
                <c:pt idx="131">
                  <c:v>0.83333333333333337</c:v>
                </c:pt>
                <c:pt idx="132">
                  <c:v>0.84210526315789469</c:v>
                </c:pt>
                <c:pt idx="133">
                  <c:v>0.85087719298245612</c:v>
                </c:pt>
                <c:pt idx="134">
                  <c:v>0.85964912280701755</c:v>
                </c:pt>
                <c:pt idx="135">
                  <c:v>0.86842105263157898</c:v>
                </c:pt>
                <c:pt idx="136">
                  <c:v>0.8771929824561403</c:v>
                </c:pt>
                <c:pt idx="137">
                  <c:v>0.88596491228070173</c:v>
                </c:pt>
                <c:pt idx="138">
                  <c:v>0.89473684210526316</c:v>
                </c:pt>
                <c:pt idx="139">
                  <c:v>0.90350877192982459</c:v>
                </c:pt>
                <c:pt idx="140">
                  <c:v>0.91228070175438591</c:v>
                </c:pt>
                <c:pt idx="141">
                  <c:v>0.92105263157894735</c:v>
                </c:pt>
                <c:pt idx="142">
                  <c:v>0.92982456140350878</c:v>
                </c:pt>
                <c:pt idx="143">
                  <c:v>0.93859649122807021</c:v>
                </c:pt>
                <c:pt idx="144">
                  <c:v>0.94736842105263153</c:v>
                </c:pt>
                <c:pt idx="145">
                  <c:v>0.95614035087719296</c:v>
                </c:pt>
                <c:pt idx="146">
                  <c:v>0.96491228070175439</c:v>
                </c:pt>
                <c:pt idx="147">
                  <c:v>0.97368421052631582</c:v>
                </c:pt>
                <c:pt idx="148">
                  <c:v>0.98245614035087714</c:v>
                </c:pt>
                <c:pt idx="149">
                  <c:v>0.99122807017543857</c:v>
                </c:pt>
                <c:pt idx="150">
                  <c:v>1</c:v>
                </c:pt>
              </c:numCache>
            </c:numRef>
          </c:xVal>
          <c:yVal>
            <c:numRef>
              <c:f>Sheet1!$B$214:$B$364</c:f>
              <c:numCache>
                <c:formatCode>General</c:formatCode>
                <c:ptCount val="151"/>
                <c:pt idx="0">
                  <c:v>0</c:v>
                </c:pt>
                <c:pt idx="1">
                  <c:v>2.7777777777777776E-2</c:v>
                </c:pt>
                <c:pt idx="2">
                  <c:v>5.5555555555555552E-2</c:v>
                </c:pt>
                <c:pt idx="3">
                  <c:v>8.3333333333333329E-2</c:v>
                </c:pt>
                <c:pt idx="4">
                  <c:v>0.1111111111111111</c:v>
                </c:pt>
                <c:pt idx="5">
                  <c:v>0.1388888888888889</c:v>
                </c:pt>
                <c:pt idx="6">
                  <c:v>0.16666666666666666</c:v>
                </c:pt>
                <c:pt idx="7">
                  <c:v>0.19444444444444445</c:v>
                </c:pt>
                <c:pt idx="8">
                  <c:v>0.19444444444444445</c:v>
                </c:pt>
                <c:pt idx="9">
                  <c:v>0.22222222222222221</c:v>
                </c:pt>
                <c:pt idx="10">
                  <c:v>0.25</c:v>
                </c:pt>
                <c:pt idx="11">
                  <c:v>0.27777777777777779</c:v>
                </c:pt>
                <c:pt idx="12">
                  <c:v>0.27777777777777779</c:v>
                </c:pt>
                <c:pt idx="13">
                  <c:v>0.27777777777777779</c:v>
                </c:pt>
                <c:pt idx="14">
                  <c:v>0.27777777777777779</c:v>
                </c:pt>
                <c:pt idx="15">
                  <c:v>0.30555555555555558</c:v>
                </c:pt>
                <c:pt idx="16">
                  <c:v>0.33333333333333331</c:v>
                </c:pt>
                <c:pt idx="17">
                  <c:v>0.33333333333333331</c:v>
                </c:pt>
                <c:pt idx="18">
                  <c:v>0.3611111111111111</c:v>
                </c:pt>
                <c:pt idx="19">
                  <c:v>0.3888888888888889</c:v>
                </c:pt>
                <c:pt idx="20">
                  <c:v>0.41666666666666669</c:v>
                </c:pt>
                <c:pt idx="21">
                  <c:v>0.41666666666666669</c:v>
                </c:pt>
                <c:pt idx="22">
                  <c:v>0.41666666666666669</c:v>
                </c:pt>
                <c:pt idx="23">
                  <c:v>0.41666666666666669</c:v>
                </c:pt>
                <c:pt idx="24">
                  <c:v>0.44444444444444442</c:v>
                </c:pt>
                <c:pt idx="25">
                  <c:v>0.44444444444444442</c:v>
                </c:pt>
                <c:pt idx="26">
                  <c:v>0.44444444444444442</c:v>
                </c:pt>
                <c:pt idx="27">
                  <c:v>0.47222222222222221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0.5</c:v>
                </c:pt>
                <c:pt idx="32">
                  <c:v>0.5</c:v>
                </c:pt>
                <c:pt idx="33">
                  <c:v>0.5</c:v>
                </c:pt>
                <c:pt idx="34">
                  <c:v>0.52777777777777779</c:v>
                </c:pt>
                <c:pt idx="35">
                  <c:v>0.52777777777777779</c:v>
                </c:pt>
                <c:pt idx="36">
                  <c:v>0.52777777777777779</c:v>
                </c:pt>
                <c:pt idx="37">
                  <c:v>0.52777777777777779</c:v>
                </c:pt>
                <c:pt idx="38">
                  <c:v>0.52777777777777779</c:v>
                </c:pt>
                <c:pt idx="39">
                  <c:v>0.55555555555555558</c:v>
                </c:pt>
                <c:pt idx="40">
                  <c:v>0.58333333333333337</c:v>
                </c:pt>
                <c:pt idx="41">
                  <c:v>0.58333333333333337</c:v>
                </c:pt>
                <c:pt idx="42">
                  <c:v>0.61111111111111116</c:v>
                </c:pt>
                <c:pt idx="43">
                  <c:v>0.63888888888888884</c:v>
                </c:pt>
                <c:pt idx="44">
                  <c:v>0.66666666666666663</c:v>
                </c:pt>
                <c:pt idx="45">
                  <c:v>0.66666666666666663</c:v>
                </c:pt>
                <c:pt idx="46">
                  <c:v>0.66666666666666663</c:v>
                </c:pt>
                <c:pt idx="47">
                  <c:v>0.66666666666666663</c:v>
                </c:pt>
                <c:pt idx="48">
                  <c:v>0.69444444444444442</c:v>
                </c:pt>
                <c:pt idx="49">
                  <c:v>0.72222222222222221</c:v>
                </c:pt>
                <c:pt idx="50">
                  <c:v>0.72222222222222221</c:v>
                </c:pt>
                <c:pt idx="51">
                  <c:v>0.72222222222222221</c:v>
                </c:pt>
                <c:pt idx="52">
                  <c:v>0.75</c:v>
                </c:pt>
                <c:pt idx="53">
                  <c:v>0.75</c:v>
                </c:pt>
                <c:pt idx="54">
                  <c:v>0.77777777777777779</c:v>
                </c:pt>
                <c:pt idx="55">
                  <c:v>0.77777777777777779</c:v>
                </c:pt>
                <c:pt idx="56">
                  <c:v>0.77777777777777779</c:v>
                </c:pt>
                <c:pt idx="57">
                  <c:v>0.77777777777777779</c:v>
                </c:pt>
                <c:pt idx="58">
                  <c:v>0.77777777777777779</c:v>
                </c:pt>
                <c:pt idx="59">
                  <c:v>0.77777777777777779</c:v>
                </c:pt>
                <c:pt idx="60">
                  <c:v>0.77777777777777779</c:v>
                </c:pt>
                <c:pt idx="61">
                  <c:v>0.77777777777777779</c:v>
                </c:pt>
                <c:pt idx="62">
                  <c:v>0.77777777777777779</c:v>
                </c:pt>
                <c:pt idx="63">
                  <c:v>0.77777777777777779</c:v>
                </c:pt>
                <c:pt idx="64">
                  <c:v>0.80555555555555558</c:v>
                </c:pt>
                <c:pt idx="65">
                  <c:v>0.80555555555555558</c:v>
                </c:pt>
                <c:pt idx="66">
                  <c:v>0.80555555555555558</c:v>
                </c:pt>
                <c:pt idx="67">
                  <c:v>0.80555555555555558</c:v>
                </c:pt>
                <c:pt idx="68">
                  <c:v>0.80555555555555558</c:v>
                </c:pt>
                <c:pt idx="69">
                  <c:v>0.80555555555555558</c:v>
                </c:pt>
                <c:pt idx="70">
                  <c:v>0.80555555555555558</c:v>
                </c:pt>
                <c:pt idx="71">
                  <c:v>0.83333333333333337</c:v>
                </c:pt>
                <c:pt idx="72">
                  <c:v>0.83333333333333337</c:v>
                </c:pt>
                <c:pt idx="73">
                  <c:v>0.83333333333333337</c:v>
                </c:pt>
                <c:pt idx="74">
                  <c:v>0.83333333333333337</c:v>
                </c:pt>
                <c:pt idx="75">
                  <c:v>0.83333333333333337</c:v>
                </c:pt>
                <c:pt idx="76">
                  <c:v>0.83333333333333337</c:v>
                </c:pt>
                <c:pt idx="77">
                  <c:v>0.83333333333333337</c:v>
                </c:pt>
                <c:pt idx="78">
                  <c:v>0.83333333333333337</c:v>
                </c:pt>
                <c:pt idx="79">
                  <c:v>0.83333333333333337</c:v>
                </c:pt>
                <c:pt idx="80">
                  <c:v>0.83333333333333337</c:v>
                </c:pt>
                <c:pt idx="81">
                  <c:v>0.83333333333333337</c:v>
                </c:pt>
                <c:pt idx="82">
                  <c:v>0.83333333333333337</c:v>
                </c:pt>
                <c:pt idx="83">
                  <c:v>0.83333333333333337</c:v>
                </c:pt>
                <c:pt idx="84">
                  <c:v>0.83333333333333337</c:v>
                </c:pt>
                <c:pt idx="85">
                  <c:v>0.83333333333333337</c:v>
                </c:pt>
                <c:pt idx="86">
                  <c:v>0.83333333333333337</c:v>
                </c:pt>
                <c:pt idx="87">
                  <c:v>0.83333333333333337</c:v>
                </c:pt>
                <c:pt idx="88">
                  <c:v>0.83333333333333337</c:v>
                </c:pt>
                <c:pt idx="89">
                  <c:v>0.86111111111111116</c:v>
                </c:pt>
                <c:pt idx="90">
                  <c:v>0.86111111111111116</c:v>
                </c:pt>
                <c:pt idx="91">
                  <c:v>0.86111111111111116</c:v>
                </c:pt>
                <c:pt idx="92">
                  <c:v>0.86111111111111116</c:v>
                </c:pt>
                <c:pt idx="93">
                  <c:v>0.86111111111111116</c:v>
                </c:pt>
                <c:pt idx="94">
                  <c:v>0.86111111111111116</c:v>
                </c:pt>
                <c:pt idx="95">
                  <c:v>0.88888888888888884</c:v>
                </c:pt>
                <c:pt idx="96">
                  <c:v>0.88888888888888884</c:v>
                </c:pt>
                <c:pt idx="97">
                  <c:v>0.88888888888888884</c:v>
                </c:pt>
                <c:pt idx="98">
                  <c:v>0.88888888888888884</c:v>
                </c:pt>
                <c:pt idx="99">
                  <c:v>0.91666666666666663</c:v>
                </c:pt>
                <c:pt idx="100">
                  <c:v>0.91666666666666663</c:v>
                </c:pt>
                <c:pt idx="101">
                  <c:v>0.91666666666666663</c:v>
                </c:pt>
                <c:pt idx="102">
                  <c:v>0.94444444444444442</c:v>
                </c:pt>
                <c:pt idx="103">
                  <c:v>0.94444444444444442</c:v>
                </c:pt>
                <c:pt idx="104">
                  <c:v>0.94444444444444442</c:v>
                </c:pt>
                <c:pt idx="105">
                  <c:v>0.97222222222222221</c:v>
                </c:pt>
                <c:pt idx="106">
                  <c:v>0.97222222222222221</c:v>
                </c:pt>
                <c:pt idx="107">
                  <c:v>0.97222222222222221</c:v>
                </c:pt>
                <c:pt idx="108">
                  <c:v>0.97222222222222221</c:v>
                </c:pt>
                <c:pt idx="109">
                  <c:v>0.97222222222222221</c:v>
                </c:pt>
                <c:pt idx="110">
                  <c:v>0.97222222222222221</c:v>
                </c:pt>
                <c:pt idx="111">
                  <c:v>0.97222222222222221</c:v>
                </c:pt>
                <c:pt idx="112">
                  <c:v>0.97222222222222221</c:v>
                </c:pt>
                <c:pt idx="113">
                  <c:v>0.97222222222222221</c:v>
                </c:pt>
                <c:pt idx="114">
                  <c:v>0.97222222222222221</c:v>
                </c:pt>
                <c:pt idx="115">
                  <c:v>0.97222222222222221</c:v>
                </c:pt>
                <c:pt idx="116">
                  <c:v>0.97222222222222221</c:v>
                </c:pt>
                <c:pt idx="117">
                  <c:v>0.97222222222222221</c:v>
                </c:pt>
                <c:pt idx="118">
                  <c:v>0.97222222222222221</c:v>
                </c:pt>
                <c:pt idx="119">
                  <c:v>0.97222222222222221</c:v>
                </c:pt>
                <c:pt idx="120">
                  <c:v>0.97222222222222221</c:v>
                </c:pt>
                <c:pt idx="121">
                  <c:v>0.97222222222222221</c:v>
                </c:pt>
                <c:pt idx="122">
                  <c:v>0.97222222222222221</c:v>
                </c:pt>
                <c:pt idx="123">
                  <c:v>0.97222222222222221</c:v>
                </c:pt>
                <c:pt idx="124">
                  <c:v>0.97222222222222221</c:v>
                </c:pt>
                <c:pt idx="125">
                  <c:v>0.97222222222222221</c:v>
                </c:pt>
                <c:pt idx="126">
                  <c:v>0.97222222222222221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C3B-44A2-945E-A26D1770641B}"/>
            </c:ext>
          </c:extLst>
        </c:ser>
        <c:ser>
          <c:idx val="3"/>
          <c:order val="3"/>
          <c:tx>
            <c:strRef>
              <c:f>Sheet1!$B$366</c:f>
              <c:strCache>
                <c:ptCount val="1"/>
                <c:pt idx="0">
                  <c:v>случайно</c:v>
                </c:pt>
              </c:strCache>
            </c:strRef>
          </c:tx>
          <c:spPr>
            <a:ln w="12700">
              <a:solidFill>
                <a:srgbClr val="8B8599"/>
              </a:solidFill>
              <a:prstDash val="dash"/>
            </a:ln>
          </c:spPr>
          <c:marker>
            <c:symbol val="none"/>
          </c:marker>
          <c:xVal>
            <c:numRef>
              <c:f>Sheet1!$A$367:$A$368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Sheet1!$B$367:$B$368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FC3B-44A2-945E-A26D177064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"/>
          <c:min val="0"/>
        </c:scaling>
        <c:delete val="0"/>
        <c:axPos val="b"/>
        <c:majorGridlines>
          <c:spPr>
            <a:ln>
              <a:solidFill>
                <a:srgbClr val="DCCEE4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C9C3DA"/>
            </a:solidFill>
          </a:ln>
        </c:spPr>
        <c:crossAx val="-2129643912"/>
        <c:crosses val="autoZero"/>
        <c:crossBetween val="midCat"/>
        <c:majorUnit val="0.2"/>
      </c:valAx>
      <c:valAx>
        <c:axId val="-2129643912"/>
        <c:scaling>
          <c:orientation val="minMax"/>
          <c:max val="1"/>
          <c:min val="0"/>
        </c:scaling>
        <c:delete val="0"/>
        <c:axPos val="l"/>
        <c:majorGridlines>
          <c:spPr>
            <a:ln>
              <a:solidFill>
                <a:srgbClr val="DCCEE4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C9C3DA"/>
            </a:solidFill>
          </a:ln>
        </c:spPr>
        <c:crossAx val="-2128940872"/>
        <c:crosses val="autoZero"/>
        <c:crossBetween val="midCat"/>
        <c:majorUnit val="0.2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8B8599"/>
          </a:solidFill>
          <a:latin typeface="Montserrat"/>
        </a:defRPr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top-hat</c:v>
                </c:pt>
              </c:strCache>
            </c:strRef>
          </c:tx>
          <c:spPr>
            <a:ln w="12700">
              <a:solidFill>
                <a:srgbClr val="8A83D1"/>
              </a:solidFill>
              <a:prstDash val="dash"/>
            </a:ln>
          </c:spPr>
          <c:marker>
            <c:symbol val="none"/>
          </c:marker>
          <c:xVal>
            <c:numRef>
              <c:f>Sheet1!$A$2:$A$98</c:f>
              <c:numCache>
                <c:formatCode>General</c:formatCode>
                <c:ptCount val="97"/>
                <c:pt idx="0">
                  <c:v>0</c:v>
                </c:pt>
                <c:pt idx="1">
                  <c:v>0</c:v>
                </c:pt>
                <c:pt idx="2">
                  <c:v>1.2195121951219513E-2</c:v>
                </c:pt>
                <c:pt idx="3">
                  <c:v>1.2195121951219513E-2</c:v>
                </c:pt>
                <c:pt idx="4">
                  <c:v>1.2195121951219513E-2</c:v>
                </c:pt>
                <c:pt idx="5">
                  <c:v>2.4390243902439025E-2</c:v>
                </c:pt>
                <c:pt idx="6">
                  <c:v>3.6585365853658534E-2</c:v>
                </c:pt>
                <c:pt idx="7">
                  <c:v>3.6585365853658534E-2</c:v>
                </c:pt>
                <c:pt idx="8">
                  <c:v>3.6585365853658534E-2</c:v>
                </c:pt>
                <c:pt idx="9">
                  <c:v>3.6585365853658534E-2</c:v>
                </c:pt>
                <c:pt idx="10">
                  <c:v>3.6585365853658534E-2</c:v>
                </c:pt>
                <c:pt idx="11">
                  <c:v>3.6585365853658534E-2</c:v>
                </c:pt>
                <c:pt idx="12">
                  <c:v>3.6585365853658534E-2</c:v>
                </c:pt>
                <c:pt idx="13">
                  <c:v>4.878048780487805E-2</c:v>
                </c:pt>
                <c:pt idx="14">
                  <c:v>4.878048780487805E-2</c:v>
                </c:pt>
                <c:pt idx="15">
                  <c:v>6.097560975609756E-2</c:v>
                </c:pt>
                <c:pt idx="16">
                  <c:v>7.3170731707317069E-2</c:v>
                </c:pt>
                <c:pt idx="17">
                  <c:v>8.5365853658536592E-2</c:v>
                </c:pt>
                <c:pt idx="18">
                  <c:v>9.7560975609756101E-2</c:v>
                </c:pt>
                <c:pt idx="19">
                  <c:v>0.10975609756097561</c:v>
                </c:pt>
                <c:pt idx="20">
                  <c:v>0.12195121951219512</c:v>
                </c:pt>
                <c:pt idx="21">
                  <c:v>0.12195121951219512</c:v>
                </c:pt>
                <c:pt idx="22">
                  <c:v>0.13414634146341464</c:v>
                </c:pt>
                <c:pt idx="23">
                  <c:v>0.14634146341463414</c:v>
                </c:pt>
                <c:pt idx="24">
                  <c:v>0.15853658536585366</c:v>
                </c:pt>
                <c:pt idx="25">
                  <c:v>0.17073170731707318</c:v>
                </c:pt>
                <c:pt idx="26">
                  <c:v>0.18292682926829268</c:v>
                </c:pt>
                <c:pt idx="27">
                  <c:v>0.1951219512195122</c:v>
                </c:pt>
                <c:pt idx="28">
                  <c:v>0.2073170731707317</c:v>
                </c:pt>
                <c:pt idx="29">
                  <c:v>0.21951219512195122</c:v>
                </c:pt>
                <c:pt idx="30">
                  <c:v>0.23170731707317074</c:v>
                </c:pt>
                <c:pt idx="31">
                  <c:v>0.24390243902439024</c:v>
                </c:pt>
                <c:pt idx="32">
                  <c:v>0.25609756097560976</c:v>
                </c:pt>
                <c:pt idx="33">
                  <c:v>0.26829268292682928</c:v>
                </c:pt>
                <c:pt idx="34">
                  <c:v>0.28048780487804881</c:v>
                </c:pt>
                <c:pt idx="35">
                  <c:v>0.29268292682926828</c:v>
                </c:pt>
                <c:pt idx="36">
                  <c:v>0.3048780487804878</c:v>
                </c:pt>
                <c:pt idx="37">
                  <c:v>0.31707317073170732</c:v>
                </c:pt>
                <c:pt idx="38">
                  <c:v>0.32926829268292684</c:v>
                </c:pt>
                <c:pt idx="39">
                  <c:v>0.32926829268292684</c:v>
                </c:pt>
                <c:pt idx="40">
                  <c:v>0.34146341463414637</c:v>
                </c:pt>
                <c:pt idx="41">
                  <c:v>0.35365853658536583</c:v>
                </c:pt>
                <c:pt idx="42">
                  <c:v>0.36585365853658536</c:v>
                </c:pt>
                <c:pt idx="43">
                  <c:v>0.37804878048780488</c:v>
                </c:pt>
                <c:pt idx="44">
                  <c:v>0.3902439024390244</c:v>
                </c:pt>
                <c:pt idx="45">
                  <c:v>0.40243902439024393</c:v>
                </c:pt>
                <c:pt idx="46">
                  <c:v>0.41463414634146339</c:v>
                </c:pt>
                <c:pt idx="47">
                  <c:v>0.42682926829268292</c:v>
                </c:pt>
                <c:pt idx="48">
                  <c:v>0.43902439024390244</c:v>
                </c:pt>
                <c:pt idx="49">
                  <c:v>0.43902439024390244</c:v>
                </c:pt>
                <c:pt idx="50">
                  <c:v>0.45121951219512196</c:v>
                </c:pt>
                <c:pt idx="51">
                  <c:v>0.45121951219512196</c:v>
                </c:pt>
                <c:pt idx="52">
                  <c:v>0.46341463414634149</c:v>
                </c:pt>
                <c:pt idx="53">
                  <c:v>0.47560975609756095</c:v>
                </c:pt>
                <c:pt idx="54">
                  <c:v>0.48780487804878048</c:v>
                </c:pt>
                <c:pt idx="55">
                  <c:v>0.5</c:v>
                </c:pt>
                <c:pt idx="56">
                  <c:v>0.51219512195121952</c:v>
                </c:pt>
                <c:pt idx="57">
                  <c:v>0.52439024390243905</c:v>
                </c:pt>
                <c:pt idx="58">
                  <c:v>0.53658536585365857</c:v>
                </c:pt>
                <c:pt idx="59">
                  <c:v>0.54878048780487809</c:v>
                </c:pt>
                <c:pt idx="60">
                  <c:v>0.56097560975609762</c:v>
                </c:pt>
                <c:pt idx="61">
                  <c:v>0.57317073170731703</c:v>
                </c:pt>
                <c:pt idx="62">
                  <c:v>0.58536585365853655</c:v>
                </c:pt>
                <c:pt idx="63">
                  <c:v>0.6097560975609756</c:v>
                </c:pt>
                <c:pt idx="64">
                  <c:v>0.62195121951219512</c:v>
                </c:pt>
                <c:pt idx="65">
                  <c:v>0.63414634146341464</c:v>
                </c:pt>
                <c:pt idx="66">
                  <c:v>0.64634146341463417</c:v>
                </c:pt>
                <c:pt idx="67">
                  <c:v>0.65853658536585369</c:v>
                </c:pt>
                <c:pt idx="68">
                  <c:v>0.67073170731707321</c:v>
                </c:pt>
                <c:pt idx="69">
                  <c:v>0.67073170731707321</c:v>
                </c:pt>
                <c:pt idx="70">
                  <c:v>0.68292682926829273</c:v>
                </c:pt>
                <c:pt idx="71">
                  <c:v>0.69512195121951215</c:v>
                </c:pt>
                <c:pt idx="72">
                  <c:v>0.70731707317073167</c:v>
                </c:pt>
                <c:pt idx="73">
                  <c:v>0.71951219512195119</c:v>
                </c:pt>
                <c:pt idx="74">
                  <c:v>0.73170731707317072</c:v>
                </c:pt>
                <c:pt idx="75">
                  <c:v>0.74390243902439024</c:v>
                </c:pt>
                <c:pt idx="76">
                  <c:v>0.75609756097560976</c:v>
                </c:pt>
                <c:pt idx="77">
                  <c:v>0.76829268292682928</c:v>
                </c:pt>
                <c:pt idx="78">
                  <c:v>0.78048780487804881</c:v>
                </c:pt>
                <c:pt idx="79">
                  <c:v>0.79268292682926833</c:v>
                </c:pt>
                <c:pt idx="80">
                  <c:v>0.80487804878048785</c:v>
                </c:pt>
                <c:pt idx="81">
                  <c:v>0.81707317073170727</c:v>
                </c:pt>
                <c:pt idx="82">
                  <c:v>0.82926829268292679</c:v>
                </c:pt>
                <c:pt idx="83">
                  <c:v>0.84146341463414631</c:v>
                </c:pt>
                <c:pt idx="84">
                  <c:v>0.85365853658536583</c:v>
                </c:pt>
                <c:pt idx="85">
                  <c:v>0.86585365853658536</c:v>
                </c:pt>
                <c:pt idx="86">
                  <c:v>0.87804878048780488</c:v>
                </c:pt>
                <c:pt idx="87">
                  <c:v>0.90243902439024393</c:v>
                </c:pt>
                <c:pt idx="88">
                  <c:v>0.91463414634146345</c:v>
                </c:pt>
                <c:pt idx="89">
                  <c:v>0.92682926829268297</c:v>
                </c:pt>
                <c:pt idx="90">
                  <c:v>0.93902439024390238</c:v>
                </c:pt>
                <c:pt idx="91">
                  <c:v>0.95121951219512191</c:v>
                </c:pt>
                <c:pt idx="92">
                  <c:v>0.96341463414634143</c:v>
                </c:pt>
                <c:pt idx="93">
                  <c:v>0.97560975609756095</c:v>
                </c:pt>
                <c:pt idx="94">
                  <c:v>0.97560975609756095</c:v>
                </c:pt>
                <c:pt idx="95">
                  <c:v>0.98780487804878048</c:v>
                </c:pt>
                <c:pt idx="96">
                  <c:v>1</c:v>
                </c:pt>
              </c:numCache>
            </c:numRef>
          </c:xVal>
          <c:yVal>
            <c:numRef>
              <c:f>Sheet1!$B$2:$B$98</c:f>
              <c:numCache>
                <c:formatCode>General</c:formatCode>
                <c:ptCount val="97"/>
                <c:pt idx="0">
                  <c:v>0</c:v>
                </c:pt>
                <c:pt idx="1">
                  <c:v>5.8823529411764705E-2</c:v>
                </c:pt>
                <c:pt idx="2">
                  <c:v>5.8823529411764705E-2</c:v>
                </c:pt>
                <c:pt idx="3">
                  <c:v>0.11764705882352941</c:v>
                </c:pt>
                <c:pt idx="4">
                  <c:v>0.17647058823529413</c:v>
                </c:pt>
                <c:pt idx="5">
                  <c:v>0.17647058823529413</c:v>
                </c:pt>
                <c:pt idx="6">
                  <c:v>0.17647058823529413</c:v>
                </c:pt>
                <c:pt idx="7">
                  <c:v>0.23529411764705882</c:v>
                </c:pt>
                <c:pt idx="8">
                  <c:v>0.29411764705882354</c:v>
                </c:pt>
                <c:pt idx="9">
                  <c:v>0.35294117647058826</c:v>
                </c:pt>
                <c:pt idx="10">
                  <c:v>0.41176470588235292</c:v>
                </c:pt>
                <c:pt idx="11">
                  <c:v>0.47058823529411764</c:v>
                </c:pt>
                <c:pt idx="12">
                  <c:v>0.52941176470588236</c:v>
                </c:pt>
                <c:pt idx="13">
                  <c:v>0.52941176470588236</c:v>
                </c:pt>
                <c:pt idx="14">
                  <c:v>0.58823529411764708</c:v>
                </c:pt>
                <c:pt idx="15">
                  <c:v>0.58823529411764708</c:v>
                </c:pt>
                <c:pt idx="16">
                  <c:v>0.58823529411764708</c:v>
                </c:pt>
                <c:pt idx="17">
                  <c:v>0.58823529411764708</c:v>
                </c:pt>
                <c:pt idx="18">
                  <c:v>0.58823529411764708</c:v>
                </c:pt>
                <c:pt idx="19">
                  <c:v>0.58823529411764708</c:v>
                </c:pt>
                <c:pt idx="20">
                  <c:v>0.58823529411764708</c:v>
                </c:pt>
                <c:pt idx="21">
                  <c:v>0.6470588235294118</c:v>
                </c:pt>
                <c:pt idx="22">
                  <c:v>0.6470588235294118</c:v>
                </c:pt>
                <c:pt idx="23">
                  <c:v>0.6470588235294118</c:v>
                </c:pt>
                <c:pt idx="24">
                  <c:v>0.6470588235294118</c:v>
                </c:pt>
                <c:pt idx="25">
                  <c:v>0.6470588235294118</c:v>
                </c:pt>
                <c:pt idx="26">
                  <c:v>0.6470588235294118</c:v>
                </c:pt>
                <c:pt idx="27">
                  <c:v>0.6470588235294118</c:v>
                </c:pt>
                <c:pt idx="28">
                  <c:v>0.6470588235294118</c:v>
                </c:pt>
                <c:pt idx="29">
                  <c:v>0.6470588235294118</c:v>
                </c:pt>
                <c:pt idx="30">
                  <c:v>0.70588235294117652</c:v>
                </c:pt>
                <c:pt idx="31">
                  <c:v>0.70588235294117652</c:v>
                </c:pt>
                <c:pt idx="32">
                  <c:v>0.70588235294117652</c:v>
                </c:pt>
                <c:pt idx="33">
                  <c:v>0.70588235294117652</c:v>
                </c:pt>
                <c:pt idx="34">
                  <c:v>0.70588235294117652</c:v>
                </c:pt>
                <c:pt idx="35">
                  <c:v>0.70588235294117652</c:v>
                </c:pt>
                <c:pt idx="36">
                  <c:v>0.70588235294117652</c:v>
                </c:pt>
                <c:pt idx="37">
                  <c:v>0.70588235294117652</c:v>
                </c:pt>
                <c:pt idx="38">
                  <c:v>0.70588235294117652</c:v>
                </c:pt>
                <c:pt idx="39">
                  <c:v>0.76470588235294112</c:v>
                </c:pt>
                <c:pt idx="40">
                  <c:v>0.76470588235294112</c:v>
                </c:pt>
                <c:pt idx="41">
                  <c:v>0.76470588235294112</c:v>
                </c:pt>
                <c:pt idx="42">
                  <c:v>0.76470588235294112</c:v>
                </c:pt>
                <c:pt idx="43">
                  <c:v>0.76470588235294112</c:v>
                </c:pt>
                <c:pt idx="44">
                  <c:v>0.76470588235294112</c:v>
                </c:pt>
                <c:pt idx="45">
                  <c:v>0.76470588235294112</c:v>
                </c:pt>
                <c:pt idx="46">
                  <c:v>0.76470588235294112</c:v>
                </c:pt>
                <c:pt idx="47">
                  <c:v>0.76470588235294112</c:v>
                </c:pt>
                <c:pt idx="48">
                  <c:v>0.76470588235294112</c:v>
                </c:pt>
                <c:pt idx="49">
                  <c:v>0.82352941176470584</c:v>
                </c:pt>
                <c:pt idx="50">
                  <c:v>0.82352941176470584</c:v>
                </c:pt>
                <c:pt idx="51">
                  <c:v>0.88235294117647056</c:v>
                </c:pt>
                <c:pt idx="52">
                  <c:v>0.88235294117647056</c:v>
                </c:pt>
                <c:pt idx="53">
                  <c:v>0.88235294117647056</c:v>
                </c:pt>
                <c:pt idx="54">
                  <c:v>0.88235294117647056</c:v>
                </c:pt>
                <c:pt idx="55">
                  <c:v>0.88235294117647056</c:v>
                </c:pt>
                <c:pt idx="56">
                  <c:v>0.88235294117647056</c:v>
                </c:pt>
                <c:pt idx="57">
                  <c:v>0.88235294117647056</c:v>
                </c:pt>
                <c:pt idx="58">
                  <c:v>0.88235294117647056</c:v>
                </c:pt>
                <c:pt idx="59">
                  <c:v>0.88235294117647056</c:v>
                </c:pt>
                <c:pt idx="60">
                  <c:v>0.88235294117647056</c:v>
                </c:pt>
                <c:pt idx="61">
                  <c:v>0.88235294117647056</c:v>
                </c:pt>
                <c:pt idx="62">
                  <c:v>0.88235294117647056</c:v>
                </c:pt>
                <c:pt idx="63">
                  <c:v>0.88235294117647056</c:v>
                </c:pt>
                <c:pt idx="64">
                  <c:v>0.88235294117647056</c:v>
                </c:pt>
                <c:pt idx="65">
                  <c:v>0.88235294117647056</c:v>
                </c:pt>
                <c:pt idx="66">
                  <c:v>0.88235294117647056</c:v>
                </c:pt>
                <c:pt idx="67">
                  <c:v>0.88235294117647056</c:v>
                </c:pt>
                <c:pt idx="68">
                  <c:v>0.88235294117647056</c:v>
                </c:pt>
                <c:pt idx="69">
                  <c:v>0.94117647058823528</c:v>
                </c:pt>
                <c:pt idx="70">
                  <c:v>0.94117647058823528</c:v>
                </c:pt>
                <c:pt idx="71">
                  <c:v>0.94117647058823528</c:v>
                </c:pt>
                <c:pt idx="72">
                  <c:v>0.94117647058823528</c:v>
                </c:pt>
                <c:pt idx="73">
                  <c:v>0.94117647058823528</c:v>
                </c:pt>
                <c:pt idx="74">
                  <c:v>0.94117647058823528</c:v>
                </c:pt>
                <c:pt idx="75">
                  <c:v>0.94117647058823528</c:v>
                </c:pt>
                <c:pt idx="76">
                  <c:v>0.94117647058823528</c:v>
                </c:pt>
                <c:pt idx="77">
                  <c:v>0.94117647058823528</c:v>
                </c:pt>
                <c:pt idx="78">
                  <c:v>0.94117647058823528</c:v>
                </c:pt>
                <c:pt idx="79">
                  <c:v>0.94117647058823528</c:v>
                </c:pt>
                <c:pt idx="80">
                  <c:v>0.94117647058823528</c:v>
                </c:pt>
                <c:pt idx="81">
                  <c:v>0.94117647058823528</c:v>
                </c:pt>
                <c:pt idx="82">
                  <c:v>0.94117647058823528</c:v>
                </c:pt>
                <c:pt idx="83">
                  <c:v>0.94117647058823528</c:v>
                </c:pt>
                <c:pt idx="84">
                  <c:v>0.94117647058823528</c:v>
                </c:pt>
                <c:pt idx="85">
                  <c:v>0.94117647058823528</c:v>
                </c:pt>
                <c:pt idx="86">
                  <c:v>0.94117647058823528</c:v>
                </c:pt>
                <c:pt idx="87">
                  <c:v>0.94117647058823528</c:v>
                </c:pt>
                <c:pt idx="88">
                  <c:v>0.94117647058823528</c:v>
                </c:pt>
                <c:pt idx="89">
                  <c:v>0.94117647058823528</c:v>
                </c:pt>
                <c:pt idx="90">
                  <c:v>0.94117647058823528</c:v>
                </c:pt>
                <c:pt idx="91">
                  <c:v>0.94117647058823528</c:v>
                </c:pt>
                <c:pt idx="92">
                  <c:v>0.94117647058823528</c:v>
                </c:pt>
                <c:pt idx="93">
                  <c:v>0.94117647058823528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A4D-408F-8775-2449CA9D35EA}"/>
            </c:ext>
          </c:extLst>
        </c:ser>
        <c:ser>
          <c:idx val="1"/>
          <c:order val="1"/>
          <c:tx>
            <c:strRef>
              <c:f>Sheet1!$B$100</c:f>
              <c:strCache>
                <c:ptCount val="1"/>
                <c:pt idx="0">
                  <c:v>нейросеть</c:v>
                </c:pt>
              </c:strCache>
            </c:strRef>
          </c:tx>
          <c:spPr>
            <a:ln w="31750">
              <a:solidFill>
                <a:srgbClr val="FC3777"/>
              </a:solidFill>
            </a:ln>
          </c:spPr>
          <c:marker>
            <c:symbol val="none"/>
          </c:marker>
          <c:xVal>
            <c:numRef>
              <c:f>Sheet1!$A$101:$A$200</c:f>
              <c:numCache>
                <c:formatCode>General</c:formatCode>
                <c:ptCount val="100"/>
                <c:pt idx="0">
                  <c:v>0</c:v>
                </c:pt>
                <c:pt idx="1">
                  <c:v>0</c:v>
                </c:pt>
                <c:pt idx="2">
                  <c:v>1.2195121951219513E-2</c:v>
                </c:pt>
                <c:pt idx="3">
                  <c:v>2.4390243902439025E-2</c:v>
                </c:pt>
                <c:pt idx="4">
                  <c:v>2.4390243902439025E-2</c:v>
                </c:pt>
                <c:pt idx="5">
                  <c:v>2.4390243902439025E-2</c:v>
                </c:pt>
                <c:pt idx="6">
                  <c:v>2.4390243902439025E-2</c:v>
                </c:pt>
                <c:pt idx="7">
                  <c:v>3.6585365853658534E-2</c:v>
                </c:pt>
                <c:pt idx="8">
                  <c:v>3.6585365853658534E-2</c:v>
                </c:pt>
                <c:pt idx="9">
                  <c:v>3.6585365853658534E-2</c:v>
                </c:pt>
                <c:pt idx="10">
                  <c:v>3.6585365853658534E-2</c:v>
                </c:pt>
                <c:pt idx="11">
                  <c:v>3.6585365853658534E-2</c:v>
                </c:pt>
                <c:pt idx="12">
                  <c:v>3.6585365853658534E-2</c:v>
                </c:pt>
                <c:pt idx="13">
                  <c:v>4.878048780487805E-2</c:v>
                </c:pt>
                <c:pt idx="14">
                  <c:v>6.097560975609756E-2</c:v>
                </c:pt>
                <c:pt idx="15">
                  <c:v>6.097560975609756E-2</c:v>
                </c:pt>
                <c:pt idx="16">
                  <c:v>7.3170731707317069E-2</c:v>
                </c:pt>
                <c:pt idx="17">
                  <c:v>7.3170731707317069E-2</c:v>
                </c:pt>
                <c:pt idx="18">
                  <c:v>8.5365853658536592E-2</c:v>
                </c:pt>
                <c:pt idx="19">
                  <c:v>9.7560975609756101E-2</c:v>
                </c:pt>
                <c:pt idx="20">
                  <c:v>0.10975609756097561</c:v>
                </c:pt>
                <c:pt idx="21">
                  <c:v>0.12195121951219512</c:v>
                </c:pt>
                <c:pt idx="22">
                  <c:v>0.13414634146341464</c:v>
                </c:pt>
                <c:pt idx="23">
                  <c:v>0.13414634146341464</c:v>
                </c:pt>
                <c:pt idx="24">
                  <c:v>0.14634146341463414</c:v>
                </c:pt>
                <c:pt idx="25">
                  <c:v>0.15853658536585366</c:v>
                </c:pt>
                <c:pt idx="26">
                  <c:v>0.15853658536585366</c:v>
                </c:pt>
                <c:pt idx="27">
                  <c:v>0.17073170731707318</c:v>
                </c:pt>
                <c:pt idx="28">
                  <c:v>0.18292682926829268</c:v>
                </c:pt>
                <c:pt idx="29">
                  <c:v>0.1951219512195122</c:v>
                </c:pt>
                <c:pt idx="30">
                  <c:v>0.2073170731707317</c:v>
                </c:pt>
                <c:pt idx="31">
                  <c:v>0.2073170731707317</c:v>
                </c:pt>
                <c:pt idx="32">
                  <c:v>0.21951219512195122</c:v>
                </c:pt>
                <c:pt idx="33">
                  <c:v>0.23170731707317074</c:v>
                </c:pt>
                <c:pt idx="34">
                  <c:v>0.24390243902439024</c:v>
                </c:pt>
                <c:pt idx="35">
                  <c:v>0.25609756097560976</c:v>
                </c:pt>
                <c:pt idx="36">
                  <c:v>0.26829268292682928</c:v>
                </c:pt>
                <c:pt idx="37">
                  <c:v>0.28048780487804881</c:v>
                </c:pt>
                <c:pt idx="38">
                  <c:v>0.29268292682926828</c:v>
                </c:pt>
                <c:pt idx="39">
                  <c:v>0.3048780487804878</c:v>
                </c:pt>
                <c:pt idx="40">
                  <c:v>0.31707317073170732</c:v>
                </c:pt>
                <c:pt idx="41">
                  <c:v>0.32926829268292684</c:v>
                </c:pt>
                <c:pt idx="42">
                  <c:v>0.34146341463414637</c:v>
                </c:pt>
                <c:pt idx="43">
                  <c:v>0.35365853658536583</c:v>
                </c:pt>
                <c:pt idx="44">
                  <c:v>0.36585365853658536</c:v>
                </c:pt>
                <c:pt idx="45">
                  <c:v>0.37804878048780488</c:v>
                </c:pt>
                <c:pt idx="46">
                  <c:v>0.3902439024390244</c:v>
                </c:pt>
                <c:pt idx="47">
                  <c:v>0.40243902439024393</c:v>
                </c:pt>
                <c:pt idx="48">
                  <c:v>0.41463414634146339</c:v>
                </c:pt>
                <c:pt idx="49">
                  <c:v>0.42682926829268292</c:v>
                </c:pt>
                <c:pt idx="50">
                  <c:v>0.43902439024390244</c:v>
                </c:pt>
                <c:pt idx="51">
                  <c:v>0.45121951219512196</c:v>
                </c:pt>
                <c:pt idx="52">
                  <c:v>0.46341463414634149</c:v>
                </c:pt>
                <c:pt idx="53">
                  <c:v>0.47560975609756095</c:v>
                </c:pt>
                <c:pt idx="54">
                  <c:v>0.48780487804878048</c:v>
                </c:pt>
                <c:pt idx="55">
                  <c:v>0.5</c:v>
                </c:pt>
                <c:pt idx="56">
                  <c:v>0.51219512195121952</c:v>
                </c:pt>
                <c:pt idx="57">
                  <c:v>0.52439024390243905</c:v>
                </c:pt>
                <c:pt idx="58">
                  <c:v>0.53658536585365857</c:v>
                </c:pt>
                <c:pt idx="59">
                  <c:v>0.54878048780487809</c:v>
                </c:pt>
                <c:pt idx="60">
                  <c:v>0.56097560975609762</c:v>
                </c:pt>
                <c:pt idx="61">
                  <c:v>0.56097560975609762</c:v>
                </c:pt>
                <c:pt idx="62">
                  <c:v>0.57317073170731703</c:v>
                </c:pt>
                <c:pt idx="63">
                  <c:v>0.58536585365853655</c:v>
                </c:pt>
                <c:pt idx="64">
                  <c:v>0.59756097560975607</c:v>
                </c:pt>
                <c:pt idx="65">
                  <c:v>0.6097560975609756</c:v>
                </c:pt>
                <c:pt idx="66">
                  <c:v>0.6097560975609756</c:v>
                </c:pt>
                <c:pt idx="67">
                  <c:v>0.62195121951219512</c:v>
                </c:pt>
                <c:pt idx="68">
                  <c:v>0.63414634146341464</c:v>
                </c:pt>
                <c:pt idx="69">
                  <c:v>0.64634146341463417</c:v>
                </c:pt>
                <c:pt idx="70">
                  <c:v>0.65853658536585369</c:v>
                </c:pt>
                <c:pt idx="71">
                  <c:v>0.67073170731707321</c:v>
                </c:pt>
                <c:pt idx="72">
                  <c:v>0.68292682926829273</c:v>
                </c:pt>
                <c:pt idx="73">
                  <c:v>0.69512195121951215</c:v>
                </c:pt>
                <c:pt idx="74">
                  <c:v>0.70731707317073167</c:v>
                </c:pt>
                <c:pt idx="75">
                  <c:v>0.71951219512195119</c:v>
                </c:pt>
                <c:pt idx="76">
                  <c:v>0.73170731707317072</c:v>
                </c:pt>
                <c:pt idx="77">
                  <c:v>0.74390243902439024</c:v>
                </c:pt>
                <c:pt idx="78">
                  <c:v>0.75609756097560976</c:v>
                </c:pt>
                <c:pt idx="79">
                  <c:v>0.75609756097560976</c:v>
                </c:pt>
                <c:pt idx="80">
                  <c:v>0.76829268292682928</c:v>
                </c:pt>
                <c:pt idx="81">
                  <c:v>0.78048780487804881</c:v>
                </c:pt>
                <c:pt idx="82">
                  <c:v>0.79268292682926833</c:v>
                </c:pt>
                <c:pt idx="83">
                  <c:v>0.80487804878048785</c:v>
                </c:pt>
                <c:pt idx="84">
                  <c:v>0.81707317073170727</c:v>
                </c:pt>
                <c:pt idx="85">
                  <c:v>0.82926829268292679</c:v>
                </c:pt>
                <c:pt idx="86">
                  <c:v>0.84146341463414631</c:v>
                </c:pt>
                <c:pt idx="87">
                  <c:v>0.85365853658536583</c:v>
                </c:pt>
                <c:pt idx="88">
                  <c:v>0.86585365853658536</c:v>
                </c:pt>
                <c:pt idx="89">
                  <c:v>0.87804878048780488</c:v>
                </c:pt>
                <c:pt idx="90">
                  <c:v>0.8902439024390244</c:v>
                </c:pt>
                <c:pt idx="91">
                  <c:v>0.90243902439024393</c:v>
                </c:pt>
                <c:pt idx="92">
                  <c:v>0.91463414634146345</c:v>
                </c:pt>
                <c:pt idx="93">
                  <c:v>0.92682926829268297</c:v>
                </c:pt>
                <c:pt idx="94">
                  <c:v>0.93902439024390238</c:v>
                </c:pt>
                <c:pt idx="95">
                  <c:v>0.95121951219512191</c:v>
                </c:pt>
                <c:pt idx="96">
                  <c:v>0.96341463414634143</c:v>
                </c:pt>
                <c:pt idx="97">
                  <c:v>0.97560975609756095</c:v>
                </c:pt>
                <c:pt idx="98">
                  <c:v>0.98780487804878048</c:v>
                </c:pt>
                <c:pt idx="99">
                  <c:v>1</c:v>
                </c:pt>
              </c:numCache>
            </c:numRef>
          </c:xVal>
          <c:yVal>
            <c:numRef>
              <c:f>Sheet1!$B$101:$B$200</c:f>
              <c:numCache>
                <c:formatCode>General</c:formatCode>
                <c:ptCount val="100"/>
                <c:pt idx="0">
                  <c:v>0</c:v>
                </c:pt>
                <c:pt idx="1">
                  <c:v>5.8823529411764705E-2</c:v>
                </c:pt>
                <c:pt idx="2">
                  <c:v>5.8823529411764705E-2</c:v>
                </c:pt>
                <c:pt idx="3">
                  <c:v>5.8823529411764705E-2</c:v>
                </c:pt>
                <c:pt idx="4">
                  <c:v>0.11764705882352941</c:v>
                </c:pt>
                <c:pt idx="5">
                  <c:v>0.17647058823529413</c:v>
                </c:pt>
                <c:pt idx="6">
                  <c:v>0.23529411764705882</c:v>
                </c:pt>
                <c:pt idx="7">
                  <c:v>0.23529411764705882</c:v>
                </c:pt>
                <c:pt idx="8">
                  <c:v>0.29411764705882354</c:v>
                </c:pt>
                <c:pt idx="9">
                  <c:v>0.35294117647058826</c:v>
                </c:pt>
                <c:pt idx="10">
                  <c:v>0.41176470588235292</c:v>
                </c:pt>
                <c:pt idx="11">
                  <c:v>0.47058823529411764</c:v>
                </c:pt>
                <c:pt idx="12">
                  <c:v>0.52941176470588236</c:v>
                </c:pt>
                <c:pt idx="13">
                  <c:v>0.52941176470588236</c:v>
                </c:pt>
                <c:pt idx="14">
                  <c:v>0.52941176470588236</c:v>
                </c:pt>
                <c:pt idx="15">
                  <c:v>0.58823529411764708</c:v>
                </c:pt>
                <c:pt idx="16">
                  <c:v>0.58823529411764708</c:v>
                </c:pt>
                <c:pt idx="17">
                  <c:v>0.6470588235294118</c:v>
                </c:pt>
                <c:pt idx="18">
                  <c:v>0.6470588235294118</c:v>
                </c:pt>
                <c:pt idx="19">
                  <c:v>0.6470588235294118</c:v>
                </c:pt>
                <c:pt idx="20">
                  <c:v>0.6470588235294118</c:v>
                </c:pt>
                <c:pt idx="21">
                  <c:v>0.6470588235294118</c:v>
                </c:pt>
                <c:pt idx="22">
                  <c:v>0.6470588235294118</c:v>
                </c:pt>
                <c:pt idx="23">
                  <c:v>0.70588235294117652</c:v>
                </c:pt>
                <c:pt idx="24">
                  <c:v>0.70588235294117652</c:v>
                </c:pt>
                <c:pt idx="25">
                  <c:v>0.70588235294117652</c:v>
                </c:pt>
                <c:pt idx="26">
                  <c:v>0.76470588235294112</c:v>
                </c:pt>
                <c:pt idx="27">
                  <c:v>0.76470588235294112</c:v>
                </c:pt>
                <c:pt idx="28">
                  <c:v>0.76470588235294112</c:v>
                </c:pt>
                <c:pt idx="29">
                  <c:v>0.76470588235294112</c:v>
                </c:pt>
                <c:pt idx="30">
                  <c:v>0.76470588235294112</c:v>
                </c:pt>
                <c:pt idx="31">
                  <c:v>0.82352941176470584</c:v>
                </c:pt>
                <c:pt idx="32">
                  <c:v>0.82352941176470584</c:v>
                </c:pt>
                <c:pt idx="33">
                  <c:v>0.82352941176470584</c:v>
                </c:pt>
                <c:pt idx="34">
                  <c:v>0.82352941176470584</c:v>
                </c:pt>
                <c:pt idx="35">
                  <c:v>0.82352941176470584</c:v>
                </c:pt>
                <c:pt idx="36">
                  <c:v>0.82352941176470584</c:v>
                </c:pt>
                <c:pt idx="37">
                  <c:v>0.82352941176470584</c:v>
                </c:pt>
                <c:pt idx="38">
                  <c:v>0.82352941176470584</c:v>
                </c:pt>
                <c:pt idx="39">
                  <c:v>0.82352941176470584</c:v>
                </c:pt>
                <c:pt idx="40">
                  <c:v>0.82352941176470584</c:v>
                </c:pt>
                <c:pt idx="41">
                  <c:v>0.82352941176470584</c:v>
                </c:pt>
                <c:pt idx="42">
                  <c:v>0.82352941176470584</c:v>
                </c:pt>
                <c:pt idx="43">
                  <c:v>0.82352941176470584</c:v>
                </c:pt>
                <c:pt idx="44">
                  <c:v>0.82352941176470584</c:v>
                </c:pt>
                <c:pt idx="45">
                  <c:v>0.82352941176470584</c:v>
                </c:pt>
                <c:pt idx="46">
                  <c:v>0.82352941176470584</c:v>
                </c:pt>
                <c:pt idx="47">
                  <c:v>0.82352941176470584</c:v>
                </c:pt>
                <c:pt idx="48">
                  <c:v>0.82352941176470584</c:v>
                </c:pt>
                <c:pt idx="49">
                  <c:v>0.82352941176470584</c:v>
                </c:pt>
                <c:pt idx="50">
                  <c:v>0.82352941176470584</c:v>
                </c:pt>
                <c:pt idx="51">
                  <c:v>0.82352941176470584</c:v>
                </c:pt>
                <c:pt idx="52">
                  <c:v>0.82352941176470584</c:v>
                </c:pt>
                <c:pt idx="53">
                  <c:v>0.82352941176470584</c:v>
                </c:pt>
                <c:pt idx="54">
                  <c:v>0.82352941176470584</c:v>
                </c:pt>
                <c:pt idx="55">
                  <c:v>0.82352941176470584</c:v>
                </c:pt>
                <c:pt idx="56">
                  <c:v>0.82352941176470584</c:v>
                </c:pt>
                <c:pt idx="57">
                  <c:v>0.82352941176470584</c:v>
                </c:pt>
                <c:pt idx="58">
                  <c:v>0.82352941176470584</c:v>
                </c:pt>
                <c:pt idx="59">
                  <c:v>0.82352941176470584</c:v>
                </c:pt>
                <c:pt idx="60">
                  <c:v>0.82352941176470584</c:v>
                </c:pt>
                <c:pt idx="61">
                  <c:v>0.88235294117647056</c:v>
                </c:pt>
                <c:pt idx="62">
                  <c:v>0.88235294117647056</c:v>
                </c:pt>
                <c:pt idx="63">
                  <c:v>0.88235294117647056</c:v>
                </c:pt>
                <c:pt idx="64">
                  <c:v>0.88235294117647056</c:v>
                </c:pt>
                <c:pt idx="65">
                  <c:v>0.88235294117647056</c:v>
                </c:pt>
                <c:pt idx="66">
                  <c:v>0.94117647058823528</c:v>
                </c:pt>
                <c:pt idx="67">
                  <c:v>0.94117647058823528</c:v>
                </c:pt>
                <c:pt idx="68">
                  <c:v>0.94117647058823528</c:v>
                </c:pt>
                <c:pt idx="69">
                  <c:v>0.94117647058823528</c:v>
                </c:pt>
                <c:pt idx="70">
                  <c:v>0.94117647058823528</c:v>
                </c:pt>
                <c:pt idx="71">
                  <c:v>0.94117647058823528</c:v>
                </c:pt>
                <c:pt idx="72">
                  <c:v>0.94117647058823528</c:v>
                </c:pt>
                <c:pt idx="73">
                  <c:v>0.94117647058823528</c:v>
                </c:pt>
                <c:pt idx="74">
                  <c:v>0.94117647058823528</c:v>
                </c:pt>
                <c:pt idx="75">
                  <c:v>0.94117647058823528</c:v>
                </c:pt>
                <c:pt idx="76">
                  <c:v>0.94117647058823528</c:v>
                </c:pt>
                <c:pt idx="77">
                  <c:v>0.94117647058823528</c:v>
                </c:pt>
                <c:pt idx="78">
                  <c:v>0.94117647058823528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A4D-408F-8775-2449CA9D35EA}"/>
            </c:ext>
          </c:extLst>
        </c:ser>
        <c:ser>
          <c:idx val="2"/>
          <c:order val="2"/>
          <c:tx>
            <c:strRef>
              <c:f>Sheet1!$B$202</c:f>
              <c:strCache>
                <c:ptCount val="1"/>
                <c:pt idx="0">
                  <c:v>нейросеть + измерение</c:v>
                </c:pt>
              </c:strCache>
            </c:strRef>
          </c:tx>
          <c:spPr>
            <a:ln w="31750">
              <a:solidFill>
                <a:srgbClr val="520977"/>
              </a:solidFill>
            </a:ln>
          </c:spPr>
          <c:marker>
            <c:symbol val="none"/>
          </c:marker>
          <c:xVal>
            <c:numRef>
              <c:f>Sheet1!$A$203:$A$302</c:f>
              <c:numCache>
                <c:formatCode>General</c:formatCode>
                <c:ptCount val="100"/>
                <c:pt idx="0">
                  <c:v>0</c:v>
                </c:pt>
                <c:pt idx="1">
                  <c:v>0</c:v>
                </c:pt>
                <c:pt idx="2">
                  <c:v>1.2195121951219513E-2</c:v>
                </c:pt>
                <c:pt idx="3">
                  <c:v>1.2195121951219513E-2</c:v>
                </c:pt>
                <c:pt idx="4">
                  <c:v>2.4390243902439025E-2</c:v>
                </c:pt>
                <c:pt idx="5">
                  <c:v>2.4390243902439025E-2</c:v>
                </c:pt>
                <c:pt idx="6">
                  <c:v>2.4390243902439025E-2</c:v>
                </c:pt>
                <c:pt idx="7">
                  <c:v>2.4390243902439025E-2</c:v>
                </c:pt>
                <c:pt idx="8">
                  <c:v>2.4390243902439025E-2</c:v>
                </c:pt>
                <c:pt idx="9">
                  <c:v>2.4390243902439025E-2</c:v>
                </c:pt>
                <c:pt idx="10">
                  <c:v>2.4390243902439025E-2</c:v>
                </c:pt>
                <c:pt idx="11">
                  <c:v>2.4390243902439025E-2</c:v>
                </c:pt>
                <c:pt idx="12">
                  <c:v>2.4390243902439025E-2</c:v>
                </c:pt>
                <c:pt idx="13">
                  <c:v>3.6585365853658534E-2</c:v>
                </c:pt>
                <c:pt idx="14">
                  <c:v>3.6585365853658534E-2</c:v>
                </c:pt>
                <c:pt idx="15">
                  <c:v>4.878048780487805E-2</c:v>
                </c:pt>
                <c:pt idx="16">
                  <c:v>6.097560975609756E-2</c:v>
                </c:pt>
                <c:pt idx="17">
                  <c:v>7.3170731707317069E-2</c:v>
                </c:pt>
                <c:pt idx="18">
                  <c:v>8.5365853658536592E-2</c:v>
                </c:pt>
                <c:pt idx="19">
                  <c:v>8.5365853658536592E-2</c:v>
                </c:pt>
                <c:pt idx="20">
                  <c:v>9.7560975609756101E-2</c:v>
                </c:pt>
                <c:pt idx="21">
                  <c:v>0.10975609756097561</c:v>
                </c:pt>
                <c:pt idx="22">
                  <c:v>0.12195121951219512</c:v>
                </c:pt>
                <c:pt idx="23">
                  <c:v>0.13414634146341464</c:v>
                </c:pt>
                <c:pt idx="24">
                  <c:v>0.14634146341463414</c:v>
                </c:pt>
                <c:pt idx="25">
                  <c:v>0.14634146341463414</c:v>
                </c:pt>
                <c:pt idx="26">
                  <c:v>0.15853658536585366</c:v>
                </c:pt>
                <c:pt idx="27">
                  <c:v>0.17073170731707318</c:v>
                </c:pt>
                <c:pt idx="28">
                  <c:v>0.18292682926829268</c:v>
                </c:pt>
                <c:pt idx="29">
                  <c:v>0.18292682926829268</c:v>
                </c:pt>
                <c:pt idx="30">
                  <c:v>0.1951219512195122</c:v>
                </c:pt>
                <c:pt idx="31">
                  <c:v>0.2073170731707317</c:v>
                </c:pt>
                <c:pt idx="32">
                  <c:v>0.21951219512195122</c:v>
                </c:pt>
                <c:pt idx="33">
                  <c:v>0.23170731707317074</c:v>
                </c:pt>
                <c:pt idx="34">
                  <c:v>0.24390243902439024</c:v>
                </c:pt>
                <c:pt idx="35">
                  <c:v>0.25609756097560976</c:v>
                </c:pt>
                <c:pt idx="36">
                  <c:v>0.26829268292682928</c:v>
                </c:pt>
                <c:pt idx="37">
                  <c:v>0.28048780487804881</c:v>
                </c:pt>
                <c:pt idx="38">
                  <c:v>0.29268292682926828</c:v>
                </c:pt>
                <c:pt idx="39">
                  <c:v>0.3048780487804878</c:v>
                </c:pt>
                <c:pt idx="40">
                  <c:v>0.31707317073170732</c:v>
                </c:pt>
                <c:pt idx="41">
                  <c:v>0.32926829268292684</c:v>
                </c:pt>
                <c:pt idx="42">
                  <c:v>0.34146341463414637</c:v>
                </c:pt>
                <c:pt idx="43">
                  <c:v>0.35365853658536583</c:v>
                </c:pt>
                <c:pt idx="44">
                  <c:v>0.36585365853658536</c:v>
                </c:pt>
                <c:pt idx="45">
                  <c:v>0.37804878048780488</c:v>
                </c:pt>
                <c:pt idx="46">
                  <c:v>0.3902439024390244</c:v>
                </c:pt>
                <c:pt idx="47">
                  <c:v>0.40243902439024393</c:v>
                </c:pt>
                <c:pt idx="48">
                  <c:v>0.41463414634146339</c:v>
                </c:pt>
                <c:pt idx="49">
                  <c:v>0.42682926829268292</c:v>
                </c:pt>
                <c:pt idx="50">
                  <c:v>0.43902439024390244</c:v>
                </c:pt>
                <c:pt idx="51">
                  <c:v>0.45121951219512196</c:v>
                </c:pt>
                <c:pt idx="52">
                  <c:v>0.46341463414634149</c:v>
                </c:pt>
                <c:pt idx="53">
                  <c:v>0.47560975609756095</c:v>
                </c:pt>
                <c:pt idx="54">
                  <c:v>0.48780487804878048</c:v>
                </c:pt>
                <c:pt idx="55">
                  <c:v>0.5</c:v>
                </c:pt>
                <c:pt idx="56">
                  <c:v>0.51219512195121952</c:v>
                </c:pt>
                <c:pt idx="57">
                  <c:v>0.52439024390243905</c:v>
                </c:pt>
                <c:pt idx="58">
                  <c:v>0.53658536585365857</c:v>
                </c:pt>
                <c:pt idx="59">
                  <c:v>0.54878048780487809</c:v>
                </c:pt>
                <c:pt idx="60">
                  <c:v>0.56097560975609762</c:v>
                </c:pt>
                <c:pt idx="61">
                  <c:v>0.57317073170731703</c:v>
                </c:pt>
                <c:pt idx="62">
                  <c:v>0.57317073170731703</c:v>
                </c:pt>
                <c:pt idx="63">
                  <c:v>0.58536585365853655</c:v>
                </c:pt>
                <c:pt idx="64">
                  <c:v>0.59756097560975607</c:v>
                </c:pt>
                <c:pt idx="65">
                  <c:v>0.6097560975609756</c:v>
                </c:pt>
                <c:pt idx="66">
                  <c:v>0.62195121951219512</c:v>
                </c:pt>
                <c:pt idx="67">
                  <c:v>0.63414634146341464</c:v>
                </c:pt>
                <c:pt idx="68">
                  <c:v>0.64634146341463417</c:v>
                </c:pt>
                <c:pt idx="69">
                  <c:v>0.65853658536585369</c:v>
                </c:pt>
                <c:pt idx="70">
                  <c:v>0.67073170731707321</c:v>
                </c:pt>
                <c:pt idx="71">
                  <c:v>0.68292682926829273</c:v>
                </c:pt>
                <c:pt idx="72">
                  <c:v>0.69512195121951215</c:v>
                </c:pt>
                <c:pt idx="73">
                  <c:v>0.69512195121951215</c:v>
                </c:pt>
                <c:pt idx="74">
                  <c:v>0.70731707317073167</c:v>
                </c:pt>
                <c:pt idx="75">
                  <c:v>0.70731707317073167</c:v>
                </c:pt>
                <c:pt idx="76">
                  <c:v>0.71951219512195119</c:v>
                </c:pt>
                <c:pt idx="77">
                  <c:v>0.73170731707317072</c:v>
                </c:pt>
                <c:pt idx="78">
                  <c:v>0.74390243902439024</c:v>
                </c:pt>
                <c:pt idx="79">
                  <c:v>0.75609756097560976</c:v>
                </c:pt>
                <c:pt idx="80">
                  <c:v>0.76829268292682928</c:v>
                </c:pt>
                <c:pt idx="81">
                  <c:v>0.78048780487804881</c:v>
                </c:pt>
                <c:pt idx="82">
                  <c:v>0.79268292682926833</c:v>
                </c:pt>
                <c:pt idx="83">
                  <c:v>0.80487804878048785</c:v>
                </c:pt>
                <c:pt idx="84">
                  <c:v>0.81707317073170727</c:v>
                </c:pt>
                <c:pt idx="85">
                  <c:v>0.82926829268292679</c:v>
                </c:pt>
                <c:pt idx="86">
                  <c:v>0.84146341463414631</c:v>
                </c:pt>
                <c:pt idx="87">
                  <c:v>0.85365853658536583</c:v>
                </c:pt>
                <c:pt idx="88">
                  <c:v>0.86585365853658536</c:v>
                </c:pt>
                <c:pt idx="89">
                  <c:v>0.87804878048780488</c:v>
                </c:pt>
                <c:pt idx="90">
                  <c:v>0.8902439024390244</c:v>
                </c:pt>
                <c:pt idx="91">
                  <c:v>0.90243902439024393</c:v>
                </c:pt>
                <c:pt idx="92">
                  <c:v>0.91463414634146345</c:v>
                </c:pt>
                <c:pt idx="93">
                  <c:v>0.92682926829268297</c:v>
                </c:pt>
                <c:pt idx="94">
                  <c:v>0.93902439024390238</c:v>
                </c:pt>
                <c:pt idx="95">
                  <c:v>0.95121951219512191</c:v>
                </c:pt>
                <c:pt idx="96">
                  <c:v>0.96341463414634143</c:v>
                </c:pt>
                <c:pt idx="97">
                  <c:v>0.97560975609756095</c:v>
                </c:pt>
                <c:pt idx="98">
                  <c:v>0.98780487804878048</c:v>
                </c:pt>
                <c:pt idx="99">
                  <c:v>1</c:v>
                </c:pt>
              </c:numCache>
            </c:numRef>
          </c:xVal>
          <c:yVal>
            <c:numRef>
              <c:f>Sheet1!$B$203:$B$302</c:f>
              <c:numCache>
                <c:formatCode>General</c:formatCode>
                <c:ptCount val="100"/>
                <c:pt idx="0">
                  <c:v>0</c:v>
                </c:pt>
                <c:pt idx="1">
                  <c:v>5.8823529411764705E-2</c:v>
                </c:pt>
                <c:pt idx="2">
                  <c:v>5.8823529411764705E-2</c:v>
                </c:pt>
                <c:pt idx="3">
                  <c:v>0.11764705882352941</c:v>
                </c:pt>
                <c:pt idx="4">
                  <c:v>0.11764705882352941</c:v>
                </c:pt>
                <c:pt idx="5">
                  <c:v>0.17647058823529413</c:v>
                </c:pt>
                <c:pt idx="6">
                  <c:v>0.23529411764705882</c:v>
                </c:pt>
                <c:pt idx="7">
                  <c:v>0.29411764705882354</c:v>
                </c:pt>
                <c:pt idx="8">
                  <c:v>0.35294117647058826</c:v>
                </c:pt>
                <c:pt idx="9">
                  <c:v>0.41176470588235292</c:v>
                </c:pt>
                <c:pt idx="10">
                  <c:v>0.47058823529411764</c:v>
                </c:pt>
                <c:pt idx="11">
                  <c:v>0.52941176470588236</c:v>
                </c:pt>
                <c:pt idx="12">
                  <c:v>0.58823529411764708</c:v>
                </c:pt>
                <c:pt idx="13">
                  <c:v>0.58823529411764708</c:v>
                </c:pt>
                <c:pt idx="14">
                  <c:v>0.6470588235294118</c:v>
                </c:pt>
                <c:pt idx="15">
                  <c:v>0.6470588235294118</c:v>
                </c:pt>
                <c:pt idx="16">
                  <c:v>0.6470588235294118</c:v>
                </c:pt>
                <c:pt idx="17">
                  <c:v>0.6470588235294118</c:v>
                </c:pt>
                <c:pt idx="18">
                  <c:v>0.6470588235294118</c:v>
                </c:pt>
                <c:pt idx="19">
                  <c:v>0.70588235294117652</c:v>
                </c:pt>
                <c:pt idx="20">
                  <c:v>0.70588235294117652</c:v>
                </c:pt>
                <c:pt idx="21">
                  <c:v>0.70588235294117652</c:v>
                </c:pt>
                <c:pt idx="22">
                  <c:v>0.70588235294117652</c:v>
                </c:pt>
                <c:pt idx="23">
                  <c:v>0.70588235294117652</c:v>
                </c:pt>
                <c:pt idx="24">
                  <c:v>0.70588235294117652</c:v>
                </c:pt>
                <c:pt idx="25">
                  <c:v>0.76470588235294112</c:v>
                </c:pt>
                <c:pt idx="26">
                  <c:v>0.76470588235294112</c:v>
                </c:pt>
                <c:pt idx="27">
                  <c:v>0.76470588235294112</c:v>
                </c:pt>
                <c:pt idx="28">
                  <c:v>0.76470588235294112</c:v>
                </c:pt>
                <c:pt idx="29">
                  <c:v>0.82352941176470584</c:v>
                </c:pt>
                <c:pt idx="30">
                  <c:v>0.82352941176470584</c:v>
                </c:pt>
                <c:pt idx="31">
                  <c:v>0.82352941176470584</c:v>
                </c:pt>
                <c:pt idx="32">
                  <c:v>0.82352941176470584</c:v>
                </c:pt>
                <c:pt idx="33">
                  <c:v>0.82352941176470584</c:v>
                </c:pt>
                <c:pt idx="34">
                  <c:v>0.82352941176470584</c:v>
                </c:pt>
                <c:pt idx="35">
                  <c:v>0.82352941176470584</c:v>
                </c:pt>
                <c:pt idx="36">
                  <c:v>0.82352941176470584</c:v>
                </c:pt>
                <c:pt idx="37">
                  <c:v>0.82352941176470584</c:v>
                </c:pt>
                <c:pt idx="38">
                  <c:v>0.82352941176470584</c:v>
                </c:pt>
                <c:pt idx="39">
                  <c:v>0.82352941176470584</c:v>
                </c:pt>
                <c:pt idx="40">
                  <c:v>0.82352941176470584</c:v>
                </c:pt>
                <c:pt idx="41">
                  <c:v>0.82352941176470584</c:v>
                </c:pt>
                <c:pt idx="42">
                  <c:v>0.82352941176470584</c:v>
                </c:pt>
                <c:pt idx="43">
                  <c:v>0.82352941176470584</c:v>
                </c:pt>
                <c:pt idx="44">
                  <c:v>0.82352941176470584</c:v>
                </c:pt>
                <c:pt idx="45">
                  <c:v>0.82352941176470584</c:v>
                </c:pt>
                <c:pt idx="46">
                  <c:v>0.82352941176470584</c:v>
                </c:pt>
                <c:pt idx="47">
                  <c:v>0.82352941176470584</c:v>
                </c:pt>
                <c:pt idx="48">
                  <c:v>0.82352941176470584</c:v>
                </c:pt>
                <c:pt idx="49">
                  <c:v>0.82352941176470584</c:v>
                </c:pt>
                <c:pt idx="50">
                  <c:v>0.82352941176470584</c:v>
                </c:pt>
                <c:pt idx="51">
                  <c:v>0.82352941176470584</c:v>
                </c:pt>
                <c:pt idx="52">
                  <c:v>0.82352941176470584</c:v>
                </c:pt>
                <c:pt idx="53">
                  <c:v>0.82352941176470584</c:v>
                </c:pt>
                <c:pt idx="54">
                  <c:v>0.82352941176470584</c:v>
                </c:pt>
                <c:pt idx="55">
                  <c:v>0.82352941176470584</c:v>
                </c:pt>
                <c:pt idx="56">
                  <c:v>0.82352941176470584</c:v>
                </c:pt>
                <c:pt idx="57">
                  <c:v>0.82352941176470584</c:v>
                </c:pt>
                <c:pt idx="58">
                  <c:v>0.82352941176470584</c:v>
                </c:pt>
                <c:pt idx="59">
                  <c:v>0.82352941176470584</c:v>
                </c:pt>
                <c:pt idx="60">
                  <c:v>0.82352941176470584</c:v>
                </c:pt>
                <c:pt idx="61">
                  <c:v>0.82352941176470584</c:v>
                </c:pt>
                <c:pt idx="62">
                  <c:v>0.88235294117647056</c:v>
                </c:pt>
                <c:pt idx="63">
                  <c:v>0.88235294117647056</c:v>
                </c:pt>
                <c:pt idx="64">
                  <c:v>0.88235294117647056</c:v>
                </c:pt>
                <c:pt idx="65">
                  <c:v>0.88235294117647056</c:v>
                </c:pt>
                <c:pt idx="66">
                  <c:v>0.88235294117647056</c:v>
                </c:pt>
                <c:pt idx="67">
                  <c:v>0.88235294117647056</c:v>
                </c:pt>
                <c:pt idx="68">
                  <c:v>0.88235294117647056</c:v>
                </c:pt>
                <c:pt idx="69">
                  <c:v>0.88235294117647056</c:v>
                </c:pt>
                <c:pt idx="70">
                  <c:v>0.88235294117647056</c:v>
                </c:pt>
                <c:pt idx="71">
                  <c:v>0.88235294117647056</c:v>
                </c:pt>
                <c:pt idx="72">
                  <c:v>0.88235294117647056</c:v>
                </c:pt>
                <c:pt idx="73">
                  <c:v>0.94117647058823528</c:v>
                </c:pt>
                <c:pt idx="74">
                  <c:v>0.94117647058823528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CA4D-408F-8775-2449CA9D35EA}"/>
            </c:ext>
          </c:extLst>
        </c:ser>
        <c:ser>
          <c:idx val="3"/>
          <c:order val="3"/>
          <c:tx>
            <c:strRef>
              <c:f>Sheet1!$B$304</c:f>
              <c:strCache>
                <c:ptCount val="1"/>
                <c:pt idx="0">
                  <c:v>случайно</c:v>
                </c:pt>
              </c:strCache>
            </c:strRef>
          </c:tx>
          <c:spPr>
            <a:ln w="12700">
              <a:solidFill>
                <a:srgbClr val="8B8599"/>
              </a:solidFill>
              <a:prstDash val="dash"/>
            </a:ln>
          </c:spPr>
          <c:marker>
            <c:symbol val="none"/>
          </c:marker>
          <c:xVal>
            <c:numRef>
              <c:f>Sheet1!$A$305:$A$306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Sheet1!$B$305:$B$306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CA4D-408F-8775-2449CA9D35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"/>
          <c:min val="0"/>
        </c:scaling>
        <c:delete val="0"/>
        <c:axPos val="b"/>
        <c:majorGridlines>
          <c:spPr>
            <a:ln>
              <a:solidFill>
                <a:srgbClr val="DCCEE4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C9C3DA"/>
            </a:solidFill>
          </a:ln>
        </c:spPr>
        <c:crossAx val="-2129643912"/>
        <c:crosses val="autoZero"/>
        <c:crossBetween val="midCat"/>
        <c:majorUnit val="0.2"/>
      </c:valAx>
      <c:valAx>
        <c:axId val="-2129643912"/>
        <c:scaling>
          <c:orientation val="minMax"/>
          <c:max val="1"/>
          <c:min val="0"/>
        </c:scaling>
        <c:delete val="0"/>
        <c:axPos val="l"/>
        <c:majorGridlines>
          <c:spPr>
            <a:ln>
              <a:solidFill>
                <a:srgbClr val="DCCEE4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C9C3DA"/>
            </a:solidFill>
          </a:ln>
        </c:spPr>
        <c:crossAx val="-2128940872"/>
        <c:crosses val="autoZero"/>
        <c:crossBetween val="midCat"/>
        <c:majorUnit val="0.2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8B8599"/>
          </a:solidFill>
          <a:latin typeface="Montserrat"/>
        </a:defRPr>
      </a:pPr>
      <a:endParaRPr lang="ru-RU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Здравствуйте! Мы — команда [название команды]. Наша задача от Департамента здравоохранения Москвы — сервис, который автоматически оценивает качество денситометрических исследований. Денситометрия, или DXA, — это рентгеновское измерение плотности костей: по нему ставят диагноз «остеопороз» и следят, помогает ли лечение.</a:t>
            </a:r>
          </a:p>
          <a:p>
            <a:endParaRPr/>
          </a:p>
          <a:p>
            <a:r>
              <a:t>Наш сервис проверяет каждый снимок позвоночника и бедра по пяти критериям технического задания и объясняет каждое замечание числом и картинкой: не «плохой снимок», а «ось позвоночника отклонена на 8,7 градуса при норме до пяти» — и на снимке видно, где.</a:t>
            </a:r>
          </a:p>
          <a:p>
            <a:endParaRPr/>
          </a:p>
          <a:p>
            <a:r>
              <a:t>Если спросят: Решение работает целиком локально: снимки не покидают компьютер или сервер, на котором стоит сервис.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Коротко о решении. Сервис получает снимки в том виде, в каком их выгружает архив клиники, сам определяет, что на снимке — позвоночник или бедро, — находит ошибки укладки и границ поля и объясняет каждую в миллиметрах и градусах. На это уходит около 1,6 секунды на исследование на обычном процессоре.</a:t>
            </a:r>
          </a:p>
          <a:p>
            <a:endParaRPr/>
          </a:p>
          <a:p>
            <a:r>
              <a:t>Главная идея — проверяемость: вердикт — это измерение на снимке, сравнённое с нормой, и врач может проверить его глазами. Нейросеть мы используем только там, где признак нельзя измерить линейкой, и её ответ показываем подсветкой на снимке. А отступы области измерения оцениваем так, как их на самом деле оценивает эксперт-рентгенолог.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Нас трое: [Имя Фамилия] — [роль в команде], [Имя Фамилия] — [роль в команде], [Имя Фамилия] — [роль в команде].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Почему эта задача. Ошибка укладки — положения пациента при съёмке — незаметно портит результат измерения плотности кости, а вместе с ним и решение о лечении. Замечает её сегодня только врач, вручную. При этом задачу можно решить прозрачно: каждое замечание — число, которое сравнивается с нормой.</a:t>
            </a:r>
          </a:p>
          <a:p>
            <a:endParaRPr/>
          </a:p>
          <a:p>
            <a:r>
              <a:t>Вызовов было два. Примеров нарушений мало — от шести до тридцати шести на каждый тип, — и на таком количестве легко обмануть самих себя; поэтому каждый снимок у нас проверяет модель, которая его не видела. И второе: разметка эксперта расходилась с техническим заданием по отступам области измерения. Мы разобрали все расхождения и поняли, по какому правилу судит эксперт: по длине поля сканирования.</a:t>
            </a:r>
          </a:p>
          <a:p>
            <a:endParaRPr/>
          </a:p>
          <a:p>
            <a:r>
              <a:t>Если спросят: В файлах не указан физический размер пикселя. Масштаб мы восстановили по анатомии: по известной высоте «позвонок плюс диск» в поясничном отделе.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Технически это конвейер из пяти шагов. Сервис читает DICOM — стандартный формат медицинских снимков, — убирает повторы, определяет область, проверяет пять критериев независимо друг от друга и сводит результат в отчёт. Три критерия — прямые измерения; для двух, где признак — форма, а не размер, к измерению добавлена нейросеть. По честной оценке F1 равен 0,58, ROC-AUC — 0,78. F1 — это баланс между «нашли все нарушения» и «не тревожим зря»; ROC-AUC показывает, насколько хорошо сервис отделяет нарушения от нормы: 0,5 — наугад, 1,0 — идеально.</a:t>
            </a:r>
          </a:p>
          <a:p>
            <a:endParaRPr/>
          </a:p>
          <a:p>
            <a:r>
              <a:t>Для здравоохранения это контроль качества в момент съёмки: лаборант исправляет укладку, пока пациент ещё на аппарате, а врач получает заключение о качестве прямо в PACS — в архиве снимков клиники.</a:t>
            </a:r>
          </a:p>
          <a:p>
            <a:endParaRPr/>
          </a:p>
          <a:p>
            <a:r>
              <a:t>Если спросят: Интерфейсов четыре: веб-приложение, приложение для Windows, программный интерфейс API и необязательный бонус — Telegram-бот: он показывает, что конвейер легко встроить в другой интерфейс.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Плотность кости считается внутри области измерения — участка кости, который выделяет программа денситометра. Если позвоночник наклонён, бедро повёрнуто или в кадр попал посторонний предмет, аппарат измеряет не тот участок. Ошибка переходит в T-критерий — число, по которому ставят остеопороз, — и в ложное изменение при повторных исследованиях.</a:t>
            </a:r>
          </a:p>
          <a:p>
            <a:endParaRPr/>
          </a:p>
          <a:p>
            <a:r>
              <a:t>Наш сервис — не диагност, а контролёр качества: он отвечает, можно ли по этому исследованию делать выводы, и если нельзя — почему. На слайде два бедра: норма и ротация — бедро повёрнуто, и малый вертел, костный выступ, по которому судят о повороте, почти не виден.</a:t>
            </a:r>
          </a:p>
          <a:p>
            <a:endParaRPr/>
          </a:p>
          <a:p>
            <a:r>
              <a:t>Если спросят: Повторная укладка, пока пациент на аппарате, дешевле повторного визита и лишней дозы облучения.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Перечень нарушений повторяет техническое задание: пять кодов и шестой — «область не определена». У одного исследования может быть несколько нарушений сразу — так у каждого пятого. Поэтому критерии проверяются независимо, и в отчёт попадают все сработавшие.</a:t>
            </a:r>
          </a:p>
          <a:p>
            <a:endParaRPr/>
          </a:p>
          <a:p>
            <a:r>
              <a:t>У каждого критерия есть измерение в физических единицах: градусы, квадратные миллиметры, сантиметры. Для ротации бедра и посторонних предметов к измерению добавлено второе мнение — нейросеть.</a:t>
            </a:r>
          </a:p>
          <a:p>
            <a:endParaRPr/>
          </a:p>
          <a:p>
            <a:r>
              <a:t>Если спросят: Коды нарушений совпадают с ответом GET /taxonomy и колонкой violation_type в отчёте.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обучающем наборе 100 исследований и 499 файлов, но уникальных снимков только 252: денситометр выгружает один и тот же снимок по нескольку раз под новыми идентификаторами. Повторы мы находим по самому изображению — до деления данных на обучение и проверку, иначе метрики были бы завышены.</a:t>
            </a:r>
          </a:p>
          <a:p>
            <a:endParaRPr/>
          </a:p>
          <a:p>
            <a:r>
              <a:t>Нарушений мало: шесть по укладке, семь по отступам, тридцать шесть по ротации. На таком количестве большую нейросеть не обучить, поэтому основа решения — измерения.</a:t>
            </a:r>
          </a:p>
          <a:p>
            <a:endParaRPr/>
          </a:p>
          <a:p>
            <a:r>
              <a:t>Если спросят: Мы сделали и свою разметку: 242 снимка, по 29 опорных точек на каждом. У трёх снимков бедра нет полной оценки эксперта, поэтому метрики считаются на 249 снимках.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«Модель» здесь — это пороги нормы для измерений и нейросеть; о них — на следующем слайде. Сто исследований делятся на пять частей. Каждая часть по очереди становится проверочной: модель и все пороги подбираются на остальных четырёх, а затем проверяются на ней. В итоге у каждого снимка есть вердикт от модели, которая его не видела. Позвоночник и оба бедра одного пациента всегда попадают в одну часть, чтобы модель не «узнавала» пациента. Поэтому наши метрики честные.</a:t>
            </a:r>
          </a:p>
          <a:p>
            <a:endParaRPr/>
          </a:p>
          <a:p>
            <a:r>
              <a:t>Если спросят: Доверительные интервалы считаются бутстрэпом по исследованиям, а не по снимкам: снимки одного пациента не независимы.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Мы строили решение от измерений: вердикт должен проверяться глазами. Самый трудный критерий — ротация бедра. Её видно по выступу малого вертела над контуром кости, но разница между нормой и нарушением — около двух миллиметров, на грани разрешения снимка.</a:t>
            </a:r>
          </a:p>
          <a:p>
            <a:endParaRPr/>
          </a:p>
          <a:p>
            <a:r>
              <a:t>Мы перебрали варианты. Измерение выступа по контуру даёт ROC-AUC 0,68. Простая модель по всему снимку — 0,50, не лучше монетки. Опорные точки, найденные нейросетью, недостаточно точны. Одна нейросеть — 0,80 после усреднения трёх копий. А если ответ нейросети объединить с измерением выступа — 0,82: этот объединённый вердикт мы и выбрали.</a:t>
            </a:r>
          </a:p>
          <a:p>
            <a:endParaRPr/>
          </a:p>
          <a:p>
            <a:r>
              <a:t>Если спросят: Для оси позвоночника нейросеть тоже проверяли: ROC-AUC 0,51, сигнала нет — там достаточно измерения угла.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 вход — выгрузка из PACS как есть. Сервис читает файлы, убирает повторы, определяет область, проверяет критерии независимо и сводит результат. На выходе — таблица ровно в формате технического задания, снимки с разметкой и DICOM SR — структурированное текстовое заключение, которое PACS показывает рядом со снимком.</a:t>
            </a:r>
          </a:p>
          <a:p>
            <a:endParaRPr/>
          </a:p>
          <a:p>
            <a:r>
              <a:t>Всё это работает в одном контейнере без доступа в интернет. Вычисления идут в один поток, поэтому повторный прогон даёт в точности тот же отчёт.</a:t>
            </a:r>
          </a:p>
          <a:p>
            <a:endParaRPr/>
          </a:p>
          <a:p>
            <a:r>
              <a:t>Если спросят: Читаются сжатые форматы RLE, JPEG, JPEG-LS и JPEG 2000, инвертированные снимки MONOCHROME1, таблицы яркости VOI LUT; зеркальная выгрузка приводится к стандартному виду.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Внутри шагов конвейера — шесть модулей, у каждого своя проверяемая задача. Четыре — измерения и простые линейные модели: определение области; позвоночник — наклон оси, укладка, посторонние предметы; отступы бедра; выступ малого вертела. Пятый — нейросеть ResNet-34, дообученная на наших снимках: три её копии с разных случайных стартов, ответы усредняются, чтобы результат не плавал от запуска к запуску. Работает без видеокарты. Шестой — наша модель опорных точек: обучена пока на двух частях данных из пяти, по оси не уступает контурному методу, но в двенадцать раз медленнее, поэтому включается отдельной настройкой.</a:t>
            </a:r>
          </a:p>
          <a:p>
            <a:endParaRPr/>
          </a:p>
          <a:p>
            <a:r>
              <a:t>Если спросят: Веса нейросети хранятся в формате ONNX с половинной точностью: файл вдвое меньше, качество то 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До проверки критериев всё приводится к миллиметрам и к одной стороне тела: правое бедро зеркально отражается в левое, чтобы измерения и нейросеть видели одну и ту же картину. После — пороги нормы, объединение измерения с ответом нейросети и перевод в вероятность: измерение каждого критерия становится вероятностью нарушения, и оператор видит, насколько система уверена.</a:t>
            </a:r>
          </a:p>
          <a:p>
            <a:endParaRPr/>
          </a:p>
          <a:p>
            <a:r>
              <a:t>Если спросят: Для нейросети яркость нормализуется по перцентилям: 12-битный снимок с другого аппарата не сломает вход.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Это честные числа: каждый вердикт вынесен моделью и порогом, которые этот снимок не видели. «Найдено» — какую долю нарушений мы находим, «без ложных» — какую долю нормальных снимков не тревожим зря. По классу «есть нарушение» F1 0,58, ROC-AUC 0,78; у исходного решения — без нейросети и с буквальным прочтением отступов — было 0,49 и 0,68.</a:t>
            </a:r>
          </a:p>
          <a:p>
            <a:endParaRPr/>
          </a:p>
          <a:p>
            <a:r>
              <a:t>Больше всего выросли отступы области измерения — F1 с 0,35 до 0,71 — и ротация бедра. Доверительные интервалы широкие: нарушений от шести до тридцати шести на критерий, и мы этого не прячем.</a:t>
            </a:r>
          </a:p>
          <a:p>
            <a:endParaRPr/>
          </a:p>
          <a:p>
            <a:r>
              <a:t>Если спросят: Средний F1 по типам нарушений: 0,395 → 0,497. Бедро: F1 0,60, ROC-AUC 0,82; позвоночник: F1 0,55. Область определяется верно на 252 снимках из 252, обработано 100 % файлов.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Это ROC-кривые: чем выше и левее кривая, тем лучше метод отделяет нарушения от нормы. Для ротации нейросеть заметно лучше измерения, а объединённый вердикт добавляет ещё. Для посторонних предметов нейросеть дополняет фильтр top-hat — он выделяет яркие тонкие структуры — там, где предмет не яркий.</a:t>
            </a:r>
          </a:p>
          <a:p>
            <a:endParaRPr/>
          </a:p>
          <a:p>
            <a:r>
              <a:t>Кривые отвечают, умеет ли метод различать; таблицы — что реально ставит сервис, когда и правило объединения, и порог подобраны без проверочной части: для ротации F1 0,55 против 0,48 у одного измерения.</a:t>
            </a:r>
          </a:p>
          <a:p>
            <a:endParaRPr/>
          </a:p>
          <a:p>
            <a:r>
              <a:t>Если спросят: Порог равен доле нарушений в обучающей выборке: подбирать максимум F1 на 36 примерах нельзя — на новых данных он не повторится.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Здесь — решения, которые изменила честная оценка. Модель опорных точек по оси не хуже контурного метода, но в двенадцать раз медленнее, поэтому выключена по умолчанию. Для укладки правило «обе оценки согласны» было лучшим на всей выборке и провалилось на новых снимках: из шести нарушений оно ловит одно. Внизу — что перебрали для нейросети: архитектуры, разрешение, число копий.</a:t>
            </a:r>
          </a:p>
          <a:p>
            <a:endParaRPr/>
          </a:p>
          <a:p>
            <a:r>
              <a:t>Если спросят: ResNet-18 — 0,76, EfficientNet-B0 — 0,73, ResNet-34 — 0,77, три копии — 0,80, объединённый вердикт с измерением — 0,82 ROC-AUC.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Разбор ошибок показал, как оценивает эксперт. Отступы области измерения он судит по длине поля сканирования, а не по отступам от каждого ориентира. Правило «поле не короче трёх сантиметров над вертелом, плюс расстояние до седалищной кости, плюс три сантиметра под ней» совпадает с экспертом в 5 случаях из 7 при 2 лишних: F1 0,71 против 0,35 у буквального прочтения схемы из ТЗ. По меткам мы ничего не подбирали: три сантиметра — из технического задания, 6,9 сантиметра — типичное расстояние в анатомии.</a:t>
            </a:r>
          </a:p>
          <a:p>
            <a:endParaRPr/>
          </a:p>
          <a:p>
            <a:r>
              <a:t>Второе наблюдение: при сколиозе эксперт не ставит нарушение оси ни в одном из четырнадцати случаев, хотя угол доходит до 8,8 градуса. Это главный источник наших лишних срабатываний по оси.</a:t>
            </a:r>
          </a:p>
          <a:p>
            <a:endParaRPr/>
          </a:p>
          <a:p>
            <a:r>
              <a:t>Если спросят: Режим строго по схеме из ТЗ включается настройкой --roi-rule margins.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Четыре настоящих снимка, на которых сервис согласен с экспертом. Ось отклонена на 8,7 градуса при норме до пяти. Посторонний предмет: и фильтр, и нейросеть указывают на одну и ту же структуру. Ротация: подсветка нейросети — на вертельной области. Отступы: поле сканирования короче нужного.</a:t>
            </a:r>
          </a:p>
          <a:p>
            <a:endParaRPr/>
          </a:p>
          <a:p>
            <a:r>
              <a:t>Если спросят: Ответы нейросети на этих снимках — от моделей, которые именно этот снимок не видели.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Типичное время — 1,6 секунды на исследование на одном ядре процессора при лимите три минуты, самое долгое — 2,3 секунды. Видеокарта не нужна. Повторный прогон даёт в точности тот же отчёт.</a:t>
            </a:r>
          </a:p>
          <a:p>
            <a:endParaRPr/>
          </a:p>
          <a:p>
            <a:r>
              <a:t>Если спросят: Весь набор из 100 исследований — 2,4 минуты подряд. Минимальные требования — 2 ядра, 2 ГБ памяти, 2 ГБ диска.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У сервиса один конвейер и четыре входа. Веб-приложение — для сервера клиники. Приложение для Windows с установщиком — для ноутбука в кабинете: оно работает полностью локально, снимки не покидают компьютер, а обновление — это установка новой версии. Программный интерфейс API — для интеграции с PACS. И приятный бонус, не обязательная часть решения, — Telegram-бот: тот же анализ отвечает в чате. Его можно развивать и встраивать в другие сервисы, но для реальных пациентов он не предназначен: файлы проходят через серверы Telegram.</a:t>
            </a:r>
          </a:p>
          <a:p>
            <a:endParaRPr/>
          </a:p>
          <a:p>
            <a:r>
              <a:t>Если спросят: Отчёты всех интерфейсов совпадают: контейнер, приложение и запуск из кода сверены на 252 снимках.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Для лаборанта — подсказка в момент съёмки: укладку исправляют, пока пациент на аппарате. Для врача — снимки, пригодные для заключения, и оценка качества рядом со снимком. Для медорганизации — меньше повторных исследований и единый стандарт контроля для всех аппаратов и смен.</a:t>
            </a:r>
          </a:p>
          <a:p>
            <a:endParaRPr/>
          </a:p>
          <a:p>
            <a:r>
              <a:t>Разворачивается на обычном сервере или ноутбуке, без видеокарты и без передачи снимков наружу.</a:t>
            </a:r>
          </a:p>
          <a:p>
            <a:endParaRPr/>
          </a:p>
          <a:p>
            <a:r>
              <a:t>Если спросят: Эффект измеряем в пилоте: доля повторных исследований из-за укладки и время врача на контроль качества.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Главные ограничения: один аппарат, маленькая выборка и то, что правило отступов согласовано с экспертом, а не с буквальным чтением схемы из ТЗ. Для каждого ограничения записано, что нужно, чтобы его снять.</a:t>
            </a:r>
          </a:p>
          <a:p>
            <a:endParaRPr/>
          </a:p>
          <a:p>
            <a:r>
              <a:t>Если спросят: Верхняя граница укладки — половина тела Th12 — не проверяется: разметки этого уровня в данных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Внедрение в три шага. Сначала сервис работает параллельно с врачом: стоит за DICOM-роутером, получает копии снимков и ничего не меняет в работе врача — мы только считаем согласие с экспертом. Затем — помощник лаборанта: подсказка приходит, пока пациент ещё на аппарате. И масштабирование на другие аппараты с дообучением. Для каждого шага есть измеримая метрика.</a:t>
            </a:r>
          </a:p>
          <a:p>
            <a:endParaRPr/>
          </a:p>
          <a:p>
            <a:r>
              <a:t>Если спросят: Дообучение нейросети — одна команда, около шести минут на критерий на видеокарте.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Дальше — пилот, больше размеченных нарушений ротации и оси, дообучение модели опорных точек на всех данных, второй аппарат. Для приложения — автообновление, для интерфейсов — встраивание в PACS и другие сервисы медорганизации.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Сейчас покажем вживую: загружаем архив из семи исследований, проходим по одному снимку каждого типа нарушения, отмечаем согласие и выгружаем отчёт.</a:t>
            </a:r>
          </a:p>
          <a:p>
            <a:endParaRPr/>
          </a:p>
          <a:p>
            <a:r>
              <a:t>Если спросят: Если нет Docker — приложение для Windows; с телефона — бот @LCT_bone_density_research_bot, команда /demo.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Спасибо! Репозиторий, установщик и бот — по ссылкам на слайде. Готовы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29.09.2026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29.09.2026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29.09.2026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29.09.2026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6" name="Picture 5" descr="moscow_medic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66928"/>
            <a:ext cx="2468880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48132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постановщик задачи — Департамент здравоохранения Москвы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9476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Контроль качества DXA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526280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Сервис ИИ для оценки качества исследований плотности костей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532120"/>
            <a:ext cx="548640" cy="38100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56692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Команда [название команды] · ЛЦТ 2026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ui_results.png"/>
          <p:cNvPicPr>
            <a:picLocks noChangeAspect="1"/>
          </p:cNvPicPr>
          <p:nvPr/>
        </p:nvPicPr>
        <p:blipFill>
          <a:blip r:embed="rId4"/>
          <a:srcRect b="21653"/>
          <a:stretch>
            <a:fillRect/>
          </a:stretch>
        </p:blipFill>
        <p:spPr>
          <a:xfrm>
            <a:off x="0" y="335267"/>
            <a:ext cx="6456363" cy="2971784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13716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sz="1300" dirty="0">
                <a:solidFill>
                  <a:schemeClr val="tx1"/>
                </a:solidFill>
              </a:rPr>
              <a:t>Вердикт проверяется глазами: измерение на снимке сравнивается с нормой из ТЗ. Нейросеть используется только там, где признак нельзя измерить линейкой, — это форма, а не размер. Отступы области измерения (ROI) оцениваются так, как их оценивает эксперт.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b="0" dirty="0">
                <a:solidFill>
                  <a:schemeClr val="tx1"/>
                </a:solidFill>
              </a:rPr>
              <a:t>[ФИО капитана], [специальность]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b="0" dirty="0">
                <a:solidFill>
                  <a:schemeClr val="tx1"/>
                </a:solidFill>
              </a:rPr>
              <a:t>3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[как образовалась команда]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[где учатся или работают участники]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 </a:t>
            </a:r>
            <a:r>
              <a:rPr lang="ru-RU" b="0" dirty="0">
                <a:solidFill>
                  <a:schemeClr val="tx1"/>
                </a:solidFill>
              </a:rPr>
              <a:t>[город, регион]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sz="2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Команда [название команды]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169164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sz="1300" dirty="0">
                <a:solidFill>
                  <a:schemeClr val="tx1"/>
                </a:solidFill>
              </a:rPr>
              <a:t>Сервис проверяет DXA-снимок позвоночника и бедра по пяти критериям ТЗ до того, как исследование уйдёт к врачу: определяет область, находит нарушения укладки и отступов и объясняет каждое в миллиметрах и градусах. Работает локально, без видеокарты: 1.6 с на исследование.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2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4998567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5170851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[роль в команде]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[ник в мессенджере]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[номер телефона]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[место работы или учёбы]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5170850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[Имя Фамилия]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7302855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7475139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[роль в команде]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[ник в мессенджере]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[номер телефона]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[место работы или учёбы]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7475138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[Имя Фамилия]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269427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t>КОМАНДА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866563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[роль в команде]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[ник в мессенджере]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[номер телефона]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[место работы или учёбы]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286656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[Имя Фамилия]</a:t>
            </a:r>
          </a:p>
        </p:txBody>
      </p:sp>
      <p:sp>
        <p:nvSpPr>
          <p:cNvPr id="68" name="Oval 67"/>
          <p:cNvSpPr/>
          <p:nvPr/>
        </p:nvSpPr>
        <p:spPr>
          <a:xfrm>
            <a:off x="3174339" y="1897380"/>
            <a:ext cx="1234440" cy="1234440"/>
          </a:xfrm>
          <a:prstGeom prst="ellipse">
            <a:avLst/>
          </a:prstGeom>
          <a:solidFill>
            <a:srgbClr val="FF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?</a:t>
            </a:r>
          </a:p>
        </p:txBody>
      </p:sp>
      <p:sp>
        <p:nvSpPr>
          <p:cNvPr id="69" name="Oval 68"/>
          <p:cNvSpPr/>
          <p:nvPr/>
        </p:nvSpPr>
        <p:spPr>
          <a:xfrm>
            <a:off x="5478627" y="1897380"/>
            <a:ext cx="1234440" cy="1234440"/>
          </a:xfrm>
          <a:prstGeom prst="ellipse">
            <a:avLst/>
          </a:prstGeom>
          <a:solidFill>
            <a:srgbClr val="FF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?</a:t>
            </a:r>
          </a:p>
        </p:txBody>
      </p:sp>
      <p:sp>
        <p:nvSpPr>
          <p:cNvPr id="70" name="Oval 69"/>
          <p:cNvSpPr/>
          <p:nvPr/>
        </p:nvSpPr>
        <p:spPr>
          <a:xfrm>
            <a:off x="7782915" y="1897380"/>
            <a:ext cx="1234440" cy="1234440"/>
          </a:xfrm>
          <a:prstGeom prst="ellipse">
            <a:avLst/>
          </a:prstGeom>
          <a:solidFill>
            <a:srgbClr val="FF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t>ИСТОРИЯ И ВЫЗОВЫ</a:t>
            </a: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[Как собрались, участвовали ли вместе в прошлых хакатонах или проектах, интересные факты о команде.]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10241280" cy="11430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Примеров нарушений в данных мало (от 6 до 36 на каждый тип). Поэтому качество считаем честно: каждый снимок проверяет модель, которая его не видела, а нейросеть используется только там, где измерения недостаточно.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Разметка эксперта расходилась с ТЗ по отступам области измерения (ROI) — разобрали все расхождения и поняли, по какому правилу судит эксперт: по длине поля сканирования. Размер пикселя в файлах не указан — масштаб восстановили по анатомии.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9966960" cy="960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Ошибка укладки (положения пациента при съёмке) незаметно портит результаты измерения плотности кости и оценку необходимости лечения, а замечает её сегодня только врач, вручную. Задачу можно решить прозрачно: каждое замечание — это численный показатель, который сравнивается с нормой, и врач проверяет его глазами.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3872483" cy="620919"/>
          </a:xfrm>
          <a:prstGeom prst="roundRect">
            <a:avLst>
              <a:gd name="adj" fmla="val 187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КОРОТКО О РЕШЕНИИ</a:t>
            </a:r>
          </a:p>
        </p:txBody>
      </p:sp>
      <p:sp>
        <p:nvSpPr>
          <p:cNvPr id="901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pPr algn="r"/>
            <a:fld id="{52DCC5B9-D646-4B76-891F-6FF4E74E9CB4}" type="slidenum">
              <a:rPr lang="ru-RU" sz="1200">
                <a:solidFill>
                  <a:srgbClr val="FFFFFF"/>
                </a:solidFill>
                <a:latin typeface="Montserrat"/>
              </a:rPr>
              <a:t>5</a:t>
            </a:fld>
            <a:endParaRPr lang="ru-RU" sz="120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902" name="Rounded Rectangle 901"/>
          <p:cNvSpPr/>
          <p:nvPr/>
        </p:nvSpPr>
        <p:spPr>
          <a:xfrm>
            <a:off x="346075" y="1207008"/>
            <a:ext cx="5440680" cy="49926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3" name="TextBox 902"/>
          <p:cNvSpPr txBox="1"/>
          <p:nvPr/>
        </p:nvSpPr>
        <p:spPr>
          <a:xfrm>
            <a:off x="620395" y="1481328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Техническая суть решения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620395" y="2029968"/>
            <a:ext cx="4892040" cy="4032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lnSpc>
                <a:spcPct val="112000"/>
              </a:lnSpc>
              <a:spcAft>
                <a:spcPts val="600"/>
              </a:spcAft>
              <a:buClr>
                <a:srgbClr val="FF0053"/>
              </a:buClr>
              <a:buFont typeface="Arial"/>
              <a:buChar char="▪"/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Вход — снимки в медицинском формате DICOM (папка или zip), как их выгружает архив клиники PACS; повторные снимки отсеиваются по совпадению изображения.</a:t>
            </a:r>
          </a:p>
          <a:p>
            <a:pPr marL="219456" indent="-219456">
              <a:lnSpc>
                <a:spcPct val="112000"/>
              </a:lnSpc>
              <a:spcAft>
                <a:spcPts val="600"/>
              </a:spcAft>
              <a:buClr>
                <a:srgbClr val="FF0053"/>
              </a:buClr>
              <a:buFont typeface="Arial"/>
              <a:buChar char="▪"/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Область снимка — позвоночник, левое или правое бедро, «не денситометрия» — определяется верно на 252 снимках из 252.</a:t>
            </a:r>
          </a:p>
          <a:p>
            <a:pPr marL="219456" indent="-219456">
              <a:lnSpc>
                <a:spcPct val="112000"/>
              </a:lnSpc>
              <a:spcAft>
                <a:spcPts val="600"/>
              </a:spcAft>
              <a:buClr>
                <a:srgbClr val="FF0053"/>
              </a:buClr>
              <a:buFont typeface="Arial"/>
              <a:buChar char="▪"/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Три из пяти критериев проверяются прямым измерением в мм и градусах. Для ротации бедра и посторонних предметов к измерению добавлена нейросеть; вердикт объединяет обе оценки.</a:t>
            </a:r>
          </a:p>
          <a:p>
            <a:pPr marL="219456" indent="-219456">
              <a:lnSpc>
                <a:spcPct val="112000"/>
              </a:lnSpc>
              <a:spcAft>
                <a:spcPts val="600"/>
              </a:spcAft>
              <a:buClr>
                <a:srgbClr val="FF0053"/>
              </a:buClr>
              <a:buFont typeface="Arial"/>
              <a:buChar char="▪"/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Выход — таблица в формате ТЗ (п. 2.5), снимки с разметкой и подсветкой зон, куда смотрела нейросеть, заключение DICOM SR для PACS.</a:t>
            </a:r>
          </a:p>
          <a:p>
            <a:pPr marL="219456" indent="-219456">
              <a:lnSpc>
                <a:spcPct val="112000"/>
              </a:lnSpc>
              <a:spcAft>
                <a:spcPts val="600"/>
              </a:spcAft>
              <a:buClr>
                <a:srgbClr val="FF0053"/>
              </a:buClr>
              <a:buFont typeface="Arial"/>
              <a:buChar char="▪"/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Оценка на снимках, которых модель не видела: F1 0.58 (баланс найденных нарушений и ложных тревог), ROC-AUC 0.78 (1.0 — идеал). 1.6 с на исследование, без интернета.</a:t>
            </a:r>
          </a:p>
        </p:txBody>
      </p:sp>
      <p:sp>
        <p:nvSpPr>
          <p:cNvPr id="905" name="Rounded Rectangle 904"/>
          <p:cNvSpPr/>
          <p:nvPr/>
        </p:nvSpPr>
        <p:spPr>
          <a:xfrm>
            <a:off x="6225667" y="1207008"/>
            <a:ext cx="5440680" cy="49926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6" name="TextBox 905"/>
          <p:cNvSpPr txBox="1"/>
          <p:nvPr/>
        </p:nvSpPr>
        <p:spPr>
          <a:xfrm>
            <a:off x="6499987" y="1481328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Маркетинговая суть решения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6499987" y="2029968"/>
            <a:ext cx="4892040" cy="4032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lnSpc>
                <a:spcPct val="112000"/>
              </a:lnSpc>
              <a:spcAft>
                <a:spcPts val="600"/>
              </a:spcAft>
              <a:buClr>
                <a:srgbClr val="FF0053"/>
              </a:buClr>
              <a:buFont typeface="Arial"/>
              <a:buChar char="▪"/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Для кого: лаборанты и врачи отделений денситометрии, служба контроля качества лучевой диагностики.</a:t>
            </a:r>
          </a:p>
          <a:p>
            <a:pPr marL="219456" indent="-219456">
              <a:lnSpc>
                <a:spcPct val="112000"/>
              </a:lnSpc>
              <a:spcAft>
                <a:spcPts val="600"/>
              </a:spcAft>
              <a:buClr>
                <a:srgbClr val="FF0053"/>
              </a:buClr>
              <a:buFont typeface="Arial"/>
              <a:buChar char="▪"/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Ценность: предупреждение приходит, пока пациент на аппарате, — меньше повторных исследований и ошибок в измерении плотности кости.</a:t>
            </a:r>
          </a:p>
          <a:p>
            <a:pPr marL="219456" indent="-219456">
              <a:lnSpc>
                <a:spcPct val="112000"/>
              </a:lnSpc>
              <a:spcAft>
                <a:spcPts val="600"/>
              </a:spcAft>
              <a:buClr>
                <a:srgbClr val="FF0053"/>
              </a:buClr>
              <a:buFont typeface="Arial"/>
              <a:buChar char="▪"/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Внедрение: снимок с аппарата автоматически уходит в сервис через DICOM-роутер, заключение возвращается в архив клиники. Сначала параллельно с врачом, затем как помощник лаборанта, затем — в других медорганизациях.</a:t>
            </a:r>
          </a:p>
          <a:p>
            <a:pPr marL="219456" indent="-219456">
              <a:lnSpc>
                <a:spcPct val="112000"/>
              </a:lnSpc>
              <a:spcAft>
                <a:spcPts val="600"/>
              </a:spcAft>
              <a:buClr>
                <a:srgbClr val="FF0053"/>
              </a:buClr>
              <a:buFont typeface="Arial"/>
              <a:buChar char="▪"/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Поставка: контейнер для сервера, полностью локальное приложение для Windows, программный интерфейс API. Видеокарта не нужна. Бонус сверх задания — Telegram-бот: демонстрация альтернативного интерфейса.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4059935" cy="620919"/>
          </a:xfrm>
          <a:prstGeom prst="roundRect">
            <a:avLst>
              <a:gd name="adj" fmla="val 187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КЛИНИЧЕСКАЯ ЗАДАЧА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Ошибку укладки дешевле поймать, пока пациент на аппарате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pPr algn="r"/>
            <a:fld id="{52DCC5B9-D646-4B76-891F-6FF4E74E9CB4}" type="slidenum">
              <a:rPr lang="ru-RU" sz="1200">
                <a:solidFill>
                  <a:srgbClr val="520977"/>
                </a:solidFill>
                <a:latin typeface="Montserrat"/>
              </a:rPr>
              <a:t>6</a:t>
            </a:fld>
            <a:endParaRPr lang="ru-RU" sz="1200">
              <a:solidFill>
                <a:srgbClr val="520977"/>
              </a:solidFill>
              <a:latin typeface="Montserrat"/>
            </a:endParaRPr>
          </a:p>
        </p:txBody>
      </p:sp>
      <p:sp>
        <p:nvSpPr>
          <p:cNvPr id="903" name="TextBox 902"/>
          <p:cNvSpPr txBox="1"/>
          <p:nvPr/>
        </p:nvSpPr>
        <p:spPr>
          <a:xfrm>
            <a:off x="346075" y="1828800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ПОЧЕМУ ЭТО ВАЖНО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346075" y="2148840"/>
            <a:ext cx="5577840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Плотность кости считается внутри области измерения. Если позвоночник наклонён, бедро повёрнуто или в кадре посторонний предмет, аппарат измеряет не тот участок кости.</a:t>
            </a:r>
          </a:p>
          <a:p>
            <a:pPr marL="219456" indent="-219456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Ошибка уходит в T-критерий (число, по которому ставят остеопороз) и в ложное изменение по сравнению с прошлым снимком: лишнее облучение или неверная оценка лечения.</a:t>
            </a:r>
          </a:p>
          <a:p>
            <a:pPr marL="219456" indent="-219456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Сегодня врач проверяет качество на глаз, помня критерии для каждой области.</a:t>
            </a:r>
          </a:p>
        </p:txBody>
      </p:sp>
      <p:sp>
        <p:nvSpPr>
          <p:cNvPr id="905" name="Rounded Rectangle 904"/>
          <p:cNvSpPr/>
          <p:nvPr/>
        </p:nvSpPr>
        <p:spPr>
          <a:xfrm>
            <a:off x="346075" y="4114800"/>
            <a:ext cx="2743200" cy="2148840"/>
          </a:xfrm>
          <a:prstGeom prst="roundRect">
            <a:avLst>
              <a:gd name="adj" fmla="val 4000"/>
            </a:avLst>
          </a:prstGeom>
          <a:solidFill>
            <a:srgbClr val="120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06" name="Picture 905" descr="ok_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181" y="4114800"/>
            <a:ext cx="1762988" cy="1819656"/>
          </a:xfrm>
          <a:prstGeom prst="rect">
            <a:avLst/>
          </a:prstGeom>
        </p:spPr>
      </p:pic>
      <p:sp>
        <p:nvSpPr>
          <p:cNvPr id="907" name="TextBox 906"/>
          <p:cNvSpPr txBox="1"/>
          <p:nvPr/>
        </p:nvSpPr>
        <p:spPr>
          <a:xfrm>
            <a:off x="492379" y="5998464"/>
            <a:ext cx="2450592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D9D2E6"/>
                </a:solidFill>
                <a:latin typeface="Montserrat"/>
                <a:ea typeface="Montserrat"/>
                <a:cs typeface="Montserrat"/>
              </a:rPr>
              <a:t>норма: малый вертел виден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3199003" y="4114800"/>
            <a:ext cx="2743200" cy="2148840"/>
          </a:xfrm>
          <a:prstGeom prst="roundRect">
            <a:avLst>
              <a:gd name="adj" fmla="val 4000"/>
            </a:avLst>
          </a:prstGeom>
          <a:solidFill>
            <a:srgbClr val="120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09" name="Picture 908" descr="rot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553" y="4114800"/>
            <a:ext cx="2168100" cy="1819656"/>
          </a:xfrm>
          <a:prstGeom prst="rect">
            <a:avLst/>
          </a:prstGeom>
        </p:spPr>
      </p:pic>
      <p:sp>
        <p:nvSpPr>
          <p:cNvPr id="910" name="TextBox 909"/>
          <p:cNvSpPr txBox="1"/>
          <p:nvPr/>
        </p:nvSpPr>
        <p:spPr>
          <a:xfrm>
            <a:off x="3345307" y="5998464"/>
            <a:ext cx="2450592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D9D2E6"/>
                </a:solidFill>
                <a:latin typeface="Montserrat"/>
                <a:ea typeface="Montserrat"/>
                <a:cs typeface="Montserrat"/>
              </a:rPr>
              <a:t>бедро повёрнуто: вертел не виден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6355080" y="1828800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ЧТО ДЕЛАЕТ СЕРВИС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6355080" y="219456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6949440" y="217627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Проверяет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6949440" y="2542032"/>
            <a:ext cx="484632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Каждый снимок по пяти критериям ТЗ: укладка, наклон оси, посторонние предметы, поворот (ротация) бедра, отступы области измерения.</a:t>
            </a:r>
          </a:p>
        </p:txBody>
      </p:sp>
      <p:sp>
        <p:nvSpPr>
          <p:cNvPr id="915" name="Rounded Rectangle 914"/>
          <p:cNvSpPr/>
          <p:nvPr/>
        </p:nvSpPr>
        <p:spPr>
          <a:xfrm>
            <a:off x="6355080" y="356616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6949440" y="354787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Объясняет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6949440" y="3913632"/>
            <a:ext cx="484632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Пишет причину в цифрах — «наклон 8.7° при норме до 5°», «поле 12.5 см, нужно 12.9 см» — и подсвечивает место на снимке.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6355080" y="493776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6949440" y="491947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Передаёт человеку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6949440" y="5285232"/>
            <a:ext cx="484632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Лаборант исправляет укладку, пока пациент на аппарате; врач видит заключение DICOM SR рядом со снимком в архиве (PACS).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4434840" cy="620919"/>
          </a:xfrm>
          <a:prstGeom prst="roundRect">
            <a:avLst>
              <a:gd name="adj" fmla="val 187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ТАКСОНОМИЯ НАРУШЕНИЙ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Пять критериев ТЗ, у каждого — измерение в физических единицах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pPr algn="r"/>
            <a:fld id="{52DCC5B9-D646-4B76-891F-6FF4E74E9CB4}" type="slidenum">
              <a:rPr lang="ru-RU" sz="1200">
                <a:solidFill>
                  <a:srgbClr val="520977"/>
                </a:solidFill>
                <a:latin typeface="Montserrat"/>
              </a:rPr>
              <a:t>7</a:t>
            </a:fld>
            <a:endParaRPr lang="ru-RU" sz="1200">
              <a:solidFill>
                <a:srgbClr val="520977"/>
              </a:solidFill>
              <a:latin typeface="Montserrat"/>
            </a:endParaRPr>
          </a:p>
        </p:txBody>
      </p:sp>
      <p:graphicFrame>
        <p:nvGraphicFramePr>
          <p:cNvPr id="903" name="Table 902"/>
          <p:cNvGraphicFramePr>
            <a:graphicFrameLocks noGrp="1"/>
          </p:cNvGraphicFramePr>
          <p:nvPr/>
        </p:nvGraphicFramePr>
        <p:xfrm>
          <a:off x="346075" y="1828800"/>
          <a:ext cx="7818118" cy="39684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14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8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3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17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КОД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КРИТЕРИЙ ТЗ 2.3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КАК ИЗМЕРЯЕМ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НОРМА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spine_position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видны верхние края подвздошных костей (таза)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кость видна в нижних углах снимка — гребни подвздошных костей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есть с обеих сторон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spine_axis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наклон оси до 5°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линия через центры позвонков; контроль — по краям позвоночника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≤ 5° (порог 4°)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spine_artifacts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нет посторонних предметов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яркие тонкие структуры вне кости (фильтр top-hat) + нейросеть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уверенность &lt; 0.17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hip_rotation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нет ротации (по малому вертелу)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выступ малого вертела — костного бугорка — над контуром кости, мм² + нейросеть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уверенность &lt; 0.24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hip_roi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отступы 3 / 3 / 2 см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длина поля: 3 см + от вертела до седалищной кости + 3 см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≥ 12.9 см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undetermined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область не определена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снимок не похож на денситометрию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ручной разбор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04" name="Rounded Rectangle 903"/>
          <p:cNvSpPr/>
          <p:nvPr/>
        </p:nvSpPr>
        <p:spPr>
          <a:xfrm>
            <a:off x="8412480" y="1828800"/>
            <a:ext cx="3410712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5" name="TextBox 904"/>
          <p:cNvSpPr txBox="1"/>
          <p:nvPr/>
        </p:nvSpPr>
        <p:spPr>
          <a:xfrm>
            <a:off x="8631936" y="2011680"/>
            <a:ext cx="2971800" cy="243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Несколько нарушений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8631936" y="2346960"/>
            <a:ext cx="2971800" cy="1493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У каждого пятого исследования нарушений несколько. Критерии проверяются независимо, в отчёт попадают все, например «spine_axis; spine_artifacts». Класс качества = 1 («есть нарушение»), если сработал хоть один.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8412480" y="4114800"/>
            <a:ext cx="3410712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8" name="TextBox 907"/>
          <p:cNvSpPr txBox="1"/>
          <p:nvPr/>
        </p:nvSpPr>
        <p:spPr>
          <a:xfrm>
            <a:off x="8631936" y="4297680"/>
            <a:ext cx="2971800" cy="243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Сбой чтения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8631936" y="4632960"/>
            <a:ext cx="2971800" cy="899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Файл, который не удалось прочитать, попадает в отчёт строкой Failure с текстом ошибки; обработка не прерывается.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1810512" cy="620919"/>
          </a:xfrm>
          <a:prstGeom prst="roundRect">
            <a:avLst>
              <a:gd name="adj" fmla="val 187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252 снимка, по каждому критерию всего 6–36 нарушений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pPr algn="r"/>
            <a:fld id="{52DCC5B9-D646-4B76-891F-6FF4E74E9CB4}" type="slidenum">
              <a:rPr lang="ru-RU" sz="1200">
                <a:solidFill>
                  <a:srgbClr val="FFFFFF"/>
                </a:solidFill>
                <a:latin typeface="Montserrat"/>
              </a:rPr>
              <a:t>8</a:t>
            </a:fld>
            <a:endParaRPr lang="ru-RU" sz="120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903" name="Rounded Rectangle 902"/>
          <p:cNvSpPr/>
          <p:nvPr/>
        </p:nvSpPr>
        <p:spPr>
          <a:xfrm>
            <a:off x="346075" y="1828800"/>
            <a:ext cx="557784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4" name="TextBox 903"/>
          <p:cNvSpPr txBox="1"/>
          <p:nvPr/>
        </p:nvSpPr>
        <p:spPr>
          <a:xfrm>
            <a:off x="620395" y="205740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100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620395" y="254508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исследований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2357755" y="205740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499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2357755" y="254508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DICOM-файлов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4095115" y="205740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252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4095115" y="254508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уникальных снимков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620395" y="3154680"/>
            <a:ext cx="5029200" cy="3017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Один снимок в выгрузке встречается по нескольку раз под разными идентификаторами. Повторы находим по совпадению изображения — ещё до деления данных на обучение и проверку.</a:t>
            </a:r>
          </a:p>
          <a:p>
            <a:pPr marL="219456" indent="-219456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Из них 99 снимков позвоночника, 79 левого и 74 правого бедра — до трёх снимков на исследование. У трёх снимков бедра нет полной оценки эксперта, поэтому метрики считаются на 249.</a:t>
            </a:r>
          </a:p>
          <a:p>
            <a:pPr marL="219456" indent="-219456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Все снимки с одного аппарата (GE Lunar Prodigy Advance). Размер пикселя в файлах не указан: масштаб 0.6 мм на пиксель восстановили по известной высоте «позвонок + диск».</a:t>
            </a:r>
          </a:p>
          <a:p>
            <a:pPr marL="219456" indent="-219456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Сделали собственную разметку: 242 снимка, по 29 опорных точек на каждом.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6126480" y="1828800"/>
            <a:ext cx="5696712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2" name="TextBox 911"/>
          <p:cNvSpPr txBox="1"/>
          <p:nvPr/>
        </p:nvSpPr>
        <p:spPr>
          <a:xfrm>
            <a:off x="6400800" y="20574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Нарушений мало, и они разные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6400800" y="256032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Укладка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8549640" y="2596896"/>
            <a:ext cx="1388059" cy="201168"/>
          </a:xfrm>
          <a:prstGeom prst="roundRect">
            <a:avLst>
              <a:gd name="adj" fmla="val 40000"/>
            </a:avLst>
          </a:prstGeom>
          <a:solidFill>
            <a:srgbClr val="FF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5" name="Rounded Rectangle 914"/>
          <p:cNvSpPr/>
          <p:nvPr/>
        </p:nvSpPr>
        <p:spPr>
          <a:xfrm>
            <a:off x="8549640" y="2596896"/>
            <a:ext cx="84124" cy="201168"/>
          </a:xfrm>
          <a:prstGeom prst="roundRect">
            <a:avLst>
              <a:gd name="adj" fmla="val 4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6" name="TextBox 915"/>
          <p:cNvSpPr txBox="1"/>
          <p:nvPr/>
        </p:nvSpPr>
        <p:spPr>
          <a:xfrm>
            <a:off x="10029139" y="25603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6 из 99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6400800" y="298094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Наклон оси &gt; 5°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8549640" y="3017520"/>
            <a:ext cx="1388059" cy="201168"/>
          </a:xfrm>
          <a:prstGeom prst="roundRect">
            <a:avLst>
              <a:gd name="adj" fmla="val 40000"/>
            </a:avLst>
          </a:prstGeom>
          <a:solidFill>
            <a:srgbClr val="FF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9" name="Rounded Rectangle 918"/>
          <p:cNvSpPr/>
          <p:nvPr/>
        </p:nvSpPr>
        <p:spPr>
          <a:xfrm>
            <a:off x="8549640" y="3017520"/>
            <a:ext cx="140207" cy="201168"/>
          </a:xfrm>
          <a:prstGeom prst="roundRect">
            <a:avLst>
              <a:gd name="adj" fmla="val 4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0" name="TextBox 919"/>
          <p:cNvSpPr txBox="1"/>
          <p:nvPr/>
        </p:nvSpPr>
        <p:spPr>
          <a:xfrm>
            <a:off x="10029139" y="298094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10 из 99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6400800" y="340156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Посторонние предметы</a:t>
            </a:r>
          </a:p>
        </p:txBody>
      </p:sp>
      <p:sp>
        <p:nvSpPr>
          <p:cNvPr id="922" name="Rounded Rectangle 921"/>
          <p:cNvSpPr/>
          <p:nvPr/>
        </p:nvSpPr>
        <p:spPr>
          <a:xfrm>
            <a:off x="8549640" y="3438144"/>
            <a:ext cx="1388059" cy="201168"/>
          </a:xfrm>
          <a:prstGeom prst="roundRect">
            <a:avLst>
              <a:gd name="adj" fmla="val 40000"/>
            </a:avLst>
          </a:prstGeom>
          <a:solidFill>
            <a:srgbClr val="FF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3" name="Rounded Rectangle 922"/>
          <p:cNvSpPr/>
          <p:nvPr/>
        </p:nvSpPr>
        <p:spPr>
          <a:xfrm>
            <a:off x="8549640" y="3438144"/>
            <a:ext cx="238353" cy="201168"/>
          </a:xfrm>
          <a:prstGeom prst="roundRect">
            <a:avLst>
              <a:gd name="adj" fmla="val 4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4" name="TextBox 923"/>
          <p:cNvSpPr txBox="1"/>
          <p:nvPr/>
        </p:nvSpPr>
        <p:spPr>
          <a:xfrm>
            <a:off x="10029139" y="340156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17 из 99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400800" y="382219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Ротация бедра</a:t>
            </a:r>
          </a:p>
        </p:txBody>
      </p:sp>
      <p:sp>
        <p:nvSpPr>
          <p:cNvPr id="926" name="Rounded Rectangle 925"/>
          <p:cNvSpPr/>
          <p:nvPr/>
        </p:nvSpPr>
        <p:spPr>
          <a:xfrm>
            <a:off x="8549640" y="3858768"/>
            <a:ext cx="2103120" cy="201168"/>
          </a:xfrm>
          <a:prstGeom prst="roundRect">
            <a:avLst>
              <a:gd name="adj" fmla="val 40000"/>
            </a:avLst>
          </a:prstGeom>
          <a:solidFill>
            <a:srgbClr val="FF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7" name="Rounded Rectangle 926"/>
          <p:cNvSpPr/>
          <p:nvPr/>
        </p:nvSpPr>
        <p:spPr>
          <a:xfrm>
            <a:off x="8549640" y="3858768"/>
            <a:ext cx="504748" cy="201168"/>
          </a:xfrm>
          <a:prstGeom prst="roundRect">
            <a:avLst>
              <a:gd name="adj" fmla="val 4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8" name="TextBox 927"/>
          <p:cNvSpPr txBox="1"/>
          <p:nvPr/>
        </p:nvSpPr>
        <p:spPr>
          <a:xfrm>
            <a:off x="10744200" y="382219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36 из 150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6400800" y="424281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Отступы поля</a:t>
            </a:r>
          </a:p>
        </p:txBody>
      </p:sp>
      <p:sp>
        <p:nvSpPr>
          <p:cNvPr id="930" name="Rounded Rectangle 929"/>
          <p:cNvSpPr/>
          <p:nvPr/>
        </p:nvSpPr>
        <p:spPr>
          <a:xfrm>
            <a:off x="8549640" y="4279392"/>
            <a:ext cx="2103120" cy="201168"/>
          </a:xfrm>
          <a:prstGeom prst="roundRect">
            <a:avLst>
              <a:gd name="adj" fmla="val 40000"/>
            </a:avLst>
          </a:prstGeom>
          <a:solidFill>
            <a:srgbClr val="FF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1" name="Rounded Rectangle 930"/>
          <p:cNvSpPr/>
          <p:nvPr/>
        </p:nvSpPr>
        <p:spPr>
          <a:xfrm>
            <a:off x="8549640" y="4279392"/>
            <a:ext cx="98145" cy="201168"/>
          </a:xfrm>
          <a:prstGeom prst="roundRect">
            <a:avLst>
              <a:gd name="adj" fmla="val 4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2" name="TextBox 931"/>
          <p:cNvSpPr txBox="1"/>
          <p:nvPr/>
        </p:nvSpPr>
        <p:spPr>
          <a:xfrm>
            <a:off x="10744200" y="424281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7 из 150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6400800" y="4846320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48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6400800" y="527304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исследований из 100
с нарушением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8183880" y="4846320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20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8183880" y="527304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с двумя и более
нарушениями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9966960" y="4846320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72</a:t>
            </a:r>
          </a:p>
        </p:txBody>
      </p:sp>
      <p:sp>
        <p:nvSpPr>
          <p:cNvPr id="938" name="TextBox 937"/>
          <p:cNvSpPr txBox="1"/>
          <p:nvPr/>
        </p:nvSpPr>
        <p:spPr>
          <a:xfrm>
            <a:off x="9966960" y="527304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снимка из 249 оценённых
с нарушением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4622292" cy="620919"/>
          </a:xfrm>
          <a:prstGeom prst="roundRect">
            <a:avLst>
              <a:gd name="adj" fmla="val 187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КАК МЫ ПРОВЕРЯЕМ СЕБЯ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Каждый снимок оценивает модель, которая этот снимок не видела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pPr algn="r"/>
            <a:fld id="{52DCC5B9-D646-4B76-891F-6FF4E74E9CB4}" type="slidenum">
              <a:rPr lang="ru-RU" sz="1200">
                <a:solidFill>
                  <a:srgbClr val="520977"/>
                </a:solidFill>
                <a:latin typeface="Montserrat"/>
              </a:rPr>
              <a:t>9</a:t>
            </a:fld>
            <a:endParaRPr lang="ru-RU" sz="1200">
              <a:solidFill>
                <a:srgbClr val="520977"/>
              </a:solidFill>
              <a:latin typeface="Montserrat"/>
            </a:endParaRPr>
          </a:p>
        </p:txBody>
      </p:sp>
      <p:sp>
        <p:nvSpPr>
          <p:cNvPr id="903" name="TextBox 902"/>
          <p:cNvSpPr txBox="1"/>
          <p:nvPr/>
        </p:nvSpPr>
        <p:spPr>
          <a:xfrm>
            <a:off x="711835" y="1828800"/>
            <a:ext cx="89611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часть 1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1681099" y="1828800"/>
            <a:ext cx="89611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часть 2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2650363" y="1828800"/>
            <a:ext cx="89611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часть 3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3619627" y="1828800"/>
            <a:ext cx="89611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часть 4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4588891" y="1828800"/>
            <a:ext cx="89611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часть 5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346075" y="2194560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#1</a:t>
            </a:r>
          </a:p>
        </p:txBody>
      </p:sp>
      <p:sp>
        <p:nvSpPr>
          <p:cNvPr id="909" name="Rounded Rectangle 908"/>
          <p:cNvSpPr/>
          <p:nvPr/>
        </p:nvSpPr>
        <p:spPr>
          <a:xfrm>
            <a:off x="711835" y="2121408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проверка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1681099" y="2121408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2650363" y="2121408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3619627" y="2121408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13" name="Rounded Rectangle 912"/>
          <p:cNvSpPr/>
          <p:nvPr/>
        </p:nvSpPr>
        <p:spPr>
          <a:xfrm>
            <a:off x="4588891" y="2121408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346075" y="2615184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#2</a:t>
            </a:r>
          </a:p>
        </p:txBody>
      </p:sp>
      <p:sp>
        <p:nvSpPr>
          <p:cNvPr id="915" name="Rounded Rectangle 914"/>
          <p:cNvSpPr/>
          <p:nvPr/>
        </p:nvSpPr>
        <p:spPr>
          <a:xfrm>
            <a:off x="711835" y="2542032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1681099" y="2542032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проверка</a:t>
            </a:r>
          </a:p>
        </p:txBody>
      </p:sp>
      <p:sp>
        <p:nvSpPr>
          <p:cNvPr id="917" name="Rounded Rectangle 916"/>
          <p:cNvSpPr/>
          <p:nvPr/>
        </p:nvSpPr>
        <p:spPr>
          <a:xfrm>
            <a:off x="2650363" y="2542032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3619627" y="2542032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19" name="Rounded Rectangle 918"/>
          <p:cNvSpPr/>
          <p:nvPr/>
        </p:nvSpPr>
        <p:spPr>
          <a:xfrm>
            <a:off x="4588891" y="2542032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346075" y="303580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#3</a:t>
            </a:r>
          </a:p>
        </p:txBody>
      </p:sp>
      <p:sp>
        <p:nvSpPr>
          <p:cNvPr id="921" name="Rounded Rectangle 920"/>
          <p:cNvSpPr/>
          <p:nvPr/>
        </p:nvSpPr>
        <p:spPr>
          <a:xfrm>
            <a:off x="711835" y="2962656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22" name="Rounded Rectangle 921"/>
          <p:cNvSpPr/>
          <p:nvPr/>
        </p:nvSpPr>
        <p:spPr>
          <a:xfrm>
            <a:off x="1681099" y="2962656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23" name="Rounded Rectangle 922"/>
          <p:cNvSpPr/>
          <p:nvPr/>
        </p:nvSpPr>
        <p:spPr>
          <a:xfrm>
            <a:off x="2650363" y="2962656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проверка</a:t>
            </a:r>
          </a:p>
        </p:txBody>
      </p:sp>
      <p:sp>
        <p:nvSpPr>
          <p:cNvPr id="924" name="Rounded Rectangle 923"/>
          <p:cNvSpPr/>
          <p:nvPr/>
        </p:nvSpPr>
        <p:spPr>
          <a:xfrm>
            <a:off x="3619627" y="2962656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25" name="Rounded Rectangle 924"/>
          <p:cNvSpPr/>
          <p:nvPr/>
        </p:nvSpPr>
        <p:spPr>
          <a:xfrm>
            <a:off x="4588891" y="2962656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346075" y="3456432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#4</a:t>
            </a:r>
          </a:p>
        </p:txBody>
      </p:sp>
      <p:sp>
        <p:nvSpPr>
          <p:cNvPr id="927" name="Rounded Rectangle 926"/>
          <p:cNvSpPr/>
          <p:nvPr/>
        </p:nvSpPr>
        <p:spPr>
          <a:xfrm>
            <a:off x="711835" y="3383280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28" name="Rounded Rectangle 927"/>
          <p:cNvSpPr/>
          <p:nvPr/>
        </p:nvSpPr>
        <p:spPr>
          <a:xfrm>
            <a:off x="1681099" y="3383280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29" name="Rounded Rectangle 928"/>
          <p:cNvSpPr/>
          <p:nvPr/>
        </p:nvSpPr>
        <p:spPr>
          <a:xfrm>
            <a:off x="2650363" y="3383280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30" name="Rounded Rectangle 929"/>
          <p:cNvSpPr/>
          <p:nvPr/>
        </p:nvSpPr>
        <p:spPr>
          <a:xfrm>
            <a:off x="3619627" y="3383280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проверка</a:t>
            </a:r>
          </a:p>
        </p:txBody>
      </p:sp>
      <p:sp>
        <p:nvSpPr>
          <p:cNvPr id="931" name="Rounded Rectangle 930"/>
          <p:cNvSpPr/>
          <p:nvPr/>
        </p:nvSpPr>
        <p:spPr>
          <a:xfrm>
            <a:off x="4588891" y="3383280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32" name="TextBox 931"/>
          <p:cNvSpPr txBox="1"/>
          <p:nvPr/>
        </p:nvSpPr>
        <p:spPr>
          <a:xfrm>
            <a:off x="346075" y="3877056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#5</a:t>
            </a:r>
          </a:p>
        </p:txBody>
      </p:sp>
      <p:sp>
        <p:nvSpPr>
          <p:cNvPr id="933" name="Rounded Rectangle 932"/>
          <p:cNvSpPr/>
          <p:nvPr/>
        </p:nvSpPr>
        <p:spPr>
          <a:xfrm>
            <a:off x="711835" y="3803904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34" name="Rounded Rectangle 933"/>
          <p:cNvSpPr/>
          <p:nvPr/>
        </p:nvSpPr>
        <p:spPr>
          <a:xfrm>
            <a:off x="1681099" y="3803904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35" name="Rounded Rectangle 934"/>
          <p:cNvSpPr/>
          <p:nvPr/>
        </p:nvSpPr>
        <p:spPr>
          <a:xfrm>
            <a:off x="2650363" y="3803904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36" name="Rounded Rectangle 935"/>
          <p:cNvSpPr/>
          <p:nvPr/>
        </p:nvSpPr>
        <p:spPr>
          <a:xfrm>
            <a:off x="3619627" y="3803904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37" name="Rounded Rectangle 936"/>
          <p:cNvSpPr/>
          <p:nvPr/>
        </p:nvSpPr>
        <p:spPr>
          <a:xfrm>
            <a:off x="4588891" y="3803904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проверка</a:t>
            </a:r>
          </a:p>
        </p:txBody>
      </p:sp>
      <p:sp>
        <p:nvSpPr>
          <p:cNvPr id="938" name="TextBox 937"/>
          <p:cNvSpPr txBox="1"/>
          <p:nvPr/>
        </p:nvSpPr>
        <p:spPr>
          <a:xfrm>
            <a:off x="346075" y="4389120"/>
            <a:ext cx="530352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Модель здесь — это пороги нормы для измерений и нейросеть (о них на следующем слайде). Сто исследований делим на пять частей по двадцать. Пять раз по очереди четыре части идут на обучение, пятая — на проверку: в итоге каждый снимок оценён моделью, которая его не видела. При делении каждое исследование отнесено к самому редкому из своих нарушений, и эти группы разложены по частям поровну: без нарушений 52, ротация 14, посторонние предметы 14, ось 8, укладка 6, отступы 6.</a:t>
            </a:r>
          </a:p>
        </p:txBody>
      </p:sp>
      <p:sp>
        <p:nvSpPr>
          <p:cNvPr id="939" name="Rounded Rectangle 938"/>
          <p:cNvSpPr/>
          <p:nvPr/>
        </p:nvSpPr>
        <p:spPr>
          <a:xfrm>
            <a:off x="6126480" y="1828800"/>
            <a:ext cx="569671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0" name="TextBox 939"/>
          <p:cNvSpPr txBox="1"/>
          <p:nvPr/>
        </p:nvSpPr>
        <p:spPr>
          <a:xfrm>
            <a:off x="6345936" y="2011680"/>
            <a:ext cx="5257800" cy="205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Пациент целиком в одной части</a:t>
            </a:r>
          </a:p>
        </p:txBody>
      </p:sp>
      <p:sp>
        <p:nvSpPr>
          <p:cNvPr id="941" name="TextBox 940"/>
          <p:cNvSpPr txBox="1"/>
          <p:nvPr/>
        </p:nvSpPr>
        <p:spPr>
          <a:xfrm>
            <a:off x="6345936" y="2308860"/>
            <a:ext cx="5257800" cy="3886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Позвоночник и оба бедра одного человека всегда попадают в одну часть — иначе модель «узнавала» бы пациента, и оценка была бы завышена.</a:t>
            </a:r>
          </a:p>
        </p:txBody>
      </p:sp>
      <p:sp>
        <p:nvSpPr>
          <p:cNvPr id="942" name="Rounded Rectangle 941"/>
          <p:cNvSpPr/>
          <p:nvPr/>
        </p:nvSpPr>
        <p:spPr>
          <a:xfrm>
            <a:off x="6126480" y="2926080"/>
            <a:ext cx="569671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3" name="TextBox 942"/>
          <p:cNvSpPr txBox="1"/>
          <p:nvPr/>
        </p:nvSpPr>
        <p:spPr>
          <a:xfrm>
            <a:off x="6345936" y="3108960"/>
            <a:ext cx="5257800" cy="205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Редкие нарушения — в каждой части</a:t>
            </a:r>
          </a:p>
        </p:txBody>
      </p:sp>
      <p:sp>
        <p:nvSpPr>
          <p:cNvPr id="944" name="TextBox 943"/>
          <p:cNvSpPr txBox="1"/>
          <p:nvPr/>
        </p:nvSpPr>
        <p:spPr>
          <a:xfrm>
            <a:off x="6345936" y="3406140"/>
            <a:ext cx="5257800" cy="3886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Деление сделано так, чтобы в каждой из пяти частей были примеры даже самых редких нарушений.</a:t>
            </a:r>
          </a:p>
        </p:txBody>
      </p:sp>
      <p:sp>
        <p:nvSpPr>
          <p:cNvPr id="945" name="Rounded Rectangle 944"/>
          <p:cNvSpPr/>
          <p:nvPr/>
        </p:nvSpPr>
        <p:spPr>
          <a:xfrm>
            <a:off x="6126480" y="4023360"/>
            <a:ext cx="569671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6" name="TextBox 945"/>
          <p:cNvSpPr txBox="1"/>
          <p:nvPr/>
        </p:nvSpPr>
        <p:spPr>
          <a:xfrm>
            <a:off x="6345936" y="4206240"/>
            <a:ext cx="5257800" cy="205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Настройка — только на обучающих частях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6345936" y="4503420"/>
            <a:ext cx="5257800" cy="3886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Пороги, границы нормы, параметры нейросети и правило объединения нейросети с измерением подбираются на четырёх частях, проверяются на пятой.</a:t>
            </a:r>
          </a:p>
        </p:txBody>
      </p:sp>
      <p:sp>
        <p:nvSpPr>
          <p:cNvPr id="948" name="Rounded Rectangle 947"/>
          <p:cNvSpPr/>
          <p:nvPr/>
        </p:nvSpPr>
        <p:spPr>
          <a:xfrm>
            <a:off x="6126480" y="5120640"/>
            <a:ext cx="569671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9" name="TextBox 948"/>
          <p:cNvSpPr txBox="1"/>
          <p:nvPr/>
        </p:nvSpPr>
        <p:spPr>
          <a:xfrm>
            <a:off x="6345936" y="5303520"/>
            <a:ext cx="5257800" cy="205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Мало нарушений — широкие интервалы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6345936" y="5600700"/>
            <a:ext cx="5257800" cy="3886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На каждый тип нарушения всего 6–36 примеров, поэтому к каждому показателю приводим 95% доверительный интервал — диапазон, где он лежит при такой выборке.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1810512" cy="620919"/>
          </a:xfrm>
          <a:prstGeom prst="roundRect">
            <a:avLst>
              <a:gd name="adj" fmla="val 187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ПОДХОД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Измерения там, где критерий — размер; нейросеть — там, где форма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pPr algn="r"/>
            <a:fld id="{52DCC5B9-D646-4B76-891F-6FF4E74E9CB4}" type="slidenum">
              <a:rPr lang="ru-RU" sz="1200">
                <a:solidFill>
                  <a:srgbClr val="FFFFFF"/>
                </a:solidFill>
                <a:latin typeface="Montserrat"/>
              </a:rPr>
              <a:t>10</a:t>
            </a:fld>
            <a:endParaRPr lang="ru-RU" sz="120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903" name="Rounded Rectangle 902"/>
          <p:cNvSpPr/>
          <p:nvPr/>
        </p:nvSpPr>
        <p:spPr>
          <a:xfrm>
            <a:off x="346075" y="1828800"/>
            <a:ext cx="7040880" cy="4160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4" name="TextBox 903"/>
          <p:cNvSpPr txBox="1"/>
          <p:nvPr/>
        </p:nvSpPr>
        <p:spPr>
          <a:xfrm>
            <a:off x="620395" y="2029968"/>
            <a:ext cx="64922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Что пробовали для ротации бедра</a:t>
            </a:r>
          </a:p>
        </p:txBody>
      </p:sp>
      <p:graphicFrame>
        <p:nvGraphicFramePr>
          <p:cNvPr id="905" name="Table 904"/>
          <p:cNvGraphicFramePr>
            <a:graphicFrameLocks noGrp="1"/>
          </p:cNvGraphicFramePr>
          <p:nvPr/>
        </p:nvGraphicFramePr>
        <p:xfrm>
          <a:off x="620395" y="2423160"/>
          <a:ext cx="6492238" cy="30083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00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ЧТО ПРОБОВАЛИ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ROC-AUC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ВЫВОД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измерение выступа малого вертела по контуру кости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0.68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норма и нарушение отличаются на ≈ 2 мм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простая модель по всему снимку целиком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0.50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не лучше монетки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опорные точки, найденные нейросетью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—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ошибка до 2.2 мм при разнице классов 2.1 мм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одна нейросеть ResNet-34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0.77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результат плавает от запуска к запуску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три копии той же нейросети, ответы усреднены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0.80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стабильнее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нейросеть + измерение выступа → один вердикт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solidFill>
                      <a:srgbClr val="FFD6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0.82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solidFill>
                      <a:srgbClr val="FFD6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выбрано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solidFill>
                      <a:srgbClr val="FFD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06" name="TextBox 905"/>
          <p:cNvSpPr txBox="1"/>
          <p:nvPr/>
        </p:nvSpPr>
        <p:spPr>
          <a:xfrm>
            <a:off x="620395" y="5559552"/>
            <a:ext cx="6492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ROC-AUC — насколько хорошо оценка отделяет нарушения от нормы: 0.5 — наугад, 1.0 — идеально.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7589520" y="1828800"/>
            <a:ext cx="4233672" cy="1307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8" name="TextBox 907"/>
          <p:cNvSpPr txBox="1"/>
          <p:nvPr/>
        </p:nvSpPr>
        <p:spPr>
          <a:xfrm>
            <a:off x="7808976" y="2011680"/>
            <a:ext cx="3794760" cy="205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Принцип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7808976" y="2308860"/>
            <a:ext cx="3794760" cy="6903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Вердикт можно проверить глазами: «наклон 8.7°», «поле 12.5 см». Основа — измерения в миллиметрах и градусах.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7589520" y="3246120"/>
            <a:ext cx="4233672" cy="1307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1" name="TextBox 910"/>
          <p:cNvSpPr txBox="1"/>
          <p:nvPr/>
        </p:nvSpPr>
        <p:spPr>
          <a:xfrm>
            <a:off x="7808976" y="3429000"/>
            <a:ext cx="3794760" cy="205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Где измерения недостаточно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7808976" y="3726180"/>
            <a:ext cx="3794760" cy="6903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Ротация и посторонние предметы — это форма, а не размер. Здесь к измерению добавляем нейросеть и объединяем обе оценки; подсветка показывает, куда она смотрела.</a:t>
            </a:r>
          </a:p>
        </p:txBody>
      </p:sp>
      <p:sp>
        <p:nvSpPr>
          <p:cNvPr id="913" name="Rounded Rectangle 912"/>
          <p:cNvSpPr/>
          <p:nvPr/>
        </p:nvSpPr>
        <p:spPr>
          <a:xfrm>
            <a:off x="7589520" y="4663440"/>
            <a:ext cx="4233672" cy="1307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4" name="TextBox 913"/>
          <p:cNvSpPr txBox="1"/>
          <p:nvPr/>
        </p:nvSpPr>
        <p:spPr>
          <a:xfrm>
            <a:off x="7808976" y="4846320"/>
            <a:ext cx="3794760" cy="205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Где нейросеть не нужна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7808976" y="5143500"/>
            <a:ext cx="3794760" cy="6903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Наклон оси, укладка, отступы — прямые измерения. Нейросеть для оси проверили: ROC-AUC 0.51 — не лучше монетки.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2747772" cy="620919"/>
          </a:xfrm>
          <a:prstGeom prst="roundRect">
            <a:avLst>
              <a:gd name="adj" fmla="val 187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Один контейнер, пять шагов, ни одного обращения в интернет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pPr algn="r"/>
            <a:fld id="{52DCC5B9-D646-4B76-891F-6FF4E74E9CB4}" type="slidenum">
              <a:rPr lang="ru-RU" sz="1200">
                <a:solidFill>
                  <a:srgbClr val="520977"/>
                </a:solidFill>
                <a:latin typeface="Montserrat"/>
              </a:rPr>
              <a:t>11</a:t>
            </a:fld>
            <a:endParaRPr lang="ru-RU" sz="1200">
              <a:solidFill>
                <a:srgbClr val="520977"/>
              </a:solidFill>
              <a:latin typeface="Montserrat"/>
            </a:endParaRPr>
          </a:p>
        </p:txBody>
      </p:sp>
      <p:cxnSp>
        <p:nvCxnSpPr>
          <p:cNvPr id="903" name="Connector 902"/>
          <p:cNvCxnSpPr/>
          <p:nvPr/>
        </p:nvCxnSpPr>
        <p:spPr>
          <a:xfrm>
            <a:off x="556387" y="2039112"/>
            <a:ext cx="9183888" cy="0"/>
          </a:xfrm>
          <a:prstGeom prst="line">
            <a:avLst/>
          </a:prstGeom>
          <a:ln w="15875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4" name="Rounded Rectangle 903"/>
          <p:cNvSpPr/>
          <p:nvPr/>
        </p:nvSpPr>
        <p:spPr>
          <a:xfrm>
            <a:off x="346075" y="182880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346075" y="2377440"/>
            <a:ext cx="211309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DICOM, zip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346075" y="2697480"/>
            <a:ext cx="206737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снимки из архива клиники как есть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2642047" y="182880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2642047" y="2377440"/>
            <a:ext cx="211309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чтение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2642047" y="2697480"/>
            <a:ext cx="206737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распаковка, разворот, дубликаты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4938019" y="182880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4938019" y="2377440"/>
            <a:ext cx="211309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область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4938019" y="2697480"/>
            <a:ext cx="206737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позвоночник, бёдра, «не DXA»</a:t>
            </a:r>
          </a:p>
        </p:txBody>
      </p:sp>
      <p:sp>
        <p:nvSpPr>
          <p:cNvPr id="913" name="Rounded Rectangle 912"/>
          <p:cNvSpPr/>
          <p:nvPr/>
        </p:nvSpPr>
        <p:spPr>
          <a:xfrm>
            <a:off x="7233991" y="182880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7233991" y="2377440"/>
            <a:ext cx="211309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критерии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7233991" y="2697480"/>
            <a:ext cx="206737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измерения + нейросеть, каждый отдельно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9529963" y="182880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9529963" y="2377440"/>
            <a:ext cx="211309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вердикт и отчёт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9529963" y="2697480"/>
            <a:ext cx="206737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класс, вероятности, заключение</a:t>
            </a:r>
          </a:p>
        </p:txBody>
      </p:sp>
      <p:sp>
        <p:nvSpPr>
          <p:cNvPr id="919" name="Rounded Rectangle 918"/>
          <p:cNvSpPr/>
          <p:nvPr/>
        </p:nvSpPr>
        <p:spPr>
          <a:xfrm>
            <a:off x="346075" y="3291840"/>
            <a:ext cx="3749039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0" name="TextBox 919"/>
          <p:cNvSpPr txBox="1"/>
          <p:nvPr/>
        </p:nvSpPr>
        <p:spPr>
          <a:xfrm>
            <a:off x="565531" y="3474720"/>
            <a:ext cx="3310127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Результат — ровно по ТЗ (п. 2.5, 2.7)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565531" y="3977640"/>
            <a:ext cx="3310127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Таблица xlsx или csv (строка на снимок, восемь колонок ТЗ), zip со снимками с разметкой, zip с заключениями DICOM SR.</a:t>
            </a:r>
          </a:p>
        </p:txBody>
      </p:sp>
      <p:sp>
        <p:nvSpPr>
          <p:cNvPr id="922" name="Rounded Rectangle 921"/>
          <p:cNvSpPr/>
          <p:nvPr/>
        </p:nvSpPr>
        <p:spPr>
          <a:xfrm>
            <a:off x="4204843" y="3291840"/>
            <a:ext cx="3749039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3" name="TextBox 922"/>
          <p:cNvSpPr txBox="1"/>
          <p:nvPr/>
        </p:nvSpPr>
        <p:spPr>
          <a:xfrm>
            <a:off x="4424299" y="3474720"/>
            <a:ext cx="3310127" cy="205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Интерфейсы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4424299" y="3771900"/>
            <a:ext cx="3310127" cy="6812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Веб-приложение, приложение для Windows, программный интерфейс API и консоль; Telegram-бот — необязательный бонус.</a:t>
            </a:r>
          </a:p>
        </p:txBody>
      </p:sp>
      <p:sp>
        <p:nvSpPr>
          <p:cNvPr id="925" name="Rounded Rectangle 924"/>
          <p:cNvSpPr/>
          <p:nvPr/>
        </p:nvSpPr>
        <p:spPr>
          <a:xfrm>
            <a:off x="8063611" y="3291840"/>
            <a:ext cx="3749039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6" name="TextBox 925"/>
          <p:cNvSpPr txBox="1"/>
          <p:nvPr/>
        </p:nvSpPr>
        <p:spPr>
          <a:xfrm>
            <a:off x="8283067" y="3474720"/>
            <a:ext cx="3310127" cy="205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Контейнер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8283067" y="3771900"/>
            <a:ext cx="3310127" cy="6812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Python 3.11, версии пакетов зафиксированы, нейросеть на процессоре, один поток: повторный запуск даёт в точности тот же отчёт.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346075" y="4727448"/>
            <a:ext cx="114798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ФРАГМЕНТ НАСТОЯЩЕГО ОТЧЁТА: ВОСЕМЬ КОЛОНОК ТЗ 2.5</a:t>
            </a:r>
          </a:p>
        </p:txBody>
      </p:sp>
      <p:graphicFrame>
        <p:nvGraphicFramePr>
          <p:cNvPr id="929" name="Table 928"/>
          <p:cNvGraphicFramePr>
            <a:graphicFrameLocks noGrp="1"/>
          </p:cNvGraphicFramePr>
          <p:nvPr/>
        </p:nvGraphicFramePr>
        <p:xfrm>
          <a:off x="346075" y="4974336"/>
          <a:ext cx="11479859" cy="12801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0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0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0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2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9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14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828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828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PATH_TO_STUDY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STUDY_UID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IMAGE_UID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ANATOMICAL_REGION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QUALITY_CLASS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VIOLATION_TYPE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PROCESSING_STATUS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TIME_OF_PROCESSING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…8683246248872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…4090106081007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…2140700150015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lh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Success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0.9472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…8683246248872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…4090106081007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…0150606100110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spine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Success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1.2375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…8683246248872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…4090106081007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…3101101110913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rh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Success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0.3429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…8814728642117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…3011205010113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…5070904121304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rh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1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hip_rotation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Success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0.4389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30" name="TextBox 929"/>
          <p:cNvSpPr txBox="1"/>
          <p:nvPr/>
        </p:nvSpPr>
        <p:spPr>
          <a:xfrm>
            <a:off x="346075" y="6309360"/>
            <a:ext cx="114798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lh / rh — левое и правое бедро, spine — позвоночник; класс 0 — качественный, 1 — есть нарушение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1810512" cy="620919"/>
          </a:xfrm>
          <a:prstGeom prst="roundRect">
            <a:avLst>
              <a:gd name="adj" fmla="val 187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МОДЕЛИ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Внутри шагов 3–4 конвейера — шесть модулей, у каждого своя задача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pPr algn="r"/>
            <a:fld id="{52DCC5B9-D646-4B76-891F-6FF4E74E9CB4}" type="slidenum">
              <a:rPr lang="ru-RU" sz="1200">
                <a:solidFill>
                  <a:srgbClr val="FFFFFF"/>
                </a:solidFill>
                <a:latin typeface="Montserrat"/>
              </a:rPr>
              <a:t>12</a:t>
            </a:fld>
            <a:endParaRPr lang="ru-RU" sz="120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903" name="Rounded Rectangle 902"/>
          <p:cNvSpPr/>
          <p:nvPr/>
        </p:nvSpPr>
        <p:spPr>
          <a:xfrm>
            <a:off x="346075" y="1828800"/>
            <a:ext cx="3730752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4" name="TextBox 903"/>
          <p:cNvSpPr txBox="1"/>
          <p:nvPr/>
        </p:nvSpPr>
        <p:spPr>
          <a:xfrm>
            <a:off x="565531" y="2011680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REGION_CLF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565531" y="2286000"/>
            <a:ext cx="3291840" cy="22097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Область снимка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565531" y="2598419"/>
            <a:ext cx="3291840" cy="83058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Простая модель по яркости и форме снимка; снимок, не похожий на денситометрию, уходит на ручной разбор.</a:t>
            </a:r>
          </a:p>
        </p:txBody>
      </p:sp>
      <p:cxnSp>
        <p:nvCxnSpPr>
          <p:cNvPr id="907" name="Connector 906"/>
          <p:cNvCxnSpPr/>
          <p:nvPr/>
        </p:nvCxnSpPr>
        <p:spPr>
          <a:xfrm>
            <a:off x="565531" y="3474720"/>
            <a:ext cx="3291840" cy="0"/>
          </a:xfrm>
          <a:prstGeom prst="line">
            <a:avLst/>
          </a:prstGeom>
          <a:ln w="12700">
            <a:solidFill>
              <a:srgbClr val="FF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TextBox 907"/>
          <p:cNvSpPr txBox="1"/>
          <p:nvPr/>
        </p:nvSpPr>
        <p:spPr>
          <a:xfrm>
            <a:off x="565531" y="354787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252 / 252 снимка</a:t>
            </a:r>
          </a:p>
        </p:txBody>
      </p:sp>
      <p:sp>
        <p:nvSpPr>
          <p:cNvPr id="909" name="Rounded Rectangle 908"/>
          <p:cNvSpPr/>
          <p:nvPr/>
        </p:nvSpPr>
        <p:spPr>
          <a:xfrm>
            <a:off x="4218559" y="1828800"/>
            <a:ext cx="3730752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0" name="TextBox 909"/>
          <p:cNvSpPr txBox="1"/>
          <p:nvPr/>
        </p:nvSpPr>
        <p:spPr>
          <a:xfrm>
            <a:off x="4438015" y="2011680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SPINE_QC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4438015" y="2286000"/>
            <a:ext cx="3291840" cy="22097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Позвоночник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4438015" y="2598419"/>
            <a:ext cx="3291840" cy="83058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Выделяем кость и центры позвонков. Наклон оси — прямая через центры; укладка — кость в зонах гребней таза; предметы — фильтр ярких тонких структур (top-hat).</a:t>
            </a:r>
          </a:p>
        </p:txBody>
      </p:sp>
      <p:cxnSp>
        <p:nvCxnSpPr>
          <p:cNvPr id="913" name="Connector 912"/>
          <p:cNvCxnSpPr/>
          <p:nvPr/>
        </p:nvCxnSpPr>
        <p:spPr>
          <a:xfrm>
            <a:off x="4438015" y="3474720"/>
            <a:ext cx="3291840" cy="0"/>
          </a:xfrm>
          <a:prstGeom prst="line">
            <a:avLst/>
          </a:prstGeom>
          <a:ln w="12700">
            <a:solidFill>
              <a:srgbClr val="FF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TextBox 913"/>
          <p:cNvSpPr txBox="1"/>
          <p:nvPr/>
        </p:nvSpPr>
        <p:spPr>
          <a:xfrm>
            <a:off x="4438015" y="354787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ROC-AUC: ось 0.82 · укладка 0.82</a:t>
            </a:r>
          </a:p>
        </p:txBody>
      </p:sp>
      <p:sp>
        <p:nvSpPr>
          <p:cNvPr id="915" name="Rounded Rectangle 914"/>
          <p:cNvSpPr/>
          <p:nvPr/>
        </p:nvSpPr>
        <p:spPr>
          <a:xfrm>
            <a:off x="8091043" y="1828800"/>
            <a:ext cx="3730752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6" name="TextBox 915"/>
          <p:cNvSpPr txBox="1"/>
          <p:nvPr/>
        </p:nvSpPr>
        <p:spPr>
          <a:xfrm>
            <a:off x="8310499" y="2011680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HIP_ROI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8310499" y="2286000"/>
            <a:ext cx="3291840" cy="22097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Отступы бедра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8310499" y="2598419"/>
            <a:ext cx="3291840" cy="83058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Проверяем, что поле сканирования не короче нормы: 3 см + расстояние от вертела до седалищной кости + 3 см; отступы из ТЗ (рис. 6) — для сведения.</a:t>
            </a:r>
          </a:p>
        </p:txBody>
      </p:sp>
      <p:cxnSp>
        <p:nvCxnSpPr>
          <p:cNvPr id="919" name="Connector 918"/>
          <p:cNvCxnSpPr/>
          <p:nvPr/>
        </p:nvCxnSpPr>
        <p:spPr>
          <a:xfrm>
            <a:off x="8310499" y="3474720"/>
            <a:ext cx="3291840" cy="0"/>
          </a:xfrm>
          <a:prstGeom prst="line">
            <a:avLst/>
          </a:prstGeom>
          <a:ln w="12700">
            <a:solidFill>
              <a:srgbClr val="FF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0" name="TextBox 919"/>
          <p:cNvSpPr txBox="1"/>
          <p:nvPr/>
        </p:nvSpPr>
        <p:spPr>
          <a:xfrm>
            <a:off x="8310499" y="354787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F1 0.71 · ROC-AUC 0.94</a:t>
            </a:r>
          </a:p>
        </p:txBody>
      </p:sp>
      <p:sp>
        <p:nvSpPr>
          <p:cNvPr id="921" name="Rounded Rectangle 920"/>
          <p:cNvSpPr/>
          <p:nvPr/>
        </p:nvSpPr>
        <p:spPr>
          <a:xfrm>
            <a:off x="346075" y="4087368"/>
            <a:ext cx="3730752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2" name="TextBox 921"/>
          <p:cNvSpPr txBox="1"/>
          <p:nvPr/>
        </p:nvSpPr>
        <p:spPr>
          <a:xfrm>
            <a:off x="565531" y="427024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HIP_ROTATION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565531" y="4544568"/>
            <a:ext cx="3291840" cy="22097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Ротация: измерение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565531" y="4856987"/>
            <a:ext cx="3291840" cy="83058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Площадь выступа малого вертела над контуром кости, мм²; выход за коридор нормы означает избыточный или недостаточный поворот.</a:t>
            </a:r>
          </a:p>
        </p:txBody>
      </p:sp>
      <p:cxnSp>
        <p:nvCxnSpPr>
          <p:cNvPr id="925" name="Connector 924"/>
          <p:cNvCxnSpPr/>
          <p:nvPr/>
        </p:nvCxnSpPr>
        <p:spPr>
          <a:xfrm>
            <a:off x="565531" y="5733288"/>
            <a:ext cx="3291840" cy="0"/>
          </a:xfrm>
          <a:prstGeom prst="line">
            <a:avLst/>
          </a:prstGeom>
          <a:ln w="12700">
            <a:solidFill>
              <a:srgbClr val="FF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6" name="TextBox 925"/>
          <p:cNvSpPr txBox="1"/>
          <p:nvPr/>
        </p:nvSpPr>
        <p:spPr>
          <a:xfrm>
            <a:off x="565531" y="58064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норма 96–272 мм²</a:t>
            </a:r>
          </a:p>
        </p:txBody>
      </p:sp>
      <p:sp>
        <p:nvSpPr>
          <p:cNvPr id="927" name="Rounded Rectangle 926"/>
          <p:cNvSpPr/>
          <p:nvPr/>
        </p:nvSpPr>
        <p:spPr>
          <a:xfrm>
            <a:off x="4218559" y="4087368"/>
            <a:ext cx="3730752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8" name="TextBox 927"/>
          <p:cNvSpPr txBox="1"/>
          <p:nvPr/>
        </p:nvSpPr>
        <p:spPr>
          <a:xfrm>
            <a:off x="4438015" y="427024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CNN_QC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4438015" y="4544568"/>
            <a:ext cx="3291840" cy="44195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Ротация и предметы: нейросеть</a:t>
            </a:r>
          </a:p>
        </p:txBody>
      </p:sp>
      <p:sp>
        <p:nvSpPr>
          <p:cNvPr id="930" name="TextBox 929"/>
          <p:cNvSpPr txBox="1"/>
          <p:nvPr/>
        </p:nvSpPr>
        <p:spPr>
          <a:xfrm>
            <a:off x="4438015" y="5077967"/>
            <a:ext cx="3291840" cy="60960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Готовая нейросеть ResNet-34, дообученная на наших снимках; три копии, ответ усредняется; без видеокарты; подсвечивает, куда смотрела.</a:t>
            </a:r>
          </a:p>
        </p:txBody>
      </p:sp>
      <p:cxnSp>
        <p:nvCxnSpPr>
          <p:cNvPr id="931" name="Connector 930"/>
          <p:cNvCxnSpPr/>
          <p:nvPr/>
        </p:nvCxnSpPr>
        <p:spPr>
          <a:xfrm>
            <a:off x="4438015" y="5733288"/>
            <a:ext cx="3291840" cy="0"/>
          </a:xfrm>
          <a:prstGeom prst="line">
            <a:avLst/>
          </a:prstGeom>
          <a:ln w="12700">
            <a:solidFill>
              <a:srgbClr val="FF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2" name="TextBox 931"/>
          <p:cNvSpPr txBox="1"/>
          <p:nvPr/>
        </p:nvSpPr>
        <p:spPr>
          <a:xfrm>
            <a:off x="4438015" y="58064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ROC-AUC с измерением 0.82 · 0.85</a:t>
            </a:r>
          </a:p>
        </p:txBody>
      </p:sp>
      <p:sp>
        <p:nvSpPr>
          <p:cNvPr id="933" name="Rounded Rectangle 932"/>
          <p:cNvSpPr/>
          <p:nvPr/>
        </p:nvSpPr>
        <p:spPr>
          <a:xfrm>
            <a:off x="8091043" y="4087368"/>
            <a:ext cx="3730752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4" name="TextBox 933"/>
          <p:cNvSpPr txBox="1"/>
          <p:nvPr/>
        </p:nvSpPr>
        <p:spPr>
          <a:xfrm>
            <a:off x="8310499" y="427024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DXA_QC · ВЫКЛЮЧЕН ПО УМОЛЧАНИЮ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8310499" y="4544568"/>
            <a:ext cx="3291840" cy="22097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Опорные точки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8310499" y="4856987"/>
            <a:ext cx="3291840" cy="83058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Нейросеть находит 29 опорных точек; обучена на 2 частях данных из 5. Ось — не хуже контурного метода, но в 12 раз медленнее; включается настройкой.</a:t>
            </a:r>
          </a:p>
        </p:txBody>
      </p:sp>
      <p:cxnSp>
        <p:nvCxnSpPr>
          <p:cNvPr id="937" name="Connector 936"/>
          <p:cNvCxnSpPr/>
          <p:nvPr/>
        </p:nvCxnSpPr>
        <p:spPr>
          <a:xfrm>
            <a:off x="8310499" y="5733288"/>
            <a:ext cx="3291840" cy="0"/>
          </a:xfrm>
          <a:prstGeom prst="line">
            <a:avLst/>
          </a:prstGeom>
          <a:ln w="12700">
            <a:solidFill>
              <a:srgbClr val="FF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8" name="TextBox 937"/>
          <p:cNvSpPr txBox="1"/>
          <p:nvPr/>
        </p:nvSpPr>
        <p:spPr>
          <a:xfrm>
            <a:off x="8310499" y="58064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точки: ошибка 0.9–2.4 мм · ось: 0.5°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6121907" cy="620919"/>
          </a:xfrm>
          <a:prstGeom prst="roundRect">
            <a:avLst>
              <a:gd name="adj" fmla="val 187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ПРЕДОБРАБОТКА И ПОСТОБРАБОТКА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До модели всё приводится к миллиметрам, после — к вероятности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pPr algn="r"/>
            <a:fld id="{52DCC5B9-D646-4B76-891F-6FF4E74E9CB4}" type="slidenum">
              <a:rPr lang="ru-RU" sz="1200">
                <a:solidFill>
                  <a:srgbClr val="520977"/>
                </a:solidFill>
                <a:latin typeface="Montserrat"/>
              </a:rPr>
              <a:t>13</a:t>
            </a:fld>
            <a:endParaRPr lang="ru-RU" sz="1200">
              <a:solidFill>
                <a:srgbClr val="520977"/>
              </a:solidFill>
              <a:latin typeface="Montserrat"/>
            </a:endParaRPr>
          </a:p>
        </p:txBody>
      </p:sp>
      <p:sp>
        <p:nvSpPr>
          <p:cNvPr id="903" name="TextBox 902"/>
          <p:cNvSpPr txBox="1"/>
          <p:nvPr/>
        </p:nvSpPr>
        <p:spPr>
          <a:xfrm>
            <a:off x="346075" y="1828800"/>
            <a:ext cx="5394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ДО ПРОВЕРКИ КРИТЕРИЕВ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346075" y="2194560"/>
            <a:ext cx="5394960" cy="411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lnSpc>
                <a:spcPct val="112000"/>
              </a:lnSpc>
              <a:spcAft>
                <a:spcPts val="800"/>
              </a:spcAft>
              <a:buClr>
                <a:srgbClr val="FF0053"/>
              </a:buClr>
              <a:buFont typeface="Arial"/>
              <a:buChar char="▪"/>
            </a:pPr>
            <a:r>
              <a:rPr sz="12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Читаем сжатые файлы DICOM, инвертированные снимки и таблицы яркости.</a:t>
            </a:r>
          </a:p>
          <a:p>
            <a:pPr marL="219456" indent="-219456">
              <a:lnSpc>
                <a:spcPct val="112000"/>
              </a:lnSpc>
              <a:spcAft>
                <a:spcPts val="800"/>
              </a:spcAft>
              <a:buClr>
                <a:srgbClr val="FF0053"/>
              </a:buClr>
              <a:buFont typeface="Arial"/>
              <a:buChar char="▪"/>
            </a:pPr>
            <a:r>
              <a:rPr sz="12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Зеркально выгруженный снимок разворачиваем к стандартному виду по служебной метке в файле.</a:t>
            </a:r>
          </a:p>
          <a:p>
            <a:pPr marL="219456" indent="-219456">
              <a:lnSpc>
                <a:spcPct val="112000"/>
              </a:lnSpc>
              <a:spcAft>
                <a:spcPts val="800"/>
              </a:spcAft>
              <a:buClr>
                <a:srgbClr val="FF0053"/>
              </a:buClr>
              <a:buFont typeface="Arial"/>
              <a:buChar char="▪"/>
            </a:pPr>
            <a:r>
              <a:rPr sz="12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Одинаковые снимки под разными именами схлопываем в один — по совпадению изображения.</a:t>
            </a:r>
          </a:p>
          <a:p>
            <a:pPr marL="219456" indent="-219456">
              <a:lnSpc>
                <a:spcPct val="112000"/>
              </a:lnSpc>
              <a:spcAft>
                <a:spcPts val="800"/>
              </a:spcAft>
              <a:buClr>
                <a:srgbClr val="FF0053"/>
              </a:buClr>
              <a:buFont typeface="Arial"/>
              <a:buChar char="▪"/>
            </a:pPr>
            <a:r>
              <a:rPr sz="12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Правое бедро отражаем в левое: все измерения и нейросеть работают с одной стороной.</a:t>
            </a:r>
          </a:p>
          <a:p>
            <a:pPr marL="219456" indent="-219456">
              <a:lnSpc>
                <a:spcPct val="112000"/>
              </a:lnSpc>
              <a:spcAft>
                <a:spcPts val="800"/>
              </a:spcAft>
              <a:buClr>
                <a:srgbClr val="FF0053"/>
              </a:buClr>
              <a:buFont typeface="Arial"/>
              <a:buChar char="▪"/>
            </a:pPr>
            <a:r>
              <a:rPr sz="12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Выделяем кость и переводим пиксели в миллиметры: пороги заданы в мм, градусах и мм².</a:t>
            </a:r>
          </a:p>
          <a:p>
            <a:pPr marL="219456" indent="-219456">
              <a:lnSpc>
                <a:spcPct val="112000"/>
              </a:lnSpc>
              <a:spcAft>
                <a:spcPts val="800"/>
              </a:spcAft>
              <a:buClr>
                <a:srgbClr val="FF0053"/>
              </a:buClr>
              <a:buFont typeface="Arial"/>
              <a:buChar char="▪"/>
            </a:pPr>
            <a:r>
              <a:rPr sz="12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Для нейросети выравниваем яркость и уменьшаем снимок до 320 точек по длинной стороне.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6106795" y="1828800"/>
            <a:ext cx="5394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ПОСЛЕ ПРОВЕРКИ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6106795" y="2194560"/>
            <a:ext cx="5394960" cy="411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lnSpc>
                <a:spcPct val="112000"/>
              </a:lnSpc>
              <a:spcAft>
                <a:spcPts val="800"/>
              </a:spcAft>
              <a:buClr>
                <a:srgbClr val="FF0053"/>
              </a:buClr>
              <a:buFont typeface="Arial"/>
              <a:buChar char="▪"/>
            </a:pPr>
            <a:r>
              <a:rPr sz="12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Пороги и границы нормы подобраны на обучающих частях данных, а не на проверяемых снимках.</a:t>
            </a:r>
          </a:p>
          <a:p>
            <a:pPr marL="219456" indent="-219456">
              <a:lnSpc>
                <a:spcPct val="112000"/>
              </a:lnSpc>
              <a:spcAft>
                <a:spcPts val="800"/>
              </a:spcAft>
              <a:buClr>
                <a:srgbClr val="FF0053"/>
              </a:buClr>
              <a:buFont typeface="Arial"/>
              <a:buChar char="▪"/>
            </a:pPr>
            <a:r>
              <a:rPr sz="12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Отступы области измерения оцениваем по длине поля сканирования — так же, как врач-эксперт.</a:t>
            </a:r>
          </a:p>
          <a:p>
            <a:pPr marL="219456" indent="-219456">
              <a:lnSpc>
                <a:spcPct val="112000"/>
              </a:lnSpc>
              <a:spcAft>
                <a:spcPts val="800"/>
              </a:spcAft>
              <a:buClr>
                <a:srgbClr val="FF0053"/>
              </a:buClr>
              <a:buFont typeface="Arial"/>
              <a:buChar char="▪"/>
            </a:pPr>
            <a:r>
              <a:rPr sz="12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 ротации бедра и посторонним предметам ответ дают и измерение, и нейросеть — их оценки объединяются в один вердикт.</a:t>
            </a:r>
          </a:p>
          <a:p>
            <a:pPr marL="219456" indent="-219456">
              <a:lnSpc>
                <a:spcPct val="112000"/>
              </a:lnSpc>
              <a:spcAft>
                <a:spcPts val="800"/>
              </a:spcAft>
              <a:buClr>
                <a:srgbClr val="FF0053"/>
              </a:buClr>
              <a:buFont typeface="Arial"/>
              <a:buChar char="▪"/>
            </a:pPr>
            <a:r>
              <a:rPr sz="12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Каждое измерение переводится в вероятность нарушения; общая вероятность — что нарушен хотя бы один критерий.</a:t>
            </a:r>
          </a:p>
          <a:p>
            <a:pPr marL="219456" indent="-219456">
              <a:lnSpc>
                <a:spcPct val="112000"/>
              </a:lnSpc>
              <a:spcAft>
                <a:spcPts val="800"/>
              </a:spcAft>
              <a:buClr>
                <a:srgbClr val="FF0053"/>
              </a:buClr>
              <a:buFont typeface="Arial"/>
              <a:buChar char="▪"/>
            </a:pPr>
            <a:r>
              <a:rPr sz="12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Если измерение и нейросеть разошлись, вероятность остаётся около порога, а снимок получает пометку «проверьте глазами».</a:t>
            </a:r>
          </a:p>
          <a:p>
            <a:pPr marL="219456" indent="-219456">
              <a:lnSpc>
                <a:spcPct val="112000"/>
              </a:lnSpc>
              <a:spcAft>
                <a:spcPts val="800"/>
              </a:spcAft>
              <a:buClr>
                <a:srgbClr val="FF0053"/>
              </a:buClr>
              <a:buFont typeface="Arial"/>
              <a:buChar char="▪"/>
            </a:pPr>
            <a:r>
              <a:rPr sz="12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На выходе — заключение по-русски, снимок с разметкой и подсветкой, DICOM SR для архива.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3685031" cy="620919"/>
          </a:xfrm>
          <a:prstGeom prst="roundRect">
            <a:avLst>
              <a:gd name="adj" fmla="val 187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МЕТРИКИ КАЧЕСТВА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Каждый снимок проверен моделью, которая его не видела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pPr algn="r"/>
            <a:fld id="{52DCC5B9-D646-4B76-891F-6FF4E74E9CB4}" type="slidenum">
              <a:rPr lang="ru-RU" sz="1200">
                <a:solidFill>
                  <a:srgbClr val="520977"/>
                </a:solidFill>
                <a:latin typeface="Montserrat"/>
              </a:rPr>
              <a:t>14</a:t>
            </a:fld>
            <a:endParaRPr lang="ru-RU" sz="1200">
              <a:solidFill>
                <a:srgbClr val="520977"/>
              </a:solidFill>
              <a:latin typeface="Montserrat"/>
            </a:endParaRPr>
          </a:p>
        </p:txBody>
      </p:sp>
      <p:sp>
        <p:nvSpPr>
          <p:cNvPr id="903" name="TextBox 902"/>
          <p:cNvSpPr txBox="1"/>
          <p:nvPr/>
        </p:nvSpPr>
        <p:spPr>
          <a:xfrm>
            <a:off x="346075" y="173736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КРИТЕРИЙ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2697480" y="173736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НАР./ВСЕГО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3611880" y="173736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НАЙДЕНО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4343400" y="173736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БЕЗ ЛОЖНЫХ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5349240" y="173736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F1, 95% ИНТЕРВАЛ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7680960" y="173736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F1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8549640" y="173736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ROC-AUC, 95% ИНТЕРВАЛ (0.4–1)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11018520" y="173736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AUC</a:t>
            </a:r>
          </a:p>
        </p:txBody>
      </p:sp>
      <p:cxnSp>
        <p:nvCxnSpPr>
          <p:cNvPr id="911" name="Connector 910"/>
          <p:cNvCxnSpPr/>
          <p:nvPr/>
        </p:nvCxnSpPr>
        <p:spPr>
          <a:xfrm>
            <a:off x="346075" y="2011680"/>
            <a:ext cx="11479860" cy="0"/>
          </a:xfrm>
          <a:prstGeom prst="line">
            <a:avLst/>
          </a:prstGeom>
          <a:ln w="19050">
            <a:solidFill>
              <a:srgbClr val="520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2" name="TextBox 911"/>
          <p:cNvSpPr txBox="1"/>
          <p:nvPr/>
        </p:nvSpPr>
        <p:spPr>
          <a:xfrm>
            <a:off x="346075" y="218541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Укладка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2697480" y="21854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6/99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3611880" y="21854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0.67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4343400" y="21854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0.84</a:t>
            </a:r>
          </a:p>
        </p:txBody>
      </p:sp>
      <p:cxnSp>
        <p:nvCxnSpPr>
          <p:cNvPr id="916" name="Connector 915"/>
          <p:cNvCxnSpPr/>
          <p:nvPr/>
        </p:nvCxnSpPr>
        <p:spPr>
          <a:xfrm>
            <a:off x="5349240" y="229514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>
            <a:off x="5349240" y="22585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>
            <a:off x="5920740" y="22585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9" name="Connector 918"/>
          <p:cNvCxnSpPr/>
          <p:nvPr/>
        </p:nvCxnSpPr>
        <p:spPr>
          <a:xfrm>
            <a:off x="6492240" y="22585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0" name="Connector 919"/>
          <p:cNvCxnSpPr/>
          <p:nvPr/>
        </p:nvCxnSpPr>
        <p:spPr>
          <a:xfrm>
            <a:off x="7063740" y="22585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Connector 920"/>
          <p:cNvCxnSpPr/>
          <p:nvPr/>
        </p:nvCxnSpPr>
        <p:spPr>
          <a:xfrm>
            <a:off x="7635240" y="22585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2" name="Connector 921"/>
          <p:cNvCxnSpPr/>
          <p:nvPr/>
        </p:nvCxnSpPr>
        <p:spPr>
          <a:xfrm>
            <a:off x="5524923" y="2295144"/>
            <a:ext cx="1071226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3" name="Oval 922"/>
          <p:cNvSpPr/>
          <p:nvPr/>
        </p:nvSpPr>
        <p:spPr>
          <a:xfrm>
            <a:off x="6021324" y="2235708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4" name="TextBox 923"/>
          <p:cNvSpPr txBox="1"/>
          <p:nvPr/>
        </p:nvSpPr>
        <p:spPr>
          <a:xfrm>
            <a:off x="7680960" y="2185416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0.32</a:t>
            </a:r>
          </a:p>
        </p:txBody>
      </p:sp>
      <p:cxnSp>
        <p:nvCxnSpPr>
          <p:cNvPr id="925" name="Connector 924"/>
          <p:cNvCxnSpPr/>
          <p:nvPr/>
        </p:nvCxnSpPr>
        <p:spPr>
          <a:xfrm>
            <a:off x="8549640" y="229514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6" name="Connector 925"/>
          <p:cNvCxnSpPr/>
          <p:nvPr/>
        </p:nvCxnSpPr>
        <p:spPr>
          <a:xfrm>
            <a:off x="8549640" y="22585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>
            <a:off x="9121140" y="22585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>
            <a:off x="9692639" y="22585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>
            <a:off x="10264140" y="22585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>
            <a:off x="10835640" y="22585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>
            <a:off x="9236982" y="2295144"/>
            <a:ext cx="1423261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2" name="Oval 931"/>
          <p:cNvSpPr/>
          <p:nvPr/>
        </p:nvSpPr>
        <p:spPr>
          <a:xfrm>
            <a:off x="10100236" y="2235708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3" name="TextBox 932"/>
          <p:cNvSpPr txBox="1"/>
          <p:nvPr/>
        </p:nvSpPr>
        <p:spPr>
          <a:xfrm>
            <a:off x="11018520" y="2185416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0.82</a:t>
            </a:r>
          </a:p>
        </p:txBody>
      </p:sp>
      <p:cxnSp>
        <p:nvCxnSpPr>
          <p:cNvPr id="934" name="Connector 933"/>
          <p:cNvCxnSpPr/>
          <p:nvPr/>
        </p:nvCxnSpPr>
        <p:spPr>
          <a:xfrm>
            <a:off x="346075" y="2523744"/>
            <a:ext cx="11479860" cy="0"/>
          </a:xfrm>
          <a:prstGeom prst="line">
            <a:avLst/>
          </a:prstGeom>
          <a:ln w="6350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5" name="TextBox 934"/>
          <p:cNvSpPr txBox="1"/>
          <p:nvPr/>
        </p:nvSpPr>
        <p:spPr>
          <a:xfrm>
            <a:off x="346075" y="264261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Наклон оси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2697480" y="26426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10/99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3611880" y="26426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0.30</a:t>
            </a:r>
          </a:p>
        </p:txBody>
      </p:sp>
      <p:sp>
        <p:nvSpPr>
          <p:cNvPr id="938" name="TextBox 937"/>
          <p:cNvSpPr txBox="1"/>
          <p:nvPr/>
        </p:nvSpPr>
        <p:spPr>
          <a:xfrm>
            <a:off x="4343400" y="26426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0.88</a:t>
            </a:r>
          </a:p>
        </p:txBody>
      </p:sp>
      <p:cxnSp>
        <p:nvCxnSpPr>
          <p:cNvPr id="939" name="Connector 938"/>
          <p:cNvCxnSpPr/>
          <p:nvPr/>
        </p:nvCxnSpPr>
        <p:spPr>
          <a:xfrm>
            <a:off x="5349240" y="275234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0" name="Connector 939"/>
          <p:cNvCxnSpPr/>
          <p:nvPr/>
        </p:nvCxnSpPr>
        <p:spPr>
          <a:xfrm>
            <a:off x="5349240" y="27157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>
            <a:off x="5920740" y="27157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>
            <a:off x="6492240" y="27157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3" name="Connector 942"/>
          <p:cNvCxnSpPr/>
          <p:nvPr/>
        </p:nvCxnSpPr>
        <p:spPr>
          <a:xfrm>
            <a:off x="7063740" y="27157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4" name="Connector 943"/>
          <p:cNvCxnSpPr/>
          <p:nvPr/>
        </p:nvCxnSpPr>
        <p:spPr>
          <a:xfrm>
            <a:off x="7635240" y="27157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5" name="Connector 944"/>
          <p:cNvCxnSpPr/>
          <p:nvPr/>
        </p:nvCxnSpPr>
        <p:spPr>
          <a:xfrm>
            <a:off x="5349240" y="2752344"/>
            <a:ext cx="1103586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6" name="Oval 945"/>
          <p:cNvSpPr/>
          <p:nvPr/>
        </p:nvSpPr>
        <p:spPr>
          <a:xfrm>
            <a:off x="5861304" y="2692908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7" name="TextBox 946"/>
          <p:cNvSpPr txBox="1"/>
          <p:nvPr/>
        </p:nvSpPr>
        <p:spPr>
          <a:xfrm>
            <a:off x="7680960" y="2642616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0.25</a:t>
            </a:r>
          </a:p>
        </p:txBody>
      </p:sp>
      <p:cxnSp>
        <p:nvCxnSpPr>
          <p:cNvPr id="948" name="Connector 947"/>
          <p:cNvCxnSpPr/>
          <p:nvPr/>
        </p:nvCxnSpPr>
        <p:spPr>
          <a:xfrm>
            <a:off x="8549640" y="275234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9" name="Connector 948"/>
          <p:cNvCxnSpPr/>
          <p:nvPr/>
        </p:nvCxnSpPr>
        <p:spPr>
          <a:xfrm>
            <a:off x="8549640" y="27157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>
            <a:off x="9121140" y="27157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1" name="Connector 950"/>
          <p:cNvCxnSpPr/>
          <p:nvPr/>
        </p:nvCxnSpPr>
        <p:spPr>
          <a:xfrm>
            <a:off x="9692639" y="27157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2" name="Connector 951"/>
          <p:cNvCxnSpPr/>
          <p:nvPr/>
        </p:nvCxnSpPr>
        <p:spPr>
          <a:xfrm>
            <a:off x="10264140" y="27157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3" name="Connector 952"/>
          <p:cNvCxnSpPr/>
          <p:nvPr/>
        </p:nvCxnSpPr>
        <p:spPr>
          <a:xfrm>
            <a:off x="10835640" y="27157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4" name="Connector 953"/>
          <p:cNvCxnSpPr/>
          <p:nvPr/>
        </p:nvCxnSpPr>
        <p:spPr>
          <a:xfrm>
            <a:off x="9767822" y="2752344"/>
            <a:ext cx="776197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5" name="Oval 954"/>
          <p:cNvSpPr/>
          <p:nvPr/>
        </p:nvSpPr>
        <p:spPr>
          <a:xfrm>
            <a:off x="10104102" y="2692908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6" name="TextBox 955"/>
          <p:cNvSpPr txBox="1"/>
          <p:nvPr/>
        </p:nvSpPr>
        <p:spPr>
          <a:xfrm>
            <a:off x="11018520" y="2642616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0.82</a:t>
            </a:r>
          </a:p>
        </p:txBody>
      </p:sp>
      <p:cxnSp>
        <p:nvCxnSpPr>
          <p:cNvPr id="957" name="Connector 956"/>
          <p:cNvCxnSpPr/>
          <p:nvPr/>
        </p:nvCxnSpPr>
        <p:spPr>
          <a:xfrm>
            <a:off x="346075" y="2980944"/>
            <a:ext cx="11479860" cy="0"/>
          </a:xfrm>
          <a:prstGeom prst="line">
            <a:avLst/>
          </a:prstGeom>
          <a:ln w="6350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8" name="TextBox 957"/>
          <p:cNvSpPr txBox="1"/>
          <p:nvPr/>
        </p:nvSpPr>
        <p:spPr>
          <a:xfrm>
            <a:off x="346075" y="309981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Посторонние предметы</a:t>
            </a:r>
          </a:p>
        </p:txBody>
      </p:sp>
      <p:sp>
        <p:nvSpPr>
          <p:cNvPr id="959" name="TextBox 958"/>
          <p:cNvSpPr txBox="1"/>
          <p:nvPr/>
        </p:nvSpPr>
        <p:spPr>
          <a:xfrm>
            <a:off x="2697480" y="3099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17/99</a:t>
            </a:r>
          </a:p>
        </p:txBody>
      </p:sp>
      <p:sp>
        <p:nvSpPr>
          <p:cNvPr id="960" name="TextBox 959"/>
          <p:cNvSpPr txBox="1"/>
          <p:nvPr/>
        </p:nvSpPr>
        <p:spPr>
          <a:xfrm>
            <a:off x="3611880" y="3099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0.65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4343400" y="3099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0.93</a:t>
            </a:r>
          </a:p>
        </p:txBody>
      </p:sp>
      <p:cxnSp>
        <p:nvCxnSpPr>
          <p:cNvPr id="962" name="Connector 961"/>
          <p:cNvCxnSpPr/>
          <p:nvPr/>
        </p:nvCxnSpPr>
        <p:spPr>
          <a:xfrm>
            <a:off x="5349240" y="311810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3" name="Connector 962"/>
          <p:cNvCxnSpPr/>
          <p:nvPr/>
        </p:nvCxnSpPr>
        <p:spPr>
          <a:xfrm>
            <a:off x="5349240" y="3081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4" name="Connector 963"/>
          <p:cNvCxnSpPr/>
          <p:nvPr/>
        </p:nvCxnSpPr>
        <p:spPr>
          <a:xfrm>
            <a:off x="5920740" y="3081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5" name="Connector 964"/>
          <p:cNvCxnSpPr/>
          <p:nvPr/>
        </p:nvCxnSpPr>
        <p:spPr>
          <a:xfrm>
            <a:off x="6492240" y="3081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6" name="Connector 965"/>
          <p:cNvCxnSpPr/>
          <p:nvPr/>
        </p:nvCxnSpPr>
        <p:spPr>
          <a:xfrm>
            <a:off x="7063740" y="3081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7" name="Connector 966"/>
          <p:cNvCxnSpPr/>
          <p:nvPr/>
        </p:nvCxnSpPr>
        <p:spPr>
          <a:xfrm>
            <a:off x="7635240" y="3081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8" name="Connector 967"/>
          <p:cNvCxnSpPr/>
          <p:nvPr/>
        </p:nvCxnSpPr>
        <p:spPr>
          <a:xfrm>
            <a:off x="6144370" y="3118104"/>
            <a:ext cx="974676" cy="0"/>
          </a:xfrm>
          <a:prstGeom prst="line">
            <a:avLst/>
          </a:prstGeom>
          <a:ln w="3810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9" name="Oval 968"/>
          <p:cNvSpPr/>
          <p:nvPr/>
        </p:nvSpPr>
        <p:spPr>
          <a:xfrm>
            <a:off x="6626302" y="3067812"/>
            <a:ext cx="100584" cy="100584"/>
          </a:xfrm>
          <a:prstGeom prst="ellipse">
            <a:avLst/>
          </a:prstGeom>
          <a:solidFill>
            <a:srgbClr val="8A83D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70" name="Connector 969"/>
          <p:cNvCxnSpPr/>
          <p:nvPr/>
        </p:nvCxnSpPr>
        <p:spPr>
          <a:xfrm>
            <a:off x="5349240" y="3310128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1" name="Connector 970"/>
          <p:cNvCxnSpPr/>
          <p:nvPr/>
        </p:nvCxnSpPr>
        <p:spPr>
          <a:xfrm>
            <a:off x="5349240" y="3273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2" name="Connector 971"/>
          <p:cNvCxnSpPr/>
          <p:nvPr/>
        </p:nvCxnSpPr>
        <p:spPr>
          <a:xfrm>
            <a:off x="5920740" y="3273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3" name="Connector 972"/>
          <p:cNvCxnSpPr/>
          <p:nvPr/>
        </p:nvCxnSpPr>
        <p:spPr>
          <a:xfrm>
            <a:off x="6492240" y="3273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4" name="Connector 973"/>
          <p:cNvCxnSpPr/>
          <p:nvPr/>
        </p:nvCxnSpPr>
        <p:spPr>
          <a:xfrm>
            <a:off x="7063740" y="3273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5" name="Connector 974"/>
          <p:cNvCxnSpPr/>
          <p:nvPr/>
        </p:nvCxnSpPr>
        <p:spPr>
          <a:xfrm>
            <a:off x="7635240" y="3273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6" name="Connector 975"/>
          <p:cNvCxnSpPr/>
          <p:nvPr/>
        </p:nvCxnSpPr>
        <p:spPr>
          <a:xfrm>
            <a:off x="6343153" y="3310128"/>
            <a:ext cx="868840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7" name="Oval 976"/>
          <p:cNvSpPr/>
          <p:nvPr/>
        </p:nvSpPr>
        <p:spPr>
          <a:xfrm>
            <a:off x="6768980" y="3250692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8" name="TextBox 977"/>
          <p:cNvSpPr txBox="1"/>
          <p:nvPr/>
        </p:nvSpPr>
        <p:spPr>
          <a:xfrm>
            <a:off x="7680960" y="301752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0.58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7680960" y="320040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0.65</a:t>
            </a:r>
          </a:p>
        </p:txBody>
      </p:sp>
      <p:cxnSp>
        <p:nvCxnSpPr>
          <p:cNvPr id="980" name="Connector 979"/>
          <p:cNvCxnSpPr/>
          <p:nvPr/>
        </p:nvCxnSpPr>
        <p:spPr>
          <a:xfrm>
            <a:off x="8549640" y="311810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1" name="Connector 980"/>
          <p:cNvCxnSpPr/>
          <p:nvPr/>
        </p:nvCxnSpPr>
        <p:spPr>
          <a:xfrm>
            <a:off x="8549640" y="3081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2" name="Connector 981"/>
          <p:cNvCxnSpPr/>
          <p:nvPr/>
        </p:nvCxnSpPr>
        <p:spPr>
          <a:xfrm>
            <a:off x="9121140" y="3081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3" name="Connector 982"/>
          <p:cNvCxnSpPr/>
          <p:nvPr/>
        </p:nvCxnSpPr>
        <p:spPr>
          <a:xfrm>
            <a:off x="9692639" y="3081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4" name="Connector 983"/>
          <p:cNvCxnSpPr/>
          <p:nvPr/>
        </p:nvCxnSpPr>
        <p:spPr>
          <a:xfrm>
            <a:off x="10264140" y="3081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5" name="Connector 984"/>
          <p:cNvCxnSpPr/>
          <p:nvPr/>
        </p:nvCxnSpPr>
        <p:spPr>
          <a:xfrm>
            <a:off x="10835640" y="3081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6" name="Connector 985"/>
          <p:cNvCxnSpPr/>
          <p:nvPr/>
        </p:nvCxnSpPr>
        <p:spPr>
          <a:xfrm>
            <a:off x="9465223" y="3118104"/>
            <a:ext cx="1067523" cy="0"/>
          </a:xfrm>
          <a:prstGeom prst="line">
            <a:avLst/>
          </a:prstGeom>
          <a:ln w="3810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7" name="Oval 986"/>
          <p:cNvSpPr/>
          <p:nvPr/>
        </p:nvSpPr>
        <p:spPr>
          <a:xfrm>
            <a:off x="9999569" y="3067812"/>
            <a:ext cx="100584" cy="100584"/>
          </a:xfrm>
          <a:prstGeom prst="ellipse">
            <a:avLst/>
          </a:prstGeom>
          <a:solidFill>
            <a:srgbClr val="8A83D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88" name="Connector 987"/>
          <p:cNvCxnSpPr/>
          <p:nvPr/>
        </p:nvCxnSpPr>
        <p:spPr>
          <a:xfrm>
            <a:off x="8549640" y="3310128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9" name="Connector 988"/>
          <p:cNvCxnSpPr/>
          <p:nvPr/>
        </p:nvCxnSpPr>
        <p:spPr>
          <a:xfrm>
            <a:off x="8549640" y="3273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0" name="Connector 989"/>
          <p:cNvCxnSpPr/>
          <p:nvPr/>
        </p:nvCxnSpPr>
        <p:spPr>
          <a:xfrm>
            <a:off x="9121140" y="3273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1" name="Connector 990"/>
          <p:cNvCxnSpPr/>
          <p:nvPr/>
        </p:nvCxnSpPr>
        <p:spPr>
          <a:xfrm>
            <a:off x="9692639" y="3273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2" name="Connector 991"/>
          <p:cNvCxnSpPr/>
          <p:nvPr/>
        </p:nvCxnSpPr>
        <p:spPr>
          <a:xfrm>
            <a:off x="10264140" y="3273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3" name="Connector 992"/>
          <p:cNvCxnSpPr/>
          <p:nvPr/>
        </p:nvCxnSpPr>
        <p:spPr>
          <a:xfrm>
            <a:off x="10835640" y="3273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4" name="Connector 993"/>
          <p:cNvCxnSpPr/>
          <p:nvPr/>
        </p:nvCxnSpPr>
        <p:spPr>
          <a:xfrm>
            <a:off x="9767302" y="3310128"/>
            <a:ext cx="898692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5" name="Oval 994"/>
          <p:cNvSpPr/>
          <p:nvPr/>
        </p:nvSpPr>
        <p:spPr>
          <a:xfrm>
            <a:off x="10185845" y="3250692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6" name="TextBox 995"/>
          <p:cNvSpPr txBox="1"/>
          <p:nvPr/>
        </p:nvSpPr>
        <p:spPr>
          <a:xfrm>
            <a:off x="11018520" y="301752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0.79</a:t>
            </a:r>
          </a:p>
        </p:txBody>
      </p:sp>
      <p:sp>
        <p:nvSpPr>
          <p:cNvPr id="997" name="TextBox 996"/>
          <p:cNvSpPr txBox="1"/>
          <p:nvPr/>
        </p:nvSpPr>
        <p:spPr>
          <a:xfrm>
            <a:off x="11018520" y="320040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0.85</a:t>
            </a:r>
          </a:p>
        </p:txBody>
      </p:sp>
      <p:cxnSp>
        <p:nvCxnSpPr>
          <p:cNvPr id="998" name="Connector 997"/>
          <p:cNvCxnSpPr/>
          <p:nvPr/>
        </p:nvCxnSpPr>
        <p:spPr>
          <a:xfrm>
            <a:off x="346075" y="3438144"/>
            <a:ext cx="11479860" cy="0"/>
          </a:xfrm>
          <a:prstGeom prst="line">
            <a:avLst/>
          </a:prstGeom>
          <a:ln w="6350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9" name="TextBox 998"/>
          <p:cNvSpPr txBox="1"/>
          <p:nvPr/>
        </p:nvSpPr>
        <p:spPr>
          <a:xfrm>
            <a:off x="346075" y="355701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Ротация бедра</a:t>
            </a:r>
          </a:p>
        </p:txBody>
      </p:sp>
      <p:sp>
        <p:nvSpPr>
          <p:cNvPr id="1000" name="TextBox 999"/>
          <p:cNvSpPr txBox="1"/>
          <p:nvPr/>
        </p:nvSpPr>
        <p:spPr>
          <a:xfrm>
            <a:off x="2697480" y="35570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36/150</a:t>
            </a:r>
          </a:p>
        </p:txBody>
      </p:sp>
      <p:sp>
        <p:nvSpPr>
          <p:cNvPr id="1001" name="TextBox 1000"/>
          <p:cNvSpPr txBox="1"/>
          <p:nvPr/>
        </p:nvSpPr>
        <p:spPr>
          <a:xfrm>
            <a:off x="3611880" y="35570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0.67</a:t>
            </a:r>
          </a:p>
        </p:txBody>
      </p:sp>
      <p:sp>
        <p:nvSpPr>
          <p:cNvPr id="1002" name="TextBox 1001"/>
          <p:cNvSpPr txBox="1"/>
          <p:nvPr/>
        </p:nvSpPr>
        <p:spPr>
          <a:xfrm>
            <a:off x="4343400" y="35570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0.76</a:t>
            </a:r>
          </a:p>
        </p:txBody>
      </p:sp>
      <p:cxnSp>
        <p:nvCxnSpPr>
          <p:cNvPr id="1003" name="Connector 1002"/>
          <p:cNvCxnSpPr/>
          <p:nvPr/>
        </p:nvCxnSpPr>
        <p:spPr>
          <a:xfrm>
            <a:off x="5349240" y="357530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Connector 1003"/>
          <p:cNvCxnSpPr/>
          <p:nvPr/>
        </p:nvCxnSpPr>
        <p:spPr>
          <a:xfrm>
            <a:off x="5349240" y="35387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Connector 1004"/>
          <p:cNvCxnSpPr/>
          <p:nvPr/>
        </p:nvCxnSpPr>
        <p:spPr>
          <a:xfrm>
            <a:off x="5920740" y="35387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6" name="Connector 1005"/>
          <p:cNvCxnSpPr/>
          <p:nvPr/>
        </p:nvCxnSpPr>
        <p:spPr>
          <a:xfrm>
            <a:off x="6492240" y="35387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7" name="Connector 1006"/>
          <p:cNvCxnSpPr/>
          <p:nvPr/>
        </p:nvCxnSpPr>
        <p:spPr>
          <a:xfrm>
            <a:off x="7063740" y="35387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8" name="Connector 1007"/>
          <p:cNvCxnSpPr/>
          <p:nvPr/>
        </p:nvCxnSpPr>
        <p:spPr>
          <a:xfrm>
            <a:off x="7635240" y="35387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9" name="Connector 1008"/>
          <p:cNvCxnSpPr/>
          <p:nvPr/>
        </p:nvCxnSpPr>
        <p:spPr>
          <a:xfrm>
            <a:off x="6038154" y="3575304"/>
            <a:ext cx="728445" cy="0"/>
          </a:xfrm>
          <a:prstGeom prst="line">
            <a:avLst/>
          </a:prstGeom>
          <a:ln w="3810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0" name="Oval 1009"/>
          <p:cNvSpPr/>
          <p:nvPr/>
        </p:nvSpPr>
        <p:spPr>
          <a:xfrm>
            <a:off x="6392252" y="3525012"/>
            <a:ext cx="100584" cy="100584"/>
          </a:xfrm>
          <a:prstGeom prst="ellipse">
            <a:avLst/>
          </a:prstGeom>
          <a:solidFill>
            <a:srgbClr val="8A83D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11" name="Connector 1010"/>
          <p:cNvCxnSpPr/>
          <p:nvPr/>
        </p:nvCxnSpPr>
        <p:spPr>
          <a:xfrm>
            <a:off x="5349240" y="3767328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2" name="Connector 1011"/>
          <p:cNvCxnSpPr/>
          <p:nvPr/>
        </p:nvCxnSpPr>
        <p:spPr>
          <a:xfrm>
            <a:off x="5349240" y="37307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3" name="Connector 1012"/>
          <p:cNvCxnSpPr/>
          <p:nvPr/>
        </p:nvCxnSpPr>
        <p:spPr>
          <a:xfrm>
            <a:off x="5920740" y="37307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4" name="Connector 1013"/>
          <p:cNvCxnSpPr/>
          <p:nvPr/>
        </p:nvCxnSpPr>
        <p:spPr>
          <a:xfrm>
            <a:off x="6492240" y="37307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5" name="Connector 1014"/>
          <p:cNvCxnSpPr/>
          <p:nvPr/>
        </p:nvCxnSpPr>
        <p:spPr>
          <a:xfrm>
            <a:off x="7063740" y="37307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6" name="Connector 1015"/>
          <p:cNvCxnSpPr/>
          <p:nvPr/>
        </p:nvCxnSpPr>
        <p:spPr>
          <a:xfrm>
            <a:off x="7635240" y="37307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7" name="Connector 1016"/>
          <p:cNvCxnSpPr/>
          <p:nvPr/>
        </p:nvCxnSpPr>
        <p:spPr>
          <a:xfrm>
            <a:off x="6250708" y="3767328"/>
            <a:ext cx="651329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8" name="Oval 1017"/>
          <p:cNvSpPr/>
          <p:nvPr/>
        </p:nvSpPr>
        <p:spPr>
          <a:xfrm>
            <a:off x="6551045" y="3707892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9" name="TextBox 1018"/>
          <p:cNvSpPr txBox="1"/>
          <p:nvPr/>
        </p:nvSpPr>
        <p:spPr>
          <a:xfrm>
            <a:off x="7680960" y="347472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0.48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7680960" y="365760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0.55</a:t>
            </a:r>
          </a:p>
        </p:txBody>
      </p:sp>
      <p:cxnSp>
        <p:nvCxnSpPr>
          <p:cNvPr id="1021" name="Connector 1020"/>
          <p:cNvCxnSpPr/>
          <p:nvPr/>
        </p:nvCxnSpPr>
        <p:spPr>
          <a:xfrm>
            <a:off x="8549640" y="357530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2" name="Connector 1021"/>
          <p:cNvCxnSpPr/>
          <p:nvPr/>
        </p:nvCxnSpPr>
        <p:spPr>
          <a:xfrm>
            <a:off x="8549640" y="35387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3" name="Connector 1022"/>
          <p:cNvCxnSpPr/>
          <p:nvPr/>
        </p:nvCxnSpPr>
        <p:spPr>
          <a:xfrm>
            <a:off x="9121140" y="35387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Connector 1023"/>
          <p:cNvCxnSpPr/>
          <p:nvPr/>
        </p:nvCxnSpPr>
        <p:spPr>
          <a:xfrm>
            <a:off x="9692639" y="35387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Connector 1024"/>
          <p:cNvCxnSpPr/>
          <p:nvPr/>
        </p:nvCxnSpPr>
        <p:spPr>
          <a:xfrm>
            <a:off x="10264140" y="35387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" name="Connector 1025"/>
          <p:cNvCxnSpPr/>
          <p:nvPr/>
        </p:nvCxnSpPr>
        <p:spPr>
          <a:xfrm>
            <a:off x="10835640" y="35387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" name="Connector 1026"/>
          <p:cNvCxnSpPr/>
          <p:nvPr/>
        </p:nvCxnSpPr>
        <p:spPr>
          <a:xfrm>
            <a:off x="9114086" y="3575304"/>
            <a:ext cx="943090" cy="0"/>
          </a:xfrm>
          <a:prstGeom prst="line">
            <a:avLst/>
          </a:prstGeom>
          <a:ln w="3810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8" name="Oval 1027"/>
          <p:cNvSpPr/>
          <p:nvPr/>
        </p:nvSpPr>
        <p:spPr>
          <a:xfrm>
            <a:off x="9557124" y="3525012"/>
            <a:ext cx="100584" cy="100584"/>
          </a:xfrm>
          <a:prstGeom prst="ellipse">
            <a:avLst/>
          </a:prstGeom>
          <a:solidFill>
            <a:srgbClr val="8A83D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29" name="Connector 1028"/>
          <p:cNvCxnSpPr/>
          <p:nvPr/>
        </p:nvCxnSpPr>
        <p:spPr>
          <a:xfrm>
            <a:off x="8549640" y="3767328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0" name="Connector 1029"/>
          <p:cNvCxnSpPr/>
          <p:nvPr/>
        </p:nvCxnSpPr>
        <p:spPr>
          <a:xfrm>
            <a:off x="8549640" y="37307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1" name="Connector 1030"/>
          <p:cNvCxnSpPr/>
          <p:nvPr/>
        </p:nvCxnSpPr>
        <p:spPr>
          <a:xfrm>
            <a:off x="9121140" y="37307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Connector 1031"/>
          <p:cNvCxnSpPr/>
          <p:nvPr/>
        </p:nvCxnSpPr>
        <p:spPr>
          <a:xfrm>
            <a:off x="9692639" y="37307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Connector 1032"/>
          <p:cNvCxnSpPr/>
          <p:nvPr/>
        </p:nvCxnSpPr>
        <p:spPr>
          <a:xfrm>
            <a:off x="10264140" y="37307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Connector 1033"/>
          <p:cNvCxnSpPr/>
          <p:nvPr/>
        </p:nvCxnSpPr>
        <p:spPr>
          <a:xfrm>
            <a:off x="10835640" y="37307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5" name="Connector 1034"/>
          <p:cNvCxnSpPr/>
          <p:nvPr/>
        </p:nvCxnSpPr>
        <p:spPr>
          <a:xfrm>
            <a:off x="9757681" y="3767328"/>
            <a:ext cx="679651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6" name="Oval 1035"/>
          <p:cNvSpPr/>
          <p:nvPr/>
        </p:nvSpPr>
        <p:spPr>
          <a:xfrm>
            <a:off x="10074361" y="3707892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7" name="TextBox 1036"/>
          <p:cNvSpPr txBox="1"/>
          <p:nvPr/>
        </p:nvSpPr>
        <p:spPr>
          <a:xfrm>
            <a:off x="11018520" y="347472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0.68</a:t>
            </a:r>
          </a:p>
        </p:txBody>
      </p:sp>
      <p:sp>
        <p:nvSpPr>
          <p:cNvPr id="1038" name="TextBox 1037"/>
          <p:cNvSpPr txBox="1"/>
          <p:nvPr/>
        </p:nvSpPr>
        <p:spPr>
          <a:xfrm>
            <a:off x="11018520" y="365760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0.82</a:t>
            </a:r>
          </a:p>
        </p:txBody>
      </p:sp>
      <p:cxnSp>
        <p:nvCxnSpPr>
          <p:cNvPr id="1039" name="Connector 1038"/>
          <p:cNvCxnSpPr/>
          <p:nvPr/>
        </p:nvCxnSpPr>
        <p:spPr>
          <a:xfrm>
            <a:off x="346075" y="3895344"/>
            <a:ext cx="11479860" cy="0"/>
          </a:xfrm>
          <a:prstGeom prst="line">
            <a:avLst/>
          </a:prstGeom>
          <a:ln w="6350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0" name="TextBox 1039"/>
          <p:cNvSpPr txBox="1"/>
          <p:nvPr/>
        </p:nvSpPr>
        <p:spPr>
          <a:xfrm>
            <a:off x="346075" y="401421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Отступы поля</a:t>
            </a:r>
          </a:p>
        </p:txBody>
      </p:sp>
      <p:sp>
        <p:nvSpPr>
          <p:cNvPr id="1041" name="TextBox 1040"/>
          <p:cNvSpPr txBox="1"/>
          <p:nvPr/>
        </p:nvSpPr>
        <p:spPr>
          <a:xfrm>
            <a:off x="2697480" y="40142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7/150</a:t>
            </a:r>
          </a:p>
        </p:txBody>
      </p:sp>
      <p:sp>
        <p:nvSpPr>
          <p:cNvPr id="1042" name="TextBox 1041"/>
          <p:cNvSpPr txBox="1"/>
          <p:nvPr/>
        </p:nvSpPr>
        <p:spPr>
          <a:xfrm>
            <a:off x="3611880" y="40142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0.71</a:t>
            </a:r>
          </a:p>
        </p:txBody>
      </p:sp>
      <p:sp>
        <p:nvSpPr>
          <p:cNvPr id="1043" name="TextBox 1042"/>
          <p:cNvSpPr txBox="1"/>
          <p:nvPr/>
        </p:nvSpPr>
        <p:spPr>
          <a:xfrm>
            <a:off x="4343400" y="40142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0.99</a:t>
            </a:r>
          </a:p>
        </p:txBody>
      </p:sp>
      <p:cxnSp>
        <p:nvCxnSpPr>
          <p:cNvPr id="1044" name="Connector 1043"/>
          <p:cNvCxnSpPr/>
          <p:nvPr/>
        </p:nvCxnSpPr>
        <p:spPr>
          <a:xfrm>
            <a:off x="5349240" y="403250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5" name="Connector 1044"/>
          <p:cNvCxnSpPr/>
          <p:nvPr/>
        </p:nvCxnSpPr>
        <p:spPr>
          <a:xfrm>
            <a:off x="5349240" y="39959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6" name="Connector 1045"/>
          <p:cNvCxnSpPr/>
          <p:nvPr/>
        </p:nvCxnSpPr>
        <p:spPr>
          <a:xfrm>
            <a:off x="5920740" y="39959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7" name="Connector 1046"/>
          <p:cNvCxnSpPr/>
          <p:nvPr/>
        </p:nvCxnSpPr>
        <p:spPr>
          <a:xfrm>
            <a:off x="6492240" y="39959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8" name="Connector 1047"/>
          <p:cNvCxnSpPr/>
          <p:nvPr/>
        </p:nvCxnSpPr>
        <p:spPr>
          <a:xfrm>
            <a:off x="7063740" y="39959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9" name="Connector 1048"/>
          <p:cNvCxnSpPr/>
          <p:nvPr/>
        </p:nvCxnSpPr>
        <p:spPr>
          <a:xfrm>
            <a:off x="7635240" y="39959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0" name="Connector 1049"/>
          <p:cNvCxnSpPr/>
          <p:nvPr/>
        </p:nvCxnSpPr>
        <p:spPr>
          <a:xfrm>
            <a:off x="5349240" y="4032504"/>
            <a:ext cx="1418896" cy="0"/>
          </a:xfrm>
          <a:prstGeom prst="line">
            <a:avLst/>
          </a:prstGeom>
          <a:ln w="3810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1" name="Oval 1050"/>
          <p:cNvSpPr/>
          <p:nvPr/>
        </p:nvSpPr>
        <p:spPr>
          <a:xfrm>
            <a:off x="6094078" y="3982212"/>
            <a:ext cx="100584" cy="100584"/>
          </a:xfrm>
          <a:prstGeom prst="ellipse">
            <a:avLst/>
          </a:prstGeom>
          <a:solidFill>
            <a:srgbClr val="8A83D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52" name="Connector 1051"/>
          <p:cNvCxnSpPr/>
          <p:nvPr/>
        </p:nvCxnSpPr>
        <p:spPr>
          <a:xfrm>
            <a:off x="5349240" y="4224528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3" name="Connector 1052"/>
          <p:cNvCxnSpPr/>
          <p:nvPr/>
        </p:nvCxnSpPr>
        <p:spPr>
          <a:xfrm>
            <a:off x="5349240" y="41879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4" name="Connector 1053"/>
          <p:cNvCxnSpPr/>
          <p:nvPr/>
        </p:nvCxnSpPr>
        <p:spPr>
          <a:xfrm>
            <a:off x="5920740" y="41879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Connector 1054"/>
          <p:cNvCxnSpPr/>
          <p:nvPr/>
        </p:nvCxnSpPr>
        <p:spPr>
          <a:xfrm>
            <a:off x="6492240" y="41879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6" name="Connector 1055"/>
          <p:cNvCxnSpPr/>
          <p:nvPr/>
        </p:nvCxnSpPr>
        <p:spPr>
          <a:xfrm>
            <a:off x="7063740" y="41879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7" name="Connector 1056"/>
          <p:cNvCxnSpPr/>
          <p:nvPr/>
        </p:nvCxnSpPr>
        <p:spPr>
          <a:xfrm>
            <a:off x="7635240" y="41879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8" name="Connector 1057"/>
          <p:cNvCxnSpPr/>
          <p:nvPr/>
        </p:nvCxnSpPr>
        <p:spPr>
          <a:xfrm>
            <a:off x="5857240" y="4224528"/>
            <a:ext cx="1657684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9" name="Oval 1058"/>
          <p:cNvSpPr/>
          <p:nvPr/>
        </p:nvSpPr>
        <p:spPr>
          <a:xfrm>
            <a:off x="6922661" y="4165092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0" name="TextBox 1059"/>
          <p:cNvSpPr txBox="1"/>
          <p:nvPr/>
        </p:nvSpPr>
        <p:spPr>
          <a:xfrm>
            <a:off x="7680960" y="393192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0.35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7680960" y="411480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0.71</a:t>
            </a:r>
          </a:p>
        </p:txBody>
      </p:sp>
      <p:cxnSp>
        <p:nvCxnSpPr>
          <p:cNvPr id="1062" name="Connector 1061"/>
          <p:cNvCxnSpPr/>
          <p:nvPr/>
        </p:nvCxnSpPr>
        <p:spPr>
          <a:xfrm>
            <a:off x="8549640" y="403250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Connector 1062"/>
          <p:cNvCxnSpPr/>
          <p:nvPr/>
        </p:nvCxnSpPr>
        <p:spPr>
          <a:xfrm>
            <a:off x="8549640" y="39959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4" name="Connector 1063"/>
          <p:cNvCxnSpPr/>
          <p:nvPr/>
        </p:nvCxnSpPr>
        <p:spPr>
          <a:xfrm>
            <a:off x="9121140" y="39959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5" name="Connector 1064"/>
          <p:cNvCxnSpPr/>
          <p:nvPr/>
        </p:nvCxnSpPr>
        <p:spPr>
          <a:xfrm>
            <a:off x="9692639" y="39959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6" name="Connector 1065"/>
          <p:cNvCxnSpPr/>
          <p:nvPr/>
        </p:nvCxnSpPr>
        <p:spPr>
          <a:xfrm>
            <a:off x="10264140" y="39959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7" name="Connector 1066"/>
          <p:cNvCxnSpPr/>
          <p:nvPr/>
        </p:nvCxnSpPr>
        <p:spPr>
          <a:xfrm>
            <a:off x="10835640" y="39959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8" name="Connector 1067"/>
          <p:cNvCxnSpPr/>
          <p:nvPr/>
        </p:nvCxnSpPr>
        <p:spPr>
          <a:xfrm>
            <a:off x="9831609" y="4032504"/>
            <a:ext cx="974452" cy="0"/>
          </a:xfrm>
          <a:prstGeom prst="line">
            <a:avLst/>
          </a:prstGeom>
          <a:ln w="3810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9" name="Oval 1068"/>
          <p:cNvSpPr/>
          <p:nvPr/>
        </p:nvSpPr>
        <p:spPr>
          <a:xfrm>
            <a:off x="10372375" y="3982212"/>
            <a:ext cx="100584" cy="100584"/>
          </a:xfrm>
          <a:prstGeom prst="ellipse">
            <a:avLst/>
          </a:prstGeom>
          <a:solidFill>
            <a:srgbClr val="8A83D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70" name="Connector 1069"/>
          <p:cNvCxnSpPr/>
          <p:nvPr/>
        </p:nvCxnSpPr>
        <p:spPr>
          <a:xfrm>
            <a:off x="8549640" y="4224528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1" name="Connector 1070"/>
          <p:cNvCxnSpPr/>
          <p:nvPr/>
        </p:nvCxnSpPr>
        <p:spPr>
          <a:xfrm>
            <a:off x="8549640" y="41879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2" name="Connector 1071"/>
          <p:cNvCxnSpPr/>
          <p:nvPr/>
        </p:nvCxnSpPr>
        <p:spPr>
          <a:xfrm>
            <a:off x="9121140" y="41879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3" name="Connector 1072"/>
          <p:cNvCxnSpPr/>
          <p:nvPr/>
        </p:nvCxnSpPr>
        <p:spPr>
          <a:xfrm>
            <a:off x="9692639" y="41879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4" name="Connector 1073"/>
          <p:cNvCxnSpPr/>
          <p:nvPr/>
        </p:nvCxnSpPr>
        <p:spPr>
          <a:xfrm>
            <a:off x="10264140" y="41879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5" name="Connector 1074"/>
          <p:cNvCxnSpPr/>
          <p:nvPr/>
        </p:nvCxnSpPr>
        <p:spPr>
          <a:xfrm>
            <a:off x="10835640" y="41879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6" name="Connector 1075"/>
          <p:cNvCxnSpPr/>
          <p:nvPr/>
        </p:nvCxnSpPr>
        <p:spPr>
          <a:xfrm>
            <a:off x="10148232" y="4224528"/>
            <a:ext cx="687408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7" name="Oval 1076"/>
          <p:cNvSpPr/>
          <p:nvPr/>
        </p:nvSpPr>
        <p:spPr>
          <a:xfrm>
            <a:off x="10544026" y="4165092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8" name="TextBox 1077"/>
          <p:cNvSpPr txBox="1"/>
          <p:nvPr/>
        </p:nvSpPr>
        <p:spPr>
          <a:xfrm>
            <a:off x="11018520" y="393192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0.89</a:t>
            </a:r>
          </a:p>
        </p:txBody>
      </p:sp>
      <p:sp>
        <p:nvSpPr>
          <p:cNvPr id="1079" name="TextBox 1078"/>
          <p:cNvSpPr txBox="1"/>
          <p:nvPr/>
        </p:nvSpPr>
        <p:spPr>
          <a:xfrm>
            <a:off x="11018520" y="411480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0.94</a:t>
            </a:r>
          </a:p>
        </p:txBody>
      </p:sp>
      <p:cxnSp>
        <p:nvCxnSpPr>
          <p:cNvPr id="1080" name="Connector 1079"/>
          <p:cNvCxnSpPr/>
          <p:nvPr/>
        </p:nvCxnSpPr>
        <p:spPr>
          <a:xfrm>
            <a:off x="346075" y="4352544"/>
            <a:ext cx="11479860" cy="0"/>
          </a:xfrm>
          <a:prstGeom prst="line">
            <a:avLst/>
          </a:prstGeom>
          <a:ln w="6350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1" name="TextBox 1080"/>
          <p:cNvSpPr txBox="1"/>
          <p:nvPr/>
        </p:nvSpPr>
        <p:spPr>
          <a:xfrm>
            <a:off x="346075" y="447141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Позвоночник (любое)</a:t>
            </a:r>
          </a:p>
        </p:txBody>
      </p:sp>
      <p:sp>
        <p:nvSpPr>
          <p:cNvPr id="1082" name="TextBox 1081"/>
          <p:cNvSpPr txBox="1"/>
          <p:nvPr/>
        </p:nvSpPr>
        <p:spPr>
          <a:xfrm>
            <a:off x="2697480" y="44714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31/99</a:t>
            </a:r>
          </a:p>
        </p:txBody>
      </p:sp>
      <p:sp>
        <p:nvSpPr>
          <p:cNvPr id="1083" name="TextBox 1082"/>
          <p:cNvSpPr txBox="1"/>
          <p:nvPr/>
        </p:nvSpPr>
        <p:spPr>
          <a:xfrm>
            <a:off x="3611880" y="44714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0.65</a:t>
            </a:r>
          </a:p>
        </p:txBody>
      </p:sp>
      <p:sp>
        <p:nvSpPr>
          <p:cNvPr id="1084" name="TextBox 1083"/>
          <p:cNvSpPr txBox="1"/>
          <p:nvPr/>
        </p:nvSpPr>
        <p:spPr>
          <a:xfrm>
            <a:off x="4343400" y="44714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0.68</a:t>
            </a:r>
          </a:p>
        </p:txBody>
      </p:sp>
      <p:cxnSp>
        <p:nvCxnSpPr>
          <p:cNvPr id="1085" name="Connector 1084"/>
          <p:cNvCxnSpPr/>
          <p:nvPr/>
        </p:nvCxnSpPr>
        <p:spPr>
          <a:xfrm>
            <a:off x="5349240" y="448970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6" name="Connector 1085"/>
          <p:cNvCxnSpPr/>
          <p:nvPr/>
        </p:nvCxnSpPr>
        <p:spPr>
          <a:xfrm>
            <a:off x="5349240" y="44531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7" name="Connector 1086"/>
          <p:cNvCxnSpPr/>
          <p:nvPr/>
        </p:nvCxnSpPr>
        <p:spPr>
          <a:xfrm>
            <a:off x="5920740" y="44531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8" name="Connector 1087"/>
          <p:cNvCxnSpPr/>
          <p:nvPr/>
        </p:nvCxnSpPr>
        <p:spPr>
          <a:xfrm>
            <a:off x="6492240" y="44531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9" name="Connector 1088"/>
          <p:cNvCxnSpPr/>
          <p:nvPr/>
        </p:nvCxnSpPr>
        <p:spPr>
          <a:xfrm>
            <a:off x="7063740" y="44531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0" name="Connector 1089"/>
          <p:cNvCxnSpPr/>
          <p:nvPr/>
        </p:nvCxnSpPr>
        <p:spPr>
          <a:xfrm>
            <a:off x="7635240" y="44531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1" name="Connector 1090"/>
          <p:cNvCxnSpPr/>
          <p:nvPr/>
        </p:nvCxnSpPr>
        <p:spPr>
          <a:xfrm>
            <a:off x="6111240" y="4489704"/>
            <a:ext cx="673395" cy="0"/>
          </a:xfrm>
          <a:prstGeom prst="line">
            <a:avLst/>
          </a:prstGeom>
          <a:ln w="3810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2" name="Oval 1091"/>
          <p:cNvSpPr/>
          <p:nvPr/>
        </p:nvSpPr>
        <p:spPr>
          <a:xfrm>
            <a:off x="6409290" y="4439412"/>
            <a:ext cx="100584" cy="100584"/>
          </a:xfrm>
          <a:prstGeom prst="ellipse">
            <a:avLst/>
          </a:prstGeom>
          <a:solidFill>
            <a:srgbClr val="8A83D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93" name="Connector 1092"/>
          <p:cNvCxnSpPr/>
          <p:nvPr/>
        </p:nvCxnSpPr>
        <p:spPr>
          <a:xfrm>
            <a:off x="5349240" y="4681728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4" name="Connector 1093"/>
          <p:cNvCxnSpPr/>
          <p:nvPr/>
        </p:nvCxnSpPr>
        <p:spPr>
          <a:xfrm>
            <a:off x="5349240" y="46451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5" name="Connector 1094"/>
          <p:cNvCxnSpPr/>
          <p:nvPr/>
        </p:nvCxnSpPr>
        <p:spPr>
          <a:xfrm>
            <a:off x="5920740" y="46451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6" name="Connector 1095"/>
          <p:cNvCxnSpPr/>
          <p:nvPr/>
        </p:nvCxnSpPr>
        <p:spPr>
          <a:xfrm>
            <a:off x="6492240" y="46451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7" name="Connector 1096"/>
          <p:cNvCxnSpPr/>
          <p:nvPr/>
        </p:nvCxnSpPr>
        <p:spPr>
          <a:xfrm>
            <a:off x="7063740" y="46451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8" name="Connector 1097"/>
          <p:cNvCxnSpPr/>
          <p:nvPr/>
        </p:nvCxnSpPr>
        <p:spPr>
          <a:xfrm>
            <a:off x="7635240" y="46451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9" name="Connector 1098"/>
          <p:cNvCxnSpPr/>
          <p:nvPr/>
        </p:nvCxnSpPr>
        <p:spPr>
          <a:xfrm>
            <a:off x="6263640" y="4681728"/>
            <a:ext cx="631064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0" name="Oval 1099"/>
          <p:cNvSpPr/>
          <p:nvPr/>
        </p:nvSpPr>
        <p:spPr>
          <a:xfrm>
            <a:off x="6542406" y="4622292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1" name="TextBox 1100"/>
          <p:cNvSpPr txBox="1"/>
          <p:nvPr/>
        </p:nvSpPr>
        <p:spPr>
          <a:xfrm>
            <a:off x="7680960" y="438912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0.49</a:t>
            </a:r>
          </a:p>
        </p:txBody>
      </p:sp>
      <p:sp>
        <p:nvSpPr>
          <p:cNvPr id="1102" name="TextBox 1101"/>
          <p:cNvSpPr txBox="1"/>
          <p:nvPr/>
        </p:nvSpPr>
        <p:spPr>
          <a:xfrm>
            <a:off x="7680960" y="457200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0.55</a:t>
            </a:r>
          </a:p>
        </p:txBody>
      </p:sp>
      <p:cxnSp>
        <p:nvCxnSpPr>
          <p:cNvPr id="1103" name="Connector 1102"/>
          <p:cNvCxnSpPr/>
          <p:nvPr/>
        </p:nvCxnSpPr>
        <p:spPr>
          <a:xfrm>
            <a:off x="8549640" y="448970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Connector 1103"/>
          <p:cNvCxnSpPr/>
          <p:nvPr/>
        </p:nvCxnSpPr>
        <p:spPr>
          <a:xfrm>
            <a:off x="8549640" y="44531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5" name="Connector 1104"/>
          <p:cNvCxnSpPr/>
          <p:nvPr/>
        </p:nvCxnSpPr>
        <p:spPr>
          <a:xfrm>
            <a:off x="9121140" y="44531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6" name="Connector 1105"/>
          <p:cNvCxnSpPr/>
          <p:nvPr/>
        </p:nvCxnSpPr>
        <p:spPr>
          <a:xfrm>
            <a:off x="9692639" y="44531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7" name="Connector 1106"/>
          <p:cNvCxnSpPr/>
          <p:nvPr/>
        </p:nvCxnSpPr>
        <p:spPr>
          <a:xfrm>
            <a:off x="10264140" y="44531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8" name="Connector 1107"/>
          <p:cNvCxnSpPr/>
          <p:nvPr/>
        </p:nvCxnSpPr>
        <p:spPr>
          <a:xfrm>
            <a:off x="10835640" y="44531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9" name="Connector 1108"/>
          <p:cNvCxnSpPr/>
          <p:nvPr/>
        </p:nvCxnSpPr>
        <p:spPr>
          <a:xfrm>
            <a:off x="9039107" y="4489704"/>
            <a:ext cx="890073" cy="0"/>
          </a:xfrm>
          <a:prstGeom prst="line">
            <a:avLst/>
          </a:prstGeom>
          <a:ln w="3810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0" name="Oval 1109"/>
          <p:cNvSpPr/>
          <p:nvPr/>
        </p:nvSpPr>
        <p:spPr>
          <a:xfrm>
            <a:off x="9432508" y="4439412"/>
            <a:ext cx="100584" cy="100584"/>
          </a:xfrm>
          <a:prstGeom prst="ellipse">
            <a:avLst/>
          </a:prstGeom>
          <a:solidFill>
            <a:srgbClr val="8A83D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11" name="Connector 1110"/>
          <p:cNvCxnSpPr/>
          <p:nvPr/>
        </p:nvCxnSpPr>
        <p:spPr>
          <a:xfrm>
            <a:off x="8549640" y="4681728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2" name="Connector 1111"/>
          <p:cNvCxnSpPr/>
          <p:nvPr/>
        </p:nvCxnSpPr>
        <p:spPr>
          <a:xfrm>
            <a:off x="8549640" y="46451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3" name="Connector 1112"/>
          <p:cNvCxnSpPr/>
          <p:nvPr/>
        </p:nvCxnSpPr>
        <p:spPr>
          <a:xfrm>
            <a:off x="9121140" y="46451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4" name="Connector 1113"/>
          <p:cNvCxnSpPr/>
          <p:nvPr/>
        </p:nvCxnSpPr>
        <p:spPr>
          <a:xfrm>
            <a:off x="9692639" y="46451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5" name="Connector 1114"/>
          <p:cNvCxnSpPr/>
          <p:nvPr/>
        </p:nvCxnSpPr>
        <p:spPr>
          <a:xfrm>
            <a:off x="10264140" y="46451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6" name="Connector 1115"/>
          <p:cNvCxnSpPr/>
          <p:nvPr/>
        </p:nvCxnSpPr>
        <p:spPr>
          <a:xfrm>
            <a:off x="10835640" y="46451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7" name="Connector 1116"/>
          <p:cNvCxnSpPr/>
          <p:nvPr/>
        </p:nvCxnSpPr>
        <p:spPr>
          <a:xfrm>
            <a:off x="9307869" y="4681728"/>
            <a:ext cx="865166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8" name="Oval 1117"/>
          <p:cNvSpPr/>
          <p:nvPr/>
        </p:nvSpPr>
        <p:spPr>
          <a:xfrm>
            <a:off x="9698089" y="4622292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9" name="TextBox 1118"/>
          <p:cNvSpPr txBox="1"/>
          <p:nvPr/>
        </p:nvSpPr>
        <p:spPr>
          <a:xfrm>
            <a:off x="11018520" y="438912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0.64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11018520" y="457200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0.72</a:t>
            </a:r>
          </a:p>
        </p:txBody>
      </p:sp>
      <p:cxnSp>
        <p:nvCxnSpPr>
          <p:cNvPr id="1121" name="Connector 1120"/>
          <p:cNvCxnSpPr/>
          <p:nvPr/>
        </p:nvCxnSpPr>
        <p:spPr>
          <a:xfrm>
            <a:off x="346075" y="4809744"/>
            <a:ext cx="11479860" cy="0"/>
          </a:xfrm>
          <a:prstGeom prst="line">
            <a:avLst/>
          </a:prstGeom>
          <a:ln w="6350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2" name="TextBox 1121"/>
          <p:cNvSpPr txBox="1"/>
          <p:nvPr/>
        </p:nvSpPr>
        <p:spPr>
          <a:xfrm>
            <a:off x="346075" y="492861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Бедро (любое)</a:t>
            </a:r>
          </a:p>
        </p:txBody>
      </p:sp>
      <p:sp>
        <p:nvSpPr>
          <p:cNvPr id="1123" name="TextBox 1122"/>
          <p:cNvSpPr txBox="1"/>
          <p:nvPr/>
        </p:nvSpPr>
        <p:spPr>
          <a:xfrm>
            <a:off x="2697480" y="49286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41/150</a:t>
            </a:r>
          </a:p>
        </p:txBody>
      </p:sp>
      <p:sp>
        <p:nvSpPr>
          <p:cNvPr id="1124" name="TextBox 1123"/>
          <p:cNvSpPr txBox="1"/>
          <p:nvPr/>
        </p:nvSpPr>
        <p:spPr>
          <a:xfrm>
            <a:off x="3611880" y="49286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0.71</a:t>
            </a:r>
          </a:p>
        </p:txBody>
      </p:sp>
      <p:sp>
        <p:nvSpPr>
          <p:cNvPr id="1125" name="TextBox 1124"/>
          <p:cNvSpPr txBox="1"/>
          <p:nvPr/>
        </p:nvSpPr>
        <p:spPr>
          <a:xfrm>
            <a:off x="4343400" y="49286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0.75</a:t>
            </a:r>
          </a:p>
        </p:txBody>
      </p:sp>
      <p:cxnSp>
        <p:nvCxnSpPr>
          <p:cNvPr id="1126" name="Connector 1125"/>
          <p:cNvCxnSpPr/>
          <p:nvPr/>
        </p:nvCxnSpPr>
        <p:spPr>
          <a:xfrm>
            <a:off x="5349240" y="494690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7" name="Connector 1126"/>
          <p:cNvCxnSpPr/>
          <p:nvPr/>
        </p:nvCxnSpPr>
        <p:spPr>
          <a:xfrm>
            <a:off x="5349240" y="49103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Connector 1127"/>
          <p:cNvCxnSpPr/>
          <p:nvPr/>
        </p:nvCxnSpPr>
        <p:spPr>
          <a:xfrm>
            <a:off x="5920740" y="49103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" name="Connector 1128"/>
          <p:cNvCxnSpPr/>
          <p:nvPr/>
        </p:nvCxnSpPr>
        <p:spPr>
          <a:xfrm>
            <a:off x="6492240" y="49103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0" name="Connector 1129"/>
          <p:cNvCxnSpPr/>
          <p:nvPr/>
        </p:nvCxnSpPr>
        <p:spPr>
          <a:xfrm>
            <a:off x="7063740" y="49103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Connector 1130"/>
          <p:cNvCxnSpPr/>
          <p:nvPr/>
        </p:nvCxnSpPr>
        <p:spPr>
          <a:xfrm>
            <a:off x="7635240" y="49103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2" name="Connector 1131"/>
          <p:cNvCxnSpPr/>
          <p:nvPr/>
        </p:nvCxnSpPr>
        <p:spPr>
          <a:xfrm>
            <a:off x="6120405" y="4946904"/>
            <a:ext cx="655356" cy="0"/>
          </a:xfrm>
          <a:prstGeom prst="line">
            <a:avLst/>
          </a:prstGeom>
          <a:ln w="3810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3" name="Oval 1132"/>
          <p:cNvSpPr/>
          <p:nvPr/>
        </p:nvSpPr>
        <p:spPr>
          <a:xfrm>
            <a:off x="6441948" y="4896612"/>
            <a:ext cx="100584" cy="100584"/>
          </a:xfrm>
          <a:prstGeom prst="ellipse">
            <a:avLst/>
          </a:prstGeom>
          <a:solidFill>
            <a:srgbClr val="8A83D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34" name="Connector 1133"/>
          <p:cNvCxnSpPr/>
          <p:nvPr/>
        </p:nvCxnSpPr>
        <p:spPr>
          <a:xfrm>
            <a:off x="5349240" y="5138928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5" name="Connector 1134"/>
          <p:cNvCxnSpPr/>
          <p:nvPr/>
        </p:nvCxnSpPr>
        <p:spPr>
          <a:xfrm>
            <a:off x="5349240" y="51023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6" name="Connector 1135"/>
          <p:cNvCxnSpPr/>
          <p:nvPr/>
        </p:nvCxnSpPr>
        <p:spPr>
          <a:xfrm>
            <a:off x="5920740" y="51023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7" name="Connector 1136"/>
          <p:cNvCxnSpPr/>
          <p:nvPr/>
        </p:nvCxnSpPr>
        <p:spPr>
          <a:xfrm>
            <a:off x="6492240" y="51023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8" name="Connector 1137"/>
          <p:cNvCxnSpPr/>
          <p:nvPr/>
        </p:nvCxnSpPr>
        <p:spPr>
          <a:xfrm>
            <a:off x="7063740" y="51023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9" name="Connector 1138"/>
          <p:cNvCxnSpPr/>
          <p:nvPr/>
        </p:nvCxnSpPr>
        <p:spPr>
          <a:xfrm>
            <a:off x="7635240" y="51023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0" name="Connector 1139"/>
          <p:cNvCxnSpPr/>
          <p:nvPr/>
        </p:nvCxnSpPr>
        <p:spPr>
          <a:xfrm>
            <a:off x="6385369" y="5138928"/>
            <a:ext cx="602171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1" name="Oval 1140"/>
          <p:cNvSpPr/>
          <p:nvPr/>
        </p:nvSpPr>
        <p:spPr>
          <a:xfrm>
            <a:off x="6656690" y="5079492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2" name="TextBox 1141"/>
          <p:cNvSpPr txBox="1"/>
          <p:nvPr/>
        </p:nvSpPr>
        <p:spPr>
          <a:xfrm>
            <a:off x="7680960" y="484632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0.50</a:t>
            </a:r>
          </a:p>
        </p:txBody>
      </p:sp>
      <p:sp>
        <p:nvSpPr>
          <p:cNvPr id="1143" name="TextBox 1142"/>
          <p:cNvSpPr txBox="1"/>
          <p:nvPr/>
        </p:nvSpPr>
        <p:spPr>
          <a:xfrm>
            <a:off x="7680960" y="502920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0.60</a:t>
            </a:r>
          </a:p>
        </p:txBody>
      </p:sp>
      <p:cxnSp>
        <p:nvCxnSpPr>
          <p:cNvPr id="1144" name="Connector 1143"/>
          <p:cNvCxnSpPr/>
          <p:nvPr/>
        </p:nvCxnSpPr>
        <p:spPr>
          <a:xfrm>
            <a:off x="8549640" y="494690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5" name="Connector 1144"/>
          <p:cNvCxnSpPr/>
          <p:nvPr/>
        </p:nvCxnSpPr>
        <p:spPr>
          <a:xfrm>
            <a:off x="8549640" y="49103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6" name="Connector 1145"/>
          <p:cNvCxnSpPr/>
          <p:nvPr/>
        </p:nvCxnSpPr>
        <p:spPr>
          <a:xfrm>
            <a:off x="9121140" y="49103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7" name="Connector 1146"/>
          <p:cNvCxnSpPr/>
          <p:nvPr/>
        </p:nvCxnSpPr>
        <p:spPr>
          <a:xfrm>
            <a:off x="9692639" y="49103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8" name="Connector 1147"/>
          <p:cNvCxnSpPr/>
          <p:nvPr/>
        </p:nvCxnSpPr>
        <p:spPr>
          <a:xfrm>
            <a:off x="10264140" y="49103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9" name="Connector 1148"/>
          <p:cNvCxnSpPr/>
          <p:nvPr/>
        </p:nvCxnSpPr>
        <p:spPr>
          <a:xfrm>
            <a:off x="10835640" y="49103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0" name="Connector 1149"/>
          <p:cNvCxnSpPr/>
          <p:nvPr/>
        </p:nvCxnSpPr>
        <p:spPr>
          <a:xfrm>
            <a:off x="9164173" y="4946904"/>
            <a:ext cx="915143" cy="0"/>
          </a:xfrm>
          <a:prstGeom prst="line">
            <a:avLst/>
          </a:prstGeom>
          <a:ln w="3810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1" name="Oval 1150"/>
          <p:cNvSpPr/>
          <p:nvPr/>
        </p:nvSpPr>
        <p:spPr>
          <a:xfrm>
            <a:off x="9584972" y="4896612"/>
            <a:ext cx="100584" cy="100584"/>
          </a:xfrm>
          <a:prstGeom prst="ellipse">
            <a:avLst/>
          </a:prstGeom>
          <a:solidFill>
            <a:srgbClr val="8A83D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52" name="Connector 1151"/>
          <p:cNvCxnSpPr/>
          <p:nvPr/>
        </p:nvCxnSpPr>
        <p:spPr>
          <a:xfrm>
            <a:off x="8549640" y="5138928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3" name="Connector 1152"/>
          <p:cNvCxnSpPr/>
          <p:nvPr/>
        </p:nvCxnSpPr>
        <p:spPr>
          <a:xfrm>
            <a:off x="8549640" y="51023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4" name="Connector 1153"/>
          <p:cNvCxnSpPr/>
          <p:nvPr/>
        </p:nvCxnSpPr>
        <p:spPr>
          <a:xfrm>
            <a:off x="9121140" y="51023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5" name="Connector 1154"/>
          <p:cNvCxnSpPr/>
          <p:nvPr/>
        </p:nvCxnSpPr>
        <p:spPr>
          <a:xfrm>
            <a:off x="9692639" y="51023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6" name="Connector 1155"/>
          <p:cNvCxnSpPr/>
          <p:nvPr/>
        </p:nvCxnSpPr>
        <p:spPr>
          <a:xfrm>
            <a:off x="10264140" y="51023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7" name="Connector 1156"/>
          <p:cNvCxnSpPr/>
          <p:nvPr/>
        </p:nvCxnSpPr>
        <p:spPr>
          <a:xfrm>
            <a:off x="10835640" y="51023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8" name="Connector 1157"/>
          <p:cNvCxnSpPr/>
          <p:nvPr/>
        </p:nvCxnSpPr>
        <p:spPr>
          <a:xfrm>
            <a:off x="9798052" y="5138928"/>
            <a:ext cx="637948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9" name="Oval 1158"/>
          <p:cNvSpPr/>
          <p:nvPr/>
        </p:nvSpPr>
        <p:spPr>
          <a:xfrm>
            <a:off x="10086073" y="5079492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0" name="TextBox 1159"/>
          <p:cNvSpPr txBox="1"/>
          <p:nvPr/>
        </p:nvSpPr>
        <p:spPr>
          <a:xfrm>
            <a:off x="11018520" y="484632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0.68</a:t>
            </a:r>
          </a:p>
        </p:txBody>
      </p:sp>
      <p:sp>
        <p:nvSpPr>
          <p:cNvPr id="1161" name="TextBox 1160"/>
          <p:cNvSpPr txBox="1"/>
          <p:nvPr/>
        </p:nvSpPr>
        <p:spPr>
          <a:xfrm>
            <a:off x="11018520" y="502920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0.82</a:t>
            </a:r>
          </a:p>
        </p:txBody>
      </p:sp>
      <p:cxnSp>
        <p:nvCxnSpPr>
          <p:cNvPr id="1162" name="Connector 1161"/>
          <p:cNvCxnSpPr/>
          <p:nvPr/>
        </p:nvCxnSpPr>
        <p:spPr>
          <a:xfrm>
            <a:off x="346075" y="5266944"/>
            <a:ext cx="11479860" cy="0"/>
          </a:xfrm>
          <a:prstGeom prst="line">
            <a:avLst/>
          </a:prstGeom>
          <a:ln w="6350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3" name="TextBox 1162"/>
          <p:cNvSpPr txBox="1"/>
          <p:nvPr/>
        </p:nvSpPr>
        <p:spPr>
          <a:xfrm>
            <a:off x="346075" y="538581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Все снимки (любое)</a:t>
            </a:r>
          </a:p>
        </p:txBody>
      </p:sp>
      <p:sp>
        <p:nvSpPr>
          <p:cNvPr id="1164" name="TextBox 1163"/>
          <p:cNvSpPr txBox="1"/>
          <p:nvPr/>
        </p:nvSpPr>
        <p:spPr>
          <a:xfrm>
            <a:off x="2697480" y="5385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72/249</a:t>
            </a:r>
          </a:p>
        </p:txBody>
      </p:sp>
      <p:sp>
        <p:nvSpPr>
          <p:cNvPr id="1165" name="TextBox 1164"/>
          <p:cNvSpPr txBox="1"/>
          <p:nvPr/>
        </p:nvSpPr>
        <p:spPr>
          <a:xfrm>
            <a:off x="3611880" y="5385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0.68</a:t>
            </a:r>
          </a:p>
        </p:txBody>
      </p:sp>
      <p:sp>
        <p:nvSpPr>
          <p:cNvPr id="1166" name="TextBox 1165"/>
          <p:cNvSpPr txBox="1"/>
          <p:nvPr/>
        </p:nvSpPr>
        <p:spPr>
          <a:xfrm>
            <a:off x="4343400" y="5385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0.72</a:t>
            </a:r>
          </a:p>
        </p:txBody>
      </p:sp>
      <p:cxnSp>
        <p:nvCxnSpPr>
          <p:cNvPr id="1167" name="Connector 1166"/>
          <p:cNvCxnSpPr/>
          <p:nvPr/>
        </p:nvCxnSpPr>
        <p:spPr>
          <a:xfrm>
            <a:off x="5349240" y="540410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8" name="Connector 1167"/>
          <p:cNvCxnSpPr/>
          <p:nvPr/>
        </p:nvCxnSpPr>
        <p:spPr>
          <a:xfrm>
            <a:off x="5349240" y="5367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9" name="Connector 1168"/>
          <p:cNvCxnSpPr/>
          <p:nvPr/>
        </p:nvCxnSpPr>
        <p:spPr>
          <a:xfrm>
            <a:off x="5920740" y="5367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0" name="Connector 1169"/>
          <p:cNvCxnSpPr/>
          <p:nvPr/>
        </p:nvCxnSpPr>
        <p:spPr>
          <a:xfrm>
            <a:off x="6492240" y="5367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1" name="Connector 1170"/>
          <p:cNvCxnSpPr/>
          <p:nvPr/>
        </p:nvCxnSpPr>
        <p:spPr>
          <a:xfrm>
            <a:off x="7063740" y="5367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2" name="Connector 1171"/>
          <p:cNvCxnSpPr/>
          <p:nvPr/>
        </p:nvCxnSpPr>
        <p:spPr>
          <a:xfrm>
            <a:off x="7635240" y="5367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3" name="Connector 1172"/>
          <p:cNvCxnSpPr/>
          <p:nvPr/>
        </p:nvCxnSpPr>
        <p:spPr>
          <a:xfrm>
            <a:off x="6244264" y="5404104"/>
            <a:ext cx="455269" cy="0"/>
          </a:xfrm>
          <a:prstGeom prst="line">
            <a:avLst/>
          </a:prstGeom>
          <a:ln w="3810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4" name="Oval 1173"/>
          <p:cNvSpPr/>
          <p:nvPr/>
        </p:nvSpPr>
        <p:spPr>
          <a:xfrm>
            <a:off x="6428810" y="5353812"/>
            <a:ext cx="100584" cy="100584"/>
          </a:xfrm>
          <a:prstGeom prst="ellipse">
            <a:avLst/>
          </a:prstGeom>
          <a:solidFill>
            <a:srgbClr val="8A83D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75" name="Connector 1174"/>
          <p:cNvCxnSpPr/>
          <p:nvPr/>
        </p:nvCxnSpPr>
        <p:spPr>
          <a:xfrm>
            <a:off x="5349240" y="5596128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6" name="Connector 1175"/>
          <p:cNvCxnSpPr/>
          <p:nvPr/>
        </p:nvCxnSpPr>
        <p:spPr>
          <a:xfrm>
            <a:off x="5349240" y="5559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7" name="Connector 1176"/>
          <p:cNvCxnSpPr/>
          <p:nvPr/>
        </p:nvCxnSpPr>
        <p:spPr>
          <a:xfrm>
            <a:off x="5920740" y="5559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8" name="Connector 1177"/>
          <p:cNvCxnSpPr/>
          <p:nvPr/>
        </p:nvCxnSpPr>
        <p:spPr>
          <a:xfrm>
            <a:off x="6492240" y="5559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9" name="Connector 1178"/>
          <p:cNvCxnSpPr/>
          <p:nvPr/>
        </p:nvCxnSpPr>
        <p:spPr>
          <a:xfrm>
            <a:off x="7063740" y="5559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0" name="Connector 1179"/>
          <p:cNvCxnSpPr/>
          <p:nvPr/>
        </p:nvCxnSpPr>
        <p:spPr>
          <a:xfrm>
            <a:off x="7635240" y="5559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1" name="Connector 1180"/>
          <p:cNvCxnSpPr/>
          <p:nvPr/>
        </p:nvCxnSpPr>
        <p:spPr>
          <a:xfrm>
            <a:off x="6437778" y="5596128"/>
            <a:ext cx="427574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2" name="Oval 1181"/>
          <p:cNvSpPr/>
          <p:nvPr/>
        </p:nvSpPr>
        <p:spPr>
          <a:xfrm>
            <a:off x="6607615" y="5536692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3" name="TextBox 1182"/>
          <p:cNvSpPr txBox="1"/>
          <p:nvPr/>
        </p:nvSpPr>
        <p:spPr>
          <a:xfrm>
            <a:off x="7680960" y="530352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0.49</a:t>
            </a:r>
          </a:p>
        </p:txBody>
      </p:sp>
      <p:sp>
        <p:nvSpPr>
          <p:cNvPr id="1184" name="TextBox 1183"/>
          <p:cNvSpPr txBox="1"/>
          <p:nvPr/>
        </p:nvSpPr>
        <p:spPr>
          <a:xfrm>
            <a:off x="7680960" y="548640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0.58</a:t>
            </a:r>
          </a:p>
        </p:txBody>
      </p:sp>
      <p:cxnSp>
        <p:nvCxnSpPr>
          <p:cNvPr id="1185" name="Connector 1184"/>
          <p:cNvCxnSpPr/>
          <p:nvPr/>
        </p:nvCxnSpPr>
        <p:spPr>
          <a:xfrm>
            <a:off x="8549640" y="540410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6" name="Connector 1185"/>
          <p:cNvCxnSpPr/>
          <p:nvPr/>
        </p:nvCxnSpPr>
        <p:spPr>
          <a:xfrm>
            <a:off x="8549640" y="5367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7" name="Connector 1186"/>
          <p:cNvCxnSpPr/>
          <p:nvPr/>
        </p:nvCxnSpPr>
        <p:spPr>
          <a:xfrm>
            <a:off x="9121140" y="5367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8" name="Connector 1187"/>
          <p:cNvCxnSpPr/>
          <p:nvPr/>
        </p:nvCxnSpPr>
        <p:spPr>
          <a:xfrm>
            <a:off x="9692639" y="5367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9" name="Connector 1188"/>
          <p:cNvCxnSpPr/>
          <p:nvPr/>
        </p:nvCxnSpPr>
        <p:spPr>
          <a:xfrm>
            <a:off x="10264140" y="5367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0" name="Connector 1189"/>
          <p:cNvCxnSpPr/>
          <p:nvPr/>
        </p:nvCxnSpPr>
        <p:spPr>
          <a:xfrm>
            <a:off x="10835640" y="5367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1" name="Connector 1190"/>
          <p:cNvCxnSpPr/>
          <p:nvPr/>
        </p:nvCxnSpPr>
        <p:spPr>
          <a:xfrm>
            <a:off x="9326828" y="5404104"/>
            <a:ext cx="595818" cy="0"/>
          </a:xfrm>
          <a:prstGeom prst="line">
            <a:avLst/>
          </a:prstGeom>
          <a:ln w="3810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2" name="Oval 1191"/>
          <p:cNvSpPr/>
          <p:nvPr/>
        </p:nvSpPr>
        <p:spPr>
          <a:xfrm>
            <a:off x="9568264" y="5353812"/>
            <a:ext cx="100584" cy="100584"/>
          </a:xfrm>
          <a:prstGeom prst="ellipse">
            <a:avLst/>
          </a:prstGeom>
          <a:solidFill>
            <a:srgbClr val="8A83D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93" name="Connector 1192"/>
          <p:cNvCxnSpPr/>
          <p:nvPr/>
        </p:nvCxnSpPr>
        <p:spPr>
          <a:xfrm>
            <a:off x="8549640" y="5596128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4" name="Connector 1193"/>
          <p:cNvCxnSpPr/>
          <p:nvPr/>
        </p:nvCxnSpPr>
        <p:spPr>
          <a:xfrm>
            <a:off x="8549640" y="5559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5" name="Connector 1194"/>
          <p:cNvCxnSpPr/>
          <p:nvPr/>
        </p:nvCxnSpPr>
        <p:spPr>
          <a:xfrm>
            <a:off x="9121140" y="5559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6" name="Connector 1195"/>
          <p:cNvCxnSpPr/>
          <p:nvPr/>
        </p:nvCxnSpPr>
        <p:spPr>
          <a:xfrm>
            <a:off x="9692639" y="5559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7" name="Connector 1196"/>
          <p:cNvCxnSpPr/>
          <p:nvPr/>
        </p:nvCxnSpPr>
        <p:spPr>
          <a:xfrm>
            <a:off x="10264140" y="5559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8" name="Connector 1197"/>
          <p:cNvCxnSpPr/>
          <p:nvPr/>
        </p:nvCxnSpPr>
        <p:spPr>
          <a:xfrm>
            <a:off x="10835640" y="5559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9" name="Connector 1198"/>
          <p:cNvCxnSpPr/>
          <p:nvPr/>
        </p:nvCxnSpPr>
        <p:spPr>
          <a:xfrm>
            <a:off x="9751125" y="5596128"/>
            <a:ext cx="501806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0" name="Oval 1199"/>
          <p:cNvSpPr/>
          <p:nvPr/>
        </p:nvSpPr>
        <p:spPr>
          <a:xfrm>
            <a:off x="9956145" y="5536692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1" name="TextBox 1200"/>
          <p:cNvSpPr txBox="1"/>
          <p:nvPr/>
        </p:nvSpPr>
        <p:spPr>
          <a:xfrm>
            <a:off x="11018520" y="530352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0.68</a:t>
            </a:r>
          </a:p>
        </p:txBody>
      </p:sp>
      <p:sp>
        <p:nvSpPr>
          <p:cNvPr id="1202" name="TextBox 1201"/>
          <p:cNvSpPr txBox="1"/>
          <p:nvPr/>
        </p:nvSpPr>
        <p:spPr>
          <a:xfrm>
            <a:off x="11018520" y="548640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0.78</a:t>
            </a:r>
          </a:p>
        </p:txBody>
      </p:sp>
      <p:cxnSp>
        <p:nvCxnSpPr>
          <p:cNvPr id="1203" name="Connector 1202"/>
          <p:cNvCxnSpPr/>
          <p:nvPr/>
        </p:nvCxnSpPr>
        <p:spPr>
          <a:xfrm>
            <a:off x="346075" y="5724144"/>
            <a:ext cx="11479860" cy="0"/>
          </a:xfrm>
          <a:prstGeom prst="line">
            <a:avLst/>
          </a:prstGeom>
          <a:ln w="6350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4" name="Rectangle 1203"/>
          <p:cNvSpPr/>
          <p:nvPr/>
        </p:nvSpPr>
        <p:spPr>
          <a:xfrm>
            <a:off x="346075" y="5870448"/>
            <a:ext cx="274320" cy="91440"/>
          </a:xfrm>
          <a:prstGeom prst="rect">
            <a:avLst/>
          </a:prstGeom>
          <a:solidFill>
            <a:srgbClr val="8A8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05" name="TextBox 1204"/>
          <p:cNvSpPr txBox="1"/>
          <p:nvPr/>
        </p:nvSpPr>
        <p:spPr>
          <a:xfrm>
            <a:off x="693547" y="5806440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было: только измерения, отступы по рисунку 6</a:t>
            </a:r>
          </a:p>
        </p:txBody>
      </p:sp>
      <p:sp>
        <p:nvSpPr>
          <p:cNvPr id="1206" name="Rectangle 1205"/>
          <p:cNvSpPr/>
          <p:nvPr/>
        </p:nvSpPr>
        <p:spPr>
          <a:xfrm>
            <a:off x="4572000" y="5870448"/>
            <a:ext cx="274320" cy="91440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07" name="TextBox 1206"/>
          <p:cNvSpPr txBox="1"/>
          <p:nvPr/>
        </p:nvSpPr>
        <p:spPr>
          <a:xfrm>
            <a:off x="4919472" y="580644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стало: + нейросеть, отступы как у эксперта</a:t>
            </a:r>
          </a:p>
        </p:txBody>
      </p:sp>
      <p:sp>
        <p:nvSpPr>
          <p:cNvPr id="1208" name="TextBox 1207"/>
          <p:cNvSpPr txBox="1"/>
          <p:nvPr/>
        </p:nvSpPr>
        <p:spPr>
          <a:xfrm>
            <a:off x="8321040" y="5806440"/>
            <a:ext cx="350215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macro-F1 0.40 → 0.50 · область 252/252</a:t>
            </a:r>
          </a:p>
        </p:txBody>
      </p:sp>
      <p:sp>
        <p:nvSpPr>
          <p:cNvPr id="1209" name="TextBox 1208"/>
          <p:cNvSpPr txBox="1"/>
          <p:nvPr/>
        </p:nvSpPr>
        <p:spPr>
          <a:xfrm>
            <a:off x="346075" y="6117336"/>
            <a:ext cx="114798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«найдено» — доля нарушений, которые сервис нашёл (чувствительность); «без ложных» — доля нормальных снимков, которые он не тревожил зря (специфичность); F1 — их баланс.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2935224" cy="620919"/>
          </a:xfrm>
          <a:prstGeom prst="roundRect">
            <a:avLst>
              <a:gd name="adj" fmla="val 187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ЭКСПЕРИМЕНТЫ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Нейросеть плюс измерение точнее каждого по отдельности: чем выше и левее кривая, тем лучше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pPr algn="r"/>
            <a:fld id="{52DCC5B9-D646-4B76-891F-6FF4E74E9CB4}" type="slidenum">
              <a:rPr lang="ru-RU" sz="1200">
                <a:solidFill>
                  <a:srgbClr val="520977"/>
                </a:solidFill>
                <a:latin typeface="Montserrat"/>
              </a:rPr>
              <a:t>15</a:t>
            </a:fld>
            <a:endParaRPr lang="ru-RU" sz="1200">
              <a:solidFill>
                <a:srgbClr val="520977"/>
              </a:solidFill>
              <a:latin typeface="Montserrat"/>
            </a:endParaRPr>
          </a:p>
        </p:txBody>
      </p:sp>
      <p:sp>
        <p:nvSpPr>
          <p:cNvPr id="903" name="TextBox 902"/>
          <p:cNvSpPr txBox="1"/>
          <p:nvPr/>
        </p:nvSpPr>
        <p:spPr>
          <a:xfrm>
            <a:off x="346075" y="1828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Ротация бедра · 36 из 150</a:t>
            </a:r>
          </a:p>
        </p:txBody>
      </p:sp>
      <p:graphicFrame>
        <p:nvGraphicFramePr>
          <p:cNvPr id="904" name="Chart 903"/>
          <p:cNvGraphicFramePr>
            <a:graphicFrameLocks noGrp="1"/>
          </p:cNvGraphicFramePr>
          <p:nvPr/>
        </p:nvGraphicFramePr>
        <p:xfrm>
          <a:off x="254635" y="2194560"/>
          <a:ext cx="324612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05" name="TextBox 904"/>
          <p:cNvSpPr txBox="1"/>
          <p:nvPr/>
        </p:nvSpPr>
        <p:spPr>
          <a:xfrm>
            <a:off x="3500755" y="2084832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ROC-AUC (1.0 — идеал):</a:t>
            </a:r>
          </a:p>
        </p:txBody>
      </p:sp>
      <p:sp>
        <p:nvSpPr>
          <p:cNvPr id="906" name="Rectangle 905"/>
          <p:cNvSpPr/>
          <p:nvPr/>
        </p:nvSpPr>
        <p:spPr>
          <a:xfrm>
            <a:off x="3500755" y="2423160"/>
            <a:ext cx="256032" cy="91440"/>
          </a:xfrm>
          <a:prstGeom prst="rect">
            <a:avLst/>
          </a:prstGeom>
          <a:solidFill>
            <a:srgbClr val="8A8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7" name="TextBox 906"/>
          <p:cNvSpPr txBox="1"/>
          <p:nvPr/>
        </p:nvSpPr>
        <p:spPr>
          <a:xfrm>
            <a:off x="3848227" y="2340864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выступ 0.68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3500755" y="2734056"/>
            <a:ext cx="256032" cy="91440"/>
          </a:xfrm>
          <a:prstGeom prst="rect">
            <a:avLst/>
          </a:prstGeom>
          <a:solidFill>
            <a:srgbClr val="FC3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9" name="TextBox 908"/>
          <p:cNvSpPr txBox="1"/>
          <p:nvPr/>
        </p:nvSpPr>
        <p:spPr>
          <a:xfrm>
            <a:off x="3848227" y="265176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нейросеть 0.80</a:t>
            </a:r>
          </a:p>
        </p:txBody>
      </p:sp>
      <p:sp>
        <p:nvSpPr>
          <p:cNvPr id="910" name="Rectangle 909"/>
          <p:cNvSpPr/>
          <p:nvPr/>
        </p:nvSpPr>
        <p:spPr>
          <a:xfrm>
            <a:off x="3500755" y="3044952"/>
            <a:ext cx="256032" cy="91440"/>
          </a:xfrm>
          <a:prstGeom prst="rect">
            <a:avLst/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1" name="TextBox 910"/>
          <p:cNvSpPr txBox="1"/>
          <p:nvPr/>
        </p:nvSpPr>
        <p:spPr>
          <a:xfrm>
            <a:off x="3848227" y="2962656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нейросеть + измерение 0.82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3500755" y="342900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что реально ставит сервис: правило объединения и порог настроены на других снимках, не на проверочных</a:t>
            </a:r>
          </a:p>
        </p:txBody>
      </p:sp>
      <p:graphicFrame>
        <p:nvGraphicFramePr>
          <p:cNvPr id="913" name="Table 912"/>
          <p:cNvGraphicFramePr>
            <a:graphicFrameLocks noGrp="1"/>
          </p:cNvGraphicFramePr>
          <p:nvPr/>
        </p:nvGraphicFramePr>
        <p:xfrm>
          <a:off x="3500755" y="4023360"/>
          <a:ext cx="2606040" cy="8229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НАШЛИ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БЕЗ ЛОЖНЫХ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F1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выступ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0.61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0.70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0.48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нейросеть + измерение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0.67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0.76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0.55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14" name="TextBox 913"/>
          <p:cNvSpPr txBox="1"/>
          <p:nvPr/>
        </p:nvSpPr>
        <p:spPr>
          <a:xfrm>
            <a:off x="346075" y="553212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по горизонтали — доля ложных тревог, по вертикали — доля найденных нарушений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6152515" y="1828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Посторонние предметы · 17 из 99</a:t>
            </a:r>
          </a:p>
        </p:txBody>
      </p:sp>
      <p:graphicFrame>
        <p:nvGraphicFramePr>
          <p:cNvPr id="916" name="Chart 915"/>
          <p:cNvGraphicFramePr>
            <a:graphicFrameLocks noGrp="1"/>
          </p:cNvGraphicFramePr>
          <p:nvPr/>
        </p:nvGraphicFramePr>
        <p:xfrm>
          <a:off x="6061075" y="2194560"/>
          <a:ext cx="324612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17" name="TextBox 916"/>
          <p:cNvSpPr txBox="1"/>
          <p:nvPr/>
        </p:nvSpPr>
        <p:spPr>
          <a:xfrm>
            <a:off x="9307195" y="2084832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ROC-AUC (1.0 — идеал):</a:t>
            </a:r>
          </a:p>
        </p:txBody>
      </p:sp>
      <p:sp>
        <p:nvSpPr>
          <p:cNvPr id="918" name="Rectangle 917"/>
          <p:cNvSpPr/>
          <p:nvPr/>
        </p:nvSpPr>
        <p:spPr>
          <a:xfrm>
            <a:off x="9307195" y="2423160"/>
            <a:ext cx="256032" cy="91440"/>
          </a:xfrm>
          <a:prstGeom prst="rect">
            <a:avLst/>
          </a:prstGeom>
          <a:solidFill>
            <a:srgbClr val="8A8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9" name="TextBox 918"/>
          <p:cNvSpPr txBox="1"/>
          <p:nvPr/>
        </p:nvSpPr>
        <p:spPr>
          <a:xfrm>
            <a:off x="9654667" y="2340864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top-hat 0.79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9307195" y="2734056"/>
            <a:ext cx="256032" cy="91440"/>
          </a:xfrm>
          <a:prstGeom prst="rect">
            <a:avLst/>
          </a:prstGeom>
          <a:solidFill>
            <a:srgbClr val="FC3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1" name="TextBox 920"/>
          <p:cNvSpPr txBox="1"/>
          <p:nvPr/>
        </p:nvSpPr>
        <p:spPr>
          <a:xfrm>
            <a:off x="9654667" y="265176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нейросеть 0.83</a:t>
            </a:r>
          </a:p>
        </p:txBody>
      </p:sp>
      <p:sp>
        <p:nvSpPr>
          <p:cNvPr id="922" name="Rectangle 921"/>
          <p:cNvSpPr/>
          <p:nvPr/>
        </p:nvSpPr>
        <p:spPr>
          <a:xfrm>
            <a:off x="9307195" y="3044952"/>
            <a:ext cx="256032" cy="91440"/>
          </a:xfrm>
          <a:prstGeom prst="rect">
            <a:avLst/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3" name="TextBox 922"/>
          <p:cNvSpPr txBox="1"/>
          <p:nvPr/>
        </p:nvSpPr>
        <p:spPr>
          <a:xfrm>
            <a:off x="9654667" y="2962656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нейросеть + измерение 0.85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9307195" y="342900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что реально ставит сервис: правило объединения и порог настроены на других снимках, не на проверочных</a:t>
            </a:r>
          </a:p>
        </p:txBody>
      </p:sp>
      <p:graphicFrame>
        <p:nvGraphicFramePr>
          <p:cNvPr id="925" name="Table 924"/>
          <p:cNvGraphicFramePr>
            <a:graphicFrameLocks noGrp="1"/>
          </p:cNvGraphicFramePr>
          <p:nvPr/>
        </p:nvGraphicFramePr>
        <p:xfrm>
          <a:off x="9307195" y="4023360"/>
          <a:ext cx="2606040" cy="8229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НАШЛИ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БЕЗ ЛОЖНЫХ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F1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top-hat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0.53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0.94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0.58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нейросеть + измерение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0.65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0.93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0.65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26" name="TextBox 925"/>
          <p:cNvSpPr txBox="1"/>
          <p:nvPr/>
        </p:nvSpPr>
        <p:spPr>
          <a:xfrm>
            <a:off x="6152515" y="553212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по горизонтали — доля ложных тревог, по вертикали — доля найденных нарушений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4247388" cy="620919"/>
          </a:xfrm>
          <a:prstGeom prst="roundRect">
            <a:avLst>
              <a:gd name="adj" fmla="val 187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СРАВНЕНИЕ ВАРИАНТОВ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Что проверили и что в итоге оставили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pPr algn="r"/>
            <a:fld id="{52DCC5B9-D646-4B76-891F-6FF4E74E9CB4}" type="slidenum">
              <a:rPr lang="ru-RU" sz="1200">
                <a:solidFill>
                  <a:srgbClr val="520977"/>
                </a:solidFill>
                <a:latin typeface="Montserrat"/>
              </a:rPr>
              <a:t>16</a:t>
            </a:fld>
            <a:endParaRPr lang="ru-RU" sz="1200">
              <a:solidFill>
                <a:srgbClr val="520977"/>
              </a:solidFill>
              <a:latin typeface="Montserrat"/>
            </a:endParaRPr>
          </a:p>
        </p:txBody>
      </p:sp>
      <p:sp>
        <p:nvSpPr>
          <p:cNvPr id="903" name="TextBox 902"/>
          <p:cNvSpPr txBox="1"/>
          <p:nvPr/>
        </p:nvSpPr>
        <p:spPr>
          <a:xfrm>
            <a:off x="346075" y="1828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Два способа найти ось: контур и опорные точки</a:t>
            </a:r>
          </a:p>
        </p:txBody>
      </p:sp>
      <p:graphicFrame>
        <p:nvGraphicFramePr>
          <p:cNvPr id="904" name="Table 903"/>
          <p:cNvGraphicFramePr>
            <a:graphicFrameLocks noGrp="1"/>
          </p:cNvGraphicFramePr>
          <p:nvPr/>
        </p:nvGraphicFramePr>
        <p:xfrm>
          <a:off x="346075" y="2212848"/>
          <a:ext cx="5486399" cy="153619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НА СНИМКАХ, КОТОРЫХ МОДЕЛЬ НЕ ВИДЕЛА (ЧАСТИ 1–2)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КОНТУР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ОПОРНЫЕ ТОЧКИ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ось: F1 / ROC-AUC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0.33 / 0.76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0.50 / 0.79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средний F1 по типам нарушений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0.541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0.571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время на снимок (без видеокарты)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28 мс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347 мс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05" name="TextBox 904"/>
          <p:cNvSpPr txBox="1"/>
          <p:nvPr/>
        </p:nvSpPr>
        <p:spPr>
          <a:xfrm>
            <a:off x="346075" y="384048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На этих снимках всего 4 нарушения оси — сравнение неточное. Модель опорных точек обучена пока на двух частях из пяти и в 12 раз медленнее, поэтому по умолчанию выключена.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6172200" y="1828800"/>
            <a:ext cx="565099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Как объединять две оценки укладки</a:t>
            </a:r>
          </a:p>
        </p:txBody>
      </p:sp>
      <p:graphicFrame>
        <p:nvGraphicFramePr>
          <p:cNvPr id="907" name="Table 906"/>
          <p:cNvGraphicFramePr>
            <a:graphicFrameLocks noGrp="1"/>
          </p:cNvGraphicFramePr>
          <p:nvPr/>
        </p:nvGraphicFramePr>
        <p:xfrm>
          <a:off x="6172200" y="2212848"/>
          <a:ext cx="5650990" cy="16459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73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2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НА СНИМКАХ, КОТОРЫХ МОДЕЛЬ НЕ ВИДЕЛА; 6 НАРУШЕНИЙ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НАЙДЕНО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ЛИШНИХ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F1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измерение (выбрано)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solidFill>
                      <a:srgbClr val="FFD6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4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solidFill>
                      <a:srgbClr val="FFD6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15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solidFill>
                      <a:srgbClr val="FFD6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0.32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solidFill>
                      <a:srgbClr val="FFD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оценка по виду снимка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2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1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0.44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обе оценки согласны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1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0.29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любая из двух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16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0.37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08" name="TextBox 907"/>
          <p:cNvSpPr txBox="1"/>
          <p:nvPr/>
        </p:nvSpPr>
        <p:spPr>
          <a:xfrm>
            <a:off x="6172200" y="3977640"/>
            <a:ext cx="5650992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На обучающих снимках лучшим выглядело правило «обе оценки согласны» (F1 0.73), но на новых снимках оно находит лишь одно нарушение из шести — поэтому оставили измерение.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346075" y="4709160"/>
            <a:ext cx="114798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Нейросеть для ротации бедра: какие варианты перебрали (ROC-AUC на снимках, которых модель не видела)</a:t>
            </a:r>
          </a:p>
        </p:txBody>
      </p:sp>
      <p:graphicFrame>
        <p:nvGraphicFramePr>
          <p:cNvPr id="910" name="Table 909"/>
          <p:cNvGraphicFramePr>
            <a:graphicFrameLocks noGrp="1"/>
          </p:cNvGraphicFramePr>
          <p:nvPr/>
        </p:nvGraphicFramePr>
        <p:xfrm>
          <a:off x="346075" y="5093208"/>
          <a:ext cx="11479860" cy="7680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39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9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9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9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9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99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RESNET-18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EFFICIENTNET-B0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RESNET-34, СНИМОК 256 PX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RESNET-34, ОДНА НЕЙРОСЕТЬ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ПЕРЕУЧЕНА С МОДЕЛИ ТОЧЕК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RESNET-34, ТРИ НЕЙРОСЕТИ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+ ИЗМЕРЕНИЕ ВЫСТУПА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0.76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0.73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0.77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0.77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0.79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0.80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00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0.82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3122676" cy="620919"/>
          </a:xfrm>
          <a:prstGeom prst="roundRect">
            <a:avLst>
              <a:gd name="adj" fmla="val 187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АНАЛИЗ ОШИБОК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Разбор ошибок показал, как оценивает эксперт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pPr algn="r"/>
            <a:fld id="{52DCC5B9-D646-4B76-891F-6FF4E74E9CB4}" type="slidenum">
              <a:rPr lang="ru-RU" sz="1200">
                <a:solidFill>
                  <a:srgbClr val="FFFFFF"/>
                </a:solidFill>
                <a:latin typeface="Montserrat"/>
              </a:rPr>
              <a:t>17</a:t>
            </a:fld>
            <a:endParaRPr lang="ru-RU" sz="120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903" name="Rounded Rectangle 902"/>
          <p:cNvSpPr/>
          <p:nvPr/>
        </p:nvSpPr>
        <p:spPr>
          <a:xfrm>
            <a:off x="346075" y="1828800"/>
            <a:ext cx="5715000" cy="4343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540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4" name="TextBox 903"/>
          <p:cNvSpPr txBox="1"/>
          <p:nvPr/>
        </p:nvSpPr>
        <p:spPr>
          <a:xfrm>
            <a:off x="620395" y="2029968"/>
            <a:ext cx="521208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ОТСТУПЫ ОБЛАСТИ ИЗМЕРЕНИЯ · ЧТО ДЕЛАЕТ ЭКСПЕРТ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620395" y="22860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Эксперт смотрит на длину поля</a:t>
            </a:r>
          </a:p>
        </p:txBody>
      </p:sp>
      <p:graphicFrame>
        <p:nvGraphicFramePr>
          <p:cNvPr id="906" name="Table 905"/>
          <p:cNvGraphicFramePr>
            <a:graphicFrameLocks noGrp="1"/>
          </p:cNvGraphicFramePr>
          <p:nvPr/>
        </p:nvGraphicFramePr>
        <p:xfrm>
          <a:off x="620395" y="2788920"/>
          <a:ext cx="5166358" cy="12070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ПРАВИЛО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НАШЛИ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ЛИШНИХ ТРЕВОГ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F1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AUC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отступы по схеме из ТЗ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4/7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12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0.35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0.89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длина поля ≥ 12.9 см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solidFill>
                      <a:srgbClr val="FFD6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5/7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solidFill>
                      <a:srgbClr val="FFD6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2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solidFill>
                      <a:srgbClr val="FFD6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0.71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solidFill>
                      <a:srgbClr val="FFD6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0.94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solidFill>
                      <a:srgbClr val="FFD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07" name="TextBox 906"/>
          <p:cNvSpPr txBox="1"/>
          <p:nvPr/>
        </p:nvSpPr>
        <p:spPr>
          <a:xfrm>
            <a:off x="620395" y="4114800"/>
            <a:ext cx="5166360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Эксперт ставит «норму», даже когда под седалищной костью остаётся 1.7–3.0 см вместо трёх, и «нарушение» на коротких полях. Порог 12.9 см мы не подгоняли под его ответы: 3 см взяты из ТЗ, 6.9 см — типичное расстояние от вертела до седалищной кости. Отступы по схеме из ТЗ сервис тоже считает и показывает; если эталонная разметка сделана строго по схеме, режим меняется одной настройкой. F1 и AUC — доля верных ответов, чем ближе к 1, тем лучше.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6263640" y="1828800"/>
            <a:ext cx="555955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9" name="TextBox 908"/>
          <p:cNvSpPr txBox="1"/>
          <p:nvPr/>
        </p:nvSpPr>
        <p:spPr>
          <a:xfrm>
            <a:off x="6483096" y="2011680"/>
            <a:ext cx="5120640" cy="213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Ось: сколиоз — не нарушение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6483096" y="2316480"/>
            <a:ext cx="5120640" cy="1066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При сколиозе эксперт не ставит нарушение оси ни в одном из 14 случаев, даже при угле до 8.8°. Это главный источник наших лишних срабатываний: по поясничному отделу сколиоз не отличить от наклона пациента (нейросеть здесь угадывает как монетка — ROC-AUC 0.51).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6263640" y="3639312"/>
            <a:ext cx="555955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2" name="TextBox 911"/>
          <p:cNvSpPr txBox="1"/>
          <p:nvPr/>
        </p:nvSpPr>
        <p:spPr>
          <a:xfrm>
            <a:off x="6483096" y="3822192"/>
            <a:ext cx="5120640" cy="213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Ротация: нейросеть и измерение расходятся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6483096" y="4126992"/>
            <a:ext cx="5120640" cy="563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Разошлись на 41 снимке из 150, и в каждом спорном случае прав ровно один: объединённый вердикт — в 25, одно измерение — в 16. Такие снимки помечены «проверьте глазами».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6263640" y="4965192"/>
            <a:ext cx="555955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5" name="TextBox 914"/>
          <p:cNvSpPr txBox="1"/>
          <p:nvPr/>
        </p:nvSpPr>
        <p:spPr>
          <a:xfrm>
            <a:off x="6483096" y="5148072"/>
            <a:ext cx="5120640" cy="213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Укладка: в данных лишь 6 нарушений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6483096" y="5452872"/>
            <a:ext cx="5120640" cy="563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ROC-AUC 0.82, но граница «норма / нарушение», подобранная по одному-двум примерам, неустойчива: F1 на новых снимках 0.32.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1623060" cy="620919"/>
          </a:xfrm>
          <a:prstGeom prst="roundRect">
            <a:avLst>
              <a:gd name="adj" fmla="val 187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КЕЙСЫ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Четыре снимка, где сервис и эксперт сошлись: каждое замечание видно на снимке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pPr algn="r"/>
            <a:fld id="{52DCC5B9-D646-4B76-891F-6FF4E74E9CB4}" type="slidenum">
              <a:rPr lang="ru-RU" sz="1200">
                <a:solidFill>
                  <a:srgbClr val="FFFFFF"/>
                </a:solidFill>
                <a:latin typeface="Montserrat"/>
              </a:rPr>
              <a:t>18</a:t>
            </a:fld>
            <a:endParaRPr lang="ru-RU" sz="120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903" name="Rounded Rectangle 902"/>
          <p:cNvSpPr/>
          <p:nvPr/>
        </p:nvSpPr>
        <p:spPr>
          <a:xfrm>
            <a:off x="346075" y="1828800"/>
            <a:ext cx="2753379" cy="4160520"/>
          </a:xfrm>
          <a:prstGeom prst="roundRect">
            <a:avLst>
              <a:gd name="adj" fmla="val 4000"/>
            </a:avLst>
          </a:prstGeom>
          <a:solidFill>
            <a:srgbClr val="120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04" name="Picture 903" descr="ax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75" y="2134318"/>
            <a:ext cx="2753379" cy="2909403"/>
          </a:xfrm>
          <a:prstGeom prst="rect">
            <a:avLst/>
          </a:prstGeom>
        </p:spPr>
      </p:pic>
      <p:sp>
        <p:nvSpPr>
          <p:cNvPr id="905" name="TextBox 904"/>
          <p:cNvSpPr txBox="1"/>
          <p:nvPr/>
        </p:nvSpPr>
        <p:spPr>
          <a:xfrm>
            <a:off x="492379" y="5413248"/>
            <a:ext cx="2460771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D9D2E6"/>
                </a:solidFill>
                <a:latin typeface="Montserrat"/>
                <a:ea typeface="Montserrat"/>
                <a:cs typeface="Montserrat"/>
              </a:rPr>
              <a:t>ось позвоночника отклонена на 8.7° при норме до 5°
проверка spine_axis</a:t>
            </a:r>
          </a:p>
        </p:txBody>
      </p:sp>
      <p:sp>
        <p:nvSpPr>
          <p:cNvPr id="906" name="Rounded Rectangle 905"/>
          <p:cNvSpPr/>
          <p:nvPr/>
        </p:nvSpPr>
        <p:spPr>
          <a:xfrm>
            <a:off x="3254902" y="1828800"/>
            <a:ext cx="2753379" cy="4160520"/>
          </a:xfrm>
          <a:prstGeom prst="roundRect">
            <a:avLst>
              <a:gd name="adj" fmla="val 4000"/>
            </a:avLst>
          </a:prstGeom>
          <a:solidFill>
            <a:srgbClr val="120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07" name="Picture 906" descr="artifac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4902" y="2143496"/>
            <a:ext cx="2753379" cy="2891047"/>
          </a:xfrm>
          <a:prstGeom prst="rect">
            <a:avLst/>
          </a:prstGeom>
        </p:spPr>
      </p:pic>
      <p:sp>
        <p:nvSpPr>
          <p:cNvPr id="908" name="TextBox 907"/>
          <p:cNvSpPr txBox="1"/>
          <p:nvPr/>
        </p:nvSpPr>
        <p:spPr>
          <a:xfrm>
            <a:off x="3401206" y="5413248"/>
            <a:ext cx="2460771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D9D2E6"/>
                </a:solidFill>
                <a:latin typeface="Montserrat"/>
                <a:ea typeface="Montserrat"/>
                <a:cs typeface="Montserrat"/>
              </a:rPr>
              <a:t>посторонний предмет; нейросеть уверена на 100 %
проверка spine_artifacts</a:t>
            </a:r>
          </a:p>
        </p:txBody>
      </p:sp>
      <p:sp>
        <p:nvSpPr>
          <p:cNvPr id="909" name="Rounded Rectangle 908"/>
          <p:cNvSpPr/>
          <p:nvPr/>
        </p:nvSpPr>
        <p:spPr>
          <a:xfrm>
            <a:off x="6163729" y="1828800"/>
            <a:ext cx="2753379" cy="4160520"/>
          </a:xfrm>
          <a:prstGeom prst="roundRect">
            <a:avLst>
              <a:gd name="adj" fmla="val 4000"/>
            </a:avLst>
          </a:prstGeom>
          <a:solidFill>
            <a:srgbClr val="120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10" name="Picture 909" descr="rot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3729" y="2433584"/>
            <a:ext cx="2753379" cy="2310871"/>
          </a:xfrm>
          <a:prstGeom prst="rect">
            <a:avLst/>
          </a:prstGeom>
        </p:spPr>
      </p:pic>
      <p:sp>
        <p:nvSpPr>
          <p:cNvPr id="911" name="TextBox 910"/>
          <p:cNvSpPr txBox="1"/>
          <p:nvPr/>
        </p:nvSpPr>
        <p:spPr>
          <a:xfrm>
            <a:off x="6310033" y="5413248"/>
            <a:ext cx="2460771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D9D2E6"/>
                </a:solidFill>
                <a:latin typeface="Montserrat"/>
                <a:ea typeface="Montserrat"/>
                <a:cs typeface="Montserrat"/>
              </a:rPr>
              <a:t>малый вертел 12 мм² при норме 96–272 → бедро повёрнуто
проверка hip_rotation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9072556" y="1828800"/>
            <a:ext cx="2753379" cy="4160520"/>
          </a:xfrm>
          <a:prstGeom prst="roundRect">
            <a:avLst>
              <a:gd name="adj" fmla="val 4000"/>
            </a:avLst>
          </a:prstGeom>
          <a:solidFill>
            <a:srgbClr val="120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13" name="Picture 912" descr="ro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2556" y="2576170"/>
            <a:ext cx="2753379" cy="2025700"/>
          </a:xfrm>
          <a:prstGeom prst="rect">
            <a:avLst/>
          </a:prstGeom>
        </p:spPr>
      </p:pic>
      <p:sp>
        <p:nvSpPr>
          <p:cNvPr id="914" name="TextBox 913"/>
          <p:cNvSpPr txBox="1"/>
          <p:nvPr/>
        </p:nvSpPr>
        <p:spPr>
          <a:xfrm>
            <a:off x="9218860" y="5413248"/>
            <a:ext cx="2460771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D9D2E6"/>
                </a:solidFill>
                <a:latin typeface="Montserrat"/>
                <a:ea typeface="Montserrat"/>
                <a:cs typeface="Montserrat"/>
              </a:rPr>
              <a:t>поле сканирования 12.5 см, нужно не меньше 12.9
проверка hip_roi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346075" y="6080760"/>
            <a:ext cx="114798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Снимки из обучающего набора, но оценку давали модели, которые именно этот снимок не видели. Оранжевым — куда смотрела нейросеть, голубым — найденные ориентиры, зелёным и красным — допустимые границы.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4622292" cy="620919"/>
          </a:xfrm>
          <a:prstGeom prst="roundRect">
            <a:avLst>
              <a:gd name="adj" fmla="val 187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СКОРОСТЬ И ТРЕБОВАНИЯ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Секунды на исследование на обычном процессоре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pPr algn="r"/>
            <a:fld id="{52DCC5B9-D646-4B76-891F-6FF4E74E9CB4}" type="slidenum">
              <a:rPr lang="ru-RU" sz="1200">
                <a:solidFill>
                  <a:srgbClr val="520977"/>
                </a:solidFill>
                <a:latin typeface="Montserrat"/>
              </a:rPr>
              <a:t>19</a:t>
            </a:fld>
            <a:endParaRPr lang="ru-RU" sz="1200">
              <a:solidFill>
                <a:srgbClr val="520977"/>
              </a:solidFill>
              <a:latin typeface="Montserrat"/>
            </a:endParaRPr>
          </a:p>
        </p:txBody>
      </p:sp>
      <p:sp>
        <p:nvSpPr>
          <p:cNvPr id="903" name="TextBox 902"/>
          <p:cNvSpPr txBox="1"/>
          <p:nvPr/>
        </p:nvSpPr>
        <p:spPr>
          <a:xfrm>
            <a:off x="346075" y="1828800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1.6</a:t>
            </a:r>
            <a:r>
              <a:rPr sz="162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 с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346075" y="237744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типичное время на исследование
(максимум 2.3 с)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3043555" y="1828800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180</a:t>
            </a:r>
            <a:r>
              <a:rPr sz="162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 с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3043555" y="237744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лимит по п. 2.7 ТЗ
на исследование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346075" y="3154680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444</a:t>
            </a:r>
            <a:r>
              <a:rPr sz="162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 мс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346075" y="370332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типичное время на снимок,
одно ядро процессора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3043555" y="3154680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2.4</a:t>
            </a:r>
            <a:r>
              <a:rPr sz="162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 мин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3043555" y="370332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все 100 исследований
подряд, без параллелизма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346075" y="4617720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САМОЕ ДОЛГОЕ ИССЛЕДОВАНИЕ И ЛИМИТ ТЗ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346075" y="4919472"/>
            <a:ext cx="5120640" cy="292608"/>
          </a:xfrm>
          <a:prstGeom prst="roundRect">
            <a:avLst>
              <a:gd name="adj" fmla="val 3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3" name="Rounded Rectangle 912"/>
          <p:cNvSpPr/>
          <p:nvPr/>
        </p:nvSpPr>
        <p:spPr>
          <a:xfrm>
            <a:off x="346075" y="4919472"/>
            <a:ext cx="109728" cy="292608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4" name="TextBox 913"/>
          <p:cNvSpPr txBox="1"/>
          <p:nvPr/>
        </p:nvSpPr>
        <p:spPr>
          <a:xfrm>
            <a:off x="574675" y="4965192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2.3 с — это 1.3 % от лимита в 180 с (розовая полоска слева)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346075" y="5394960"/>
            <a:ext cx="530352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В контейнере (Linux) 100 исследований вместе со снимками с разметкой и заключениями SR — 158 с. Одни измерения без нейросети — около 27 мс на снимок.</a:t>
            </a:r>
          </a:p>
        </p:txBody>
      </p:sp>
      <p:graphicFrame>
        <p:nvGraphicFramePr>
          <p:cNvPr id="916" name="Table 915"/>
          <p:cNvGraphicFramePr>
            <a:graphicFrameLocks noGrp="1"/>
          </p:cNvGraphicFramePr>
          <p:nvPr/>
        </p:nvGraphicFramePr>
        <p:xfrm>
          <a:off x="6217920" y="1828800"/>
          <a:ext cx="5605270" cy="24688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02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7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5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МИНИМУМ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РЕКОМЕНДУЕТСЯ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процессор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2 ядра обычного ПК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4 ядра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память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2 ГБ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4 ГБ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диск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2 ГБ (образ 1.4 ГБ)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5 ГБ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видеокарта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не нужна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не нужна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ПО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Docker или Windows 10/11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Linux-сервер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7" name="Rounded Rectangle 916"/>
          <p:cNvSpPr/>
          <p:nvPr/>
        </p:nvSpPr>
        <p:spPr>
          <a:xfrm>
            <a:off x="6217920" y="4526280"/>
            <a:ext cx="5605272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8" name="TextBox 917"/>
          <p:cNvSpPr txBox="1"/>
          <p:nvPr/>
        </p:nvSpPr>
        <p:spPr>
          <a:xfrm>
            <a:off x="6437376" y="4709160"/>
            <a:ext cx="5166360" cy="213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Воспроизводимость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6437376" y="5013960"/>
            <a:ext cx="5166360" cy="929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Повторный прогон на тех же данных даёт в точности тот же отчёт: фиксированный порядок обработки, модели на диске, вычисления без параллелизма. Контейнер, приложение для Windows и запуск из кода дают одинаковый результат на всех 252 снимках.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2560320" cy="620919"/>
          </a:xfrm>
          <a:prstGeom prst="roundRect">
            <a:avLst>
              <a:gd name="adj" fmla="val 187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ИНТЕРФЕЙСЫ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Четыре входа в один конвейер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pPr algn="r"/>
            <a:fld id="{52DCC5B9-D646-4B76-891F-6FF4E74E9CB4}" type="slidenum">
              <a:rPr lang="ru-RU" sz="1200">
                <a:solidFill>
                  <a:srgbClr val="520977"/>
                </a:solidFill>
                <a:latin typeface="Montserrat"/>
              </a:rPr>
              <a:t>20</a:t>
            </a:fld>
            <a:endParaRPr lang="ru-RU" sz="1200">
              <a:solidFill>
                <a:srgbClr val="520977"/>
              </a:solidFill>
              <a:latin typeface="Montserrat"/>
            </a:endParaRPr>
          </a:p>
        </p:txBody>
      </p:sp>
      <p:sp>
        <p:nvSpPr>
          <p:cNvPr id="903" name="Rounded Rectangle 902"/>
          <p:cNvSpPr/>
          <p:nvPr/>
        </p:nvSpPr>
        <p:spPr>
          <a:xfrm>
            <a:off x="346075" y="1828800"/>
            <a:ext cx="6446520" cy="4251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4" name="Oval 903"/>
          <p:cNvSpPr/>
          <p:nvPr/>
        </p:nvSpPr>
        <p:spPr>
          <a:xfrm>
            <a:off x="519811" y="1956816"/>
            <a:ext cx="109728" cy="109728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" name="Oval 904"/>
          <p:cNvSpPr/>
          <p:nvPr/>
        </p:nvSpPr>
        <p:spPr>
          <a:xfrm>
            <a:off x="702691" y="1956816"/>
            <a:ext cx="109728" cy="109728"/>
          </a:xfrm>
          <a:prstGeom prst="ellipse">
            <a:avLst/>
          </a:prstGeom>
          <a:solidFill>
            <a:srgbClr val="8A8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" name="Oval 905"/>
          <p:cNvSpPr/>
          <p:nvPr/>
        </p:nvSpPr>
        <p:spPr>
          <a:xfrm>
            <a:off x="885571" y="1956816"/>
            <a:ext cx="109728" cy="109728"/>
          </a:xfrm>
          <a:prstGeom prst="ellipse">
            <a:avLst/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" name="Rounded Rectangle 906"/>
          <p:cNvSpPr/>
          <p:nvPr/>
        </p:nvSpPr>
        <p:spPr>
          <a:xfrm>
            <a:off x="1260475" y="1920240"/>
            <a:ext cx="5349240" cy="201168"/>
          </a:xfrm>
          <a:prstGeom prst="roundRect">
            <a:avLst>
              <a:gd name="adj" fmla="val 5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8" name="TextBox 907"/>
          <p:cNvSpPr txBox="1"/>
          <p:nvPr/>
        </p:nvSpPr>
        <p:spPr>
          <a:xfrm>
            <a:off x="1397635" y="192938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localhost:8000 — веб-приложение и окно для Windows</a:t>
            </a:r>
          </a:p>
        </p:txBody>
      </p:sp>
      <p:pic>
        <p:nvPicPr>
          <p:cNvPr id="909" name="Picture 908" descr="ui_rot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227" y="2259540"/>
            <a:ext cx="6300216" cy="3701376"/>
          </a:xfrm>
          <a:prstGeom prst="rect">
            <a:avLst/>
          </a:prstGeom>
        </p:spPr>
      </p:pic>
      <p:sp>
        <p:nvSpPr>
          <p:cNvPr id="910" name="Rounded Rectangle 909"/>
          <p:cNvSpPr/>
          <p:nvPr/>
        </p:nvSpPr>
        <p:spPr>
          <a:xfrm>
            <a:off x="6995160" y="1828800"/>
            <a:ext cx="2148840" cy="4251960"/>
          </a:xfrm>
          <a:prstGeom prst="roundRect">
            <a:avLst>
              <a:gd name="adj" fmla="val 12000"/>
            </a:avLst>
          </a:prstGeom>
          <a:solidFill>
            <a:srgbClr val="2D1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11" name="Picture 910" descr="bot_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9460" y="2103120"/>
            <a:ext cx="1920240" cy="3840480"/>
          </a:xfrm>
          <a:prstGeom prst="rect">
            <a:avLst/>
          </a:prstGeom>
        </p:spPr>
      </p:pic>
      <p:sp>
        <p:nvSpPr>
          <p:cNvPr id="912" name="Rounded Rectangle 911"/>
          <p:cNvSpPr/>
          <p:nvPr/>
        </p:nvSpPr>
        <p:spPr>
          <a:xfrm>
            <a:off x="7749540" y="1920240"/>
            <a:ext cx="640080" cy="91440"/>
          </a:xfrm>
          <a:prstGeom prst="roundRect">
            <a:avLst>
              <a:gd name="adj" fmla="val 50000"/>
            </a:avLst>
          </a:prstGeom>
          <a:solidFill>
            <a:srgbClr val="1C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3" name="Rounded Rectangle 912"/>
          <p:cNvSpPr/>
          <p:nvPr/>
        </p:nvSpPr>
        <p:spPr>
          <a:xfrm>
            <a:off x="9326880" y="1828800"/>
            <a:ext cx="2496312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4" name="TextBox 913"/>
          <p:cNvSpPr txBox="1"/>
          <p:nvPr/>
        </p:nvSpPr>
        <p:spPr>
          <a:xfrm>
            <a:off x="9546336" y="2011680"/>
            <a:ext cx="2057400" cy="1752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Веб-приложение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9546336" y="2278380"/>
            <a:ext cx="2057400" cy="4373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Загружаете папку или zip — получаете снимки с разметкой. Можно установить из браузера как приложение.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9326880" y="2907792"/>
            <a:ext cx="2496312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7" name="TextBox 916"/>
          <p:cNvSpPr txBox="1"/>
          <p:nvPr/>
        </p:nvSpPr>
        <p:spPr>
          <a:xfrm>
            <a:off x="9546336" y="3090672"/>
            <a:ext cx="2057400" cy="1752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Для Windows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9546336" y="3357372"/>
            <a:ext cx="2057400" cy="4373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Работает полностью локально: снимки не покидают компьютер. Обновляется установкой новой версии.</a:t>
            </a:r>
          </a:p>
        </p:txBody>
      </p:sp>
      <p:sp>
        <p:nvSpPr>
          <p:cNvPr id="919" name="Rounded Rectangle 918"/>
          <p:cNvSpPr/>
          <p:nvPr/>
        </p:nvSpPr>
        <p:spPr>
          <a:xfrm>
            <a:off x="9326880" y="3986784"/>
            <a:ext cx="2496312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0" name="TextBox 919"/>
          <p:cNvSpPr txBox="1"/>
          <p:nvPr/>
        </p:nvSpPr>
        <p:spPr>
          <a:xfrm>
            <a:off x="9546336" y="4169664"/>
            <a:ext cx="2057400" cy="1752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Бонус: Telegram-бот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9546336" y="4436364"/>
            <a:ext cx="2057400" cy="4373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Необязательное дополнение: тот же анализ в чате. Сервис легко встроить в другие системы. Только обезличенные снимки.</a:t>
            </a:r>
          </a:p>
        </p:txBody>
      </p:sp>
      <p:sp>
        <p:nvSpPr>
          <p:cNvPr id="922" name="Rounded Rectangle 921"/>
          <p:cNvSpPr/>
          <p:nvPr/>
        </p:nvSpPr>
        <p:spPr>
          <a:xfrm>
            <a:off x="9326880" y="5065776"/>
            <a:ext cx="2496312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3" name="TextBox 922"/>
          <p:cNvSpPr txBox="1"/>
          <p:nvPr/>
        </p:nvSpPr>
        <p:spPr>
          <a:xfrm>
            <a:off x="9546336" y="5248656"/>
            <a:ext cx="2057400" cy="1752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Интеграция: API и PACS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9546336" y="5515356"/>
            <a:ext cx="2057400" cy="4373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Внешняя система присылает снимки — получает отчёт; заключение записывается в то же исследование в архиве.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5934455" cy="620919"/>
          </a:xfrm>
          <a:prstGeom prst="roundRect">
            <a:avLst>
              <a:gd name="adj" fmla="val 187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ЦЕННОСТЬ ДЛЯ ЗДРАВООХРАНЕНИЯ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Качество исследования — в момент съёмки, а не на повторе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pPr algn="r"/>
            <a:fld id="{52DCC5B9-D646-4B76-891F-6FF4E74E9CB4}" type="slidenum">
              <a:rPr lang="ru-RU" sz="1200">
                <a:solidFill>
                  <a:srgbClr val="FFFFFF"/>
                </a:solidFill>
                <a:latin typeface="Montserrat"/>
              </a:rPr>
              <a:t>21</a:t>
            </a:fld>
            <a:endParaRPr lang="ru-RU" sz="120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903" name="Rounded Rectangle 902"/>
          <p:cNvSpPr/>
          <p:nvPr/>
        </p:nvSpPr>
        <p:spPr>
          <a:xfrm>
            <a:off x="346075" y="1828800"/>
            <a:ext cx="3749039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4" name="TextBox 903"/>
          <p:cNvSpPr txBox="1"/>
          <p:nvPr/>
        </p:nvSpPr>
        <p:spPr>
          <a:xfrm>
            <a:off x="565531" y="2011680"/>
            <a:ext cx="3310127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ЛАБОРАНТ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565531" y="2286000"/>
            <a:ext cx="3310127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Подсказка у аппарата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565531" y="2606040"/>
            <a:ext cx="3310127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Через 1.6 с после съёмки — замечание с измеренным значением и нормой: укладку исправляют, пока пациент на аппарате.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4213987" y="1828800"/>
            <a:ext cx="3749039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8" name="TextBox 907"/>
          <p:cNvSpPr txBox="1"/>
          <p:nvPr/>
        </p:nvSpPr>
        <p:spPr>
          <a:xfrm>
            <a:off x="4433443" y="2011680"/>
            <a:ext cx="3310127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ВРАЧ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4433443" y="2286000"/>
            <a:ext cx="3310127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Снимок, пригодный для заключения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4433443" y="2834640"/>
            <a:ext cx="331012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Заключение о качестве сохраняется в архиве рядом со снимком (DICOM SR); сомнительные снимки помечены «проверьте глазами».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8081899" y="1828800"/>
            <a:ext cx="3749039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2" name="TextBox 911"/>
          <p:cNvSpPr txBox="1"/>
          <p:nvPr/>
        </p:nvSpPr>
        <p:spPr>
          <a:xfrm>
            <a:off x="8301355" y="2011680"/>
            <a:ext cx="3310127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МЕДОРГАНИЗАЦИЯ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8301355" y="2286000"/>
            <a:ext cx="3310127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Меньше повторов, единый стандарт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8301355" y="2834640"/>
            <a:ext cx="331012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Единые критерии ТЗ для всех аппаратов и смен; доля нарушений видна в мониторинге.</a:t>
            </a:r>
          </a:p>
        </p:txBody>
      </p:sp>
      <p:sp>
        <p:nvSpPr>
          <p:cNvPr id="915" name="Rounded Rectangle 914"/>
          <p:cNvSpPr/>
          <p:nvPr/>
        </p:nvSpPr>
        <p:spPr>
          <a:xfrm>
            <a:off x="346075" y="4160520"/>
            <a:ext cx="5669280" cy="2011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6" name="TextBox 915"/>
          <p:cNvSpPr txBox="1"/>
          <p:nvPr/>
        </p:nvSpPr>
        <p:spPr>
          <a:xfrm>
            <a:off x="565531" y="4343400"/>
            <a:ext cx="523036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Как поставляется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565531" y="4663440"/>
            <a:ext cx="5230368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Готовый серверный пакет (контейнер) для медорганизации или облака Департамента.</a:t>
            </a:r>
          </a:p>
          <a:p>
            <a:pPr marL="219456" indent="-219456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Приложение для Windows: работает на обычном ноутбуке в кабинете, полностью локально.</a:t>
            </a:r>
          </a:p>
          <a:p>
            <a:pPr marL="219456" indent="-219456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Видеокарта и интернет не нужны, снимки не уходят наружу.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6152515" y="4160520"/>
            <a:ext cx="5669280" cy="2011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9" name="TextBox 918"/>
          <p:cNvSpPr txBox="1"/>
          <p:nvPr/>
        </p:nvSpPr>
        <p:spPr>
          <a:xfrm>
            <a:off x="6371971" y="4343400"/>
            <a:ext cx="523036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Как измеряем эффект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6371971" y="4663440"/>
            <a:ext cx="5230368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Доля повторных исследований из-за неверной укладки — до и после внедрения.</a:t>
            </a:r>
          </a:p>
          <a:p>
            <a:pPr marL="219456" indent="-219456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Раз в месяц сверяем вердикты сервиса с экспертом на случайных снимках.</a:t>
            </a:r>
          </a:p>
          <a:p>
            <a:pPr marL="219456" indent="-219456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Время, которое врач тратит на контроль качества.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2747772" cy="620919"/>
          </a:xfrm>
          <a:prstGeom prst="roundRect">
            <a:avLst>
              <a:gd name="adj" fmla="val 187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ОГРАНИЧЕНИЯ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Что сервис не умеет и почему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pPr algn="r"/>
            <a:fld id="{52DCC5B9-D646-4B76-891F-6FF4E74E9CB4}" type="slidenum">
              <a:rPr lang="ru-RU" sz="1200">
                <a:solidFill>
                  <a:srgbClr val="520977"/>
                </a:solidFill>
                <a:latin typeface="Montserrat"/>
              </a:rPr>
              <a:t>22</a:t>
            </a:fld>
            <a:endParaRPr lang="ru-RU" sz="1200">
              <a:solidFill>
                <a:srgbClr val="520977"/>
              </a:solidFill>
              <a:latin typeface="Montserrat"/>
            </a:endParaRPr>
          </a:p>
        </p:txBody>
      </p:sp>
      <p:graphicFrame>
        <p:nvGraphicFramePr>
          <p:cNvPr id="903" name="Table 902"/>
          <p:cNvGraphicFramePr>
            <a:graphicFrameLocks noGrp="1"/>
          </p:cNvGraphicFramePr>
          <p:nvPr/>
        </p:nvGraphicFramePr>
        <p:xfrm>
          <a:off x="346075" y="1828800"/>
          <a:ext cx="11479859" cy="43891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8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ОГРАНИЧЕНИЕ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ПОЧЕМУ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ЧТО НУЖНО, ЧТОБЫ СНЯТЬ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Один аппарат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Все снимки — с одного денситометра GE Lunar Prodigy Advance; размер пикселя в файлах не указан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Снимки второго аппарата: проверить масштаб, дообучить нейросеть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Малая выборка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От 6 до 36 нарушений на критерий, поэтому доверительные интервалы широкие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Больше размеченных снимков; отметки операторов из пилота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Отступы — как у эксперта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Отступы проверяем по длине поля сканирования, как делает эксперт, а не строго по схеме из ТЗ (рис. 6)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Если эталонная разметка сделана строго по схеме из ТЗ, режим меняется одной настройкой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Ось и сколиоз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Для эксперта сколиоз — не ошибка укладки, а сервис по одному углу не отличает сколиоз от наклона пациента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Размеченные случаи сколиоза или снимки грудного отдела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Разметка оператора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Линий и областей, которые оператор ставит на аппарате, в файлах нет — всё оценивается по изображению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Выгрузка снимков вместе с разметкой оператора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Верхняя граница укладки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Позвонок Th12 (12-й грудной) в данных не размечен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Разметить Th12; модель опорных точек уже находит этот уровень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Telegram-бот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Файлы проходят через серверы Telegram, а ТЗ (п. 3.2) запрещает передавать снимки наружу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Бот — необязательный бонус для показа на обезличенных данных; сам сервис работает без интернета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3872483" cy="620919"/>
          </a:xfrm>
          <a:prstGeom prst="roundRect">
            <a:avLst>
              <a:gd name="adj" fmla="val 187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ВНЕДРЕНИЕ И ПИЛОТ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Сначала параллельно с врачом, затем помощник лаборанта, затем другие медорганизации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pPr algn="r"/>
            <a:fld id="{52DCC5B9-D646-4B76-891F-6FF4E74E9CB4}" type="slidenum">
              <a:rPr lang="ru-RU" sz="1200">
                <a:solidFill>
                  <a:srgbClr val="520977"/>
                </a:solidFill>
                <a:latin typeface="Montserrat"/>
              </a:rPr>
              <a:t>23</a:t>
            </a:fld>
            <a:endParaRPr lang="ru-RU" sz="1200">
              <a:solidFill>
                <a:srgbClr val="520977"/>
              </a:solidFill>
              <a:latin typeface="Montserrat"/>
            </a:endParaRPr>
          </a:p>
        </p:txBody>
      </p:sp>
      <p:cxnSp>
        <p:nvCxnSpPr>
          <p:cNvPr id="903" name="Connector 902"/>
          <p:cNvCxnSpPr/>
          <p:nvPr/>
        </p:nvCxnSpPr>
        <p:spPr>
          <a:xfrm>
            <a:off x="556387" y="2039112"/>
            <a:ext cx="7653240" cy="0"/>
          </a:xfrm>
          <a:prstGeom prst="line">
            <a:avLst/>
          </a:prstGeom>
          <a:ln w="15875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4" name="Rounded Rectangle 903"/>
          <p:cNvSpPr/>
          <p:nvPr/>
        </p:nvSpPr>
        <p:spPr>
          <a:xfrm>
            <a:off x="346075" y="182880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346075" y="2377440"/>
            <a:ext cx="35523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МЕСЯЦЫ 1–2 · ПАРАЛЛЕЛЬНО С ВРАЧОМ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346075" y="2633472"/>
            <a:ext cx="35980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1–2 медорганизации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346075" y="2971800"/>
            <a:ext cx="35523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Копии снимков идут в сервис через DICOM-роутер, заключение возвращается в архив с пометкой «не проверено». Считаем согласие с экспертом.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4172695" y="182880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4172695" y="2377440"/>
            <a:ext cx="35523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МЕСЯЦЫ 3–6 · ПОМОЩНИК ЛАБОРАНТА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4172695" y="2633472"/>
            <a:ext cx="35980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Подсказка у аппарата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4172695" y="2971800"/>
            <a:ext cx="35523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Результат у лаборанта через 1.6 с (максимум 2.3 с) после снимка. По отметкам лаборантов уточняем границы «норма / нарушение».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7999315" y="182880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7999315" y="2377440"/>
            <a:ext cx="35523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МЕСЯЦЫ 6–12 · МАСШТАБИРОВАНИЕ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7999315" y="2633472"/>
            <a:ext cx="35980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Другие аппараты и клиники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7999315" y="2971800"/>
            <a:ext cx="35523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Подключаем новые аппараты: проверяем размер пикселя, дообучаем нейросеть на их снимках, следим за долей нарушений.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346075" y="3749040"/>
            <a:ext cx="37168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7" name="TextBox 916"/>
          <p:cNvSpPr txBox="1"/>
          <p:nvPr/>
        </p:nvSpPr>
        <p:spPr>
          <a:xfrm>
            <a:off x="565531" y="3931920"/>
            <a:ext cx="327798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МЕТРИКА ПИЛОТА · КАЧЕСТВО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565531" y="4206240"/>
            <a:ext cx="3277980" cy="213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Согласие с экспертом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565531" y="4511040"/>
            <a:ext cx="3277980" cy="472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Раз в месяц: доля найденных нарушений и доля ложных тревог на снимках, которые врач проверяет вслепую.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4190983" y="3749040"/>
            <a:ext cx="37168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1" name="TextBox 920"/>
          <p:cNvSpPr txBox="1"/>
          <p:nvPr/>
        </p:nvSpPr>
        <p:spPr>
          <a:xfrm>
            <a:off x="4410439" y="3931920"/>
            <a:ext cx="327798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МЕТРИКА ПИЛОТА · ПАЦИЕНТ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4410439" y="4206240"/>
            <a:ext cx="3277980" cy="213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Повторные исследования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4410439" y="4511040"/>
            <a:ext cx="3277980" cy="472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Доля повторных снимков из-за положения пациента по журналу медорганизации — до и после.</a:t>
            </a:r>
          </a:p>
        </p:txBody>
      </p:sp>
      <p:sp>
        <p:nvSpPr>
          <p:cNvPr id="924" name="Rounded Rectangle 923"/>
          <p:cNvSpPr/>
          <p:nvPr/>
        </p:nvSpPr>
        <p:spPr>
          <a:xfrm>
            <a:off x="8035891" y="3749040"/>
            <a:ext cx="37168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5" name="TextBox 924"/>
          <p:cNvSpPr txBox="1"/>
          <p:nvPr/>
        </p:nvSpPr>
        <p:spPr>
          <a:xfrm>
            <a:off x="8255347" y="3931920"/>
            <a:ext cx="327798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МЕТРИКА ПИЛОТА · ВРАЧ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8255347" y="4206240"/>
            <a:ext cx="3277980" cy="213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Время на контроль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8255347" y="4511040"/>
            <a:ext cx="3277980" cy="472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Замер времени на 50 исследованиях; сервису нужно 1.6 с на исследование.</a:t>
            </a:r>
          </a:p>
        </p:txBody>
      </p:sp>
      <p:sp>
        <p:nvSpPr>
          <p:cNvPr id="928" name="Rounded Rectangle 927"/>
          <p:cNvSpPr/>
          <p:nvPr/>
        </p:nvSpPr>
        <p:spPr>
          <a:xfrm>
            <a:off x="346075" y="5303520"/>
            <a:ext cx="2091146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9" name="TextBox 928"/>
          <p:cNvSpPr txBox="1"/>
          <p:nvPr/>
        </p:nvSpPr>
        <p:spPr>
          <a:xfrm>
            <a:off x="510667" y="5413248"/>
            <a:ext cx="181682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ДЕНСИТОМЕТР</a:t>
            </a:r>
          </a:p>
        </p:txBody>
      </p:sp>
      <p:sp>
        <p:nvSpPr>
          <p:cNvPr id="930" name="TextBox 929"/>
          <p:cNvSpPr txBox="1"/>
          <p:nvPr/>
        </p:nvSpPr>
        <p:spPr>
          <a:xfrm>
            <a:off x="510667" y="5669280"/>
            <a:ext cx="1816826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снимок DICOM</a:t>
            </a:r>
          </a:p>
        </p:txBody>
      </p:sp>
      <p:sp>
        <p:nvSpPr>
          <p:cNvPr id="931" name="Rounded Rectangle 930"/>
          <p:cNvSpPr/>
          <p:nvPr/>
        </p:nvSpPr>
        <p:spPr>
          <a:xfrm>
            <a:off x="2693253" y="5303520"/>
            <a:ext cx="2091146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2" name="TextBox 931"/>
          <p:cNvSpPr txBox="1"/>
          <p:nvPr/>
        </p:nvSpPr>
        <p:spPr>
          <a:xfrm>
            <a:off x="2857845" y="5413248"/>
            <a:ext cx="181682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АРХИВ PACS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2857845" y="5669280"/>
            <a:ext cx="1816826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DICOM-роутер</a:t>
            </a:r>
          </a:p>
        </p:txBody>
      </p:sp>
      <p:cxnSp>
        <p:nvCxnSpPr>
          <p:cNvPr id="934" name="Connector 933"/>
          <p:cNvCxnSpPr/>
          <p:nvPr/>
        </p:nvCxnSpPr>
        <p:spPr>
          <a:xfrm>
            <a:off x="2464653" y="5715000"/>
            <a:ext cx="201168" cy="0"/>
          </a:xfrm>
          <a:prstGeom prst="line">
            <a:avLst/>
          </a:prstGeom>
          <a:ln w="15875">
            <a:solidFill>
              <a:srgbClr val="520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5" name="Rounded Rectangle 934"/>
          <p:cNvSpPr/>
          <p:nvPr/>
        </p:nvSpPr>
        <p:spPr>
          <a:xfrm>
            <a:off x="5040431" y="5303520"/>
            <a:ext cx="2091146" cy="822960"/>
          </a:xfrm>
          <a:prstGeom prst="roundRect">
            <a:avLst>
              <a:gd name="adj" fmla="val 1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6" name="TextBox 935"/>
          <p:cNvSpPr txBox="1"/>
          <p:nvPr/>
        </p:nvSpPr>
        <p:spPr>
          <a:xfrm>
            <a:off x="5205023" y="5413248"/>
            <a:ext cx="181682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 spc="8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СЕРВИС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5205023" y="5669280"/>
            <a:ext cx="1816826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контроль качества</a:t>
            </a:r>
          </a:p>
        </p:txBody>
      </p:sp>
      <p:cxnSp>
        <p:nvCxnSpPr>
          <p:cNvPr id="938" name="Connector 937"/>
          <p:cNvCxnSpPr/>
          <p:nvPr/>
        </p:nvCxnSpPr>
        <p:spPr>
          <a:xfrm>
            <a:off x="4811831" y="5715000"/>
            <a:ext cx="201168" cy="0"/>
          </a:xfrm>
          <a:prstGeom prst="line">
            <a:avLst/>
          </a:prstGeom>
          <a:ln w="15875">
            <a:solidFill>
              <a:srgbClr val="520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9" name="Rounded Rectangle 938"/>
          <p:cNvSpPr/>
          <p:nvPr/>
        </p:nvSpPr>
        <p:spPr>
          <a:xfrm>
            <a:off x="7387609" y="5303520"/>
            <a:ext cx="2091146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0" name="TextBox 939"/>
          <p:cNvSpPr txBox="1"/>
          <p:nvPr/>
        </p:nvSpPr>
        <p:spPr>
          <a:xfrm>
            <a:off x="7552201" y="5413248"/>
            <a:ext cx="181682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НАЗАД В АРХИВ</a:t>
            </a:r>
          </a:p>
        </p:txBody>
      </p:sp>
      <p:sp>
        <p:nvSpPr>
          <p:cNvPr id="941" name="TextBox 940"/>
          <p:cNvSpPr txBox="1"/>
          <p:nvPr/>
        </p:nvSpPr>
        <p:spPr>
          <a:xfrm>
            <a:off x="7552201" y="5669280"/>
            <a:ext cx="1816826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заключение SR</a:t>
            </a:r>
          </a:p>
        </p:txBody>
      </p:sp>
      <p:cxnSp>
        <p:nvCxnSpPr>
          <p:cNvPr id="942" name="Connector 941"/>
          <p:cNvCxnSpPr/>
          <p:nvPr/>
        </p:nvCxnSpPr>
        <p:spPr>
          <a:xfrm>
            <a:off x="7159009" y="5715000"/>
            <a:ext cx="201168" cy="0"/>
          </a:xfrm>
          <a:prstGeom prst="line">
            <a:avLst/>
          </a:prstGeom>
          <a:ln w="15875">
            <a:solidFill>
              <a:srgbClr val="520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3" name="Rounded Rectangle 942"/>
          <p:cNvSpPr/>
          <p:nvPr/>
        </p:nvSpPr>
        <p:spPr>
          <a:xfrm>
            <a:off x="9734787" y="5303520"/>
            <a:ext cx="2091146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4" name="TextBox 943"/>
          <p:cNvSpPr txBox="1"/>
          <p:nvPr/>
        </p:nvSpPr>
        <p:spPr>
          <a:xfrm>
            <a:off x="9899379" y="5413248"/>
            <a:ext cx="181682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ЛАБОРАНТ</a:t>
            </a:r>
          </a:p>
        </p:txBody>
      </p:sp>
      <p:sp>
        <p:nvSpPr>
          <p:cNvPr id="945" name="TextBox 944"/>
          <p:cNvSpPr txBox="1"/>
          <p:nvPr/>
        </p:nvSpPr>
        <p:spPr>
          <a:xfrm>
            <a:off x="9899379" y="5669280"/>
            <a:ext cx="1816826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веб-интерфейс</a:t>
            </a:r>
          </a:p>
        </p:txBody>
      </p:sp>
      <p:cxnSp>
        <p:nvCxnSpPr>
          <p:cNvPr id="946" name="Connector 945"/>
          <p:cNvCxnSpPr/>
          <p:nvPr/>
        </p:nvCxnSpPr>
        <p:spPr>
          <a:xfrm>
            <a:off x="9506187" y="5715000"/>
            <a:ext cx="201168" cy="0"/>
          </a:xfrm>
          <a:prstGeom prst="line">
            <a:avLst/>
          </a:prstGeom>
          <a:ln w="15875">
            <a:solidFill>
              <a:srgbClr val="520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3310127" cy="620919"/>
          </a:xfrm>
          <a:prstGeom prst="roundRect">
            <a:avLst>
              <a:gd name="adj" fmla="val 187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ПЛАНЫ РАЗВИТИЯ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Что сделаем дальше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pPr algn="r"/>
            <a:fld id="{52DCC5B9-D646-4B76-891F-6FF4E74E9CB4}" type="slidenum">
              <a:rPr lang="ru-RU" sz="1200">
                <a:solidFill>
                  <a:srgbClr val="FFFFFF"/>
                </a:solidFill>
                <a:latin typeface="Montserrat"/>
              </a:rPr>
              <a:t>24</a:t>
            </a:fld>
            <a:endParaRPr lang="ru-RU" sz="120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903" name="Rounded Rectangle 902"/>
          <p:cNvSpPr/>
          <p:nvPr/>
        </p:nvSpPr>
        <p:spPr>
          <a:xfrm>
            <a:off x="346075" y="1828800"/>
            <a:ext cx="3749039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4" name="TextBox 903"/>
          <p:cNvSpPr txBox="1"/>
          <p:nvPr/>
        </p:nvSpPr>
        <p:spPr>
          <a:xfrm>
            <a:off x="565531" y="2011680"/>
            <a:ext cx="3310127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ШАГ 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565531" y="2286000"/>
            <a:ext cx="3310127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Пилот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565531" y="2606040"/>
            <a:ext cx="3310127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Работа параллельно с врачом в 1–2 медорганизациях; по отметкам операторов раз в месяц уточняем границы «норма / нарушение».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4213987" y="1828800"/>
            <a:ext cx="3749039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8" name="TextBox 907"/>
          <p:cNvSpPr txBox="1"/>
          <p:nvPr/>
        </p:nvSpPr>
        <p:spPr>
          <a:xfrm>
            <a:off x="4433443" y="2011680"/>
            <a:ext cx="3310127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ШАГ 2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4433443" y="2286000"/>
            <a:ext cx="3310127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Больше примеров нарушений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4433443" y="2606040"/>
            <a:ext cx="3310127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Разметка ротации и оси: нейросеть уже отличает ротацию (ROC-AUC 0.82), но порог «да / нет» на 36 примерах пока нестабилен (F1 0.55).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8081899" y="1828800"/>
            <a:ext cx="3749039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2" name="TextBox 911"/>
          <p:cNvSpPr txBox="1"/>
          <p:nvPr/>
        </p:nvSpPr>
        <p:spPr>
          <a:xfrm>
            <a:off x="8301355" y="2011680"/>
            <a:ext cx="3310127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ШАГ 3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8301355" y="2286000"/>
            <a:ext cx="3310127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Модель опорных точек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8301355" y="2606040"/>
            <a:ext cx="3310127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Дообучить на всех данных (сейчас — 2 части из 5). Дальше — 12-й грудной позвонок (Th12) для верхней границы области сканирования.</a:t>
            </a:r>
          </a:p>
        </p:txBody>
      </p:sp>
      <p:sp>
        <p:nvSpPr>
          <p:cNvPr id="915" name="Rounded Rectangle 914"/>
          <p:cNvSpPr/>
          <p:nvPr/>
        </p:nvSpPr>
        <p:spPr>
          <a:xfrm>
            <a:off x="346075" y="4069080"/>
            <a:ext cx="3749039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6" name="TextBox 915"/>
          <p:cNvSpPr txBox="1"/>
          <p:nvPr/>
        </p:nvSpPr>
        <p:spPr>
          <a:xfrm>
            <a:off x="565531" y="4251960"/>
            <a:ext cx="3310127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ШАГ 4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565531" y="4526280"/>
            <a:ext cx="3310127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Второй аппарат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565531" y="4846320"/>
            <a:ext cx="3310127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Аппараты Hologic и другие модели Lunar: проверить размер пикселя, дообучить нейросеть тем же скриптом.</a:t>
            </a:r>
          </a:p>
        </p:txBody>
      </p:sp>
      <p:sp>
        <p:nvSpPr>
          <p:cNvPr id="919" name="Rounded Rectangle 918"/>
          <p:cNvSpPr/>
          <p:nvPr/>
        </p:nvSpPr>
        <p:spPr>
          <a:xfrm>
            <a:off x="4213987" y="4069080"/>
            <a:ext cx="3749039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0" name="TextBox 919"/>
          <p:cNvSpPr txBox="1"/>
          <p:nvPr/>
        </p:nvSpPr>
        <p:spPr>
          <a:xfrm>
            <a:off x="4433443" y="4251960"/>
            <a:ext cx="3310127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ШАГ 5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4433443" y="4526280"/>
            <a:ext cx="3310127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Интеграция и обновления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4433443" y="4846320"/>
            <a:ext cx="3310127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Автоприём снимков с аппарата и запись заключения в архив (PACS), мониторинг доли нарушений; автообновление приложения (сейчас — новым установщиком), встраивание в другие сервисы клиники.</a:t>
            </a:r>
          </a:p>
        </p:txBody>
      </p:sp>
      <p:sp>
        <p:nvSpPr>
          <p:cNvPr id="923" name="Rounded Rectangle 922"/>
          <p:cNvSpPr/>
          <p:nvPr/>
        </p:nvSpPr>
        <p:spPr>
          <a:xfrm>
            <a:off x="8081899" y="4069080"/>
            <a:ext cx="3749039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4" name="TextBox 923"/>
          <p:cNvSpPr txBox="1"/>
          <p:nvPr/>
        </p:nvSpPr>
        <p:spPr>
          <a:xfrm>
            <a:off x="8301355" y="4251960"/>
            <a:ext cx="3310127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СЕЙЧАС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8301355" y="4526280"/>
            <a:ext cx="3310127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Уже готово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8301355" y="4846320"/>
            <a:ext cx="3310127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Сервер в Docker, программный интерфейс API, веб-приложение</a:t>
            </a:r>
          </a:p>
          <a:p>
            <a:pPr marL="219456" indent="-219456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Установщик для Windows, работает без интернета</a:t>
            </a:r>
          </a:p>
          <a:p>
            <a:pPr marL="219456" indent="-219456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Документация; бонус — Telegram-бот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2935224" cy="620919"/>
          </a:xfrm>
          <a:prstGeom prst="roundRect">
            <a:avLst>
              <a:gd name="adj" fmla="val 187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ДЕМОНСТРАЦИЯ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Сценарий демонстрации, 3 минуты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pPr algn="r"/>
            <a:fld id="{52DCC5B9-D646-4B76-891F-6FF4E74E9CB4}" type="slidenum">
              <a:rPr lang="ru-RU" sz="1200">
                <a:solidFill>
                  <a:srgbClr val="520977"/>
                </a:solidFill>
                <a:latin typeface="Montserrat"/>
              </a:rPr>
              <a:t>25</a:t>
            </a:fld>
            <a:endParaRPr lang="ru-RU" sz="1200">
              <a:solidFill>
                <a:srgbClr val="520977"/>
              </a:solidFill>
              <a:latin typeface="Montserrat"/>
            </a:endParaRPr>
          </a:p>
        </p:txBody>
      </p:sp>
      <p:sp>
        <p:nvSpPr>
          <p:cNvPr id="903" name="Rounded Rectangle 902"/>
          <p:cNvSpPr/>
          <p:nvPr/>
        </p:nvSpPr>
        <p:spPr>
          <a:xfrm>
            <a:off x="346075" y="178308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894715" y="1847088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Запуск одной командой (Docker) → сервис в браузере, или приложение для Windows</a:t>
            </a:r>
          </a:p>
        </p:txBody>
      </p:sp>
      <p:sp>
        <p:nvSpPr>
          <p:cNvPr id="905" name="Rounded Rectangle 904"/>
          <p:cNvSpPr/>
          <p:nvPr/>
        </p:nvSpPr>
        <p:spPr>
          <a:xfrm>
            <a:off x="346075" y="229514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894715" y="2359152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Загрузить архив demo.zip: 7 исследований, все типы нарушений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346075" y="280720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894715" y="2871216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Фильтр «Ротация»: подсветка нейросети, вердикт, выступ вертела в мм²</a:t>
            </a:r>
          </a:p>
        </p:txBody>
      </p:sp>
      <p:sp>
        <p:nvSpPr>
          <p:cNvPr id="909" name="Rounded Rectangle 908"/>
          <p:cNvSpPr/>
          <p:nvPr/>
        </p:nvSpPr>
        <p:spPr>
          <a:xfrm>
            <a:off x="346075" y="331927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894715" y="338328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Наклон оси с допуском; отступы: длина поля и линии схемы из ТЗ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346075" y="383133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894715" y="3895344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Отметить «согласен» / «не согласен» одной клавишей, выгрузить отметки</a:t>
            </a:r>
          </a:p>
        </p:txBody>
      </p:sp>
      <p:sp>
        <p:nvSpPr>
          <p:cNvPr id="913" name="Rounded Rectangle 912"/>
          <p:cNvSpPr/>
          <p:nvPr/>
        </p:nvSpPr>
        <p:spPr>
          <a:xfrm>
            <a:off x="346075" y="43434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6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894715" y="4407408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Скачать таблицу xlsx (8 колонок ТЗ) и заключения DICOM SR</a:t>
            </a:r>
          </a:p>
        </p:txBody>
      </p:sp>
      <p:sp>
        <p:nvSpPr>
          <p:cNvPr id="915" name="Rounded Rectangle 914"/>
          <p:cNvSpPr/>
          <p:nvPr/>
        </p:nvSpPr>
        <p:spPr>
          <a:xfrm>
            <a:off x="346075" y="485546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7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894715" y="4919472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Бонус: Telegram-бот с телефона, команда /demo — тот же сценарий в чате</a:t>
            </a:r>
          </a:p>
        </p:txBody>
      </p:sp>
      <p:sp>
        <p:nvSpPr>
          <p:cNvPr id="917" name="Rounded Rectangle 916"/>
          <p:cNvSpPr/>
          <p:nvPr/>
        </p:nvSpPr>
        <p:spPr>
          <a:xfrm>
            <a:off x="6949440" y="1828800"/>
            <a:ext cx="487375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8" name="TextBox 917"/>
          <p:cNvSpPr txBox="1"/>
          <p:nvPr/>
        </p:nvSpPr>
        <p:spPr>
          <a:xfrm>
            <a:off x="7168896" y="2011680"/>
            <a:ext cx="4434840" cy="213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Запасной вариант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7168896" y="2316480"/>
            <a:ext cx="4434840" cy="746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Нет Docker — приложение для Windows; нет интернета — слайды «Кейсы» и «Интерфейсы»; сценарий — docs/DEMO.md.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6949440" y="3337560"/>
            <a:ext cx="4873752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1" name="TextBox 920"/>
          <p:cNvSpPr txBox="1"/>
          <p:nvPr/>
        </p:nvSpPr>
        <p:spPr>
          <a:xfrm>
            <a:off x="7168896" y="3520440"/>
            <a:ext cx="4434840" cy="213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Репозиторий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7168896" y="3825240"/>
            <a:ext cx="4434840" cy="838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github.com/theorcos239/LCT_2026</a:t>
            </a:r>
          </a:p>
          <a:p>
            <a:pPr marL="219456" indent="-219456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код, веса, описание (README), руководства, пояснительная записка и инструкции в PDF</a:t>
            </a:r>
          </a:p>
        </p:txBody>
      </p:sp>
      <p:cxnSp>
        <p:nvCxnSpPr>
          <p:cNvPr id="923" name="Connector 922"/>
          <p:cNvCxnSpPr/>
          <p:nvPr/>
        </p:nvCxnSpPr>
        <p:spPr>
          <a:xfrm>
            <a:off x="346075" y="5532120"/>
            <a:ext cx="11479860" cy="0"/>
          </a:xfrm>
          <a:prstGeom prst="line">
            <a:avLst/>
          </a:prstGeom>
          <a:ln w="19050">
            <a:solidFill>
              <a:srgbClr val="520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4" name="TextBox 923"/>
          <p:cNvSpPr txBox="1"/>
          <p:nvPr/>
        </p:nvSpPr>
        <p:spPr>
          <a:xfrm>
            <a:off x="346075" y="5623560"/>
            <a:ext cx="21588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Запуск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346075" y="5897880"/>
            <a:ext cx="21588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одна команда (Docker)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2642047" y="5623560"/>
            <a:ext cx="21588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Отчёт (п. 2.5 ТЗ)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2642047" y="5897880"/>
            <a:ext cx="21588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xlsx/csv, 8 колонок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4938019" y="5623560"/>
            <a:ext cx="21588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Визуализация (п. 2.6)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4938019" y="5897880"/>
            <a:ext cx="21588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снимки с разметкой, SR, интерфейс</a:t>
            </a:r>
          </a:p>
        </p:txBody>
      </p:sp>
      <p:sp>
        <p:nvSpPr>
          <p:cNvPr id="930" name="TextBox 929"/>
          <p:cNvSpPr txBox="1"/>
          <p:nvPr/>
        </p:nvSpPr>
        <p:spPr>
          <a:xfrm>
            <a:off x="7233991" y="5623560"/>
            <a:ext cx="21588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Интерфейсы</a:t>
            </a:r>
          </a:p>
        </p:txBody>
      </p:sp>
      <p:sp>
        <p:nvSpPr>
          <p:cNvPr id="931" name="TextBox 930"/>
          <p:cNvSpPr txBox="1"/>
          <p:nvPr/>
        </p:nvSpPr>
        <p:spPr>
          <a:xfrm>
            <a:off x="7233991" y="5897880"/>
            <a:ext cx="21588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веб, Windows, API; бонус — бот</a:t>
            </a:r>
          </a:p>
        </p:txBody>
      </p:sp>
      <p:sp>
        <p:nvSpPr>
          <p:cNvPr id="932" name="TextBox 931"/>
          <p:cNvSpPr txBox="1"/>
          <p:nvPr/>
        </p:nvSpPr>
        <p:spPr>
          <a:xfrm>
            <a:off x="9529963" y="5623560"/>
            <a:ext cx="21588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Автотесты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9529963" y="5897880"/>
            <a:ext cx="21588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92: сервис 65, бот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pPr algn="r"/>
            <a:fld id="{52DCC5B9-D646-4B76-891F-6FF4E74E9CB4}" type="slidenum">
              <a:rPr lang="ru-RU" sz="1200">
                <a:solidFill>
                  <a:srgbClr val="FFFFFF"/>
                </a:solidFill>
                <a:latin typeface="Montserrat"/>
              </a:rPr>
              <a:t>26</a:t>
            </a:fld>
            <a:endParaRPr lang="ru-RU" sz="120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901" name="TextBox 900"/>
          <p:cNvSpPr txBox="1"/>
          <p:nvPr/>
        </p:nvSpPr>
        <p:spPr>
          <a:xfrm>
            <a:off x="548640" y="1188720"/>
            <a:ext cx="594360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Спасибо!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548640" y="2286000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Готовы ответить на вопросы</a:t>
            </a:r>
          </a:p>
        </p:txBody>
      </p:sp>
      <p:sp>
        <p:nvSpPr>
          <p:cNvPr id="903" name="TextBox 902"/>
          <p:cNvSpPr txBox="1"/>
          <p:nvPr/>
        </p:nvSpPr>
        <p:spPr>
          <a:xfrm>
            <a:off x="548640" y="31546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FFD6E3"/>
                </a:solidFill>
                <a:latin typeface="Montserrat"/>
                <a:ea typeface="Montserrat"/>
                <a:cs typeface="Montserrat"/>
              </a:rPr>
              <a:t>РЕПОЗИТОРИЙ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548640" y="3392424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github.com/theorcos239/LCT_2026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548640" y="381304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FFD6E3"/>
                </a:solidFill>
                <a:latin typeface="Montserrat"/>
                <a:ea typeface="Montserrat"/>
                <a:cs typeface="Montserrat"/>
              </a:rPr>
              <a:t>УСТАНОВЩИК ДЛЯ WINDOWS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548640" y="4050792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DXA-QC-Setup-1.0.0.exe, передаём отдельно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548640" y="4471416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FFD6E3"/>
                </a:solidFill>
                <a:latin typeface="Montserrat"/>
                <a:ea typeface="Montserrat"/>
                <a:cs typeface="Montserrat"/>
              </a:rPr>
              <a:t>TELEGRAM-БОТ — НЕОБЯЗАТЕЛЬНЫЙ БОНУС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548640" y="4709160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@LCT_bone_density_research_bot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548640" y="5129784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FFD6E3"/>
                </a:solidFill>
                <a:latin typeface="Montserrat"/>
                <a:ea typeface="Montserrat"/>
                <a:cs typeface="Montserrat"/>
              </a:rPr>
              <a:t>ДЛЯ ПРОВЕРЯЮЩИХ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548640" y="5367528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docs/REVIEW.md — запуск за 5 минут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6537960" y="3154680"/>
            <a:ext cx="16002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12" name="Picture 911" descr="qr_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246120"/>
            <a:ext cx="1417320" cy="1417320"/>
          </a:xfrm>
          <a:prstGeom prst="rect">
            <a:avLst/>
          </a:prstGeom>
        </p:spPr>
      </p:pic>
      <p:sp>
        <p:nvSpPr>
          <p:cNvPr id="913" name="TextBox 912"/>
          <p:cNvSpPr txBox="1"/>
          <p:nvPr/>
        </p:nvSpPr>
        <p:spPr>
          <a:xfrm>
            <a:off x="6537960" y="484632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репозиторий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7166</Words>
  <Application>Microsoft Office PowerPoint</Application>
  <PresentationFormat>Широкоэкранный</PresentationFormat>
  <Paragraphs>826</Paragraphs>
  <Slides>26</Slides>
  <Notes>26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1" baseType="lpstr">
      <vt:lpstr>Arial</vt:lpstr>
      <vt:lpstr>Calibri</vt:lpstr>
      <vt:lpstr>Wingdings</vt:lpstr>
      <vt:lpstr>Montserrat</vt:lpstr>
      <vt:lpstr>Для Академия инноваторов 16_9</vt:lpstr>
      <vt:lpstr>Презентация PowerPoint</vt:lpstr>
      <vt:lpstr>Команда [название команды]</vt:lpstr>
      <vt:lpstr>КОМАНДА</vt:lpstr>
      <vt:lpstr>ИСТОРИЯ И ВЫЗОВЫ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UM</cp:lastModifiedBy>
  <cp:revision>96</cp:revision>
  <dcterms:created xsi:type="dcterms:W3CDTF">2023-05-15T07:36:23Z</dcterms:created>
  <dcterms:modified xsi:type="dcterms:W3CDTF">2026-09-29T20:07:59Z</dcterms:modified>
</cp:coreProperties>
</file>