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365" r:id="rId2"/>
    <p:sldId id="366" r:id="rId3"/>
    <p:sldId id="362" r:id="rId4"/>
    <p:sldId id="364" r:id="rId5"/>
    <p:sldId id="367" r:id="rId6"/>
    <p:sldId id="368" r:id="rId7"/>
    <p:sldId id="369" r:id="rId8"/>
    <p:sldId id="370" r:id="rId9"/>
    <p:sldId id="371" r:id="rId10"/>
    <p:sldId id="372" r:id="rId11"/>
    <p:sldId id="373" r:id="rId12"/>
    <p:sldId id="374" r:id="rId13"/>
    <p:sldId id="375" r:id="rId14"/>
    <p:sldId id="376" r:id="rId15"/>
    <p:sldId id="377" r:id="rId16"/>
    <p:sldId id="378" r:id="rId17"/>
    <p:sldId id="379" r:id="rId18"/>
    <p:sldId id="380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</p:sldIdLst>
  <p:sldSz cx="12192000" cy="6858000"/>
  <p:notesSz cx="6858000" cy="9144000"/>
  <p:embeddedFontLst>
    <p:embeddedFont>
      <p:font typeface="Montserrat" pitchFamily="2" charset="-52"/>
      <p:regular r:id="rId30"/>
      <p:bold r:id="rId31"/>
      <p:italic r:id="rId32"/>
      <p:boldItalic r:id="rId33"/>
    </p:embeddedFont>
  </p:embeddedFontLst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</p14:sldIdLst>
        </p14:section>
        <p14:section name="Информация" id="{9FA27940-A45B-471D-96EC-3FCE80AE8A9B}">
          <p14:sldIdLst>
            <p14:sldId id="367"/>
          </p14:sldIdLst>
        </p14:section>
        <p14:section name="Материалы" id="{0F84D0DE-CEB1-417E-B269-8B3EB04B5FA6}">
          <p14:sldIdLst>
            <p14:sldId id="368"/>
          </p14:sldIdLst>
        </p14:section>
        <p14:section name="Шаблоны слайдов" id="{24401F80-F81B-49C3-8D55-70A14F0BF8FF}">
          <p14:sldIdLst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83" autoAdjust="0"/>
    <p:restoredTop sz="95839"/>
  </p:normalViewPr>
  <p:slideViewPr>
    <p:cSldViewPr snapToGrid="0" showGuides="1">
      <p:cViewPr varScale="1">
        <p:scale>
          <a:sx n="106" d="100"/>
          <a:sy n="106" d="100"/>
        </p:scale>
        <p:origin x="248" y="7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3" d="100"/>
        <a:sy n="33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выступ</c:v>
                </c:pt>
              </c:strCache>
            </c:strRef>
          </c:tx>
          <c:spPr>
            <a:ln w="12700">
              <a:solidFill>
                <a:srgbClr val="8A83D1"/>
              </a:solidFill>
              <a:prstDash val="dash"/>
            </a:ln>
          </c:spPr>
          <c:marker>
            <c:symbol val="none"/>
          </c:marker>
          <c:xVal>
            <c:numRef>
              <c:f>Sheet1!$A$2:$A$58</c:f>
              <c:numCache>
                <c:formatCode>General</c:formatCode>
                <c:ptCount val="57"/>
                <c:pt idx="0">
                  <c:v>0</c:v>
                </c:pt>
                <c:pt idx="1">
                  <c:v>0</c:v>
                </c:pt>
                <c:pt idx="2">
                  <c:v>8.771929824561403E-3</c:v>
                </c:pt>
                <c:pt idx="3">
                  <c:v>1.7543859649122806E-2</c:v>
                </c:pt>
                <c:pt idx="4">
                  <c:v>1.7543859649122806E-2</c:v>
                </c:pt>
                <c:pt idx="5">
                  <c:v>2.6315789473684209E-2</c:v>
                </c:pt>
                <c:pt idx="6">
                  <c:v>2.6315789473684209E-2</c:v>
                </c:pt>
                <c:pt idx="7">
                  <c:v>2.6315789473684209E-2</c:v>
                </c:pt>
                <c:pt idx="8">
                  <c:v>3.5087719298245612E-2</c:v>
                </c:pt>
                <c:pt idx="9">
                  <c:v>4.3859649122807015E-2</c:v>
                </c:pt>
                <c:pt idx="10">
                  <c:v>4.3859649122807015E-2</c:v>
                </c:pt>
                <c:pt idx="11">
                  <c:v>4.3859649122807015E-2</c:v>
                </c:pt>
                <c:pt idx="12">
                  <c:v>5.2631578947368418E-2</c:v>
                </c:pt>
                <c:pt idx="13">
                  <c:v>5.2631578947368418E-2</c:v>
                </c:pt>
                <c:pt idx="14">
                  <c:v>6.1403508771929821E-2</c:v>
                </c:pt>
                <c:pt idx="15">
                  <c:v>6.1403508771929821E-2</c:v>
                </c:pt>
                <c:pt idx="16">
                  <c:v>7.0175438596491224E-2</c:v>
                </c:pt>
                <c:pt idx="17">
                  <c:v>7.0175438596491224E-2</c:v>
                </c:pt>
                <c:pt idx="18">
                  <c:v>7.8947368421052627E-2</c:v>
                </c:pt>
                <c:pt idx="19">
                  <c:v>7.8947368421052627E-2</c:v>
                </c:pt>
                <c:pt idx="20">
                  <c:v>7.8947368421052627E-2</c:v>
                </c:pt>
                <c:pt idx="21">
                  <c:v>7.8947368421052627E-2</c:v>
                </c:pt>
                <c:pt idx="22">
                  <c:v>8.771929824561403E-2</c:v>
                </c:pt>
                <c:pt idx="23">
                  <c:v>9.6491228070175433E-2</c:v>
                </c:pt>
                <c:pt idx="24">
                  <c:v>9.6491228070175433E-2</c:v>
                </c:pt>
                <c:pt idx="25">
                  <c:v>9.6491228070175433E-2</c:v>
                </c:pt>
                <c:pt idx="26">
                  <c:v>9.6491228070175433E-2</c:v>
                </c:pt>
                <c:pt idx="27">
                  <c:v>0.10526315789473684</c:v>
                </c:pt>
                <c:pt idx="28">
                  <c:v>0.11403508771929824</c:v>
                </c:pt>
                <c:pt idx="29">
                  <c:v>0.12280701754385964</c:v>
                </c:pt>
                <c:pt idx="30">
                  <c:v>0.13157894736842105</c:v>
                </c:pt>
                <c:pt idx="31">
                  <c:v>0.14035087719298245</c:v>
                </c:pt>
                <c:pt idx="32">
                  <c:v>0.14912280701754385</c:v>
                </c:pt>
                <c:pt idx="33">
                  <c:v>0.15789473684210525</c:v>
                </c:pt>
                <c:pt idx="34">
                  <c:v>0.16666666666666666</c:v>
                </c:pt>
                <c:pt idx="35">
                  <c:v>0.17543859649122806</c:v>
                </c:pt>
                <c:pt idx="36">
                  <c:v>0.18421052631578946</c:v>
                </c:pt>
                <c:pt idx="37">
                  <c:v>0.19298245614035087</c:v>
                </c:pt>
                <c:pt idx="38">
                  <c:v>0.19298245614035087</c:v>
                </c:pt>
                <c:pt idx="39">
                  <c:v>0.20175438596491227</c:v>
                </c:pt>
                <c:pt idx="40">
                  <c:v>0.21052631578947367</c:v>
                </c:pt>
                <c:pt idx="41">
                  <c:v>0.21929824561403508</c:v>
                </c:pt>
                <c:pt idx="42">
                  <c:v>0.22807017543859648</c:v>
                </c:pt>
                <c:pt idx="43">
                  <c:v>0.23684210526315788</c:v>
                </c:pt>
                <c:pt idx="44">
                  <c:v>0.24561403508771928</c:v>
                </c:pt>
                <c:pt idx="45">
                  <c:v>0.24561403508771928</c:v>
                </c:pt>
                <c:pt idx="46">
                  <c:v>0.24561403508771928</c:v>
                </c:pt>
                <c:pt idx="47">
                  <c:v>0.24561403508771928</c:v>
                </c:pt>
                <c:pt idx="48">
                  <c:v>0.25438596491228072</c:v>
                </c:pt>
                <c:pt idx="49">
                  <c:v>0.25438596491228072</c:v>
                </c:pt>
                <c:pt idx="50">
                  <c:v>0.26315789473684209</c:v>
                </c:pt>
                <c:pt idx="51">
                  <c:v>0.27192982456140352</c:v>
                </c:pt>
                <c:pt idx="52">
                  <c:v>0.2807017543859649</c:v>
                </c:pt>
                <c:pt idx="53">
                  <c:v>0.2807017543859649</c:v>
                </c:pt>
                <c:pt idx="54">
                  <c:v>0.28947368421052633</c:v>
                </c:pt>
                <c:pt idx="55">
                  <c:v>0.2982456140350877</c:v>
                </c:pt>
                <c:pt idx="56">
                  <c:v>1</c:v>
                </c:pt>
              </c:numCache>
            </c:numRef>
          </c:xVal>
          <c:yVal>
            <c:numRef>
              <c:f>Sheet1!$B$2:$B$58</c:f>
              <c:numCache>
                <c:formatCode>General</c:formatCode>
                <c:ptCount val="57"/>
                <c:pt idx="0">
                  <c:v>0</c:v>
                </c:pt>
                <c:pt idx="1">
                  <c:v>2.7777777777777776E-2</c:v>
                </c:pt>
                <c:pt idx="2">
                  <c:v>2.7777777777777776E-2</c:v>
                </c:pt>
                <c:pt idx="3">
                  <c:v>2.7777777777777776E-2</c:v>
                </c:pt>
                <c:pt idx="4">
                  <c:v>5.5555555555555552E-2</c:v>
                </c:pt>
                <c:pt idx="5">
                  <c:v>5.5555555555555552E-2</c:v>
                </c:pt>
                <c:pt idx="6">
                  <c:v>8.3333333333333329E-2</c:v>
                </c:pt>
                <c:pt idx="7">
                  <c:v>0.1111111111111111</c:v>
                </c:pt>
                <c:pt idx="8">
                  <c:v>0.1388888888888889</c:v>
                </c:pt>
                <c:pt idx="9">
                  <c:v>0.1388888888888889</c:v>
                </c:pt>
                <c:pt idx="10">
                  <c:v>0.16666666666666666</c:v>
                </c:pt>
                <c:pt idx="11">
                  <c:v>0.19444444444444445</c:v>
                </c:pt>
                <c:pt idx="12">
                  <c:v>0.19444444444444445</c:v>
                </c:pt>
                <c:pt idx="13">
                  <c:v>0.22222222222222221</c:v>
                </c:pt>
                <c:pt idx="14">
                  <c:v>0.22222222222222221</c:v>
                </c:pt>
                <c:pt idx="15">
                  <c:v>0.25</c:v>
                </c:pt>
                <c:pt idx="16">
                  <c:v>0.25</c:v>
                </c:pt>
                <c:pt idx="17">
                  <c:v>0.27777777777777779</c:v>
                </c:pt>
                <c:pt idx="18">
                  <c:v>0.27777777777777779</c:v>
                </c:pt>
                <c:pt idx="19">
                  <c:v>0.30555555555555558</c:v>
                </c:pt>
                <c:pt idx="20">
                  <c:v>0.33333333333333331</c:v>
                </c:pt>
                <c:pt idx="21">
                  <c:v>0.3611111111111111</c:v>
                </c:pt>
                <c:pt idx="22">
                  <c:v>0.3611111111111111</c:v>
                </c:pt>
                <c:pt idx="23">
                  <c:v>0.3611111111111111</c:v>
                </c:pt>
                <c:pt idx="24">
                  <c:v>0.3888888888888889</c:v>
                </c:pt>
                <c:pt idx="25">
                  <c:v>0.41666666666666669</c:v>
                </c:pt>
                <c:pt idx="26">
                  <c:v>0.44444444444444442</c:v>
                </c:pt>
                <c:pt idx="27">
                  <c:v>0.44444444444444442</c:v>
                </c:pt>
                <c:pt idx="28">
                  <c:v>0.44444444444444442</c:v>
                </c:pt>
                <c:pt idx="29">
                  <c:v>0.44444444444444442</c:v>
                </c:pt>
                <c:pt idx="30">
                  <c:v>0.44444444444444442</c:v>
                </c:pt>
                <c:pt idx="31">
                  <c:v>0.44444444444444442</c:v>
                </c:pt>
                <c:pt idx="32">
                  <c:v>0.44444444444444442</c:v>
                </c:pt>
                <c:pt idx="33">
                  <c:v>0.44444444444444442</c:v>
                </c:pt>
                <c:pt idx="34">
                  <c:v>0.44444444444444442</c:v>
                </c:pt>
                <c:pt idx="35">
                  <c:v>0.44444444444444442</c:v>
                </c:pt>
                <c:pt idx="36">
                  <c:v>0.44444444444444442</c:v>
                </c:pt>
                <c:pt idx="37">
                  <c:v>0.44444444444444442</c:v>
                </c:pt>
                <c:pt idx="38">
                  <c:v>0.47222222222222221</c:v>
                </c:pt>
                <c:pt idx="39">
                  <c:v>0.47222222222222221</c:v>
                </c:pt>
                <c:pt idx="40">
                  <c:v>0.47222222222222221</c:v>
                </c:pt>
                <c:pt idx="41">
                  <c:v>0.47222222222222221</c:v>
                </c:pt>
                <c:pt idx="42">
                  <c:v>0.47222222222222221</c:v>
                </c:pt>
                <c:pt idx="43">
                  <c:v>0.47222222222222221</c:v>
                </c:pt>
                <c:pt idx="44">
                  <c:v>0.47222222222222221</c:v>
                </c:pt>
                <c:pt idx="45">
                  <c:v>0.5</c:v>
                </c:pt>
                <c:pt idx="46">
                  <c:v>0.52777777777777779</c:v>
                </c:pt>
                <c:pt idx="47">
                  <c:v>0.55555555555555558</c:v>
                </c:pt>
                <c:pt idx="48">
                  <c:v>0.55555555555555558</c:v>
                </c:pt>
                <c:pt idx="49">
                  <c:v>0.58333333333333337</c:v>
                </c:pt>
                <c:pt idx="50">
                  <c:v>0.58333333333333337</c:v>
                </c:pt>
                <c:pt idx="51">
                  <c:v>0.58333333333333337</c:v>
                </c:pt>
                <c:pt idx="52">
                  <c:v>0.58333333333333337</c:v>
                </c:pt>
                <c:pt idx="53">
                  <c:v>0.61111111111111116</c:v>
                </c:pt>
                <c:pt idx="54">
                  <c:v>0.61111111111111116</c:v>
                </c:pt>
                <c:pt idx="55">
                  <c:v>0.61111111111111116</c:v>
                </c:pt>
                <c:pt idx="5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128-4408-AEF8-5CFE4AD7BABF}"/>
            </c:ext>
          </c:extLst>
        </c:ser>
        <c:ser>
          <c:idx val="1"/>
          <c:order val="1"/>
          <c:tx>
            <c:strRef>
              <c:f>Sheet1!$B$60</c:f>
              <c:strCache>
                <c:ptCount val="1"/>
                <c:pt idx="0">
                  <c:v>нейросеть</c:v>
                </c:pt>
              </c:strCache>
            </c:strRef>
          </c:tx>
          <c:spPr>
            <a:ln w="31750">
              <a:solidFill>
                <a:srgbClr val="FC3777"/>
              </a:solidFill>
            </a:ln>
          </c:spPr>
          <c:marker>
            <c:symbol val="none"/>
          </c:marker>
          <c:xVal>
            <c:numRef>
              <c:f>Sheet1!$A$61:$A$211</c:f>
              <c:numCache>
                <c:formatCode>General</c:formatCode>
                <c:ptCount val="15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8.771929824561403E-3</c:v>
                </c:pt>
                <c:pt idx="9">
                  <c:v>8.771929824561403E-3</c:v>
                </c:pt>
                <c:pt idx="10">
                  <c:v>1.7543859649122806E-2</c:v>
                </c:pt>
                <c:pt idx="11">
                  <c:v>1.7543859649122806E-2</c:v>
                </c:pt>
                <c:pt idx="12">
                  <c:v>2.6315789473684209E-2</c:v>
                </c:pt>
                <c:pt idx="13">
                  <c:v>3.5087719298245612E-2</c:v>
                </c:pt>
                <c:pt idx="14">
                  <c:v>3.5087719298245612E-2</c:v>
                </c:pt>
                <c:pt idx="15">
                  <c:v>3.5087719298245612E-2</c:v>
                </c:pt>
                <c:pt idx="16">
                  <c:v>4.3859649122807015E-2</c:v>
                </c:pt>
                <c:pt idx="17">
                  <c:v>5.2631578947368418E-2</c:v>
                </c:pt>
                <c:pt idx="18">
                  <c:v>6.1403508771929821E-2</c:v>
                </c:pt>
                <c:pt idx="19">
                  <c:v>6.1403508771929821E-2</c:v>
                </c:pt>
                <c:pt idx="20">
                  <c:v>6.1403508771929821E-2</c:v>
                </c:pt>
                <c:pt idx="21">
                  <c:v>6.1403508771929821E-2</c:v>
                </c:pt>
                <c:pt idx="22">
                  <c:v>7.0175438596491224E-2</c:v>
                </c:pt>
                <c:pt idx="23">
                  <c:v>7.8947368421052627E-2</c:v>
                </c:pt>
                <c:pt idx="24">
                  <c:v>8.771929824561403E-2</c:v>
                </c:pt>
                <c:pt idx="25">
                  <c:v>8.771929824561403E-2</c:v>
                </c:pt>
                <c:pt idx="26">
                  <c:v>8.771929824561403E-2</c:v>
                </c:pt>
                <c:pt idx="27">
                  <c:v>9.6491228070175433E-2</c:v>
                </c:pt>
                <c:pt idx="28">
                  <c:v>9.6491228070175433E-2</c:v>
                </c:pt>
                <c:pt idx="29">
                  <c:v>9.6491228070175433E-2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0.11403508771929824</c:v>
                </c:pt>
                <c:pt idx="33">
                  <c:v>0.12280701754385964</c:v>
                </c:pt>
                <c:pt idx="34">
                  <c:v>0.12280701754385964</c:v>
                </c:pt>
                <c:pt idx="35">
                  <c:v>0.13157894736842105</c:v>
                </c:pt>
                <c:pt idx="36">
                  <c:v>0.14035087719298245</c:v>
                </c:pt>
                <c:pt idx="37">
                  <c:v>0.14035087719298245</c:v>
                </c:pt>
                <c:pt idx="38">
                  <c:v>0.14912280701754385</c:v>
                </c:pt>
                <c:pt idx="39">
                  <c:v>0.15789473684210525</c:v>
                </c:pt>
                <c:pt idx="40">
                  <c:v>0.16666666666666666</c:v>
                </c:pt>
                <c:pt idx="41">
                  <c:v>0.16666666666666666</c:v>
                </c:pt>
                <c:pt idx="42">
                  <c:v>0.16666666666666666</c:v>
                </c:pt>
                <c:pt idx="43">
                  <c:v>0.16666666666666666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0.19298245614035087</c:v>
                </c:pt>
                <c:pt idx="48">
                  <c:v>0.20175438596491227</c:v>
                </c:pt>
                <c:pt idx="49">
                  <c:v>0.21052631578947367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0.22807017543859648</c:v>
                </c:pt>
                <c:pt idx="53">
                  <c:v>0.23684210526315788</c:v>
                </c:pt>
                <c:pt idx="54">
                  <c:v>0.24561403508771928</c:v>
                </c:pt>
                <c:pt idx="55">
                  <c:v>0.25438596491228072</c:v>
                </c:pt>
                <c:pt idx="56">
                  <c:v>0.26315789473684209</c:v>
                </c:pt>
                <c:pt idx="57">
                  <c:v>0.26315789473684209</c:v>
                </c:pt>
                <c:pt idx="58">
                  <c:v>0.27192982456140352</c:v>
                </c:pt>
                <c:pt idx="59">
                  <c:v>0.2807017543859649</c:v>
                </c:pt>
                <c:pt idx="60">
                  <c:v>0.28947368421052633</c:v>
                </c:pt>
                <c:pt idx="61">
                  <c:v>0.2982456140350877</c:v>
                </c:pt>
                <c:pt idx="62">
                  <c:v>0.30701754385964913</c:v>
                </c:pt>
                <c:pt idx="63">
                  <c:v>0.31578947368421051</c:v>
                </c:pt>
                <c:pt idx="64">
                  <c:v>0.31578947368421051</c:v>
                </c:pt>
                <c:pt idx="65">
                  <c:v>0.32456140350877194</c:v>
                </c:pt>
                <c:pt idx="66">
                  <c:v>0.33333333333333331</c:v>
                </c:pt>
                <c:pt idx="67">
                  <c:v>0.34210526315789475</c:v>
                </c:pt>
                <c:pt idx="68">
                  <c:v>0.34210526315789475</c:v>
                </c:pt>
                <c:pt idx="69">
                  <c:v>0.35087719298245612</c:v>
                </c:pt>
                <c:pt idx="70">
                  <c:v>0.35964912280701755</c:v>
                </c:pt>
                <c:pt idx="71">
                  <c:v>0.36842105263157893</c:v>
                </c:pt>
                <c:pt idx="72">
                  <c:v>0.37719298245614036</c:v>
                </c:pt>
                <c:pt idx="73">
                  <c:v>0.38596491228070173</c:v>
                </c:pt>
                <c:pt idx="74">
                  <c:v>0.39473684210526316</c:v>
                </c:pt>
                <c:pt idx="75">
                  <c:v>0.40350877192982454</c:v>
                </c:pt>
                <c:pt idx="76">
                  <c:v>0.41228070175438597</c:v>
                </c:pt>
                <c:pt idx="77">
                  <c:v>0.42105263157894735</c:v>
                </c:pt>
                <c:pt idx="78">
                  <c:v>0.42982456140350878</c:v>
                </c:pt>
                <c:pt idx="79">
                  <c:v>0.43859649122807015</c:v>
                </c:pt>
                <c:pt idx="80">
                  <c:v>0.44736842105263158</c:v>
                </c:pt>
                <c:pt idx="81">
                  <c:v>0.45614035087719296</c:v>
                </c:pt>
                <c:pt idx="82">
                  <c:v>0.46491228070175439</c:v>
                </c:pt>
                <c:pt idx="83">
                  <c:v>0.47368421052631576</c:v>
                </c:pt>
                <c:pt idx="84">
                  <c:v>0.48245614035087719</c:v>
                </c:pt>
                <c:pt idx="85">
                  <c:v>0.49122807017543857</c:v>
                </c:pt>
                <c:pt idx="86">
                  <c:v>0.5</c:v>
                </c:pt>
                <c:pt idx="87">
                  <c:v>0.5</c:v>
                </c:pt>
                <c:pt idx="88">
                  <c:v>0.50877192982456143</c:v>
                </c:pt>
                <c:pt idx="89">
                  <c:v>0.51754385964912286</c:v>
                </c:pt>
                <c:pt idx="90">
                  <c:v>0.52631578947368418</c:v>
                </c:pt>
                <c:pt idx="91">
                  <c:v>0.52631578947368418</c:v>
                </c:pt>
                <c:pt idx="92">
                  <c:v>0.53508771929824561</c:v>
                </c:pt>
                <c:pt idx="93">
                  <c:v>0.53508771929824561</c:v>
                </c:pt>
                <c:pt idx="94">
                  <c:v>0.54385964912280704</c:v>
                </c:pt>
                <c:pt idx="95">
                  <c:v>0.55263157894736847</c:v>
                </c:pt>
                <c:pt idx="96">
                  <c:v>0.55263157894736847</c:v>
                </c:pt>
                <c:pt idx="97">
                  <c:v>0.55263157894736847</c:v>
                </c:pt>
                <c:pt idx="98">
                  <c:v>0.56140350877192979</c:v>
                </c:pt>
                <c:pt idx="99">
                  <c:v>0.57017543859649122</c:v>
                </c:pt>
                <c:pt idx="100">
                  <c:v>0.57894736842105265</c:v>
                </c:pt>
                <c:pt idx="101">
                  <c:v>0.58771929824561409</c:v>
                </c:pt>
                <c:pt idx="102">
                  <c:v>0.59649122807017541</c:v>
                </c:pt>
                <c:pt idx="103">
                  <c:v>0.60526315789473684</c:v>
                </c:pt>
                <c:pt idx="104">
                  <c:v>0.61403508771929827</c:v>
                </c:pt>
                <c:pt idx="105">
                  <c:v>0.6228070175438597</c:v>
                </c:pt>
                <c:pt idx="106">
                  <c:v>0.63157894736842102</c:v>
                </c:pt>
                <c:pt idx="107">
                  <c:v>0.64035087719298245</c:v>
                </c:pt>
                <c:pt idx="108">
                  <c:v>0.64912280701754388</c:v>
                </c:pt>
                <c:pt idx="109">
                  <c:v>0.65789473684210531</c:v>
                </c:pt>
                <c:pt idx="110">
                  <c:v>0.66666666666666663</c:v>
                </c:pt>
                <c:pt idx="111">
                  <c:v>0.67543859649122806</c:v>
                </c:pt>
                <c:pt idx="112">
                  <c:v>0.68421052631578949</c:v>
                </c:pt>
                <c:pt idx="113">
                  <c:v>0.69298245614035092</c:v>
                </c:pt>
                <c:pt idx="114">
                  <c:v>0.70175438596491224</c:v>
                </c:pt>
                <c:pt idx="115">
                  <c:v>0.71052631578947367</c:v>
                </c:pt>
                <c:pt idx="116">
                  <c:v>0.7192982456140351</c:v>
                </c:pt>
                <c:pt idx="117">
                  <c:v>0.72807017543859653</c:v>
                </c:pt>
                <c:pt idx="118">
                  <c:v>0.73684210526315785</c:v>
                </c:pt>
                <c:pt idx="119">
                  <c:v>0.74561403508771928</c:v>
                </c:pt>
                <c:pt idx="120">
                  <c:v>0.75438596491228072</c:v>
                </c:pt>
                <c:pt idx="121">
                  <c:v>0.75438596491228072</c:v>
                </c:pt>
                <c:pt idx="122">
                  <c:v>0.76315789473684215</c:v>
                </c:pt>
                <c:pt idx="123">
                  <c:v>0.77192982456140347</c:v>
                </c:pt>
                <c:pt idx="124">
                  <c:v>0.7807017543859649</c:v>
                </c:pt>
                <c:pt idx="125">
                  <c:v>0.7807017543859649</c:v>
                </c:pt>
                <c:pt idx="126">
                  <c:v>0.78947368421052633</c:v>
                </c:pt>
                <c:pt idx="127">
                  <c:v>0.79824561403508776</c:v>
                </c:pt>
                <c:pt idx="128">
                  <c:v>0.80701754385964908</c:v>
                </c:pt>
                <c:pt idx="129">
                  <c:v>0.81578947368421051</c:v>
                </c:pt>
                <c:pt idx="130">
                  <c:v>0.82456140350877194</c:v>
                </c:pt>
                <c:pt idx="131">
                  <c:v>0.83333333333333337</c:v>
                </c:pt>
                <c:pt idx="132">
                  <c:v>0.84210526315789469</c:v>
                </c:pt>
                <c:pt idx="133">
                  <c:v>0.85087719298245612</c:v>
                </c:pt>
                <c:pt idx="134">
                  <c:v>0.85964912280701755</c:v>
                </c:pt>
                <c:pt idx="135">
                  <c:v>0.86842105263157898</c:v>
                </c:pt>
                <c:pt idx="136">
                  <c:v>0.8771929824561403</c:v>
                </c:pt>
                <c:pt idx="137">
                  <c:v>0.88596491228070173</c:v>
                </c:pt>
                <c:pt idx="138">
                  <c:v>0.89473684210526316</c:v>
                </c:pt>
                <c:pt idx="139">
                  <c:v>0.90350877192982459</c:v>
                </c:pt>
                <c:pt idx="140">
                  <c:v>0.91228070175438591</c:v>
                </c:pt>
                <c:pt idx="141">
                  <c:v>0.92105263157894735</c:v>
                </c:pt>
                <c:pt idx="142">
                  <c:v>0.92982456140350878</c:v>
                </c:pt>
                <c:pt idx="143">
                  <c:v>0.93859649122807021</c:v>
                </c:pt>
                <c:pt idx="144">
                  <c:v>0.94736842105263153</c:v>
                </c:pt>
                <c:pt idx="145">
                  <c:v>0.95614035087719296</c:v>
                </c:pt>
                <c:pt idx="146">
                  <c:v>0.96491228070175439</c:v>
                </c:pt>
                <c:pt idx="147">
                  <c:v>0.97368421052631582</c:v>
                </c:pt>
                <c:pt idx="148">
                  <c:v>0.98245614035087714</c:v>
                </c:pt>
                <c:pt idx="149">
                  <c:v>0.99122807017543857</c:v>
                </c:pt>
                <c:pt idx="150">
                  <c:v>1</c:v>
                </c:pt>
              </c:numCache>
            </c:numRef>
          </c:xVal>
          <c:yVal>
            <c:numRef>
              <c:f>Sheet1!$B$61:$B$211</c:f>
              <c:numCache>
                <c:formatCode>General</c:formatCode>
                <c:ptCount val="151"/>
                <c:pt idx="0">
                  <c:v>0</c:v>
                </c:pt>
                <c:pt idx="1">
                  <c:v>2.7777777777777776E-2</c:v>
                </c:pt>
                <c:pt idx="2">
                  <c:v>5.5555555555555552E-2</c:v>
                </c:pt>
                <c:pt idx="3">
                  <c:v>8.3333333333333329E-2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0.22222222222222221</c:v>
                </c:pt>
                <c:pt idx="10">
                  <c:v>0.22222222222222221</c:v>
                </c:pt>
                <c:pt idx="11">
                  <c:v>0.25</c:v>
                </c:pt>
                <c:pt idx="12">
                  <c:v>0.25</c:v>
                </c:pt>
                <c:pt idx="13">
                  <c:v>0.25</c:v>
                </c:pt>
                <c:pt idx="14">
                  <c:v>0.27777777777777779</c:v>
                </c:pt>
                <c:pt idx="15">
                  <c:v>0.30555555555555558</c:v>
                </c:pt>
                <c:pt idx="16">
                  <c:v>0.30555555555555558</c:v>
                </c:pt>
                <c:pt idx="17">
                  <c:v>0.30555555555555558</c:v>
                </c:pt>
                <c:pt idx="18">
                  <c:v>0.30555555555555558</c:v>
                </c:pt>
                <c:pt idx="19">
                  <c:v>0.33333333333333331</c:v>
                </c:pt>
                <c:pt idx="20">
                  <c:v>0.3611111111111111</c:v>
                </c:pt>
                <c:pt idx="21">
                  <c:v>0.3888888888888889</c:v>
                </c:pt>
                <c:pt idx="22">
                  <c:v>0.3888888888888889</c:v>
                </c:pt>
                <c:pt idx="23">
                  <c:v>0.3888888888888889</c:v>
                </c:pt>
                <c:pt idx="24">
                  <c:v>0.3888888888888889</c:v>
                </c:pt>
                <c:pt idx="25">
                  <c:v>0.41666666666666669</c:v>
                </c:pt>
                <c:pt idx="26">
                  <c:v>0.44444444444444442</c:v>
                </c:pt>
                <c:pt idx="27">
                  <c:v>0.44444444444444442</c:v>
                </c:pt>
                <c:pt idx="28">
                  <c:v>0.47222222222222221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0.52777777777777779</c:v>
                </c:pt>
                <c:pt idx="33">
                  <c:v>0.52777777777777779</c:v>
                </c:pt>
                <c:pt idx="34">
                  <c:v>0.55555555555555558</c:v>
                </c:pt>
                <c:pt idx="35">
                  <c:v>0.55555555555555558</c:v>
                </c:pt>
                <c:pt idx="36">
                  <c:v>0.55555555555555558</c:v>
                </c:pt>
                <c:pt idx="37">
                  <c:v>0.58333333333333337</c:v>
                </c:pt>
                <c:pt idx="38">
                  <c:v>0.58333333333333337</c:v>
                </c:pt>
                <c:pt idx="39">
                  <c:v>0.58333333333333337</c:v>
                </c:pt>
                <c:pt idx="40">
                  <c:v>0.58333333333333337</c:v>
                </c:pt>
                <c:pt idx="41">
                  <c:v>0.61111111111111116</c:v>
                </c:pt>
                <c:pt idx="42">
                  <c:v>0.63888888888888884</c:v>
                </c:pt>
                <c:pt idx="43">
                  <c:v>0.66666666666666663</c:v>
                </c:pt>
                <c:pt idx="44">
                  <c:v>0.66666666666666663</c:v>
                </c:pt>
                <c:pt idx="45">
                  <c:v>0.66666666666666663</c:v>
                </c:pt>
                <c:pt idx="46">
                  <c:v>0.66666666666666663</c:v>
                </c:pt>
                <c:pt idx="47">
                  <c:v>0.69444444444444442</c:v>
                </c:pt>
                <c:pt idx="48">
                  <c:v>0.69444444444444442</c:v>
                </c:pt>
                <c:pt idx="49">
                  <c:v>0.69444444444444442</c:v>
                </c:pt>
                <c:pt idx="50">
                  <c:v>0.72222222222222221</c:v>
                </c:pt>
                <c:pt idx="51">
                  <c:v>0.72222222222222221</c:v>
                </c:pt>
                <c:pt idx="52">
                  <c:v>0.72222222222222221</c:v>
                </c:pt>
                <c:pt idx="53">
                  <c:v>0.72222222222222221</c:v>
                </c:pt>
                <c:pt idx="54">
                  <c:v>0.72222222222222221</c:v>
                </c:pt>
                <c:pt idx="55">
                  <c:v>0.72222222222222221</c:v>
                </c:pt>
                <c:pt idx="56">
                  <c:v>0.72222222222222221</c:v>
                </c:pt>
                <c:pt idx="57">
                  <c:v>0.75</c:v>
                </c:pt>
                <c:pt idx="58">
                  <c:v>0.75</c:v>
                </c:pt>
                <c:pt idx="59">
                  <c:v>0.75</c:v>
                </c:pt>
                <c:pt idx="60">
                  <c:v>0.75</c:v>
                </c:pt>
                <c:pt idx="61">
                  <c:v>0.75</c:v>
                </c:pt>
                <c:pt idx="62">
                  <c:v>0.75</c:v>
                </c:pt>
                <c:pt idx="63">
                  <c:v>0.75</c:v>
                </c:pt>
                <c:pt idx="64">
                  <c:v>0.77777777777777779</c:v>
                </c:pt>
                <c:pt idx="65">
                  <c:v>0.77777777777777779</c:v>
                </c:pt>
                <c:pt idx="66">
                  <c:v>0.77777777777777779</c:v>
                </c:pt>
                <c:pt idx="67">
                  <c:v>0.77777777777777779</c:v>
                </c:pt>
                <c:pt idx="68">
                  <c:v>0.80555555555555558</c:v>
                </c:pt>
                <c:pt idx="69">
                  <c:v>0.80555555555555558</c:v>
                </c:pt>
                <c:pt idx="70">
                  <c:v>0.80555555555555558</c:v>
                </c:pt>
                <c:pt idx="71">
                  <c:v>0.80555555555555558</c:v>
                </c:pt>
                <c:pt idx="72">
                  <c:v>0.80555555555555558</c:v>
                </c:pt>
                <c:pt idx="73">
                  <c:v>0.80555555555555558</c:v>
                </c:pt>
                <c:pt idx="74">
                  <c:v>0.80555555555555558</c:v>
                </c:pt>
                <c:pt idx="75">
                  <c:v>0.80555555555555558</c:v>
                </c:pt>
                <c:pt idx="76">
                  <c:v>0.80555555555555558</c:v>
                </c:pt>
                <c:pt idx="77">
                  <c:v>0.80555555555555558</c:v>
                </c:pt>
                <c:pt idx="78">
                  <c:v>0.80555555555555558</c:v>
                </c:pt>
                <c:pt idx="79">
                  <c:v>0.80555555555555558</c:v>
                </c:pt>
                <c:pt idx="80">
                  <c:v>0.80555555555555558</c:v>
                </c:pt>
                <c:pt idx="81">
                  <c:v>0.80555555555555558</c:v>
                </c:pt>
                <c:pt idx="82">
                  <c:v>0.80555555555555558</c:v>
                </c:pt>
                <c:pt idx="83">
                  <c:v>0.80555555555555558</c:v>
                </c:pt>
                <c:pt idx="84">
                  <c:v>0.80555555555555558</c:v>
                </c:pt>
                <c:pt idx="85">
                  <c:v>0.80555555555555558</c:v>
                </c:pt>
                <c:pt idx="86">
                  <c:v>0.80555555555555558</c:v>
                </c:pt>
                <c:pt idx="87">
                  <c:v>0.83333333333333337</c:v>
                </c:pt>
                <c:pt idx="88">
                  <c:v>0.83333333333333337</c:v>
                </c:pt>
                <c:pt idx="89">
                  <c:v>0.83333333333333337</c:v>
                </c:pt>
                <c:pt idx="90">
                  <c:v>0.83333333333333337</c:v>
                </c:pt>
                <c:pt idx="91">
                  <c:v>0.86111111111111116</c:v>
                </c:pt>
                <c:pt idx="92">
                  <c:v>0.86111111111111116</c:v>
                </c:pt>
                <c:pt idx="93">
                  <c:v>0.88888888888888884</c:v>
                </c:pt>
                <c:pt idx="94">
                  <c:v>0.88888888888888884</c:v>
                </c:pt>
                <c:pt idx="95">
                  <c:v>0.88888888888888884</c:v>
                </c:pt>
                <c:pt idx="96">
                  <c:v>0.91666666666666663</c:v>
                </c:pt>
                <c:pt idx="97">
                  <c:v>0.94444444444444442</c:v>
                </c:pt>
                <c:pt idx="98">
                  <c:v>0.94444444444444442</c:v>
                </c:pt>
                <c:pt idx="99">
                  <c:v>0.94444444444444442</c:v>
                </c:pt>
                <c:pt idx="100">
                  <c:v>0.94444444444444442</c:v>
                </c:pt>
                <c:pt idx="101">
                  <c:v>0.94444444444444442</c:v>
                </c:pt>
                <c:pt idx="102">
                  <c:v>0.94444444444444442</c:v>
                </c:pt>
                <c:pt idx="103">
                  <c:v>0.94444444444444442</c:v>
                </c:pt>
                <c:pt idx="104">
                  <c:v>0.94444444444444442</c:v>
                </c:pt>
                <c:pt idx="105">
                  <c:v>0.94444444444444442</c:v>
                </c:pt>
                <c:pt idx="106">
                  <c:v>0.94444444444444442</c:v>
                </c:pt>
                <c:pt idx="107">
                  <c:v>0.94444444444444442</c:v>
                </c:pt>
                <c:pt idx="108">
                  <c:v>0.94444444444444442</c:v>
                </c:pt>
                <c:pt idx="109">
                  <c:v>0.94444444444444442</c:v>
                </c:pt>
                <c:pt idx="110">
                  <c:v>0.94444444444444442</c:v>
                </c:pt>
                <c:pt idx="111">
                  <c:v>0.94444444444444442</c:v>
                </c:pt>
                <c:pt idx="112">
                  <c:v>0.94444444444444442</c:v>
                </c:pt>
                <c:pt idx="113">
                  <c:v>0.94444444444444442</c:v>
                </c:pt>
                <c:pt idx="114">
                  <c:v>0.94444444444444442</c:v>
                </c:pt>
                <c:pt idx="115">
                  <c:v>0.94444444444444442</c:v>
                </c:pt>
                <c:pt idx="116">
                  <c:v>0.94444444444444442</c:v>
                </c:pt>
                <c:pt idx="117">
                  <c:v>0.94444444444444442</c:v>
                </c:pt>
                <c:pt idx="118">
                  <c:v>0.94444444444444442</c:v>
                </c:pt>
                <c:pt idx="119">
                  <c:v>0.94444444444444442</c:v>
                </c:pt>
                <c:pt idx="120">
                  <c:v>0.94444444444444442</c:v>
                </c:pt>
                <c:pt idx="121">
                  <c:v>0.97222222222222221</c:v>
                </c:pt>
                <c:pt idx="122">
                  <c:v>0.97222222222222221</c:v>
                </c:pt>
                <c:pt idx="123">
                  <c:v>0.97222222222222221</c:v>
                </c:pt>
                <c:pt idx="124">
                  <c:v>0.97222222222222221</c:v>
                </c:pt>
                <c:pt idx="125">
                  <c:v>1</c:v>
                </c:pt>
                <c:pt idx="126">
                  <c:v>1</c:v>
                </c:pt>
                <c:pt idx="127">
                  <c:v>1</c:v>
                </c:pt>
                <c:pt idx="128">
                  <c:v>1</c:v>
                </c:pt>
                <c:pt idx="129">
                  <c:v>1</c:v>
                </c:pt>
                <c:pt idx="130">
                  <c:v>1</c:v>
                </c:pt>
                <c:pt idx="131">
                  <c:v>1</c:v>
                </c:pt>
                <c:pt idx="132">
                  <c:v>1</c:v>
                </c:pt>
                <c:pt idx="133">
                  <c:v>1</c:v>
                </c:pt>
                <c:pt idx="134">
                  <c:v>1</c:v>
                </c:pt>
                <c:pt idx="135">
                  <c:v>1</c:v>
                </c:pt>
                <c:pt idx="136">
                  <c:v>1</c:v>
                </c:pt>
                <c:pt idx="137">
                  <c:v>1</c:v>
                </c:pt>
                <c:pt idx="138">
                  <c:v>1</c:v>
                </c:pt>
                <c:pt idx="139">
                  <c:v>1</c:v>
                </c:pt>
                <c:pt idx="140">
                  <c:v>1</c:v>
                </c:pt>
                <c:pt idx="141">
                  <c:v>1</c:v>
                </c:pt>
                <c:pt idx="142">
                  <c:v>1</c:v>
                </c:pt>
                <c:pt idx="143">
                  <c:v>1</c:v>
                </c:pt>
                <c:pt idx="144">
                  <c:v>1</c:v>
                </c:pt>
                <c:pt idx="145">
                  <c:v>1</c:v>
                </c:pt>
                <c:pt idx="146">
                  <c:v>1</c:v>
                </c:pt>
                <c:pt idx="147">
                  <c:v>1</c:v>
                </c:pt>
                <c:pt idx="148">
                  <c:v>1</c:v>
                </c:pt>
                <c:pt idx="149">
                  <c:v>1</c:v>
                </c:pt>
                <c:pt idx="15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128-4408-AEF8-5CFE4AD7BABF}"/>
            </c:ext>
          </c:extLst>
        </c:ser>
        <c:ser>
          <c:idx val="2"/>
          <c:order val="2"/>
          <c:tx>
            <c:strRef>
              <c:f>Sheet1!$B$213</c:f>
              <c:strCache>
                <c:ptCount val="1"/>
                <c:pt idx="0">
                  <c:v>нейросеть + измерение</c:v>
                </c:pt>
              </c:strCache>
            </c:strRef>
          </c:tx>
          <c:spPr>
            <a:ln w="31750">
              <a:solidFill>
                <a:srgbClr val="520977"/>
              </a:solidFill>
            </a:ln>
          </c:spPr>
          <c:marker>
            <c:symbol val="none"/>
          </c:marker>
          <c:xVal>
            <c:numRef>
              <c:f>Sheet1!$A$214:$A$364</c:f>
              <c:numCache>
                <c:formatCode>General</c:formatCode>
                <c:ptCount val="15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8.771929824561403E-3</c:v>
                </c:pt>
                <c:pt idx="9">
                  <c:v>8.771929824561403E-3</c:v>
                </c:pt>
                <c:pt idx="10">
                  <c:v>8.771929824561403E-3</c:v>
                </c:pt>
                <c:pt idx="11">
                  <c:v>8.771929824561403E-3</c:v>
                </c:pt>
                <c:pt idx="12">
                  <c:v>1.7543859649122806E-2</c:v>
                </c:pt>
                <c:pt idx="13">
                  <c:v>2.6315789473684209E-2</c:v>
                </c:pt>
                <c:pt idx="14">
                  <c:v>3.5087719298245612E-2</c:v>
                </c:pt>
                <c:pt idx="15">
                  <c:v>3.5087719298245612E-2</c:v>
                </c:pt>
                <c:pt idx="16">
                  <c:v>3.5087719298245612E-2</c:v>
                </c:pt>
                <c:pt idx="17">
                  <c:v>4.3859649122807015E-2</c:v>
                </c:pt>
                <c:pt idx="18">
                  <c:v>4.3859649122807015E-2</c:v>
                </c:pt>
                <c:pt idx="19">
                  <c:v>4.3859649122807015E-2</c:v>
                </c:pt>
                <c:pt idx="20">
                  <c:v>4.3859649122807015E-2</c:v>
                </c:pt>
                <c:pt idx="21">
                  <c:v>5.2631578947368418E-2</c:v>
                </c:pt>
                <c:pt idx="22">
                  <c:v>6.1403508771929821E-2</c:v>
                </c:pt>
                <c:pt idx="23">
                  <c:v>7.0175438596491224E-2</c:v>
                </c:pt>
                <c:pt idx="24">
                  <c:v>7.0175438596491224E-2</c:v>
                </c:pt>
                <c:pt idx="25">
                  <c:v>7.8947368421052627E-2</c:v>
                </c:pt>
                <c:pt idx="26">
                  <c:v>8.771929824561403E-2</c:v>
                </c:pt>
                <c:pt idx="27">
                  <c:v>8.771929824561403E-2</c:v>
                </c:pt>
                <c:pt idx="28">
                  <c:v>8.771929824561403E-2</c:v>
                </c:pt>
                <c:pt idx="29">
                  <c:v>9.6491228070175433E-2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0.12280701754385964</c:v>
                </c:pt>
                <c:pt idx="33">
                  <c:v>0.13157894736842105</c:v>
                </c:pt>
                <c:pt idx="34">
                  <c:v>0.13157894736842105</c:v>
                </c:pt>
                <c:pt idx="35">
                  <c:v>0.14035087719298245</c:v>
                </c:pt>
                <c:pt idx="36">
                  <c:v>0.14912280701754385</c:v>
                </c:pt>
                <c:pt idx="37">
                  <c:v>0.15789473684210525</c:v>
                </c:pt>
                <c:pt idx="38">
                  <c:v>0.16666666666666666</c:v>
                </c:pt>
                <c:pt idx="39">
                  <c:v>0.16666666666666666</c:v>
                </c:pt>
                <c:pt idx="40">
                  <c:v>0.16666666666666666</c:v>
                </c:pt>
                <c:pt idx="41">
                  <c:v>0.17543859649122806</c:v>
                </c:pt>
                <c:pt idx="42">
                  <c:v>0.17543859649122806</c:v>
                </c:pt>
                <c:pt idx="43">
                  <c:v>0.17543859649122806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0.20175438596491227</c:v>
                </c:pt>
                <c:pt idx="48">
                  <c:v>0.20175438596491227</c:v>
                </c:pt>
                <c:pt idx="49">
                  <c:v>0.20175438596491227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0.21929824561403508</c:v>
                </c:pt>
                <c:pt idx="53">
                  <c:v>0.22807017543859648</c:v>
                </c:pt>
                <c:pt idx="54">
                  <c:v>0.22807017543859648</c:v>
                </c:pt>
                <c:pt idx="55">
                  <c:v>0.23684210526315788</c:v>
                </c:pt>
                <c:pt idx="56">
                  <c:v>0.24561403508771928</c:v>
                </c:pt>
                <c:pt idx="57">
                  <c:v>0.25438596491228072</c:v>
                </c:pt>
                <c:pt idx="58">
                  <c:v>0.26315789473684209</c:v>
                </c:pt>
                <c:pt idx="59">
                  <c:v>0.27192982456140352</c:v>
                </c:pt>
                <c:pt idx="60">
                  <c:v>0.2807017543859649</c:v>
                </c:pt>
                <c:pt idx="61">
                  <c:v>0.28947368421052633</c:v>
                </c:pt>
                <c:pt idx="62">
                  <c:v>0.2982456140350877</c:v>
                </c:pt>
                <c:pt idx="63">
                  <c:v>0.30701754385964913</c:v>
                </c:pt>
                <c:pt idx="64">
                  <c:v>0.30701754385964913</c:v>
                </c:pt>
                <c:pt idx="65">
                  <c:v>0.31578947368421051</c:v>
                </c:pt>
                <c:pt idx="66">
                  <c:v>0.32456140350877194</c:v>
                </c:pt>
                <c:pt idx="67">
                  <c:v>0.33333333333333331</c:v>
                </c:pt>
                <c:pt idx="68">
                  <c:v>0.34210526315789475</c:v>
                </c:pt>
                <c:pt idx="69">
                  <c:v>0.35087719298245612</c:v>
                </c:pt>
                <c:pt idx="70">
                  <c:v>0.35964912280701755</c:v>
                </c:pt>
                <c:pt idx="71">
                  <c:v>0.35964912280701755</c:v>
                </c:pt>
                <c:pt idx="72">
                  <c:v>0.36842105263157893</c:v>
                </c:pt>
                <c:pt idx="73">
                  <c:v>0.37719298245614036</c:v>
                </c:pt>
                <c:pt idx="74">
                  <c:v>0.38596491228070173</c:v>
                </c:pt>
                <c:pt idx="75">
                  <c:v>0.39473684210526316</c:v>
                </c:pt>
                <c:pt idx="76">
                  <c:v>0.40350877192982454</c:v>
                </c:pt>
                <c:pt idx="77">
                  <c:v>0.41228070175438597</c:v>
                </c:pt>
                <c:pt idx="78">
                  <c:v>0.42105263157894735</c:v>
                </c:pt>
                <c:pt idx="79">
                  <c:v>0.42982456140350878</c:v>
                </c:pt>
                <c:pt idx="80">
                  <c:v>0.43859649122807015</c:v>
                </c:pt>
                <c:pt idx="81">
                  <c:v>0.44736842105263158</c:v>
                </c:pt>
                <c:pt idx="82">
                  <c:v>0.45614035087719296</c:v>
                </c:pt>
                <c:pt idx="83">
                  <c:v>0.46491228070175439</c:v>
                </c:pt>
                <c:pt idx="84">
                  <c:v>0.47368421052631576</c:v>
                </c:pt>
                <c:pt idx="85">
                  <c:v>0.48245614035087719</c:v>
                </c:pt>
                <c:pt idx="86">
                  <c:v>0.49122807017543857</c:v>
                </c:pt>
                <c:pt idx="87">
                  <c:v>0.5</c:v>
                </c:pt>
                <c:pt idx="88">
                  <c:v>0.50877192982456143</c:v>
                </c:pt>
                <c:pt idx="89">
                  <c:v>0.50877192982456143</c:v>
                </c:pt>
                <c:pt idx="90">
                  <c:v>0.51754385964912286</c:v>
                </c:pt>
                <c:pt idx="91">
                  <c:v>0.52631578947368418</c:v>
                </c:pt>
                <c:pt idx="92">
                  <c:v>0.53508771929824561</c:v>
                </c:pt>
                <c:pt idx="93">
                  <c:v>0.54385964912280704</c:v>
                </c:pt>
                <c:pt idx="94">
                  <c:v>0.55263157894736847</c:v>
                </c:pt>
                <c:pt idx="95">
                  <c:v>0.55263157894736847</c:v>
                </c:pt>
                <c:pt idx="96">
                  <c:v>0.56140350877192979</c:v>
                </c:pt>
                <c:pt idx="97">
                  <c:v>0.57017543859649122</c:v>
                </c:pt>
                <c:pt idx="98">
                  <c:v>0.57894736842105265</c:v>
                </c:pt>
                <c:pt idx="99">
                  <c:v>0.57894736842105265</c:v>
                </c:pt>
                <c:pt idx="100">
                  <c:v>0.58771929824561409</c:v>
                </c:pt>
                <c:pt idx="101">
                  <c:v>0.59649122807017541</c:v>
                </c:pt>
                <c:pt idx="102">
                  <c:v>0.59649122807017541</c:v>
                </c:pt>
                <c:pt idx="103">
                  <c:v>0.60526315789473684</c:v>
                </c:pt>
                <c:pt idx="104">
                  <c:v>0.61403508771929827</c:v>
                </c:pt>
                <c:pt idx="105">
                  <c:v>0.61403508771929827</c:v>
                </c:pt>
                <c:pt idx="106">
                  <c:v>0.6228070175438597</c:v>
                </c:pt>
                <c:pt idx="107">
                  <c:v>0.63157894736842102</c:v>
                </c:pt>
                <c:pt idx="108">
                  <c:v>0.64035087719298245</c:v>
                </c:pt>
                <c:pt idx="109">
                  <c:v>0.64912280701754388</c:v>
                </c:pt>
                <c:pt idx="110">
                  <c:v>0.65789473684210531</c:v>
                </c:pt>
                <c:pt idx="111">
                  <c:v>0.66666666666666663</c:v>
                </c:pt>
                <c:pt idx="112">
                  <c:v>0.67543859649122806</c:v>
                </c:pt>
                <c:pt idx="113">
                  <c:v>0.68421052631578949</c:v>
                </c:pt>
                <c:pt idx="114">
                  <c:v>0.69298245614035092</c:v>
                </c:pt>
                <c:pt idx="115">
                  <c:v>0.70175438596491224</c:v>
                </c:pt>
                <c:pt idx="116">
                  <c:v>0.71052631578947367</c:v>
                </c:pt>
                <c:pt idx="117">
                  <c:v>0.7192982456140351</c:v>
                </c:pt>
                <c:pt idx="118">
                  <c:v>0.72807017543859653</c:v>
                </c:pt>
                <c:pt idx="119">
                  <c:v>0.73684210526315785</c:v>
                </c:pt>
                <c:pt idx="120">
                  <c:v>0.74561403508771928</c:v>
                </c:pt>
                <c:pt idx="121">
                  <c:v>0.75438596491228072</c:v>
                </c:pt>
                <c:pt idx="122">
                  <c:v>0.76315789473684215</c:v>
                </c:pt>
                <c:pt idx="123">
                  <c:v>0.77192982456140347</c:v>
                </c:pt>
                <c:pt idx="124">
                  <c:v>0.7807017543859649</c:v>
                </c:pt>
                <c:pt idx="125">
                  <c:v>0.78947368421052633</c:v>
                </c:pt>
                <c:pt idx="126">
                  <c:v>0.79824561403508776</c:v>
                </c:pt>
                <c:pt idx="127">
                  <c:v>0.79824561403508776</c:v>
                </c:pt>
                <c:pt idx="128">
                  <c:v>0.80701754385964908</c:v>
                </c:pt>
                <c:pt idx="129">
                  <c:v>0.81578947368421051</c:v>
                </c:pt>
                <c:pt idx="130">
                  <c:v>0.82456140350877194</c:v>
                </c:pt>
                <c:pt idx="131">
                  <c:v>0.83333333333333337</c:v>
                </c:pt>
                <c:pt idx="132">
                  <c:v>0.84210526315789469</c:v>
                </c:pt>
                <c:pt idx="133">
                  <c:v>0.85087719298245612</c:v>
                </c:pt>
                <c:pt idx="134">
                  <c:v>0.85964912280701755</c:v>
                </c:pt>
                <c:pt idx="135">
                  <c:v>0.86842105263157898</c:v>
                </c:pt>
                <c:pt idx="136">
                  <c:v>0.8771929824561403</c:v>
                </c:pt>
                <c:pt idx="137">
                  <c:v>0.88596491228070173</c:v>
                </c:pt>
                <c:pt idx="138">
                  <c:v>0.89473684210526316</c:v>
                </c:pt>
                <c:pt idx="139">
                  <c:v>0.90350877192982459</c:v>
                </c:pt>
                <c:pt idx="140">
                  <c:v>0.91228070175438591</c:v>
                </c:pt>
                <c:pt idx="141">
                  <c:v>0.92105263157894735</c:v>
                </c:pt>
                <c:pt idx="142">
                  <c:v>0.92982456140350878</c:v>
                </c:pt>
                <c:pt idx="143">
                  <c:v>0.93859649122807021</c:v>
                </c:pt>
                <c:pt idx="144">
                  <c:v>0.94736842105263153</c:v>
                </c:pt>
                <c:pt idx="145">
                  <c:v>0.95614035087719296</c:v>
                </c:pt>
                <c:pt idx="146">
                  <c:v>0.96491228070175439</c:v>
                </c:pt>
                <c:pt idx="147">
                  <c:v>0.97368421052631582</c:v>
                </c:pt>
                <c:pt idx="148">
                  <c:v>0.98245614035087714</c:v>
                </c:pt>
                <c:pt idx="149">
                  <c:v>0.99122807017543857</c:v>
                </c:pt>
                <c:pt idx="150">
                  <c:v>1</c:v>
                </c:pt>
              </c:numCache>
            </c:numRef>
          </c:xVal>
          <c:yVal>
            <c:numRef>
              <c:f>Sheet1!$B$214:$B$364</c:f>
              <c:numCache>
                <c:formatCode>General</c:formatCode>
                <c:ptCount val="151"/>
                <c:pt idx="0">
                  <c:v>0</c:v>
                </c:pt>
                <c:pt idx="1">
                  <c:v>2.7777777777777776E-2</c:v>
                </c:pt>
                <c:pt idx="2">
                  <c:v>5.5555555555555552E-2</c:v>
                </c:pt>
                <c:pt idx="3">
                  <c:v>8.3333333333333329E-2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0.22222222222222221</c:v>
                </c:pt>
                <c:pt idx="10">
                  <c:v>0.25</c:v>
                </c:pt>
                <c:pt idx="11">
                  <c:v>0.27777777777777779</c:v>
                </c:pt>
                <c:pt idx="12">
                  <c:v>0.27777777777777779</c:v>
                </c:pt>
                <c:pt idx="13">
                  <c:v>0.27777777777777779</c:v>
                </c:pt>
                <c:pt idx="14">
                  <c:v>0.27777777777777779</c:v>
                </c:pt>
                <c:pt idx="15">
                  <c:v>0.30555555555555558</c:v>
                </c:pt>
                <c:pt idx="16">
                  <c:v>0.33333333333333331</c:v>
                </c:pt>
                <c:pt idx="17">
                  <c:v>0.33333333333333331</c:v>
                </c:pt>
                <c:pt idx="18">
                  <c:v>0.3611111111111111</c:v>
                </c:pt>
                <c:pt idx="19">
                  <c:v>0.3888888888888889</c:v>
                </c:pt>
                <c:pt idx="20">
                  <c:v>0.41666666666666669</c:v>
                </c:pt>
                <c:pt idx="21">
                  <c:v>0.41666666666666669</c:v>
                </c:pt>
                <c:pt idx="22">
                  <c:v>0.41666666666666669</c:v>
                </c:pt>
                <c:pt idx="23">
                  <c:v>0.41666666666666669</c:v>
                </c:pt>
                <c:pt idx="24">
                  <c:v>0.44444444444444442</c:v>
                </c:pt>
                <c:pt idx="25">
                  <c:v>0.44444444444444442</c:v>
                </c:pt>
                <c:pt idx="26">
                  <c:v>0.44444444444444442</c:v>
                </c:pt>
                <c:pt idx="27">
                  <c:v>0.47222222222222221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</c:v>
                </c:pt>
                <c:pt idx="33">
                  <c:v>0.5</c:v>
                </c:pt>
                <c:pt idx="34">
                  <c:v>0.52777777777777779</c:v>
                </c:pt>
                <c:pt idx="35">
                  <c:v>0.52777777777777779</c:v>
                </c:pt>
                <c:pt idx="36">
                  <c:v>0.52777777777777779</c:v>
                </c:pt>
                <c:pt idx="37">
                  <c:v>0.52777777777777779</c:v>
                </c:pt>
                <c:pt idx="38">
                  <c:v>0.52777777777777779</c:v>
                </c:pt>
                <c:pt idx="39">
                  <c:v>0.55555555555555558</c:v>
                </c:pt>
                <c:pt idx="40">
                  <c:v>0.58333333333333337</c:v>
                </c:pt>
                <c:pt idx="41">
                  <c:v>0.58333333333333337</c:v>
                </c:pt>
                <c:pt idx="42">
                  <c:v>0.61111111111111116</c:v>
                </c:pt>
                <c:pt idx="43">
                  <c:v>0.63888888888888884</c:v>
                </c:pt>
                <c:pt idx="44">
                  <c:v>0.66666666666666663</c:v>
                </c:pt>
                <c:pt idx="45">
                  <c:v>0.66666666666666663</c:v>
                </c:pt>
                <c:pt idx="46">
                  <c:v>0.66666666666666663</c:v>
                </c:pt>
                <c:pt idx="47">
                  <c:v>0.66666666666666663</c:v>
                </c:pt>
                <c:pt idx="48">
                  <c:v>0.69444444444444442</c:v>
                </c:pt>
                <c:pt idx="49">
                  <c:v>0.72222222222222221</c:v>
                </c:pt>
                <c:pt idx="50">
                  <c:v>0.72222222222222221</c:v>
                </c:pt>
                <c:pt idx="51">
                  <c:v>0.72222222222222221</c:v>
                </c:pt>
                <c:pt idx="52">
                  <c:v>0.75</c:v>
                </c:pt>
                <c:pt idx="53">
                  <c:v>0.75</c:v>
                </c:pt>
                <c:pt idx="54">
                  <c:v>0.77777777777777779</c:v>
                </c:pt>
                <c:pt idx="55">
                  <c:v>0.77777777777777779</c:v>
                </c:pt>
                <c:pt idx="56">
                  <c:v>0.77777777777777779</c:v>
                </c:pt>
                <c:pt idx="57">
                  <c:v>0.77777777777777779</c:v>
                </c:pt>
                <c:pt idx="58">
                  <c:v>0.77777777777777779</c:v>
                </c:pt>
                <c:pt idx="59">
                  <c:v>0.77777777777777779</c:v>
                </c:pt>
                <c:pt idx="60">
                  <c:v>0.77777777777777779</c:v>
                </c:pt>
                <c:pt idx="61">
                  <c:v>0.77777777777777779</c:v>
                </c:pt>
                <c:pt idx="62">
                  <c:v>0.77777777777777779</c:v>
                </c:pt>
                <c:pt idx="63">
                  <c:v>0.77777777777777779</c:v>
                </c:pt>
                <c:pt idx="64">
                  <c:v>0.80555555555555558</c:v>
                </c:pt>
                <c:pt idx="65">
                  <c:v>0.80555555555555558</c:v>
                </c:pt>
                <c:pt idx="66">
                  <c:v>0.80555555555555558</c:v>
                </c:pt>
                <c:pt idx="67">
                  <c:v>0.80555555555555558</c:v>
                </c:pt>
                <c:pt idx="68">
                  <c:v>0.80555555555555558</c:v>
                </c:pt>
                <c:pt idx="69">
                  <c:v>0.80555555555555558</c:v>
                </c:pt>
                <c:pt idx="70">
                  <c:v>0.80555555555555558</c:v>
                </c:pt>
                <c:pt idx="71">
                  <c:v>0.83333333333333337</c:v>
                </c:pt>
                <c:pt idx="72">
                  <c:v>0.83333333333333337</c:v>
                </c:pt>
                <c:pt idx="73">
                  <c:v>0.83333333333333337</c:v>
                </c:pt>
                <c:pt idx="74">
                  <c:v>0.83333333333333337</c:v>
                </c:pt>
                <c:pt idx="75">
                  <c:v>0.83333333333333337</c:v>
                </c:pt>
                <c:pt idx="76">
                  <c:v>0.83333333333333337</c:v>
                </c:pt>
                <c:pt idx="77">
                  <c:v>0.83333333333333337</c:v>
                </c:pt>
                <c:pt idx="78">
                  <c:v>0.83333333333333337</c:v>
                </c:pt>
                <c:pt idx="79">
                  <c:v>0.83333333333333337</c:v>
                </c:pt>
                <c:pt idx="80">
                  <c:v>0.83333333333333337</c:v>
                </c:pt>
                <c:pt idx="81">
                  <c:v>0.83333333333333337</c:v>
                </c:pt>
                <c:pt idx="82">
                  <c:v>0.83333333333333337</c:v>
                </c:pt>
                <c:pt idx="83">
                  <c:v>0.83333333333333337</c:v>
                </c:pt>
                <c:pt idx="84">
                  <c:v>0.83333333333333337</c:v>
                </c:pt>
                <c:pt idx="85">
                  <c:v>0.83333333333333337</c:v>
                </c:pt>
                <c:pt idx="86">
                  <c:v>0.83333333333333337</c:v>
                </c:pt>
                <c:pt idx="87">
                  <c:v>0.83333333333333337</c:v>
                </c:pt>
                <c:pt idx="88">
                  <c:v>0.83333333333333337</c:v>
                </c:pt>
                <c:pt idx="89">
                  <c:v>0.86111111111111116</c:v>
                </c:pt>
                <c:pt idx="90">
                  <c:v>0.86111111111111116</c:v>
                </c:pt>
                <c:pt idx="91">
                  <c:v>0.86111111111111116</c:v>
                </c:pt>
                <c:pt idx="92">
                  <c:v>0.86111111111111116</c:v>
                </c:pt>
                <c:pt idx="93">
                  <c:v>0.86111111111111116</c:v>
                </c:pt>
                <c:pt idx="94">
                  <c:v>0.86111111111111116</c:v>
                </c:pt>
                <c:pt idx="95">
                  <c:v>0.88888888888888884</c:v>
                </c:pt>
                <c:pt idx="96">
                  <c:v>0.88888888888888884</c:v>
                </c:pt>
                <c:pt idx="97">
                  <c:v>0.88888888888888884</c:v>
                </c:pt>
                <c:pt idx="98">
                  <c:v>0.88888888888888884</c:v>
                </c:pt>
                <c:pt idx="99">
                  <c:v>0.91666666666666663</c:v>
                </c:pt>
                <c:pt idx="100">
                  <c:v>0.91666666666666663</c:v>
                </c:pt>
                <c:pt idx="101">
                  <c:v>0.91666666666666663</c:v>
                </c:pt>
                <c:pt idx="102">
                  <c:v>0.94444444444444442</c:v>
                </c:pt>
                <c:pt idx="103">
                  <c:v>0.94444444444444442</c:v>
                </c:pt>
                <c:pt idx="104">
                  <c:v>0.94444444444444442</c:v>
                </c:pt>
                <c:pt idx="105">
                  <c:v>0.97222222222222221</c:v>
                </c:pt>
                <c:pt idx="106">
                  <c:v>0.97222222222222221</c:v>
                </c:pt>
                <c:pt idx="107">
                  <c:v>0.97222222222222221</c:v>
                </c:pt>
                <c:pt idx="108">
                  <c:v>0.97222222222222221</c:v>
                </c:pt>
                <c:pt idx="109">
                  <c:v>0.97222222222222221</c:v>
                </c:pt>
                <c:pt idx="110">
                  <c:v>0.97222222222222221</c:v>
                </c:pt>
                <c:pt idx="111">
                  <c:v>0.97222222222222221</c:v>
                </c:pt>
                <c:pt idx="112">
                  <c:v>0.97222222222222221</c:v>
                </c:pt>
                <c:pt idx="113">
                  <c:v>0.97222222222222221</c:v>
                </c:pt>
                <c:pt idx="114">
                  <c:v>0.97222222222222221</c:v>
                </c:pt>
                <c:pt idx="115">
                  <c:v>0.97222222222222221</c:v>
                </c:pt>
                <c:pt idx="116">
                  <c:v>0.97222222222222221</c:v>
                </c:pt>
                <c:pt idx="117">
                  <c:v>0.97222222222222221</c:v>
                </c:pt>
                <c:pt idx="118">
                  <c:v>0.97222222222222221</c:v>
                </c:pt>
                <c:pt idx="119">
                  <c:v>0.97222222222222221</c:v>
                </c:pt>
                <c:pt idx="120">
                  <c:v>0.97222222222222221</c:v>
                </c:pt>
                <c:pt idx="121">
                  <c:v>0.97222222222222221</c:v>
                </c:pt>
                <c:pt idx="122">
                  <c:v>0.97222222222222221</c:v>
                </c:pt>
                <c:pt idx="123">
                  <c:v>0.97222222222222221</c:v>
                </c:pt>
                <c:pt idx="124">
                  <c:v>0.97222222222222221</c:v>
                </c:pt>
                <c:pt idx="125">
                  <c:v>0.97222222222222221</c:v>
                </c:pt>
                <c:pt idx="126">
                  <c:v>0.97222222222222221</c:v>
                </c:pt>
                <c:pt idx="127">
                  <c:v>1</c:v>
                </c:pt>
                <c:pt idx="128">
                  <c:v>1</c:v>
                </c:pt>
                <c:pt idx="129">
                  <c:v>1</c:v>
                </c:pt>
                <c:pt idx="130">
                  <c:v>1</c:v>
                </c:pt>
                <c:pt idx="131">
                  <c:v>1</c:v>
                </c:pt>
                <c:pt idx="132">
                  <c:v>1</c:v>
                </c:pt>
                <c:pt idx="133">
                  <c:v>1</c:v>
                </c:pt>
                <c:pt idx="134">
                  <c:v>1</c:v>
                </c:pt>
                <c:pt idx="135">
                  <c:v>1</c:v>
                </c:pt>
                <c:pt idx="136">
                  <c:v>1</c:v>
                </c:pt>
                <c:pt idx="137">
                  <c:v>1</c:v>
                </c:pt>
                <c:pt idx="138">
                  <c:v>1</c:v>
                </c:pt>
                <c:pt idx="139">
                  <c:v>1</c:v>
                </c:pt>
                <c:pt idx="140">
                  <c:v>1</c:v>
                </c:pt>
                <c:pt idx="141">
                  <c:v>1</c:v>
                </c:pt>
                <c:pt idx="142">
                  <c:v>1</c:v>
                </c:pt>
                <c:pt idx="143">
                  <c:v>1</c:v>
                </c:pt>
                <c:pt idx="144">
                  <c:v>1</c:v>
                </c:pt>
                <c:pt idx="145">
                  <c:v>1</c:v>
                </c:pt>
                <c:pt idx="146">
                  <c:v>1</c:v>
                </c:pt>
                <c:pt idx="147">
                  <c:v>1</c:v>
                </c:pt>
                <c:pt idx="148">
                  <c:v>1</c:v>
                </c:pt>
                <c:pt idx="149">
                  <c:v>1</c:v>
                </c:pt>
                <c:pt idx="15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D128-4408-AEF8-5CFE4AD7BABF}"/>
            </c:ext>
          </c:extLst>
        </c:ser>
        <c:ser>
          <c:idx val="3"/>
          <c:order val="3"/>
          <c:tx>
            <c:strRef>
              <c:f>Sheet1!$B$366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8B8599"/>
              </a:solidFill>
              <a:prstDash val="dash"/>
            </a:ln>
          </c:spPr>
          <c:marker>
            <c:symbol val="none"/>
          </c:marker>
          <c:xVal>
            <c:numRef>
              <c:f>Sheet1!$A$367:$A$368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Sheet1!$B$367:$B$368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D128-4408-AEF8-5CFE4AD7BA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"/>
          <c:min val="0"/>
        </c:scaling>
        <c:delete val="0"/>
        <c:axPos val="b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8B8599"/>
          </a:solidFill>
          <a:latin typeface="Montserrat"/>
        </a:defRPr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top-hat</c:v>
                </c:pt>
              </c:strCache>
            </c:strRef>
          </c:tx>
          <c:spPr>
            <a:ln w="12700">
              <a:solidFill>
                <a:srgbClr val="8A83D1"/>
              </a:solidFill>
              <a:prstDash val="dash"/>
            </a:ln>
          </c:spPr>
          <c:marker>
            <c:symbol val="none"/>
          </c:marker>
          <c:xVal>
            <c:numRef>
              <c:f>Sheet1!$A$2:$A$98</c:f>
              <c:numCache>
                <c:formatCode>General</c:formatCode>
                <c:ptCount val="97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1.2195121951219513E-2</c:v>
                </c:pt>
                <c:pt idx="4">
                  <c:v>1.2195121951219513E-2</c:v>
                </c:pt>
                <c:pt idx="5">
                  <c:v>2.4390243902439025E-2</c:v>
                </c:pt>
                <c:pt idx="6">
                  <c:v>3.6585365853658534E-2</c:v>
                </c:pt>
                <c:pt idx="7">
                  <c:v>3.6585365853658534E-2</c:v>
                </c:pt>
                <c:pt idx="8">
                  <c:v>3.6585365853658534E-2</c:v>
                </c:pt>
                <c:pt idx="9">
                  <c:v>3.6585365853658534E-2</c:v>
                </c:pt>
                <c:pt idx="10">
                  <c:v>3.6585365853658534E-2</c:v>
                </c:pt>
                <c:pt idx="11">
                  <c:v>3.6585365853658534E-2</c:v>
                </c:pt>
                <c:pt idx="12">
                  <c:v>3.6585365853658534E-2</c:v>
                </c:pt>
                <c:pt idx="13">
                  <c:v>4.878048780487805E-2</c:v>
                </c:pt>
                <c:pt idx="14">
                  <c:v>4.878048780487805E-2</c:v>
                </c:pt>
                <c:pt idx="15">
                  <c:v>6.097560975609756E-2</c:v>
                </c:pt>
                <c:pt idx="16">
                  <c:v>7.3170731707317069E-2</c:v>
                </c:pt>
                <c:pt idx="17">
                  <c:v>8.5365853658536592E-2</c:v>
                </c:pt>
                <c:pt idx="18">
                  <c:v>9.7560975609756101E-2</c:v>
                </c:pt>
                <c:pt idx="19">
                  <c:v>0.10975609756097561</c:v>
                </c:pt>
                <c:pt idx="20">
                  <c:v>0.12195121951219512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0.14634146341463414</c:v>
                </c:pt>
                <c:pt idx="24">
                  <c:v>0.15853658536585366</c:v>
                </c:pt>
                <c:pt idx="25">
                  <c:v>0.17073170731707318</c:v>
                </c:pt>
                <c:pt idx="26">
                  <c:v>0.18292682926829268</c:v>
                </c:pt>
                <c:pt idx="27">
                  <c:v>0.1951219512195122</c:v>
                </c:pt>
                <c:pt idx="28">
                  <c:v>0.2073170731707317</c:v>
                </c:pt>
                <c:pt idx="29">
                  <c:v>0.21951219512195122</c:v>
                </c:pt>
                <c:pt idx="30">
                  <c:v>0.23170731707317074</c:v>
                </c:pt>
                <c:pt idx="31">
                  <c:v>0.24390243902439024</c:v>
                </c:pt>
                <c:pt idx="32">
                  <c:v>0.25609756097560976</c:v>
                </c:pt>
                <c:pt idx="33">
                  <c:v>0.26829268292682928</c:v>
                </c:pt>
                <c:pt idx="34">
                  <c:v>0.28048780487804881</c:v>
                </c:pt>
                <c:pt idx="35">
                  <c:v>0.29268292682926828</c:v>
                </c:pt>
                <c:pt idx="36">
                  <c:v>0.3048780487804878</c:v>
                </c:pt>
                <c:pt idx="37">
                  <c:v>0.31707317073170732</c:v>
                </c:pt>
                <c:pt idx="38">
                  <c:v>0.32926829268292684</c:v>
                </c:pt>
                <c:pt idx="39">
                  <c:v>0.32926829268292684</c:v>
                </c:pt>
                <c:pt idx="40">
                  <c:v>0.34146341463414637</c:v>
                </c:pt>
                <c:pt idx="41">
                  <c:v>0.35365853658536583</c:v>
                </c:pt>
                <c:pt idx="42">
                  <c:v>0.36585365853658536</c:v>
                </c:pt>
                <c:pt idx="43">
                  <c:v>0.37804878048780488</c:v>
                </c:pt>
                <c:pt idx="44">
                  <c:v>0.3902439024390244</c:v>
                </c:pt>
                <c:pt idx="45">
                  <c:v>0.40243902439024393</c:v>
                </c:pt>
                <c:pt idx="46">
                  <c:v>0.41463414634146339</c:v>
                </c:pt>
                <c:pt idx="47">
                  <c:v>0.42682926829268292</c:v>
                </c:pt>
                <c:pt idx="48">
                  <c:v>0.43902439024390244</c:v>
                </c:pt>
                <c:pt idx="49">
                  <c:v>0.43902439024390244</c:v>
                </c:pt>
                <c:pt idx="50">
                  <c:v>0.45121951219512196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0.57317073170731703</c:v>
                </c:pt>
                <c:pt idx="62">
                  <c:v>0.58536585365853655</c:v>
                </c:pt>
                <c:pt idx="63">
                  <c:v>0.6097560975609756</c:v>
                </c:pt>
                <c:pt idx="64">
                  <c:v>0.62195121951219512</c:v>
                </c:pt>
                <c:pt idx="65">
                  <c:v>0.63414634146341464</c:v>
                </c:pt>
                <c:pt idx="66">
                  <c:v>0.64634146341463417</c:v>
                </c:pt>
                <c:pt idx="67">
                  <c:v>0.65853658536585369</c:v>
                </c:pt>
                <c:pt idx="68">
                  <c:v>0.67073170731707321</c:v>
                </c:pt>
                <c:pt idx="69">
                  <c:v>0.67073170731707321</c:v>
                </c:pt>
                <c:pt idx="70">
                  <c:v>0.68292682926829273</c:v>
                </c:pt>
                <c:pt idx="71">
                  <c:v>0.69512195121951215</c:v>
                </c:pt>
                <c:pt idx="72">
                  <c:v>0.70731707317073167</c:v>
                </c:pt>
                <c:pt idx="73">
                  <c:v>0.71951219512195119</c:v>
                </c:pt>
                <c:pt idx="74">
                  <c:v>0.73170731707317072</c:v>
                </c:pt>
                <c:pt idx="75">
                  <c:v>0.74390243902439024</c:v>
                </c:pt>
                <c:pt idx="76">
                  <c:v>0.75609756097560976</c:v>
                </c:pt>
                <c:pt idx="77">
                  <c:v>0.76829268292682928</c:v>
                </c:pt>
                <c:pt idx="78">
                  <c:v>0.78048780487804881</c:v>
                </c:pt>
                <c:pt idx="79">
                  <c:v>0.79268292682926833</c:v>
                </c:pt>
                <c:pt idx="80">
                  <c:v>0.80487804878048785</c:v>
                </c:pt>
                <c:pt idx="81">
                  <c:v>0.81707317073170727</c:v>
                </c:pt>
                <c:pt idx="82">
                  <c:v>0.82926829268292679</c:v>
                </c:pt>
                <c:pt idx="83">
                  <c:v>0.84146341463414631</c:v>
                </c:pt>
                <c:pt idx="84">
                  <c:v>0.85365853658536583</c:v>
                </c:pt>
                <c:pt idx="85">
                  <c:v>0.86585365853658536</c:v>
                </c:pt>
                <c:pt idx="86">
                  <c:v>0.87804878048780488</c:v>
                </c:pt>
                <c:pt idx="87">
                  <c:v>0.90243902439024393</c:v>
                </c:pt>
                <c:pt idx="88">
                  <c:v>0.91463414634146345</c:v>
                </c:pt>
                <c:pt idx="89">
                  <c:v>0.92682926829268297</c:v>
                </c:pt>
                <c:pt idx="90">
                  <c:v>0.93902439024390238</c:v>
                </c:pt>
                <c:pt idx="91">
                  <c:v>0.95121951219512191</c:v>
                </c:pt>
                <c:pt idx="92">
                  <c:v>0.96341463414634143</c:v>
                </c:pt>
                <c:pt idx="93">
                  <c:v>0.97560975609756095</c:v>
                </c:pt>
                <c:pt idx="94">
                  <c:v>0.97560975609756095</c:v>
                </c:pt>
                <c:pt idx="95">
                  <c:v>0.98780487804878048</c:v>
                </c:pt>
                <c:pt idx="96">
                  <c:v>1</c:v>
                </c:pt>
              </c:numCache>
            </c:numRef>
          </c:xVal>
          <c:yVal>
            <c:numRef>
              <c:f>Sheet1!$B$2:$B$98</c:f>
              <c:numCache>
                <c:formatCode>General</c:formatCode>
                <c:ptCount val="97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0.11764705882352941</c:v>
                </c:pt>
                <c:pt idx="4">
                  <c:v>0.17647058823529413</c:v>
                </c:pt>
                <c:pt idx="5">
                  <c:v>0.17647058823529413</c:v>
                </c:pt>
                <c:pt idx="6">
                  <c:v>0.17647058823529413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0.41176470588235292</c:v>
                </c:pt>
                <c:pt idx="11">
                  <c:v>0.47058823529411764</c:v>
                </c:pt>
                <c:pt idx="12">
                  <c:v>0.52941176470588236</c:v>
                </c:pt>
                <c:pt idx="13">
                  <c:v>0.52941176470588236</c:v>
                </c:pt>
                <c:pt idx="14">
                  <c:v>0.58823529411764708</c:v>
                </c:pt>
                <c:pt idx="15">
                  <c:v>0.58823529411764708</c:v>
                </c:pt>
                <c:pt idx="16">
                  <c:v>0.58823529411764708</c:v>
                </c:pt>
                <c:pt idx="17">
                  <c:v>0.58823529411764708</c:v>
                </c:pt>
                <c:pt idx="18">
                  <c:v>0.58823529411764708</c:v>
                </c:pt>
                <c:pt idx="19">
                  <c:v>0.58823529411764708</c:v>
                </c:pt>
                <c:pt idx="20">
                  <c:v>0.58823529411764708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0.6470588235294118</c:v>
                </c:pt>
                <c:pt idx="24">
                  <c:v>0.6470588235294118</c:v>
                </c:pt>
                <c:pt idx="25">
                  <c:v>0.6470588235294118</c:v>
                </c:pt>
                <c:pt idx="26">
                  <c:v>0.6470588235294118</c:v>
                </c:pt>
                <c:pt idx="27">
                  <c:v>0.6470588235294118</c:v>
                </c:pt>
                <c:pt idx="28">
                  <c:v>0.6470588235294118</c:v>
                </c:pt>
                <c:pt idx="29">
                  <c:v>0.6470588235294118</c:v>
                </c:pt>
                <c:pt idx="30">
                  <c:v>0.70588235294117652</c:v>
                </c:pt>
                <c:pt idx="31">
                  <c:v>0.70588235294117652</c:v>
                </c:pt>
                <c:pt idx="32">
                  <c:v>0.70588235294117652</c:v>
                </c:pt>
                <c:pt idx="33">
                  <c:v>0.70588235294117652</c:v>
                </c:pt>
                <c:pt idx="34">
                  <c:v>0.70588235294117652</c:v>
                </c:pt>
                <c:pt idx="35">
                  <c:v>0.70588235294117652</c:v>
                </c:pt>
                <c:pt idx="36">
                  <c:v>0.70588235294117652</c:v>
                </c:pt>
                <c:pt idx="37">
                  <c:v>0.70588235294117652</c:v>
                </c:pt>
                <c:pt idx="38">
                  <c:v>0.70588235294117652</c:v>
                </c:pt>
                <c:pt idx="39">
                  <c:v>0.76470588235294112</c:v>
                </c:pt>
                <c:pt idx="40">
                  <c:v>0.76470588235294112</c:v>
                </c:pt>
                <c:pt idx="41">
                  <c:v>0.76470588235294112</c:v>
                </c:pt>
                <c:pt idx="42">
                  <c:v>0.76470588235294112</c:v>
                </c:pt>
                <c:pt idx="43">
                  <c:v>0.76470588235294112</c:v>
                </c:pt>
                <c:pt idx="44">
                  <c:v>0.76470588235294112</c:v>
                </c:pt>
                <c:pt idx="45">
                  <c:v>0.76470588235294112</c:v>
                </c:pt>
                <c:pt idx="46">
                  <c:v>0.76470588235294112</c:v>
                </c:pt>
                <c:pt idx="47">
                  <c:v>0.76470588235294112</c:v>
                </c:pt>
                <c:pt idx="48">
                  <c:v>0.76470588235294112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0.88235294117647056</c:v>
                </c:pt>
                <c:pt idx="52">
                  <c:v>0.88235294117647056</c:v>
                </c:pt>
                <c:pt idx="53">
                  <c:v>0.88235294117647056</c:v>
                </c:pt>
                <c:pt idx="54">
                  <c:v>0.88235294117647056</c:v>
                </c:pt>
                <c:pt idx="55">
                  <c:v>0.88235294117647056</c:v>
                </c:pt>
                <c:pt idx="56">
                  <c:v>0.88235294117647056</c:v>
                </c:pt>
                <c:pt idx="57">
                  <c:v>0.88235294117647056</c:v>
                </c:pt>
                <c:pt idx="58">
                  <c:v>0.88235294117647056</c:v>
                </c:pt>
                <c:pt idx="59">
                  <c:v>0.88235294117647056</c:v>
                </c:pt>
                <c:pt idx="60">
                  <c:v>0.88235294117647056</c:v>
                </c:pt>
                <c:pt idx="61">
                  <c:v>0.88235294117647056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0.88235294117647056</c:v>
                </c:pt>
                <c:pt idx="67">
                  <c:v>0.88235294117647056</c:v>
                </c:pt>
                <c:pt idx="68">
                  <c:v>0.88235294117647056</c:v>
                </c:pt>
                <c:pt idx="69">
                  <c:v>0.94117647058823528</c:v>
                </c:pt>
                <c:pt idx="70">
                  <c:v>0.94117647058823528</c:v>
                </c:pt>
                <c:pt idx="71">
                  <c:v>0.94117647058823528</c:v>
                </c:pt>
                <c:pt idx="72">
                  <c:v>0.94117647058823528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0.94117647058823528</c:v>
                </c:pt>
                <c:pt idx="76">
                  <c:v>0.94117647058823528</c:v>
                </c:pt>
                <c:pt idx="77">
                  <c:v>0.94117647058823528</c:v>
                </c:pt>
                <c:pt idx="78">
                  <c:v>0.94117647058823528</c:v>
                </c:pt>
                <c:pt idx="79">
                  <c:v>0.94117647058823528</c:v>
                </c:pt>
                <c:pt idx="80">
                  <c:v>0.94117647058823528</c:v>
                </c:pt>
                <c:pt idx="81">
                  <c:v>0.94117647058823528</c:v>
                </c:pt>
                <c:pt idx="82">
                  <c:v>0.94117647058823528</c:v>
                </c:pt>
                <c:pt idx="83">
                  <c:v>0.94117647058823528</c:v>
                </c:pt>
                <c:pt idx="84">
                  <c:v>0.94117647058823528</c:v>
                </c:pt>
                <c:pt idx="85">
                  <c:v>0.94117647058823528</c:v>
                </c:pt>
                <c:pt idx="86">
                  <c:v>0.94117647058823528</c:v>
                </c:pt>
                <c:pt idx="87">
                  <c:v>0.94117647058823528</c:v>
                </c:pt>
                <c:pt idx="88">
                  <c:v>0.94117647058823528</c:v>
                </c:pt>
                <c:pt idx="89">
                  <c:v>0.94117647058823528</c:v>
                </c:pt>
                <c:pt idx="90">
                  <c:v>0.94117647058823528</c:v>
                </c:pt>
                <c:pt idx="91">
                  <c:v>0.94117647058823528</c:v>
                </c:pt>
                <c:pt idx="92">
                  <c:v>0.94117647058823528</c:v>
                </c:pt>
                <c:pt idx="93">
                  <c:v>0.94117647058823528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2FE-4F7F-992B-6B33094EAFA2}"/>
            </c:ext>
          </c:extLst>
        </c:ser>
        <c:ser>
          <c:idx val="1"/>
          <c:order val="1"/>
          <c:tx>
            <c:strRef>
              <c:f>Sheet1!$B$100</c:f>
              <c:strCache>
                <c:ptCount val="1"/>
                <c:pt idx="0">
                  <c:v>нейросеть</c:v>
                </c:pt>
              </c:strCache>
            </c:strRef>
          </c:tx>
          <c:spPr>
            <a:ln w="31750">
              <a:solidFill>
                <a:srgbClr val="FC3777"/>
              </a:solidFill>
            </a:ln>
          </c:spPr>
          <c:marker>
            <c:symbol val="none"/>
          </c:marker>
          <c:xVal>
            <c:numRef>
              <c:f>Sheet1!$A$101:$A$200</c:f>
              <c:numCache>
                <c:formatCode>General</c:formatCode>
                <c:ptCount val="100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2.4390243902439025E-2</c:v>
                </c:pt>
                <c:pt idx="4">
                  <c:v>2.4390243902439025E-2</c:v>
                </c:pt>
                <c:pt idx="5">
                  <c:v>2.4390243902439025E-2</c:v>
                </c:pt>
                <c:pt idx="6">
                  <c:v>2.4390243902439025E-2</c:v>
                </c:pt>
                <c:pt idx="7">
                  <c:v>3.6585365853658534E-2</c:v>
                </c:pt>
                <c:pt idx="8">
                  <c:v>3.6585365853658534E-2</c:v>
                </c:pt>
                <c:pt idx="9">
                  <c:v>3.6585365853658534E-2</c:v>
                </c:pt>
                <c:pt idx="10">
                  <c:v>3.6585365853658534E-2</c:v>
                </c:pt>
                <c:pt idx="11">
                  <c:v>3.6585365853658534E-2</c:v>
                </c:pt>
                <c:pt idx="12">
                  <c:v>3.6585365853658534E-2</c:v>
                </c:pt>
                <c:pt idx="13">
                  <c:v>4.878048780487805E-2</c:v>
                </c:pt>
                <c:pt idx="14">
                  <c:v>6.097560975609756E-2</c:v>
                </c:pt>
                <c:pt idx="15">
                  <c:v>6.097560975609756E-2</c:v>
                </c:pt>
                <c:pt idx="16">
                  <c:v>7.3170731707317069E-2</c:v>
                </c:pt>
                <c:pt idx="17">
                  <c:v>7.3170731707317069E-2</c:v>
                </c:pt>
                <c:pt idx="18">
                  <c:v>8.5365853658536592E-2</c:v>
                </c:pt>
                <c:pt idx="19">
                  <c:v>9.7560975609756101E-2</c:v>
                </c:pt>
                <c:pt idx="20">
                  <c:v>0.10975609756097561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0.15853658536585366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0.1951219512195122</c:v>
                </c:pt>
                <c:pt idx="30">
                  <c:v>0.2073170731707317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0.26829268292682928</c:v>
                </c:pt>
                <c:pt idx="37">
                  <c:v>0.28048780487804881</c:v>
                </c:pt>
                <c:pt idx="38">
                  <c:v>0.29268292682926828</c:v>
                </c:pt>
                <c:pt idx="39">
                  <c:v>0.3048780487804878</c:v>
                </c:pt>
                <c:pt idx="40">
                  <c:v>0.31707317073170732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0.37804878048780488</c:v>
                </c:pt>
                <c:pt idx="46">
                  <c:v>0.3902439024390244</c:v>
                </c:pt>
                <c:pt idx="47">
                  <c:v>0.40243902439024393</c:v>
                </c:pt>
                <c:pt idx="48">
                  <c:v>0.41463414634146339</c:v>
                </c:pt>
                <c:pt idx="49">
                  <c:v>0.42682926829268292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0.56097560975609762</c:v>
                </c:pt>
                <c:pt idx="62">
                  <c:v>0.57317073170731703</c:v>
                </c:pt>
                <c:pt idx="63">
                  <c:v>0.58536585365853655</c:v>
                </c:pt>
                <c:pt idx="64">
                  <c:v>0.59756097560975607</c:v>
                </c:pt>
                <c:pt idx="65">
                  <c:v>0.6097560975609756</c:v>
                </c:pt>
                <c:pt idx="66">
                  <c:v>0.6097560975609756</c:v>
                </c:pt>
                <c:pt idx="67">
                  <c:v>0.62195121951219512</c:v>
                </c:pt>
                <c:pt idx="68">
                  <c:v>0.63414634146341464</c:v>
                </c:pt>
                <c:pt idx="69">
                  <c:v>0.64634146341463417</c:v>
                </c:pt>
                <c:pt idx="70">
                  <c:v>0.65853658536585369</c:v>
                </c:pt>
                <c:pt idx="71">
                  <c:v>0.67073170731707321</c:v>
                </c:pt>
                <c:pt idx="72">
                  <c:v>0.68292682926829273</c:v>
                </c:pt>
                <c:pt idx="73">
                  <c:v>0.69512195121951215</c:v>
                </c:pt>
                <c:pt idx="74">
                  <c:v>0.70731707317073167</c:v>
                </c:pt>
                <c:pt idx="75">
                  <c:v>0.71951219512195119</c:v>
                </c:pt>
                <c:pt idx="76">
                  <c:v>0.73170731707317072</c:v>
                </c:pt>
                <c:pt idx="77">
                  <c:v>0.74390243902439024</c:v>
                </c:pt>
                <c:pt idx="78">
                  <c:v>0.75609756097560976</c:v>
                </c:pt>
                <c:pt idx="79">
                  <c:v>0.75609756097560976</c:v>
                </c:pt>
                <c:pt idx="80">
                  <c:v>0.76829268292682928</c:v>
                </c:pt>
                <c:pt idx="81">
                  <c:v>0.78048780487804881</c:v>
                </c:pt>
                <c:pt idx="82">
                  <c:v>0.79268292682926833</c:v>
                </c:pt>
                <c:pt idx="83">
                  <c:v>0.80487804878048785</c:v>
                </c:pt>
                <c:pt idx="84">
                  <c:v>0.81707317073170727</c:v>
                </c:pt>
                <c:pt idx="85">
                  <c:v>0.82926829268292679</c:v>
                </c:pt>
                <c:pt idx="86">
                  <c:v>0.84146341463414631</c:v>
                </c:pt>
                <c:pt idx="87">
                  <c:v>0.85365853658536583</c:v>
                </c:pt>
                <c:pt idx="88">
                  <c:v>0.86585365853658536</c:v>
                </c:pt>
                <c:pt idx="89">
                  <c:v>0.87804878048780488</c:v>
                </c:pt>
                <c:pt idx="90">
                  <c:v>0.8902439024390244</c:v>
                </c:pt>
                <c:pt idx="91">
                  <c:v>0.90243902439024393</c:v>
                </c:pt>
                <c:pt idx="92">
                  <c:v>0.91463414634146345</c:v>
                </c:pt>
                <c:pt idx="93">
                  <c:v>0.92682926829268297</c:v>
                </c:pt>
                <c:pt idx="94">
                  <c:v>0.93902439024390238</c:v>
                </c:pt>
                <c:pt idx="95">
                  <c:v>0.95121951219512191</c:v>
                </c:pt>
                <c:pt idx="96">
                  <c:v>0.96341463414634143</c:v>
                </c:pt>
                <c:pt idx="97">
                  <c:v>0.97560975609756095</c:v>
                </c:pt>
                <c:pt idx="98">
                  <c:v>0.98780487804878048</c:v>
                </c:pt>
                <c:pt idx="99">
                  <c:v>1</c:v>
                </c:pt>
              </c:numCache>
            </c:numRef>
          </c:xVal>
          <c:yVal>
            <c:numRef>
              <c:f>Sheet1!$B$101:$B$200</c:f>
              <c:numCache>
                <c:formatCode>General</c:formatCode>
                <c:ptCount val="100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5.8823529411764705E-2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0.41176470588235292</c:v>
                </c:pt>
                <c:pt idx="11">
                  <c:v>0.47058823529411764</c:v>
                </c:pt>
                <c:pt idx="12">
                  <c:v>0.52941176470588236</c:v>
                </c:pt>
                <c:pt idx="13">
                  <c:v>0.52941176470588236</c:v>
                </c:pt>
                <c:pt idx="14">
                  <c:v>0.52941176470588236</c:v>
                </c:pt>
                <c:pt idx="15">
                  <c:v>0.58823529411764708</c:v>
                </c:pt>
                <c:pt idx="16">
                  <c:v>0.58823529411764708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0.6470588235294118</c:v>
                </c:pt>
                <c:pt idx="20">
                  <c:v>0.6470588235294118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0.70588235294117652</c:v>
                </c:pt>
                <c:pt idx="24">
                  <c:v>0.70588235294117652</c:v>
                </c:pt>
                <c:pt idx="25">
                  <c:v>0.70588235294117652</c:v>
                </c:pt>
                <c:pt idx="26">
                  <c:v>0.76470588235294112</c:v>
                </c:pt>
                <c:pt idx="27">
                  <c:v>0.76470588235294112</c:v>
                </c:pt>
                <c:pt idx="28">
                  <c:v>0.76470588235294112</c:v>
                </c:pt>
                <c:pt idx="29">
                  <c:v>0.76470588235294112</c:v>
                </c:pt>
                <c:pt idx="30">
                  <c:v>0.76470588235294112</c:v>
                </c:pt>
                <c:pt idx="31">
                  <c:v>0.82352941176470584</c:v>
                </c:pt>
                <c:pt idx="32">
                  <c:v>0.82352941176470584</c:v>
                </c:pt>
                <c:pt idx="33">
                  <c:v>0.82352941176470584</c:v>
                </c:pt>
                <c:pt idx="34">
                  <c:v>0.82352941176470584</c:v>
                </c:pt>
                <c:pt idx="35">
                  <c:v>0.82352941176470584</c:v>
                </c:pt>
                <c:pt idx="36">
                  <c:v>0.82352941176470584</c:v>
                </c:pt>
                <c:pt idx="37">
                  <c:v>0.82352941176470584</c:v>
                </c:pt>
                <c:pt idx="38">
                  <c:v>0.82352941176470584</c:v>
                </c:pt>
                <c:pt idx="39">
                  <c:v>0.82352941176470584</c:v>
                </c:pt>
                <c:pt idx="40">
                  <c:v>0.82352941176470584</c:v>
                </c:pt>
                <c:pt idx="41">
                  <c:v>0.82352941176470584</c:v>
                </c:pt>
                <c:pt idx="42">
                  <c:v>0.82352941176470584</c:v>
                </c:pt>
                <c:pt idx="43">
                  <c:v>0.82352941176470584</c:v>
                </c:pt>
                <c:pt idx="44">
                  <c:v>0.82352941176470584</c:v>
                </c:pt>
                <c:pt idx="45">
                  <c:v>0.82352941176470584</c:v>
                </c:pt>
                <c:pt idx="46">
                  <c:v>0.82352941176470584</c:v>
                </c:pt>
                <c:pt idx="47">
                  <c:v>0.82352941176470584</c:v>
                </c:pt>
                <c:pt idx="48">
                  <c:v>0.82352941176470584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0.82352941176470584</c:v>
                </c:pt>
                <c:pt idx="52">
                  <c:v>0.82352941176470584</c:v>
                </c:pt>
                <c:pt idx="53">
                  <c:v>0.82352941176470584</c:v>
                </c:pt>
                <c:pt idx="54">
                  <c:v>0.82352941176470584</c:v>
                </c:pt>
                <c:pt idx="55">
                  <c:v>0.82352941176470584</c:v>
                </c:pt>
                <c:pt idx="56">
                  <c:v>0.82352941176470584</c:v>
                </c:pt>
                <c:pt idx="57">
                  <c:v>0.82352941176470584</c:v>
                </c:pt>
                <c:pt idx="58">
                  <c:v>0.82352941176470584</c:v>
                </c:pt>
                <c:pt idx="59">
                  <c:v>0.82352941176470584</c:v>
                </c:pt>
                <c:pt idx="60">
                  <c:v>0.82352941176470584</c:v>
                </c:pt>
                <c:pt idx="61">
                  <c:v>0.88235294117647056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0.94117647058823528</c:v>
                </c:pt>
                <c:pt idx="67">
                  <c:v>0.94117647058823528</c:v>
                </c:pt>
                <c:pt idx="68">
                  <c:v>0.94117647058823528</c:v>
                </c:pt>
                <c:pt idx="69">
                  <c:v>0.94117647058823528</c:v>
                </c:pt>
                <c:pt idx="70">
                  <c:v>0.94117647058823528</c:v>
                </c:pt>
                <c:pt idx="71">
                  <c:v>0.94117647058823528</c:v>
                </c:pt>
                <c:pt idx="72">
                  <c:v>0.94117647058823528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0.94117647058823528</c:v>
                </c:pt>
                <c:pt idx="76">
                  <c:v>0.94117647058823528</c:v>
                </c:pt>
                <c:pt idx="77">
                  <c:v>0.94117647058823528</c:v>
                </c:pt>
                <c:pt idx="78">
                  <c:v>0.94117647058823528</c:v>
                </c:pt>
                <c:pt idx="79">
                  <c:v>1</c:v>
                </c:pt>
                <c:pt idx="80">
                  <c:v>1</c:v>
                </c:pt>
                <c:pt idx="81">
                  <c:v>1</c:v>
                </c:pt>
                <c:pt idx="82">
                  <c:v>1</c:v>
                </c:pt>
                <c:pt idx="83">
                  <c:v>1</c:v>
                </c:pt>
                <c:pt idx="84">
                  <c:v>1</c:v>
                </c:pt>
                <c:pt idx="85">
                  <c:v>1</c:v>
                </c:pt>
                <c:pt idx="86">
                  <c:v>1</c:v>
                </c:pt>
                <c:pt idx="87">
                  <c:v>1</c:v>
                </c:pt>
                <c:pt idx="88">
                  <c:v>1</c:v>
                </c:pt>
                <c:pt idx="89">
                  <c:v>1</c:v>
                </c:pt>
                <c:pt idx="90">
                  <c:v>1</c:v>
                </c:pt>
                <c:pt idx="91">
                  <c:v>1</c:v>
                </c:pt>
                <c:pt idx="92">
                  <c:v>1</c:v>
                </c:pt>
                <c:pt idx="93">
                  <c:v>1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  <c:pt idx="97">
                  <c:v>1</c:v>
                </c:pt>
                <c:pt idx="98">
                  <c:v>1</c:v>
                </c:pt>
                <c:pt idx="99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2FE-4F7F-992B-6B33094EAFA2}"/>
            </c:ext>
          </c:extLst>
        </c:ser>
        <c:ser>
          <c:idx val="2"/>
          <c:order val="2"/>
          <c:tx>
            <c:strRef>
              <c:f>Sheet1!$B$202</c:f>
              <c:strCache>
                <c:ptCount val="1"/>
                <c:pt idx="0">
                  <c:v>нейросеть + измерение</c:v>
                </c:pt>
              </c:strCache>
            </c:strRef>
          </c:tx>
          <c:spPr>
            <a:ln w="31750">
              <a:solidFill>
                <a:srgbClr val="520977"/>
              </a:solidFill>
            </a:ln>
          </c:spPr>
          <c:marker>
            <c:symbol val="none"/>
          </c:marker>
          <c:xVal>
            <c:numRef>
              <c:f>Sheet1!$A$203:$A$302</c:f>
              <c:numCache>
                <c:formatCode>General</c:formatCode>
                <c:ptCount val="100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1.2195121951219513E-2</c:v>
                </c:pt>
                <c:pt idx="4">
                  <c:v>2.4390243902439025E-2</c:v>
                </c:pt>
                <c:pt idx="5">
                  <c:v>2.4390243902439025E-2</c:v>
                </c:pt>
                <c:pt idx="6">
                  <c:v>2.4390243902439025E-2</c:v>
                </c:pt>
                <c:pt idx="7">
                  <c:v>2.4390243902439025E-2</c:v>
                </c:pt>
                <c:pt idx="8">
                  <c:v>2.4390243902439025E-2</c:v>
                </c:pt>
                <c:pt idx="9">
                  <c:v>2.4390243902439025E-2</c:v>
                </c:pt>
                <c:pt idx="10">
                  <c:v>2.4390243902439025E-2</c:v>
                </c:pt>
                <c:pt idx="11">
                  <c:v>2.4390243902439025E-2</c:v>
                </c:pt>
                <c:pt idx="12">
                  <c:v>2.4390243902439025E-2</c:v>
                </c:pt>
                <c:pt idx="13">
                  <c:v>3.6585365853658534E-2</c:v>
                </c:pt>
                <c:pt idx="14">
                  <c:v>3.6585365853658534E-2</c:v>
                </c:pt>
                <c:pt idx="15">
                  <c:v>4.878048780487805E-2</c:v>
                </c:pt>
                <c:pt idx="16">
                  <c:v>6.097560975609756E-2</c:v>
                </c:pt>
                <c:pt idx="17">
                  <c:v>7.3170731707317069E-2</c:v>
                </c:pt>
                <c:pt idx="18">
                  <c:v>8.5365853658536592E-2</c:v>
                </c:pt>
                <c:pt idx="19">
                  <c:v>8.5365853658536592E-2</c:v>
                </c:pt>
                <c:pt idx="20">
                  <c:v>9.7560975609756101E-2</c:v>
                </c:pt>
                <c:pt idx="21">
                  <c:v>0.10975609756097561</c:v>
                </c:pt>
                <c:pt idx="22">
                  <c:v>0.12195121951219512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0.14634146341463414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0.18292682926829268</c:v>
                </c:pt>
                <c:pt idx="30">
                  <c:v>0.1951219512195122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0.26829268292682928</c:v>
                </c:pt>
                <c:pt idx="37">
                  <c:v>0.28048780487804881</c:v>
                </c:pt>
                <c:pt idx="38">
                  <c:v>0.29268292682926828</c:v>
                </c:pt>
                <c:pt idx="39">
                  <c:v>0.3048780487804878</c:v>
                </c:pt>
                <c:pt idx="40">
                  <c:v>0.31707317073170732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0.37804878048780488</c:v>
                </c:pt>
                <c:pt idx="46">
                  <c:v>0.3902439024390244</c:v>
                </c:pt>
                <c:pt idx="47">
                  <c:v>0.40243902439024393</c:v>
                </c:pt>
                <c:pt idx="48">
                  <c:v>0.41463414634146339</c:v>
                </c:pt>
                <c:pt idx="49">
                  <c:v>0.42682926829268292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0.57317073170731703</c:v>
                </c:pt>
                <c:pt idx="62">
                  <c:v>0.57317073170731703</c:v>
                </c:pt>
                <c:pt idx="63">
                  <c:v>0.58536585365853655</c:v>
                </c:pt>
                <c:pt idx="64">
                  <c:v>0.59756097560975607</c:v>
                </c:pt>
                <c:pt idx="65">
                  <c:v>0.6097560975609756</c:v>
                </c:pt>
                <c:pt idx="66">
                  <c:v>0.62195121951219512</c:v>
                </c:pt>
                <c:pt idx="67">
                  <c:v>0.63414634146341464</c:v>
                </c:pt>
                <c:pt idx="68">
                  <c:v>0.64634146341463417</c:v>
                </c:pt>
                <c:pt idx="69">
                  <c:v>0.65853658536585369</c:v>
                </c:pt>
                <c:pt idx="70">
                  <c:v>0.67073170731707321</c:v>
                </c:pt>
                <c:pt idx="71">
                  <c:v>0.68292682926829273</c:v>
                </c:pt>
                <c:pt idx="72">
                  <c:v>0.69512195121951215</c:v>
                </c:pt>
                <c:pt idx="73">
                  <c:v>0.69512195121951215</c:v>
                </c:pt>
                <c:pt idx="74">
                  <c:v>0.70731707317073167</c:v>
                </c:pt>
                <c:pt idx="75">
                  <c:v>0.70731707317073167</c:v>
                </c:pt>
                <c:pt idx="76">
                  <c:v>0.71951219512195119</c:v>
                </c:pt>
                <c:pt idx="77">
                  <c:v>0.73170731707317072</c:v>
                </c:pt>
                <c:pt idx="78">
                  <c:v>0.74390243902439024</c:v>
                </c:pt>
                <c:pt idx="79">
                  <c:v>0.75609756097560976</c:v>
                </c:pt>
                <c:pt idx="80">
                  <c:v>0.76829268292682928</c:v>
                </c:pt>
                <c:pt idx="81">
                  <c:v>0.78048780487804881</c:v>
                </c:pt>
                <c:pt idx="82">
                  <c:v>0.79268292682926833</c:v>
                </c:pt>
                <c:pt idx="83">
                  <c:v>0.80487804878048785</c:v>
                </c:pt>
                <c:pt idx="84">
                  <c:v>0.81707317073170727</c:v>
                </c:pt>
                <c:pt idx="85">
                  <c:v>0.82926829268292679</c:v>
                </c:pt>
                <c:pt idx="86">
                  <c:v>0.84146341463414631</c:v>
                </c:pt>
                <c:pt idx="87">
                  <c:v>0.85365853658536583</c:v>
                </c:pt>
                <c:pt idx="88">
                  <c:v>0.86585365853658536</c:v>
                </c:pt>
                <c:pt idx="89">
                  <c:v>0.87804878048780488</c:v>
                </c:pt>
                <c:pt idx="90">
                  <c:v>0.8902439024390244</c:v>
                </c:pt>
                <c:pt idx="91">
                  <c:v>0.90243902439024393</c:v>
                </c:pt>
                <c:pt idx="92">
                  <c:v>0.91463414634146345</c:v>
                </c:pt>
                <c:pt idx="93">
                  <c:v>0.92682926829268297</c:v>
                </c:pt>
                <c:pt idx="94">
                  <c:v>0.93902439024390238</c:v>
                </c:pt>
                <c:pt idx="95">
                  <c:v>0.95121951219512191</c:v>
                </c:pt>
                <c:pt idx="96">
                  <c:v>0.96341463414634143</c:v>
                </c:pt>
                <c:pt idx="97">
                  <c:v>0.97560975609756095</c:v>
                </c:pt>
                <c:pt idx="98">
                  <c:v>0.98780487804878048</c:v>
                </c:pt>
                <c:pt idx="99">
                  <c:v>1</c:v>
                </c:pt>
              </c:numCache>
            </c:numRef>
          </c:xVal>
          <c:yVal>
            <c:numRef>
              <c:f>Sheet1!$B$203:$B$302</c:f>
              <c:numCache>
                <c:formatCode>General</c:formatCode>
                <c:ptCount val="100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0.11764705882352941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0.29411764705882354</c:v>
                </c:pt>
                <c:pt idx="8">
                  <c:v>0.35294117647058826</c:v>
                </c:pt>
                <c:pt idx="9">
                  <c:v>0.41176470588235292</c:v>
                </c:pt>
                <c:pt idx="10">
                  <c:v>0.47058823529411764</c:v>
                </c:pt>
                <c:pt idx="11">
                  <c:v>0.52941176470588236</c:v>
                </c:pt>
                <c:pt idx="12">
                  <c:v>0.58823529411764708</c:v>
                </c:pt>
                <c:pt idx="13">
                  <c:v>0.58823529411764708</c:v>
                </c:pt>
                <c:pt idx="14">
                  <c:v>0.6470588235294118</c:v>
                </c:pt>
                <c:pt idx="15">
                  <c:v>0.6470588235294118</c:v>
                </c:pt>
                <c:pt idx="16">
                  <c:v>0.6470588235294118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0.70588235294117652</c:v>
                </c:pt>
                <c:pt idx="20">
                  <c:v>0.70588235294117652</c:v>
                </c:pt>
                <c:pt idx="21">
                  <c:v>0.70588235294117652</c:v>
                </c:pt>
                <c:pt idx="22">
                  <c:v>0.70588235294117652</c:v>
                </c:pt>
                <c:pt idx="23">
                  <c:v>0.70588235294117652</c:v>
                </c:pt>
                <c:pt idx="24">
                  <c:v>0.70588235294117652</c:v>
                </c:pt>
                <c:pt idx="25">
                  <c:v>0.76470588235294112</c:v>
                </c:pt>
                <c:pt idx="26">
                  <c:v>0.76470588235294112</c:v>
                </c:pt>
                <c:pt idx="27">
                  <c:v>0.76470588235294112</c:v>
                </c:pt>
                <c:pt idx="28">
                  <c:v>0.76470588235294112</c:v>
                </c:pt>
                <c:pt idx="29">
                  <c:v>0.82352941176470584</c:v>
                </c:pt>
                <c:pt idx="30">
                  <c:v>0.82352941176470584</c:v>
                </c:pt>
                <c:pt idx="31">
                  <c:v>0.82352941176470584</c:v>
                </c:pt>
                <c:pt idx="32">
                  <c:v>0.82352941176470584</c:v>
                </c:pt>
                <c:pt idx="33">
                  <c:v>0.82352941176470584</c:v>
                </c:pt>
                <c:pt idx="34">
                  <c:v>0.82352941176470584</c:v>
                </c:pt>
                <c:pt idx="35">
                  <c:v>0.82352941176470584</c:v>
                </c:pt>
                <c:pt idx="36">
                  <c:v>0.82352941176470584</c:v>
                </c:pt>
                <c:pt idx="37">
                  <c:v>0.82352941176470584</c:v>
                </c:pt>
                <c:pt idx="38">
                  <c:v>0.82352941176470584</c:v>
                </c:pt>
                <c:pt idx="39">
                  <c:v>0.82352941176470584</c:v>
                </c:pt>
                <c:pt idx="40">
                  <c:v>0.82352941176470584</c:v>
                </c:pt>
                <c:pt idx="41">
                  <c:v>0.82352941176470584</c:v>
                </c:pt>
                <c:pt idx="42">
                  <c:v>0.82352941176470584</c:v>
                </c:pt>
                <c:pt idx="43">
                  <c:v>0.82352941176470584</c:v>
                </c:pt>
                <c:pt idx="44">
                  <c:v>0.82352941176470584</c:v>
                </c:pt>
                <c:pt idx="45">
                  <c:v>0.82352941176470584</c:v>
                </c:pt>
                <c:pt idx="46">
                  <c:v>0.82352941176470584</c:v>
                </c:pt>
                <c:pt idx="47">
                  <c:v>0.82352941176470584</c:v>
                </c:pt>
                <c:pt idx="48">
                  <c:v>0.82352941176470584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0.82352941176470584</c:v>
                </c:pt>
                <c:pt idx="52">
                  <c:v>0.82352941176470584</c:v>
                </c:pt>
                <c:pt idx="53">
                  <c:v>0.82352941176470584</c:v>
                </c:pt>
                <c:pt idx="54">
                  <c:v>0.82352941176470584</c:v>
                </c:pt>
                <c:pt idx="55">
                  <c:v>0.82352941176470584</c:v>
                </c:pt>
                <c:pt idx="56">
                  <c:v>0.82352941176470584</c:v>
                </c:pt>
                <c:pt idx="57">
                  <c:v>0.82352941176470584</c:v>
                </c:pt>
                <c:pt idx="58">
                  <c:v>0.82352941176470584</c:v>
                </c:pt>
                <c:pt idx="59">
                  <c:v>0.82352941176470584</c:v>
                </c:pt>
                <c:pt idx="60">
                  <c:v>0.82352941176470584</c:v>
                </c:pt>
                <c:pt idx="61">
                  <c:v>0.82352941176470584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0.88235294117647056</c:v>
                </c:pt>
                <c:pt idx="67">
                  <c:v>0.88235294117647056</c:v>
                </c:pt>
                <c:pt idx="68">
                  <c:v>0.88235294117647056</c:v>
                </c:pt>
                <c:pt idx="69">
                  <c:v>0.88235294117647056</c:v>
                </c:pt>
                <c:pt idx="70">
                  <c:v>0.88235294117647056</c:v>
                </c:pt>
                <c:pt idx="71">
                  <c:v>0.88235294117647056</c:v>
                </c:pt>
                <c:pt idx="72">
                  <c:v>0.88235294117647056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1</c:v>
                </c:pt>
                <c:pt idx="76">
                  <c:v>1</c:v>
                </c:pt>
                <c:pt idx="77">
                  <c:v>1</c:v>
                </c:pt>
                <c:pt idx="78">
                  <c:v>1</c:v>
                </c:pt>
                <c:pt idx="79">
                  <c:v>1</c:v>
                </c:pt>
                <c:pt idx="80">
                  <c:v>1</c:v>
                </c:pt>
                <c:pt idx="81">
                  <c:v>1</c:v>
                </c:pt>
                <c:pt idx="82">
                  <c:v>1</c:v>
                </c:pt>
                <c:pt idx="83">
                  <c:v>1</c:v>
                </c:pt>
                <c:pt idx="84">
                  <c:v>1</c:v>
                </c:pt>
                <c:pt idx="85">
                  <c:v>1</c:v>
                </c:pt>
                <c:pt idx="86">
                  <c:v>1</c:v>
                </c:pt>
                <c:pt idx="87">
                  <c:v>1</c:v>
                </c:pt>
                <c:pt idx="88">
                  <c:v>1</c:v>
                </c:pt>
                <c:pt idx="89">
                  <c:v>1</c:v>
                </c:pt>
                <c:pt idx="90">
                  <c:v>1</c:v>
                </c:pt>
                <c:pt idx="91">
                  <c:v>1</c:v>
                </c:pt>
                <c:pt idx="92">
                  <c:v>1</c:v>
                </c:pt>
                <c:pt idx="93">
                  <c:v>1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  <c:pt idx="97">
                  <c:v>1</c:v>
                </c:pt>
                <c:pt idx="98">
                  <c:v>1</c:v>
                </c:pt>
                <c:pt idx="99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12FE-4F7F-992B-6B33094EAFA2}"/>
            </c:ext>
          </c:extLst>
        </c:ser>
        <c:ser>
          <c:idx val="3"/>
          <c:order val="3"/>
          <c:tx>
            <c:strRef>
              <c:f>Sheet1!$B$304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8B8599"/>
              </a:solidFill>
              <a:prstDash val="dash"/>
            </a:ln>
          </c:spPr>
          <c:marker>
            <c:symbol val="none"/>
          </c:marker>
          <c:xVal>
            <c:numRef>
              <c:f>Sheet1!$A$305:$A$306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Sheet1!$B$305:$B$306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12FE-4F7F-992B-6B33094EAF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"/>
          <c:min val="0"/>
        </c:scaling>
        <c:delete val="0"/>
        <c:axPos val="b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8B8599"/>
          </a:solidFill>
          <a:latin typeface="Montserrat"/>
        </a:defRPr>
      </a:pPr>
      <a:endParaRPr lang="ru-RU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moscow_medici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66928"/>
            <a:ext cx="246888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813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постановщик задачи — Департамент здравоохранения Москвы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9476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Контроль качества DXA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262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Сервис ИИ для оценки качества исследований плотности костей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532120"/>
            <a:ext cx="548640" cy="3810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56692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[название команды]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ui_results.png"/>
          <p:cNvPicPr>
            <a:picLocks noChangeAspect="1"/>
          </p:cNvPicPr>
          <p:nvPr/>
        </p:nvPicPr>
        <p:blipFill>
          <a:blip r:embed="rId4"/>
          <a:srcRect b="2165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716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300" dirty="0">
                <a:solidFill>
                  <a:schemeClr val="tx1"/>
                </a:solidFill>
              </a:rPr>
              <a:t>Вердикт проверяется глазами: измерение на снимке сравнивается с нормой из ТЗ. Нейросеть используется только там, где признак нельзя измерить линейкой, — это форма, а не размер. Отступы области измерения (ROI) оцениваются так, как их оценивает эксперт.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Урусов Михаил Алексеевич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3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200" b="1" i="0" dirty="0" err="1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Команда</a:t>
            </a:r>
            <a:r>
              <a:rPr sz="2200" b="1" i="0" dirty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00" b="1" i="0" dirty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239.Hack</a:t>
            </a:r>
            <a:endParaRPr sz="2200" b="1" i="0" dirty="0">
              <a:solidFill>
                <a:srgbClr val="520977"/>
              </a:solidFill>
              <a:latin typeface="Montserrat"/>
              <a:ea typeface="Montserrat"/>
              <a:cs typeface="Montserra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916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300" dirty="0">
                <a:solidFill>
                  <a:schemeClr val="tx1"/>
                </a:solidFill>
              </a:rPr>
              <a:t>Сервис проверяет DXA-снимок позвоночника и бедра по пяти критериям ТЗ до того, как исследование уйдёт к врачу: определяет область, находит нарушения укладки и отступов и объясняет каждое в миллиметрах и градусах. Работает локально, без видеокарты: 1.6 с на исследование.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99856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5170851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ML-</a:t>
            </a:r>
            <a:r>
              <a:rPr lang="ru-RU" sz="1200" dirty="0">
                <a:solidFill>
                  <a:schemeClr val="tx1"/>
                </a:solidFill>
              </a:rPr>
              <a:t>инженер, бэкенд-программист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@theorcos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Студент 3 курса факультета </a:t>
            </a:r>
            <a:r>
              <a:rPr lang="en-US" sz="1200" dirty="0">
                <a:solidFill>
                  <a:schemeClr val="tx1"/>
                </a:solidFill>
              </a:rPr>
              <a:t>AI360, </a:t>
            </a:r>
            <a:r>
              <a:rPr lang="ru-RU" sz="1200" dirty="0">
                <a:solidFill>
                  <a:schemeClr val="tx1"/>
                </a:solidFill>
              </a:rPr>
              <a:t>МФТИ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5170850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Тимофей Ильин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730285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7475139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Специалист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@alexa_skom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Студент 3 курса института клинической медицины им. Н.В. Склифосовского, Первого МГМУ им. И.М. Сеченова 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747513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err="1">
                <a:solidFill>
                  <a:schemeClr val="accent5"/>
                </a:solidFill>
              </a:rPr>
              <a:t>Скоморохова</a:t>
            </a:r>
            <a:r>
              <a:rPr lang="ru-RU" sz="1600" b="1" dirty="0">
                <a:solidFill>
                  <a:schemeClr val="accent5"/>
                </a:solidFill>
              </a:rPr>
              <a:t> Александра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269427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6563" y="4250027"/>
            <a:ext cx="1894354" cy="1994361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бэкенд-программист, </a:t>
            </a:r>
            <a:r>
              <a:rPr lang="ru-RU" sz="1200" dirty="0" err="1">
                <a:solidFill>
                  <a:schemeClr val="tx1"/>
                </a:solidFill>
              </a:rPr>
              <a:t>фронтенд</a:t>
            </a:r>
            <a:r>
              <a:rPr lang="ru-RU" sz="1200" dirty="0">
                <a:solidFill>
                  <a:schemeClr val="tx1"/>
                </a:solidFill>
              </a:rPr>
              <a:t>-программист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@Patricium239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Студент 3 курса факультета Математики и Компьютерных наук СПбГУ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286656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Михаил Урусов</a:t>
            </a:r>
          </a:p>
        </p:txBody>
      </p:sp>
      <p:sp>
        <p:nvSpPr>
          <p:cNvPr id="68" name="Oval 67"/>
          <p:cNvSpPr/>
          <p:nvPr/>
        </p:nvSpPr>
        <p:spPr>
          <a:xfrm>
            <a:off x="3174339" y="1897380"/>
            <a:ext cx="1234440" cy="1234440"/>
          </a:xfrm>
          <a:prstGeom prst="ellipse">
            <a:avLst/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i="0" dirty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?</a:t>
            </a:r>
          </a:p>
        </p:txBody>
      </p:sp>
      <p:sp>
        <p:nvSpPr>
          <p:cNvPr id="69" name="Oval 68"/>
          <p:cNvSpPr/>
          <p:nvPr/>
        </p:nvSpPr>
        <p:spPr>
          <a:xfrm>
            <a:off x="5478627" y="1897380"/>
            <a:ext cx="1234440" cy="1234440"/>
          </a:xfrm>
          <a:prstGeom prst="ellipse">
            <a:avLst/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?</a:t>
            </a:r>
          </a:p>
        </p:txBody>
      </p:sp>
      <p:sp>
        <p:nvSpPr>
          <p:cNvPr id="70" name="Oval 69"/>
          <p:cNvSpPr/>
          <p:nvPr/>
        </p:nvSpPr>
        <p:spPr>
          <a:xfrm>
            <a:off x="7782915" y="1897380"/>
            <a:ext cx="1234440" cy="1234440"/>
          </a:xfrm>
          <a:prstGeom prst="ellipse">
            <a:avLst/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?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8F3239E-B922-CE21-04EF-0CE7B32D6B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6769" y="1691704"/>
            <a:ext cx="1642152" cy="1642152"/>
          </a:xfrm>
          <a:prstGeom prst="flowChartConnector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62AEB89-1C6F-7FC7-B258-2FD598ED452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0401"/>
          <a:stretch/>
        </p:blipFill>
        <p:spPr>
          <a:xfrm>
            <a:off x="5355619" y="1686536"/>
            <a:ext cx="1499311" cy="1644333"/>
          </a:xfrm>
          <a:prstGeom prst="flowChartConnector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1756D94-F4FB-15CC-319F-E95C7E58C6C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590" t="28849" r="19286" b="19027"/>
          <a:stretch/>
        </p:blipFill>
        <p:spPr>
          <a:xfrm>
            <a:off x="7522239" y="1691704"/>
            <a:ext cx="1630300" cy="1639166"/>
          </a:xfrm>
          <a:prstGeom prst="flowChartConnector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И ВЫЗОВЫ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109453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Мы вместе учились в Президентском физико-математическом лицее №239, поступив в разные университеты сохраняли связь друг с другом. Каждый из нас —  молодой специалист в своей области: в математике, в машинном обучении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ru-RU" dirty="0">
                <a:solidFill>
                  <a:schemeClr val="tx1"/>
                </a:solidFill>
              </a:rPr>
              <a:t>в медицине. Мы решили собраться вместе, найдя интересную задачу этого замечательного соревнования.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41280" cy="1143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Примеров нарушений в данных мало (от 6 до 36 на каждый тип). Поэтому качество считаем честно: каждый снимок проверяет модель, которая его не видела, а нейросеть используется только там, где измерения недостаточно.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Разметка эксперта расходилась с ТЗ по отступам области измерения (ROI) — разобрали все расхождения и поняли, по какому правилу судит эксперт: по длине поля сканирования. Размер пикселя в файлах не указан — масштаб восстановили по анатомии.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укладки (положения пациента при съёмке) незаметно портит результаты измерения плотности кости и оценку необходимости лечения, а замечает её сегодня только врач, вручную. Задачу можно решить прозрачно: каждое замечание — это численный показатель, который сравнивается с нормой, и врач проверяет его глазами.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872483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КОРОТКО О РЕШЕНИИ</a:t>
            </a:r>
          </a:p>
        </p:txBody>
      </p:sp>
      <p:sp>
        <p:nvSpPr>
          <p:cNvPr id="901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5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2" name="Rounded Rectangle 901"/>
          <p:cNvSpPr/>
          <p:nvPr/>
        </p:nvSpPr>
        <p:spPr>
          <a:xfrm>
            <a:off x="346075" y="1207008"/>
            <a:ext cx="5440680" cy="49926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3" name="TextBox 902"/>
          <p:cNvSpPr txBox="1"/>
          <p:nvPr/>
        </p:nvSpPr>
        <p:spPr>
          <a:xfrm>
            <a:off x="620395" y="14813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Техническая суть решения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620395" y="2029968"/>
            <a:ext cx="4892040" cy="4032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Вход — снимки в медицинском формате DICOM (папка или zip), как их выгружает архив клиники PACS; повторные снимки отсеиваются по совпадению изображения.</a:t>
            </a:r>
          </a:p>
          <a:p>
            <a:pPr marL="219456" indent="-219456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Область снимка — позвоночник, левое или правое бедро, «не денситометрия» — определяется верно на 252 снимках из 252.</a:t>
            </a:r>
          </a:p>
          <a:p>
            <a:pPr marL="219456" indent="-219456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Три из пяти критериев проверяются прямым измерением в мм и градусах. Для ротации бедра и посторонних предметов к измерению добавлена нейросеть; вердикт объединяет обе оценки.</a:t>
            </a:r>
          </a:p>
          <a:p>
            <a:pPr marL="219456" indent="-219456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Выход — таблица в формате ТЗ (п. 2.5), снимки с разметкой и подсветкой зон, куда смотрела нейросеть, заключение DICOM SR для PACS.</a:t>
            </a:r>
          </a:p>
          <a:p>
            <a:pPr marL="219456" indent="-219456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Оценка на снимках, которых модель не видела: F1 0.58 (баланс найденных нарушений и ложных тревог), ROC-AUC 0.78 (1.0 — идеал). 1.6 с на исследование, без интернета.</a:t>
            </a:r>
          </a:p>
        </p:txBody>
      </p:sp>
      <p:sp>
        <p:nvSpPr>
          <p:cNvPr id="905" name="Rounded Rectangle 904"/>
          <p:cNvSpPr/>
          <p:nvPr/>
        </p:nvSpPr>
        <p:spPr>
          <a:xfrm>
            <a:off x="6225667" y="1207008"/>
            <a:ext cx="5440680" cy="49926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6" name="TextBox 905"/>
          <p:cNvSpPr txBox="1"/>
          <p:nvPr/>
        </p:nvSpPr>
        <p:spPr>
          <a:xfrm>
            <a:off x="6499987" y="14813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Маркетинговая суть решения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6499987" y="2029968"/>
            <a:ext cx="4892040" cy="4032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Для кого: лаборанты и врачи отделений денситометрии, служба контроля качества лучевой диагностики.</a:t>
            </a:r>
          </a:p>
          <a:p>
            <a:pPr marL="219456" indent="-219456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Ценность: предупреждение приходит, пока пациент на аппарате, — меньше повторных исследований и ошибок в измерении плотности кости.</a:t>
            </a:r>
          </a:p>
          <a:p>
            <a:pPr marL="219456" indent="-219456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Внедрение: снимок с аппарата автоматически уходит в сервис через DICOM-роутер, заключение возвращается в архив клиники. Сначала параллельно с врачом, затем как помощник лаборанта, затем — в других медорганизациях.</a:t>
            </a:r>
          </a:p>
          <a:p>
            <a:pPr marL="219456" indent="-219456">
              <a:lnSpc>
                <a:spcPct val="112000"/>
              </a:lnSpc>
              <a:spcAft>
                <a:spcPts val="6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Поставка: контейнер для сервера, полностью локальное приложение для Windows, программный интерфейс API. Telegram-бот — демонстрация альтернативного интерфейса. Видеокарта не нужна.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059935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КЛИНИЧЕСКАЯ 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Ошибку укладки дешевле поймать, пока пациент на аппарате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6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303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ПОЧЕМУ ЭТО ВАЖНО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346075" y="2148840"/>
            <a:ext cx="5577840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Плотность кости считается внутри области измерения. Если позвоночник наклонён, бедро повёрнуто или в кадре посторонний предмет, аппарат измеряет не тот участок кости.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Ошибка уходит в T-критерий (число, по которому ставят остеопороз) и в ложное изменение по сравнению с прошлым снимком: лишнее облучение или неверная оценка лечения.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Сегодня врач проверяет качество на глаз, помня критерии для каждой области.</a:t>
            </a:r>
          </a:p>
        </p:txBody>
      </p:sp>
      <p:sp>
        <p:nvSpPr>
          <p:cNvPr id="905" name="Rounded Rectangle 904"/>
          <p:cNvSpPr/>
          <p:nvPr/>
        </p:nvSpPr>
        <p:spPr>
          <a:xfrm>
            <a:off x="346075" y="4114800"/>
            <a:ext cx="2743200" cy="214884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06" name="Picture 905" descr="ok_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81" y="4114800"/>
            <a:ext cx="1762988" cy="1819656"/>
          </a:xfrm>
          <a:prstGeom prst="rect">
            <a:avLst/>
          </a:prstGeom>
        </p:spPr>
      </p:pic>
      <p:sp>
        <p:nvSpPr>
          <p:cNvPr id="907" name="TextBox 906"/>
          <p:cNvSpPr txBox="1"/>
          <p:nvPr/>
        </p:nvSpPr>
        <p:spPr>
          <a:xfrm>
            <a:off x="492379" y="5998464"/>
            <a:ext cx="245059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норма: малый вертел виден</a:t>
            </a:r>
          </a:p>
        </p:txBody>
      </p:sp>
      <p:sp>
        <p:nvSpPr>
          <p:cNvPr id="908" name="Rounded Rectangle 907"/>
          <p:cNvSpPr/>
          <p:nvPr/>
        </p:nvSpPr>
        <p:spPr>
          <a:xfrm>
            <a:off x="3199003" y="4114800"/>
            <a:ext cx="2743200" cy="214884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09" name="Picture 908" descr="rot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553" y="4114800"/>
            <a:ext cx="2168100" cy="1819656"/>
          </a:xfrm>
          <a:prstGeom prst="rect">
            <a:avLst/>
          </a:prstGeom>
        </p:spPr>
      </p:pic>
      <p:sp>
        <p:nvSpPr>
          <p:cNvPr id="910" name="TextBox 909"/>
          <p:cNvSpPr txBox="1"/>
          <p:nvPr/>
        </p:nvSpPr>
        <p:spPr>
          <a:xfrm>
            <a:off x="3345307" y="5998464"/>
            <a:ext cx="245059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бедро повёрнуто: вертел не виден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6355080" y="182880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ЧТО ДЕЛАЕТ СЕРВИС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6355080" y="21945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949440" y="21762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Проверяет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6949440" y="25420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Каждый снимок по пяти критериям ТЗ: укладка, наклон оси, посторонние предметы, поворот (ротация) бедра, отступы области измерения.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6355080" y="35661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6949440" y="35478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Объясняет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6949440" y="39136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Пишет причину в цифрах — «наклон 8.7° при норме до 5°», «поле 12.5 см, нужно 12.9 см» — и подсвечивает место на снимке.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6355080" y="49377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6949440" y="49194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Передаёт человеку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949440" y="52852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Лаборант исправляет укладку, пока пациент на аппарате; врач видит заключение DICOM SR рядом со снимком в архиве (PACS).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434840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ТАКСОНОМИЯ НАРУШЕНИЙ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Пять критериев ТЗ, у каждого — измерение в физических единицах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7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graphicFrame>
        <p:nvGraphicFramePr>
          <p:cNvPr id="903" name="Table 902"/>
          <p:cNvGraphicFramePr>
            <a:graphicFrameLocks noGrp="1"/>
          </p:cNvGraphicFramePr>
          <p:nvPr/>
        </p:nvGraphicFramePr>
        <p:xfrm>
          <a:off x="346075" y="1828800"/>
          <a:ext cx="7818118" cy="3968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4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84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3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17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КОД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КРИТЕРИЙ ТЗ 2.3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КАК ИЗМЕРЯЕМ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НОРМА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spine_position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видны верхние края подвздошных костей (таза)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кость видна в нижних углах снимка — гребни подвздошных костей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есть с обеих сторон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spine_axis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наклон оси до 5°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линия через центры позвонков; контроль — по краям позвоночника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≤ 5° (порог 4°)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spine_artifacts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нет посторонних предметов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яркие тонкие структуры вне кости (фильтр top-hat) + нейросеть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уверенность &lt; 0.17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hip_rotation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нет ротации (по малому вертелу)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выступ малого вертела — костного бугорка — над контуром кости, мм² + нейросеть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уверенность &lt; 0.24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hip_roi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3 / 3 / 2 см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длина поля: 3 см + от вертела до седалищной кости + 3 см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≥ 12.9 см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undetermined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область не определена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снимок не похож на денситометрию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ручной разбор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04" name="Rounded Rectangle 903"/>
          <p:cNvSpPr/>
          <p:nvPr/>
        </p:nvSpPr>
        <p:spPr>
          <a:xfrm>
            <a:off x="8412480" y="1828800"/>
            <a:ext cx="3410712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5" name="TextBox 904"/>
          <p:cNvSpPr txBox="1"/>
          <p:nvPr/>
        </p:nvSpPr>
        <p:spPr>
          <a:xfrm>
            <a:off x="8631936" y="2011680"/>
            <a:ext cx="2971800" cy="243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Несколько нарушений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8631936" y="2346960"/>
            <a:ext cx="2971800" cy="1493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 каждого пятого исследования нарушений несколько. Критерии проверяются независимо, в отчёт попадают все, например «spine_axis; spine_artifacts». Класс качества = 1 («есть нарушение»), если сработал хоть один.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8412480" y="4114800"/>
            <a:ext cx="3410712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8631936" y="4297680"/>
            <a:ext cx="2971800" cy="243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Сбой чтения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8631936" y="4632960"/>
            <a:ext cx="2971800" cy="899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Файл, который не удалось прочитать, попадает в отчёт строкой Failure с текстом ошибки; обработка не прерывается.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252 снимка, по каждому критерию всего 6–36 нарушений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8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55778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62039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100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62039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исследований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235775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499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235775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DICOM-файлов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409511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252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09511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уникальных снимков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620395" y="315468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Один снимок в выгрузке встречается по нескольку раз под разными идентификаторами. Повторы находим по совпадению изображения — ещё до деления данных на обучение и проверку.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Из них 99 снимков позвоночника, 79 левого и 74 правого бедра — до трёх снимков на исследование. У трёх снимков бедра нет полной оценки эксперта, поэтому метрики считаются на 249.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Все снимки с одного аппарата (GE Lunar Prodigy Advance). Размер пикселя в файлах не указан: масштаб 0.6 мм на пиксель восстановили по известной высоте «позвонок + диск».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Сделали собственную разметку: 242 снимка, по 29 опорных точек на каждом.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6126480" y="1828800"/>
            <a:ext cx="569671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640080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Нарушений мало, и они разные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400800" y="256032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Укладка</a:t>
            </a:r>
          </a:p>
        </p:txBody>
      </p:sp>
      <p:sp>
        <p:nvSpPr>
          <p:cNvPr id="914" name="Rounded Rectangle 913"/>
          <p:cNvSpPr/>
          <p:nvPr/>
        </p:nvSpPr>
        <p:spPr>
          <a:xfrm>
            <a:off x="8549640" y="2596896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5" name="Rounded Rectangle 914"/>
          <p:cNvSpPr/>
          <p:nvPr/>
        </p:nvSpPr>
        <p:spPr>
          <a:xfrm>
            <a:off x="8549640" y="2596896"/>
            <a:ext cx="84124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10029139" y="25603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6 из 99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6400800" y="29809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Наклон оси &gt; 5°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8549640" y="3017520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Rounded Rectangle 918"/>
          <p:cNvSpPr/>
          <p:nvPr/>
        </p:nvSpPr>
        <p:spPr>
          <a:xfrm>
            <a:off x="8549640" y="3017520"/>
            <a:ext cx="140207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10029139" y="29809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10 из 99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6400800" y="34015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Посторонние предметы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8549640" y="3438144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Rounded Rectangle 922"/>
          <p:cNvSpPr/>
          <p:nvPr/>
        </p:nvSpPr>
        <p:spPr>
          <a:xfrm>
            <a:off x="8549640" y="3438144"/>
            <a:ext cx="238353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4" name="TextBox 923"/>
          <p:cNvSpPr txBox="1"/>
          <p:nvPr/>
        </p:nvSpPr>
        <p:spPr>
          <a:xfrm>
            <a:off x="10029139" y="34015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17 из 99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6400800" y="382219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Ротация бедра</a:t>
            </a:r>
          </a:p>
        </p:txBody>
      </p:sp>
      <p:sp>
        <p:nvSpPr>
          <p:cNvPr id="926" name="Rounded Rectangle 925"/>
          <p:cNvSpPr/>
          <p:nvPr/>
        </p:nvSpPr>
        <p:spPr>
          <a:xfrm>
            <a:off x="8549640" y="3858768"/>
            <a:ext cx="2103120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7" name="Rounded Rectangle 926"/>
          <p:cNvSpPr/>
          <p:nvPr/>
        </p:nvSpPr>
        <p:spPr>
          <a:xfrm>
            <a:off x="8549640" y="3858768"/>
            <a:ext cx="504748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8" name="TextBox 927"/>
          <p:cNvSpPr txBox="1"/>
          <p:nvPr/>
        </p:nvSpPr>
        <p:spPr>
          <a:xfrm>
            <a:off x="10744200" y="38221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36 из 150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6400800" y="42428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Отступы поля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8549640" y="4279392"/>
            <a:ext cx="2103120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1" name="Rounded Rectangle 930"/>
          <p:cNvSpPr/>
          <p:nvPr/>
        </p:nvSpPr>
        <p:spPr>
          <a:xfrm>
            <a:off x="8549640" y="4279392"/>
            <a:ext cx="98145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2" name="TextBox 931"/>
          <p:cNvSpPr txBox="1"/>
          <p:nvPr/>
        </p:nvSpPr>
        <p:spPr>
          <a:xfrm>
            <a:off x="10744200" y="424281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7 из 150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640080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48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640080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исследований из 100
с нарушением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818388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20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818388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 двумя и более
нарушениями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996696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72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996696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снимка из 249 оценённых
с нарушением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622292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КАК МЫ ПРОВЕРЯЕМ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Каждый снимок оценивает модель, которая этот снимок не видела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9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711835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1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1681099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2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2650363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3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619627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4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4588891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часть 5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346075" y="219456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#1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711835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1681099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2650363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3619627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4588891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346075" y="2615184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#2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711835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1681099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17" name="Rounded Rectangle 916"/>
          <p:cNvSpPr/>
          <p:nvPr/>
        </p:nvSpPr>
        <p:spPr>
          <a:xfrm>
            <a:off x="2650363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3619627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4588891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346075" y="303580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#3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711835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1681099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2650363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3619627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4588891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346075" y="345643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#4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711835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1681099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9" name="Rounded Rectangle 928"/>
          <p:cNvSpPr/>
          <p:nvPr/>
        </p:nvSpPr>
        <p:spPr>
          <a:xfrm>
            <a:off x="2650363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3619627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4588891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346075" y="3877056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#5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711835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4" name="Rounded Rectangle 933"/>
          <p:cNvSpPr/>
          <p:nvPr/>
        </p:nvSpPr>
        <p:spPr>
          <a:xfrm>
            <a:off x="1681099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5" name="Rounded Rectangle 934"/>
          <p:cNvSpPr/>
          <p:nvPr/>
        </p:nvSpPr>
        <p:spPr>
          <a:xfrm>
            <a:off x="2650363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6" name="Rounded Rectangle 935"/>
          <p:cNvSpPr/>
          <p:nvPr/>
        </p:nvSpPr>
        <p:spPr>
          <a:xfrm>
            <a:off x="3619627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7" name="Rounded Rectangle 936"/>
          <p:cNvSpPr/>
          <p:nvPr/>
        </p:nvSpPr>
        <p:spPr>
          <a:xfrm>
            <a:off x="4588891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346075" y="4389120"/>
            <a:ext cx="530352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Модель здесь — это пороги нормы для измерений и нейросеть (о них на следующем слайде). Сто исследований делим на пять частей по двадцать. Пять раз по очереди четыре части идут на обучение, пятая — на проверку: в итоге каждый снимок оценён моделью, которая его не видела. При делении каждое исследование отнесено к самому редкому из своих нарушений, и эти группы разложены по частям поровну: без нарушений 52, ротация 14, посторонние предметы 14, ось 8, укладка 6, отступы 6.</a:t>
            </a:r>
          </a:p>
        </p:txBody>
      </p:sp>
      <p:sp>
        <p:nvSpPr>
          <p:cNvPr id="939" name="Rounded Rectangle 938"/>
          <p:cNvSpPr/>
          <p:nvPr/>
        </p:nvSpPr>
        <p:spPr>
          <a:xfrm>
            <a:off x="6126480" y="1828800"/>
            <a:ext cx="569671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0" name="TextBox 939"/>
          <p:cNvSpPr txBox="1"/>
          <p:nvPr/>
        </p:nvSpPr>
        <p:spPr>
          <a:xfrm>
            <a:off x="6345936" y="2011680"/>
            <a:ext cx="525780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Пациент целиком в одной части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6345936" y="2308860"/>
            <a:ext cx="5257800" cy="3886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Позвоночник и оба бедра одного человека всегда попадают в одну часть — иначе модель «узнавала» бы пациента, и оценка была бы завышена.</a:t>
            </a:r>
          </a:p>
        </p:txBody>
      </p:sp>
      <p:sp>
        <p:nvSpPr>
          <p:cNvPr id="942" name="Rounded Rectangle 941"/>
          <p:cNvSpPr/>
          <p:nvPr/>
        </p:nvSpPr>
        <p:spPr>
          <a:xfrm>
            <a:off x="6126480" y="2926080"/>
            <a:ext cx="569671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3" name="TextBox 942"/>
          <p:cNvSpPr txBox="1"/>
          <p:nvPr/>
        </p:nvSpPr>
        <p:spPr>
          <a:xfrm>
            <a:off x="6345936" y="3108960"/>
            <a:ext cx="525780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Редкие нарушения — в каждой части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6345936" y="3406140"/>
            <a:ext cx="5257800" cy="3886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Деление сделано так, чтобы в каждой из пяти частей были примеры даже самых редких нарушений.</a:t>
            </a:r>
          </a:p>
        </p:txBody>
      </p:sp>
      <p:sp>
        <p:nvSpPr>
          <p:cNvPr id="945" name="Rounded Rectangle 944"/>
          <p:cNvSpPr/>
          <p:nvPr/>
        </p:nvSpPr>
        <p:spPr>
          <a:xfrm>
            <a:off x="6126480" y="4023360"/>
            <a:ext cx="569671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6" name="TextBox 945"/>
          <p:cNvSpPr txBox="1"/>
          <p:nvPr/>
        </p:nvSpPr>
        <p:spPr>
          <a:xfrm>
            <a:off x="6345936" y="4206240"/>
            <a:ext cx="525780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Настройка — только на обучающих частях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6345936" y="4503420"/>
            <a:ext cx="5257800" cy="3886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Пороги, границы нормы, параметры нейросети и правило объединения нейросети с измерением подбираются на четырёх частях, проверяются на пятой.</a:t>
            </a:r>
          </a:p>
        </p:txBody>
      </p:sp>
      <p:sp>
        <p:nvSpPr>
          <p:cNvPr id="948" name="Rounded Rectangle 947"/>
          <p:cNvSpPr/>
          <p:nvPr/>
        </p:nvSpPr>
        <p:spPr>
          <a:xfrm>
            <a:off x="6126480" y="5120640"/>
            <a:ext cx="569671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9" name="TextBox 948"/>
          <p:cNvSpPr txBox="1"/>
          <p:nvPr/>
        </p:nvSpPr>
        <p:spPr>
          <a:xfrm>
            <a:off x="6345936" y="5303520"/>
            <a:ext cx="525780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Мало нарушений — широкие интервалы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6345936" y="5600700"/>
            <a:ext cx="5257800" cy="3886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На каждый тип нарушения всего 6–36 примеров, поэтому к каждому показателю приводим 95% доверительный интервал — диапазон, где он лежит при такой выборке.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Измерения там, где критерий — размер; нейросеть — там, где форма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10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7040880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620395" y="2029968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Что пробовали для ротации бедра</a:t>
            </a:r>
          </a:p>
        </p:txBody>
      </p:sp>
      <p:graphicFrame>
        <p:nvGraphicFramePr>
          <p:cNvPr id="905" name="Table 904"/>
          <p:cNvGraphicFramePr>
            <a:graphicFrameLocks noGrp="1"/>
          </p:cNvGraphicFramePr>
          <p:nvPr/>
        </p:nvGraphicFramePr>
        <p:xfrm>
          <a:off x="620395" y="2423160"/>
          <a:ext cx="6492238" cy="30083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0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ЧТО ПРОБОВАЛИ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ROC-AUC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ВЫВОД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измерение выступа малого вертела по контуру кости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норма и нарушение отличаются на ≈ 2 мм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простая модель по всему снимку целиком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 лучше монетки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опорные точки, найденные нейросетью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—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ошибка до 2.2 мм при разнице классов 2.1 мм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одна нейросеть ResNet-34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результат плавает от запуска к запуску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три копии той же нейросети, ответы усреднены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стабильнее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нейросеть + измерение выступа → один вердикт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выбрано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06" name="TextBox 905"/>
          <p:cNvSpPr txBox="1"/>
          <p:nvPr/>
        </p:nvSpPr>
        <p:spPr>
          <a:xfrm>
            <a:off x="620395" y="5559552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ROC-AUC — насколько хорошо оценка отделяет нарушения от нормы: 0.5 — наугад, 1.0 — идеально.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7589520" y="182880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7808976" y="2011680"/>
            <a:ext cx="379476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Принцип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7808976" y="2308860"/>
            <a:ext cx="3794760" cy="6903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Вердикт можно проверить глазами: «наклон 8.7°», «поле 12.5 см». Основа — измерения в миллиметрах и градусах.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7589520" y="324612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1" name="TextBox 910"/>
          <p:cNvSpPr txBox="1"/>
          <p:nvPr/>
        </p:nvSpPr>
        <p:spPr>
          <a:xfrm>
            <a:off x="7808976" y="3429000"/>
            <a:ext cx="379476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Где измерения недостаточно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7808976" y="3726180"/>
            <a:ext cx="3794760" cy="6903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Ротация и посторонние предметы — это форма, а не размер. Здесь к измерению добавляем нейросеть и объединяем обе оценки; подсветка показывает, куда она смотрела.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7589520" y="466344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4" name="TextBox 913"/>
          <p:cNvSpPr txBox="1"/>
          <p:nvPr/>
        </p:nvSpPr>
        <p:spPr>
          <a:xfrm>
            <a:off x="7808976" y="4846320"/>
            <a:ext cx="3794760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Где нейросеть не нужна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808976" y="5143500"/>
            <a:ext cx="3794760" cy="6903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Наклон оси, укладка, отступы — прямые измерения. Нейросеть для оси проверили: ROC-AUC 0.51 — не лучше монетки.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747772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Один контейнер, пять шагов, ни одного обращения в интернет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11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cxnSp>
        <p:nvCxnSpPr>
          <p:cNvPr id="903" name="Connector 902"/>
          <p:cNvCxnSpPr/>
          <p:nvPr/>
        </p:nvCxnSpPr>
        <p:spPr>
          <a:xfrm>
            <a:off x="556387" y="2039112"/>
            <a:ext cx="9183888" cy="0"/>
          </a:xfrm>
          <a:prstGeom prst="line">
            <a:avLst/>
          </a:prstGeom>
          <a:ln w="15875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Rounded Rectangle 903"/>
          <p:cNvSpPr/>
          <p:nvPr/>
        </p:nvSpPr>
        <p:spPr>
          <a:xfrm>
            <a:off x="34607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46075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DICOM, zip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46075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снимки из архива клиники как есть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2642047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2642047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чтение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2642047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распаковка, разворот, дубликаты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4938019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938019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область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4938019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позвоночник, бёдра, «не DXA»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7233991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233991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критерии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233991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измерения + нейросеть, каждый отдельно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9529963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9529963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вердикт и отчёт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9529963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класс, вероятности, заключение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346075" y="3291840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565531" y="3474720"/>
            <a:ext cx="3310127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Результат — ровно по ТЗ (п. 2.5, 2.7)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65531" y="3977640"/>
            <a:ext cx="331012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Таблица xlsx или csv (строка на снимок, восемь колонок ТЗ), zip со снимками с разметкой, zip с заключениями DICOM SR.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4204843" y="3291840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TextBox 922"/>
          <p:cNvSpPr txBox="1"/>
          <p:nvPr/>
        </p:nvSpPr>
        <p:spPr>
          <a:xfrm>
            <a:off x="4424299" y="3474720"/>
            <a:ext cx="3310127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Интерфейсы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4424299" y="3771900"/>
            <a:ext cx="3310127" cy="6812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Веб-приложение, приложение для Windows, программный интерфейс API и консоль; Telegram-бот — демонстрация.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8063611" y="3291840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6" name="TextBox 925"/>
          <p:cNvSpPr txBox="1"/>
          <p:nvPr/>
        </p:nvSpPr>
        <p:spPr>
          <a:xfrm>
            <a:off x="8283067" y="3474720"/>
            <a:ext cx="3310127" cy="2057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Контейнер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8283067" y="3771900"/>
            <a:ext cx="3310127" cy="6812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Python 3.11, версии пакетов зафиксированы, нейросеть на процессоре, один поток: повторный запуск даёт в точности тот же отчёт.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346075" y="4727448"/>
            <a:ext cx="114798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ФРАГМЕНТ НАСТОЯЩЕГО ОТЧЁТА: ВОСЕМЬ КОЛОНОК ТЗ 2.5</a:t>
            </a:r>
          </a:p>
        </p:txBody>
      </p:sp>
      <p:graphicFrame>
        <p:nvGraphicFramePr>
          <p:cNvPr id="929" name="Table 928"/>
          <p:cNvGraphicFramePr>
            <a:graphicFrameLocks noGrp="1"/>
          </p:cNvGraphicFramePr>
          <p:nvPr/>
        </p:nvGraphicFramePr>
        <p:xfrm>
          <a:off x="346075" y="4974336"/>
          <a:ext cx="11479859" cy="1280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30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0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0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79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1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PATH_TO_STUDY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STUDY_UID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IMAGE_UID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ANATOMICAL_REGION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QUALITY_CLASS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VIOLATION_TYPE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PROCESSING_STATUS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TIME_OF_PROCESSING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…2140700150015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lh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0.9472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…0150606100110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1.2375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…3101101110913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0.3429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…8814728642117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…3011205010113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…5070904121304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hip_rotation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0.4389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30" name="TextBox 929"/>
          <p:cNvSpPr txBox="1"/>
          <p:nvPr/>
        </p:nvSpPr>
        <p:spPr>
          <a:xfrm>
            <a:off x="346075" y="6309360"/>
            <a:ext cx="114798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lh / rh — левое и правое бедро, spine — позвоночник; класс 0 — качественный, 1 — есть нарушение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Внутри шагов 3–4 конвейера — шесть модулей, у каждого своя задача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12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565531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REGION_CLF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65531" y="2286000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Область снимка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65531" y="2598419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Простая модель по яркости и форме снимка; снимок, не похожий на денситометрию, уходит на ручной разбор.</a:t>
            </a:r>
          </a:p>
        </p:txBody>
      </p:sp>
      <p:cxnSp>
        <p:nvCxnSpPr>
          <p:cNvPr id="907" name="Connector 906"/>
          <p:cNvCxnSpPr/>
          <p:nvPr/>
        </p:nvCxnSpPr>
        <p:spPr>
          <a:xfrm>
            <a:off x="565531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" name="TextBox 907"/>
          <p:cNvSpPr txBox="1"/>
          <p:nvPr/>
        </p:nvSpPr>
        <p:spPr>
          <a:xfrm>
            <a:off x="565531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252 / 252 снимка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4218559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0" name="TextBox 909"/>
          <p:cNvSpPr txBox="1"/>
          <p:nvPr/>
        </p:nvSpPr>
        <p:spPr>
          <a:xfrm>
            <a:off x="4438015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SPINE_QC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438015" y="2286000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Позвоночник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4438015" y="2598419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Выделяем кость и центры позвонков. Наклон оси — прямая через центры; укладка — кость в зонах гребней таза; предметы — фильтр ярких тонких структур (top-hat).</a:t>
            </a:r>
          </a:p>
        </p:txBody>
      </p:sp>
      <p:cxnSp>
        <p:nvCxnSpPr>
          <p:cNvPr id="913" name="Connector 912"/>
          <p:cNvCxnSpPr/>
          <p:nvPr/>
        </p:nvCxnSpPr>
        <p:spPr>
          <a:xfrm>
            <a:off x="4438015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" name="TextBox 913"/>
          <p:cNvSpPr txBox="1"/>
          <p:nvPr/>
        </p:nvSpPr>
        <p:spPr>
          <a:xfrm>
            <a:off x="4438015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ROC-AUC: ось 0.82 · укладка 0.82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8091043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8310499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HIP_ROI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8310499" y="2286000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Отступы бедра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8310499" y="2598419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Проверяем, что поле сканирования не короче нормы: 3 см + расстояние от вертела до седалищной кости + 3 см; отступы из ТЗ (рис. 6) — для сведения.</a:t>
            </a:r>
          </a:p>
        </p:txBody>
      </p:sp>
      <p:cxnSp>
        <p:nvCxnSpPr>
          <p:cNvPr id="919" name="Connector 918"/>
          <p:cNvCxnSpPr/>
          <p:nvPr/>
        </p:nvCxnSpPr>
        <p:spPr>
          <a:xfrm>
            <a:off x="8310499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0" name="TextBox 919"/>
          <p:cNvSpPr txBox="1"/>
          <p:nvPr/>
        </p:nvSpPr>
        <p:spPr>
          <a:xfrm>
            <a:off x="8310499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F1 0.71 · ROC-AUC 0.94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346075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2" name="TextBox 921"/>
          <p:cNvSpPr txBox="1"/>
          <p:nvPr/>
        </p:nvSpPr>
        <p:spPr>
          <a:xfrm>
            <a:off x="565531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HIP_ROTATION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65531" y="4544568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Ротация: измерение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565531" y="4856987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Площадь выступа малого вертела над контуром кости, мм²; выход за коридор нормы означает избыточный или недостаточный поворот.</a:t>
            </a:r>
          </a:p>
        </p:txBody>
      </p:sp>
      <p:cxnSp>
        <p:nvCxnSpPr>
          <p:cNvPr id="925" name="Connector 924"/>
          <p:cNvCxnSpPr/>
          <p:nvPr/>
        </p:nvCxnSpPr>
        <p:spPr>
          <a:xfrm>
            <a:off x="565531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6" name="TextBox 925"/>
          <p:cNvSpPr txBox="1"/>
          <p:nvPr/>
        </p:nvSpPr>
        <p:spPr>
          <a:xfrm>
            <a:off x="565531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норма 96–272 мм²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4218559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8" name="TextBox 927"/>
          <p:cNvSpPr txBox="1"/>
          <p:nvPr/>
        </p:nvSpPr>
        <p:spPr>
          <a:xfrm>
            <a:off x="4438015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CNN_QC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4438015" y="4544568"/>
            <a:ext cx="3291840" cy="441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 и предметы: нейросеть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4438015" y="5077967"/>
            <a:ext cx="3291840" cy="60960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Готовая нейросеть ResNet-34, дообученная на наших снимках; три копии, ответ усредняется; без видеокарты; подсвечивает, куда смотрела.</a:t>
            </a:r>
          </a:p>
        </p:txBody>
      </p:sp>
      <p:cxnSp>
        <p:nvCxnSpPr>
          <p:cNvPr id="931" name="Connector 930"/>
          <p:cNvCxnSpPr/>
          <p:nvPr/>
        </p:nvCxnSpPr>
        <p:spPr>
          <a:xfrm>
            <a:off x="4438015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TextBox 931"/>
          <p:cNvSpPr txBox="1"/>
          <p:nvPr/>
        </p:nvSpPr>
        <p:spPr>
          <a:xfrm>
            <a:off x="4438015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ROC-AUC с измерением 0.82 · 0.85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8091043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4" name="TextBox 933"/>
          <p:cNvSpPr txBox="1"/>
          <p:nvPr/>
        </p:nvSpPr>
        <p:spPr>
          <a:xfrm>
            <a:off x="8310499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DXA_QC · ВЫКЛЮЧЕН ПО УМОЛЧАНИЮ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8310499" y="4544568"/>
            <a:ext cx="3291840" cy="2209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Опорные точки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8310499" y="4856987"/>
            <a:ext cx="3291840" cy="8305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Нейросеть находит 29 опорных точек; обучена на 2 частях данных из 5. Ось — не хуже контурного метода, но в 12 раз медленнее; включается настройкой.</a:t>
            </a:r>
          </a:p>
        </p:txBody>
      </p:sp>
      <p:cxnSp>
        <p:nvCxnSpPr>
          <p:cNvPr id="937" name="Connector 936"/>
          <p:cNvCxnSpPr/>
          <p:nvPr/>
        </p:nvCxnSpPr>
        <p:spPr>
          <a:xfrm>
            <a:off x="8310499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8" name="TextBox 937"/>
          <p:cNvSpPr txBox="1"/>
          <p:nvPr/>
        </p:nvSpPr>
        <p:spPr>
          <a:xfrm>
            <a:off x="8310499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точки: ошибка 0.9–2.4 мм · ось: 0.5°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6121907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ПРЕДОБРАБОТКА И ПОСТОБРАБОТКА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До модели всё приводится к миллиметрам, после — к вероятности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13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ДО ПРОВЕРКИ КРИТЕРИЕВ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346075" y="2194560"/>
            <a:ext cx="5394960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Читаем сжатые файлы DICOM, инвертированные снимки и таблицы яркости.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Зеркально выгруженный снимок разворачиваем к стандартному виду по служебной метке в файле.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Одинаковые снимки под разными именами схлопываем в один — по совпадению изображения.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Правое бедро отражаем в левое: все измерения и нейросеть работают с одной стороной.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Выделяем кость и переводим пиксели в миллиметры: пороги заданы в мм, градусах и мм².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Для нейросети выравниваем яркость и уменьшаем снимок до 320 точек по длинной стороне.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6106795" y="1828800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ПОСЛЕ ПРОВЕРКИ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6106795" y="2194560"/>
            <a:ext cx="5394960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Пороги и границы нормы подобраны на обучающих частях данных, а не на проверяемых снимках.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Отступы области измерения оцениваем по длине поля сканирования — так же, как врач-эксперт.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 ротации бедра и посторонним предметам ответ дают и измерение, и нейросеть — их оценки объединяются в один вердикт.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Каждое измерение переводится в вероятность нарушения; общая вероятность — что нарушен хотя бы один критерий.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Если измерение и нейросеть разошлись, вероятность остаётся около порога, а снимок получает пометку «проверьте глазами».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 выходе — заключение по-русски, снимок с разметкой и подсветкой, DICOM SR для архива.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685031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МЕТРИКИ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Каждый снимок проверен моделью, которая его не видела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14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КРИТЕРИЙ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269748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НАР./ВСЕГО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61188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НАЙДЕНО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434340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БЕЗ ЛОЖНЫХ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534924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F1, 95% ИНТЕРВАЛ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768096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F1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854964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ROC-AUC, 95% ИНТЕРВАЛ (0.4–1)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101852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AUC</a:t>
            </a:r>
          </a:p>
        </p:txBody>
      </p:sp>
      <p:cxnSp>
        <p:nvCxnSpPr>
          <p:cNvPr id="911" name="Connector 910"/>
          <p:cNvCxnSpPr/>
          <p:nvPr/>
        </p:nvCxnSpPr>
        <p:spPr>
          <a:xfrm>
            <a:off x="346075" y="2011680"/>
            <a:ext cx="11479860" cy="0"/>
          </a:xfrm>
          <a:prstGeom prst="line">
            <a:avLst/>
          </a:prstGeom>
          <a:ln w="19050">
            <a:solidFill>
              <a:srgbClr val="520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" name="TextBox 911"/>
          <p:cNvSpPr txBox="1"/>
          <p:nvPr/>
        </p:nvSpPr>
        <p:spPr>
          <a:xfrm>
            <a:off x="346075" y="21854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Укладка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69748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6/99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361188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0.67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434340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0.84</a:t>
            </a:r>
          </a:p>
        </p:txBody>
      </p:sp>
      <p:cxnSp>
        <p:nvCxnSpPr>
          <p:cNvPr id="916" name="Connector 915"/>
          <p:cNvCxnSpPr/>
          <p:nvPr/>
        </p:nvCxnSpPr>
        <p:spPr>
          <a:xfrm>
            <a:off x="5349240" y="22951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53492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59207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64922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70637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>
            <a:off x="76352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>
            <a:off x="5524923" y="2295144"/>
            <a:ext cx="107122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3" name="Oval 922"/>
          <p:cNvSpPr/>
          <p:nvPr/>
        </p:nvSpPr>
        <p:spPr>
          <a:xfrm>
            <a:off x="6021324" y="22357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4" name="TextBox 923"/>
          <p:cNvSpPr txBox="1"/>
          <p:nvPr/>
        </p:nvSpPr>
        <p:spPr>
          <a:xfrm>
            <a:off x="7680960" y="21854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0.32</a:t>
            </a:r>
          </a:p>
        </p:txBody>
      </p:sp>
      <p:cxnSp>
        <p:nvCxnSpPr>
          <p:cNvPr id="925" name="Connector 924"/>
          <p:cNvCxnSpPr/>
          <p:nvPr/>
        </p:nvCxnSpPr>
        <p:spPr>
          <a:xfrm>
            <a:off x="8549640" y="22951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85496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91211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9692639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102641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>
            <a:off x="108356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9236982" y="2295144"/>
            <a:ext cx="142326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Oval 931"/>
          <p:cNvSpPr/>
          <p:nvPr/>
        </p:nvSpPr>
        <p:spPr>
          <a:xfrm>
            <a:off x="10100236" y="22357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3" name="TextBox 932"/>
          <p:cNvSpPr txBox="1"/>
          <p:nvPr/>
        </p:nvSpPr>
        <p:spPr>
          <a:xfrm>
            <a:off x="11018520" y="21854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934" name="Connector 933"/>
          <p:cNvCxnSpPr/>
          <p:nvPr/>
        </p:nvCxnSpPr>
        <p:spPr>
          <a:xfrm>
            <a:off x="346075" y="25237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5" name="TextBox 934"/>
          <p:cNvSpPr txBox="1"/>
          <p:nvPr/>
        </p:nvSpPr>
        <p:spPr>
          <a:xfrm>
            <a:off x="346075" y="26426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Наклон оси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269748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10/99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361188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0.30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434340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0.88</a:t>
            </a:r>
          </a:p>
        </p:txBody>
      </p:sp>
      <p:cxnSp>
        <p:nvCxnSpPr>
          <p:cNvPr id="939" name="Connector 938"/>
          <p:cNvCxnSpPr/>
          <p:nvPr/>
        </p:nvCxnSpPr>
        <p:spPr>
          <a:xfrm>
            <a:off x="5349240" y="27523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53492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>
            <a:off x="59207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>
            <a:off x="64922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>
            <a:off x="70637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>
            <a:off x="76352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>
            <a:off x="5349240" y="2752344"/>
            <a:ext cx="110358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6" name="Oval 945"/>
          <p:cNvSpPr/>
          <p:nvPr/>
        </p:nvSpPr>
        <p:spPr>
          <a:xfrm>
            <a:off x="5861304" y="26929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7" name="TextBox 946"/>
          <p:cNvSpPr txBox="1"/>
          <p:nvPr/>
        </p:nvSpPr>
        <p:spPr>
          <a:xfrm>
            <a:off x="7680960" y="26426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0.25</a:t>
            </a:r>
          </a:p>
        </p:txBody>
      </p:sp>
      <p:cxnSp>
        <p:nvCxnSpPr>
          <p:cNvPr id="948" name="Connector 947"/>
          <p:cNvCxnSpPr/>
          <p:nvPr/>
        </p:nvCxnSpPr>
        <p:spPr>
          <a:xfrm>
            <a:off x="8549640" y="27523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85496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>
            <a:off x="91211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>
            <a:off x="9692639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>
            <a:off x="102641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>
            <a:off x="108356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>
            <a:off x="9767822" y="2752344"/>
            <a:ext cx="776197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5" name="Oval 954"/>
          <p:cNvSpPr/>
          <p:nvPr/>
        </p:nvSpPr>
        <p:spPr>
          <a:xfrm>
            <a:off x="10104102" y="26929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6" name="TextBox 955"/>
          <p:cNvSpPr txBox="1"/>
          <p:nvPr/>
        </p:nvSpPr>
        <p:spPr>
          <a:xfrm>
            <a:off x="11018520" y="26426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957" name="Connector 956"/>
          <p:cNvCxnSpPr/>
          <p:nvPr/>
        </p:nvCxnSpPr>
        <p:spPr>
          <a:xfrm>
            <a:off x="346075" y="29809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8" name="TextBox 957"/>
          <p:cNvSpPr txBox="1"/>
          <p:nvPr/>
        </p:nvSpPr>
        <p:spPr>
          <a:xfrm>
            <a:off x="346075" y="30998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Посторонние предметы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269748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17/99</a:t>
            </a:r>
          </a:p>
        </p:txBody>
      </p:sp>
      <p:sp>
        <p:nvSpPr>
          <p:cNvPr id="960" name="TextBox 959"/>
          <p:cNvSpPr txBox="1"/>
          <p:nvPr/>
        </p:nvSpPr>
        <p:spPr>
          <a:xfrm>
            <a:off x="361188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434340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0.93</a:t>
            </a:r>
          </a:p>
        </p:txBody>
      </p:sp>
      <p:cxnSp>
        <p:nvCxnSpPr>
          <p:cNvPr id="962" name="Connector 961"/>
          <p:cNvCxnSpPr/>
          <p:nvPr/>
        </p:nvCxnSpPr>
        <p:spPr>
          <a:xfrm>
            <a:off x="5349240" y="3118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>
            <a:off x="53492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>
            <a:off x="59207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>
            <a:off x="64922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>
            <a:off x="70637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76352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6144370" y="3118104"/>
            <a:ext cx="97467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9" name="Oval 968"/>
          <p:cNvSpPr/>
          <p:nvPr/>
        </p:nvSpPr>
        <p:spPr>
          <a:xfrm>
            <a:off x="6626302" y="3067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0" name="Connector 969"/>
          <p:cNvCxnSpPr/>
          <p:nvPr/>
        </p:nvCxnSpPr>
        <p:spPr>
          <a:xfrm>
            <a:off x="5349240" y="3310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53492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59207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>
            <a:off x="64922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70637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76352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>
            <a:off x="6343153" y="3310128"/>
            <a:ext cx="868840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Oval 976"/>
          <p:cNvSpPr/>
          <p:nvPr/>
        </p:nvSpPr>
        <p:spPr>
          <a:xfrm>
            <a:off x="6768980" y="3250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8" name="TextBox 977"/>
          <p:cNvSpPr txBox="1"/>
          <p:nvPr/>
        </p:nvSpPr>
        <p:spPr>
          <a:xfrm>
            <a:off x="7680960" y="3017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0.58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7680960" y="3200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cxnSp>
        <p:nvCxnSpPr>
          <p:cNvPr id="980" name="Connector 979"/>
          <p:cNvCxnSpPr/>
          <p:nvPr/>
        </p:nvCxnSpPr>
        <p:spPr>
          <a:xfrm>
            <a:off x="8549640" y="3118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85496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91211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>
            <a:off x="9692639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>
            <a:off x="102641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>
            <a:off x="108356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>
            <a:off x="9465223" y="3118104"/>
            <a:ext cx="106752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7" name="Oval 986"/>
          <p:cNvSpPr/>
          <p:nvPr/>
        </p:nvSpPr>
        <p:spPr>
          <a:xfrm>
            <a:off x="9999569" y="3067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88" name="Connector 987"/>
          <p:cNvCxnSpPr/>
          <p:nvPr/>
        </p:nvCxnSpPr>
        <p:spPr>
          <a:xfrm>
            <a:off x="8549640" y="3310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85496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91211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9692639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2641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8356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9767302" y="3310128"/>
            <a:ext cx="898692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5" name="Oval 994"/>
          <p:cNvSpPr/>
          <p:nvPr/>
        </p:nvSpPr>
        <p:spPr>
          <a:xfrm>
            <a:off x="10185845" y="3250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6" name="TextBox 995"/>
          <p:cNvSpPr txBox="1"/>
          <p:nvPr/>
        </p:nvSpPr>
        <p:spPr>
          <a:xfrm>
            <a:off x="11018520" y="3017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0.79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1018520" y="3200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0.85</a:t>
            </a:r>
          </a:p>
        </p:txBody>
      </p:sp>
      <p:cxnSp>
        <p:nvCxnSpPr>
          <p:cNvPr id="998" name="Connector 997"/>
          <p:cNvCxnSpPr/>
          <p:nvPr/>
        </p:nvCxnSpPr>
        <p:spPr>
          <a:xfrm>
            <a:off x="346075" y="34381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9" name="TextBox 998"/>
          <p:cNvSpPr txBox="1"/>
          <p:nvPr/>
        </p:nvSpPr>
        <p:spPr>
          <a:xfrm>
            <a:off x="346075" y="35570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Ротация бедра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269748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36/150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61188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0.67</a:t>
            </a:r>
          </a:p>
        </p:txBody>
      </p:sp>
      <p:sp>
        <p:nvSpPr>
          <p:cNvPr id="1002" name="TextBox 1001"/>
          <p:cNvSpPr txBox="1"/>
          <p:nvPr/>
        </p:nvSpPr>
        <p:spPr>
          <a:xfrm>
            <a:off x="434340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0.76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5349240" y="35753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53492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59207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>
            <a:off x="64922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>
            <a:off x="70637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76352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6038154" y="3575304"/>
            <a:ext cx="728445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Oval 1009"/>
          <p:cNvSpPr/>
          <p:nvPr/>
        </p:nvSpPr>
        <p:spPr>
          <a:xfrm>
            <a:off x="6392252" y="35250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1" name="Connector 1010"/>
          <p:cNvCxnSpPr/>
          <p:nvPr/>
        </p:nvCxnSpPr>
        <p:spPr>
          <a:xfrm>
            <a:off x="5349240" y="37673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53492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59207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>
            <a:off x="64922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>
            <a:off x="70637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>
            <a:off x="76352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>
            <a:off x="6250708" y="3767328"/>
            <a:ext cx="651329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8" name="Oval 1017"/>
          <p:cNvSpPr/>
          <p:nvPr/>
        </p:nvSpPr>
        <p:spPr>
          <a:xfrm>
            <a:off x="6551045" y="37078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7680960" y="34747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0.48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7680960" y="36576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0.55</a:t>
            </a:r>
          </a:p>
        </p:txBody>
      </p:sp>
      <p:cxnSp>
        <p:nvCxnSpPr>
          <p:cNvPr id="1021" name="Connector 1020"/>
          <p:cNvCxnSpPr/>
          <p:nvPr/>
        </p:nvCxnSpPr>
        <p:spPr>
          <a:xfrm>
            <a:off x="8549640" y="35753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>
            <a:off x="85496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91211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9692639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>
            <a:off x="102641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108356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>
            <a:off x="9114086" y="3575304"/>
            <a:ext cx="943090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8" name="Oval 1027"/>
          <p:cNvSpPr/>
          <p:nvPr/>
        </p:nvSpPr>
        <p:spPr>
          <a:xfrm>
            <a:off x="9557124" y="35250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29" name="Connector 1028"/>
          <p:cNvCxnSpPr/>
          <p:nvPr/>
        </p:nvCxnSpPr>
        <p:spPr>
          <a:xfrm>
            <a:off x="8549640" y="37673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>
            <a:off x="85496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91211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9692639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02641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>
            <a:off x="108356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>
            <a:off x="9757681" y="3767328"/>
            <a:ext cx="67965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Oval 1035"/>
          <p:cNvSpPr/>
          <p:nvPr/>
        </p:nvSpPr>
        <p:spPr>
          <a:xfrm>
            <a:off x="10074361" y="37078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7" name="TextBox 1036"/>
          <p:cNvSpPr txBox="1"/>
          <p:nvPr/>
        </p:nvSpPr>
        <p:spPr>
          <a:xfrm>
            <a:off x="11018520" y="34747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11018520" y="36576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346075" y="38953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346075" y="40142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Отступы поля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269748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7/150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361188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434340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0.99</a:t>
            </a:r>
          </a:p>
        </p:txBody>
      </p:sp>
      <p:cxnSp>
        <p:nvCxnSpPr>
          <p:cNvPr id="1044" name="Connector 1043"/>
          <p:cNvCxnSpPr/>
          <p:nvPr/>
        </p:nvCxnSpPr>
        <p:spPr>
          <a:xfrm>
            <a:off x="5349240" y="40325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53492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59207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>
            <a:off x="64922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>
            <a:off x="70637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>
            <a:off x="76352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>
            <a:off x="5349240" y="4032504"/>
            <a:ext cx="141889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6094078" y="39822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2" name="Connector 1051"/>
          <p:cNvCxnSpPr/>
          <p:nvPr/>
        </p:nvCxnSpPr>
        <p:spPr>
          <a:xfrm>
            <a:off x="5349240" y="42245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>
            <a:off x="53492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>
            <a:off x="59207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>
            <a:off x="64922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>
            <a:off x="70637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76352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5857240" y="4224528"/>
            <a:ext cx="165768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9" name="Oval 1058"/>
          <p:cNvSpPr/>
          <p:nvPr/>
        </p:nvSpPr>
        <p:spPr>
          <a:xfrm>
            <a:off x="6922661" y="41650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0" name="TextBox 1059"/>
          <p:cNvSpPr txBox="1"/>
          <p:nvPr/>
        </p:nvSpPr>
        <p:spPr>
          <a:xfrm>
            <a:off x="7680960" y="39319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0.35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7680960" y="41148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cxnSp>
        <p:nvCxnSpPr>
          <p:cNvPr id="1062" name="Connector 1061"/>
          <p:cNvCxnSpPr/>
          <p:nvPr/>
        </p:nvCxnSpPr>
        <p:spPr>
          <a:xfrm>
            <a:off x="8549640" y="40325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>
            <a:off x="85496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91211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9692639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>
            <a:off x="102641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>
            <a:off x="108356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>
            <a:off x="9831609" y="4032504"/>
            <a:ext cx="974452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Oval 1068"/>
          <p:cNvSpPr/>
          <p:nvPr/>
        </p:nvSpPr>
        <p:spPr>
          <a:xfrm>
            <a:off x="10372375" y="39822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0" name="Connector 1069"/>
          <p:cNvCxnSpPr/>
          <p:nvPr/>
        </p:nvCxnSpPr>
        <p:spPr>
          <a:xfrm>
            <a:off x="8549640" y="42245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Connector 1070"/>
          <p:cNvCxnSpPr/>
          <p:nvPr/>
        </p:nvCxnSpPr>
        <p:spPr>
          <a:xfrm>
            <a:off x="85496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 1071"/>
          <p:cNvCxnSpPr/>
          <p:nvPr/>
        </p:nvCxnSpPr>
        <p:spPr>
          <a:xfrm>
            <a:off x="91211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3" name="Connector 1072"/>
          <p:cNvCxnSpPr/>
          <p:nvPr/>
        </p:nvCxnSpPr>
        <p:spPr>
          <a:xfrm>
            <a:off x="9692639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>
            <a:off x="102641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>
            <a:off x="108356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>
            <a:off x="10148232" y="4224528"/>
            <a:ext cx="687408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Oval 1076"/>
          <p:cNvSpPr/>
          <p:nvPr/>
        </p:nvSpPr>
        <p:spPr>
          <a:xfrm>
            <a:off x="10544026" y="41650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8" name="TextBox 1077"/>
          <p:cNvSpPr txBox="1"/>
          <p:nvPr/>
        </p:nvSpPr>
        <p:spPr>
          <a:xfrm>
            <a:off x="11018520" y="39319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0.89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11018520" y="41148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0.94</a:t>
            </a:r>
          </a:p>
        </p:txBody>
      </p:sp>
      <p:cxnSp>
        <p:nvCxnSpPr>
          <p:cNvPr id="1080" name="Connector 1079"/>
          <p:cNvCxnSpPr/>
          <p:nvPr/>
        </p:nvCxnSpPr>
        <p:spPr>
          <a:xfrm>
            <a:off x="346075" y="43525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1" name="TextBox 1080"/>
          <p:cNvSpPr txBox="1"/>
          <p:nvPr/>
        </p:nvSpPr>
        <p:spPr>
          <a:xfrm>
            <a:off x="346075" y="44714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Позвоночник (любое)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269748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31/99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361188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434340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cxnSp>
        <p:nvCxnSpPr>
          <p:cNvPr id="1085" name="Connector 1084"/>
          <p:cNvCxnSpPr/>
          <p:nvPr/>
        </p:nvCxnSpPr>
        <p:spPr>
          <a:xfrm>
            <a:off x="5349240" y="44897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53492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>
            <a:off x="59207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64922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70637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76352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6111240" y="4489704"/>
            <a:ext cx="673395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6409290" y="44394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93" name="Connector 1092"/>
          <p:cNvCxnSpPr/>
          <p:nvPr/>
        </p:nvCxnSpPr>
        <p:spPr>
          <a:xfrm>
            <a:off x="5349240" y="46817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3492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>
            <a:off x="59207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64922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70637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76352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>
            <a:off x="6263640" y="4681728"/>
            <a:ext cx="63106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0" name="Oval 1099"/>
          <p:cNvSpPr/>
          <p:nvPr/>
        </p:nvSpPr>
        <p:spPr>
          <a:xfrm>
            <a:off x="6542406" y="46222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1" name="TextBox 1100"/>
          <p:cNvSpPr txBox="1"/>
          <p:nvPr/>
        </p:nvSpPr>
        <p:spPr>
          <a:xfrm>
            <a:off x="7680960" y="43891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0.49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7680960" y="45720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0.55</a:t>
            </a:r>
          </a:p>
        </p:txBody>
      </p:sp>
      <p:cxnSp>
        <p:nvCxnSpPr>
          <p:cNvPr id="1103" name="Connector 1102"/>
          <p:cNvCxnSpPr/>
          <p:nvPr/>
        </p:nvCxnSpPr>
        <p:spPr>
          <a:xfrm>
            <a:off x="8549640" y="44897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>
            <a:off x="85496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91211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>
            <a:off x="9692639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02641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>
            <a:off x="108356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9039107" y="4489704"/>
            <a:ext cx="89007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432508" y="44394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1" name="Connector 1110"/>
          <p:cNvCxnSpPr/>
          <p:nvPr/>
        </p:nvCxnSpPr>
        <p:spPr>
          <a:xfrm>
            <a:off x="8549640" y="46817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85496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>
            <a:off x="91211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9692639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>
            <a:off x="102641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108356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9307869" y="4681728"/>
            <a:ext cx="86516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98089" y="46222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9" name="TextBox 1118"/>
          <p:cNvSpPr txBox="1"/>
          <p:nvPr/>
        </p:nvSpPr>
        <p:spPr>
          <a:xfrm>
            <a:off x="11018520" y="43891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0.64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11018520" y="45720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0.72</a:t>
            </a:r>
          </a:p>
        </p:txBody>
      </p:sp>
      <p:cxnSp>
        <p:nvCxnSpPr>
          <p:cNvPr id="1121" name="Connector 1120"/>
          <p:cNvCxnSpPr/>
          <p:nvPr/>
        </p:nvCxnSpPr>
        <p:spPr>
          <a:xfrm>
            <a:off x="346075" y="48097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TextBox 1121"/>
          <p:cNvSpPr txBox="1"/>
          <p:nvPr/>
        </p:nvSpPr>
        <p:spPr>
          <a:xfrm>
            <a:off x="346075" y="49286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Бедро (любое)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69748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41/150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361188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434340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0.75</a:t>
            </a:r>
          </a:p>
        </p:txBody>
      </p:sp>
      <p:cxnSp>
        <p:nvCxnSpPr>
          <p:cNvPr id="1126" name="Connector 1125"/>
          <p:cNvCxnSpPr/>
          <p:nvPr/>
        </p:nvCxnSpPr>
        <p:spPr>
          <a:xfrm>
            <a:off x="5349240" y="49469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" name="Connector 1126"/>
          <p:cNvCxnSpPr/>
          <p:nvPr/>
        </p:nvCxnSpPr>
        <p:spPr>
          <a:xfrm>
            <a:off x="53492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59207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64922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 1129"/>
          <p:cNvCxnSpPr/>
          <p:nvPr/>
        </p:nvCxnSpPr>
        <p:spPr>
          <a:xfrm>
            <a:off x="70637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 1130"/>
          <p:cNvCxnSpPr/>
          <p:nvPr/>
        </p:nvCxnSpPr>
        <p:spPr>
          <a:xfrm>
            <a:off x="76352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2" name="Connector 1131"/>
          <p:cNvCxnSpPr/>
          <p:nvPr/>
        </p:nvCxnSpPr>
        <p:spPr>
          <a:xfrm>
            <a:off x="6120405" y="4946904"/>
            <a:ext cx="65535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3" name="Oval 1132"/>
          <p:cNvSpPr/>
          <p:nvPr/>
        </p:nvSpPr>
        <p:spPr>
          <a:xfrm>
            <a:off x="6441948" y="48966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4" name="Connector 1133"/>
          <p:cNvCxnSpPr/>
          <p:nvPr/>
        </p:nvCxnSpPr>
        <p:spPr>
          <a:xfrm>
            <a:off x="5349240" y="51389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5" name="Connector 1134"/>
          <p:cNvCxnSpPr/>
          <p:nvPr/>
        </p:nvCxnSpPr>
        <p:spPr>
          <a:xfrm>
            <a:off x="53492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6" name="Connector 1135"/>
          <p:cNvCxnSpPr/>
          <p:nvPr/>
        </p:nvCxnSpPr>
        <p:spPr>
          <a:xfrm>
            <a:off x="59207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Connector 1136"/>
          <p:cNvCxnSpPr/>
          <p:nvPr/>
        </p:nvCxnSpPr>
        <p:spPr>
          <a:xfrm>
            <a:off x="64922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Connector 1137"/>
          <p:cNvCxnSpPr/>
          <p:nvPr/>
        </p:nvCxnSpPr>
        <p:spPr>
          <a:xfrm>
            <a:off x="70637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Connector 1138"/>
          <p:cNvCxnSpPr/>
          <p:nvPr/>
        </p:nvCxnSpPr>
        <p:spPr>
          <a:xfrm>
            <a:off x="76352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>
            <a:off x="6385369" y="5138928"/>
            <a:ext cx="60217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1" name="Oval 1140"/>
          <p:cNvSpPr/>
          <p:nvPr/>
        </p:nvSpPr>
        <p:spPr>
          <a:xfrm>
            <a:off x="6656690" y="50794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2" name="TextBox 1141"/>
          <p:cNvSpPr txBox="1"/>
          <p:nvPr/>
        </p:nvSpPr>
        <p:spPr>
          <a:xfrm>
            <a:off x="7680960" y="48463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0.50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7680960" y="50292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0.60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8549640" y="49469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85496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Connector 1145"/>
          <p:cNvCxnSpPr/>
          <p:nvPr/>
        </p:nvCxnSpPr>
        <p:spPr>
          <a:xfrm>
            <a:off x="91211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7" name="Connector 1146"/>
          <p:cNvCxnSpPr/>
          <p:nvPr/>
        </p:nvCxnSpPr>
        <p:spPr>
          <a:xfrm>
            <a:off x="9692639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8" name="Connector 1147"/>
          <p:cNvCxnSpPr/>
          <p:nvPr/>
        </p:nvCxnSpPr>
        <p:spPr>
          <a:xfrm>
            <a:off x="102641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9" name="Connector 1148"/>
          <p:cNvCxnSpPr/>
          <p:nvPr/>
        </p:nvCxnSpPr>
        <p:spPr>
          <a:xfrm>
            <a:off x="108356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0" name="Connector 1149"/>
          <p:cNvCxnSpPr/>
          <p:nvPr/>
        </p:nvCxnSpPr>
        <p:spPr>
          <a:xfrm>
            <a:off x="9164173" y="4946904"/>
            <a:ext cx="91514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Oval 1150"/>
          <p:cNvSpPr/>
          <p:nvPr/>
        </p:nvSpPr>
        <p:spPr>
          <a:xfrm>
            <a:off x="9584972" y="48966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2" name="Connector 1151"/>
          <p:cNvCxnSpPr/>
          <p:nvPr/>
        </p:nvCxnSpPr>
        <p:spPr>
          <a:xfrm>
            <a:off x="8549640" y="51389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3" name="Connector 1152"/>
          <p:cNvCxnSpPr/>
          <p:nvPr/>
        </p:nvCxnSpPr>
        <p:spPr>
          <a:xfrm>
            <a:off x="85496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4" name="Connector 1153"/>
          <p:cNvCxnSpPr/>
          <p:nvPr/>
        </p:nvCxnSpPr>
        <p:spPr>
          <a:xfrm>
            <a:off x="91211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5" name="Connector 1154"/>
          <p:cNvCxnSpPr/>
          <p:nvPr/>
        </p:nvCxnSpPr>
        <p:spPr>
          <a:xfrm>
            <a:off x="9692639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Connector 1155"/>
          <p:cNvCxnSpPr/>
          <p:nvPr/>
        </p:nvCxnSpPr>
        <p:spPr>
          <a:xfrm>
            <a:off x="102641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Connector 1156"/>
          <p:cNvCxnSpPr/>
          <p:nvPr/>
        </p:nvCxnSpPr>
        <p:spPr>
          <a:xfrm>
            <a:off x="108356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8" name="Connector 1157"/>
          <p:cNvCxnSpPr/>
          <p:nvPr/>
        </p:nvCxnSpPr>
        <p:spPr>
          <a:xfrm>
            <a:off x="9798052" y="5138928"/>
            <a:ext cx="637948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9" name="Oval 1158"/>
          <p:cNvSpPr/>
          <p:nvPr/>
        </p:nvSpPr>
        <p:spPr>
          <a:xfrm>
            <a:off x="10086073" y="50794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0" name="TextBox 1159"/>
          <p:cNvSpPr txBox="1"/>
          <p:nvPr/>
        </p:nvSpPr>
        <p:spPr>
          <a:xfrm>
            <a:off x="11018520" y="48463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1018520" y="50292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1162" name="Connector 1161"/>
          <p:cNvCxnSpPr/>
          <p:nvPr/>
        </p:nvCxnSpPr>
        <p:spPr>
          <a:xfrm>
            <a:off x="346075" y="52669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3" name="TextBox 1162"/>
          <p:cNvSpPr txBox="1"/>
          <p:nvPr/>
        </p:nvSpPr>
        <p:spPr>
          <a:xfrm>
            <a:off x="346075" y="53858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Все снимки (любое)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269748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72/249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361188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434340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0.72</a:t>
            </a:r>
          </a:p>
        </p:txBody>
      </p:sp>
      <p:cxnSp>
        <p:nvCxnSpPr>
          <p:cNvPr id="1167" name="Connector 1166"/>
          <p:cNvCxnSpPr/>
          <p:nvPr/>
        </p:nvCxnSpPr>
        <p:spPr>
          <a:xfrm>
            <a:off x="5349240" y="5404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8" name="Connector 1167"/>
          <p:cNvCxnSpPr/>
          <p:nvPr/>
        </p:nvCxnSpPr>
        <p:spPr>
          <a:xfrm>
            <a:off x="53492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9" name="Connector 1168"/>
          <p:cNvCxnSpPr/>
          <p:nvPr/>
        </p:nvCxnSpPr>
        <p:spPr>
          <a:xfrm>
            <a:off x="59207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0" name="Connector 1169"/>
          <p:cNvCxnSpPr/>
          <p:nvPr/>
        </p:nvCxnSpPr>
        <p:spPr>
          <a:xfrm>
            <a:off x="64922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Connector 1170"/>
          <p:cNvCxnSpPr/>
          <p:nvPr/>
        </p:nvCxnSpPr>
        <p:spPr>
          <a:xfrm>
            <a:off x="70637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2" name="Connector 1171"/>
          <p:cNvCxnSpPr/>
          <p:nvPr/>
        </p:nvCxnSpPr>
        <p:spPr>
          <a:xfrm>
            <a:off x="76352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3" name="Connector 1172"/>
          <p:cNvCxnSpPr/>
          <p:nvPr/>
        </p:nvCxnSpPr>
        <p:spPr>
          <a:xfrm>
            <a:off x="6244264" y="5404104"/>
            <a:ext cx="455269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4" name="Oval 1173"/>
          <p:cNvSpPr/>
          <p:nvPr/>
        </p:nvSpPr>
        <p:spPr>
          <a:xfrm>
            <a:off x="6428810" y="5353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75" name="Connector 1174"/>
          <p:cNvCxnSpPr/>
          <p:nvPr/>
        </p:nvCxnSpPr>
        <p:spPr>
          <a:xfrm>
            <a:off x="5349240" y="5596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6" name="Connector 1175"/>
          <p:cNvCxnSpPr/>
          <p:nvPr/>
        </p:nvCxnSpPr>
        <p:spPr>
          <a:xfrm>
            <a:off x="53492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7" name="Connector 1176"/>
          <p:cNvCxnSpPr/>
          <p:nvPr/>
        </p:nvCxnSpPr>
        <p:spPr>
          <a:xfrm>
            <a:off x="59207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8" name="Connector 1177"/>
          <p:cNvCxnSpPr/>
          <p:nvPr/>
        </p:nvCxnSpPr>
        <p:spPr>
          <a:xfrm>
            <a:off x="64922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9" name="Connector 1178"/>
          <p:cNvCxnSpPr/>
          <p:nvPr/>
        </p:nvCxnSpPr>
        <p:spPr>
          <a:xfrm>
            <a:off x="70637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0" name="Connector 1179"/>
          <p:cNvCxnSpPr/>
          <p:nvPr/>
        </p:nvCxnSpPr>
        <p:spPr>
          <a:xfrm>
            <a:off x="76352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1" name="Connector 1180"/>
          <p:cNvCxnSpPr/>
          <p:nvPr/>
        </p:nvCxnSpPr>
        <p:spPr>
          <a:xfrm>
            <a:off x="6437778" y="5596128"/>
            <a:ext cx="42757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2" name="Oval 1181"/>
          <p:cNvSpPr/>
          <p:nvPr/>
        </p:nvSpPr>
        <p:spPr>
          <a:xfrm>
            <a:off x="6607615" y="5536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3" name="TextBox 1182"/>
          <p:cNvSpPr txBox="1"/>
          <p:nvPr/>
        </p:nvSpPr>
        <p:spPr>
          <a:xfrm>
            <a:off x="7680960" y="5303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0.49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7680960" y="5486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0.58</a:t>
            </a:r>
          </a:p>
        </p:txBody>
      </p:sp>
      <p:cxnSp>
        <p:nvCxnSpPr>
          <p:cNvPr id="1185" name="Connector 1184"/>
          <p:cNvCxnSpPr/>
          <p:nvPr/>
        </p:nvCxnSpPr>
        <p:spPr>
          <a:xfrm>
            <a:off x="8549640" y="5404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6" name="Connector 1185"/>
          <p:cNvCxnSpPr/>
          <p:nvPr/>
        </p:nvCxnSpPr>
        <p:spPr>
          <a:xfrm>
            <a:off x="85496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7" name="Connector 1186"/>
          <p:cNvCxnSpPr/>
          <p:nvPr/>
        </p:nvCxnSpPr>
        <p:spPr>
          <a:xfrm>
            <a:off x="91211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8" name="Connector 1187"/>
          <p:cNvCxnSpPr/>
          <p:nvPr/>
        </p:nvCxnSpPr>
        <p:spPr>
          <a:xfrm>
            <a:off x="9692639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9" name="Connector 1188"/>
          <p:cNvCxnSpPr/>
          <p:nvPr/>
        </p:nvCxnSpPr>
        <p:spPr>
          <a:xfrm>
            <a:off x="102641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0" name="Connector 1189"/>
          <p:cNvCxnSpPr/>
          <p:nvPr/>
        </p:nvCxnSpPr>
        <p:spPr>
          <a:xfrm>
            <a:off x="108356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1" name="Connector 1190"/>
          <p:cNvCxnSpPr/>
          <p:nvPr/>
        </p:nvCxnSpPr>
        <p:spPr>
          <a:xfrm>
            <a:off x="9326828" y="5404104"/>
            <a:ext cx="595818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568264" y="5353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3" name="Connector 1192"/>
          <p:cNvCxnSpPr/>
          <p:nvPr/>
        </p:nvCxnSpPr>
        <p:spPr>
          <a:xfrm>
            <a:off x="8549640" y="5596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4" name="Connector 1193"/>
          <p:cNvCxnSpPr/>
          <p:nvPr/>
        </p:nvCxnSpPr>
        <p:spPr>
          <a:xfrm>
            <a:off x="85496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5" name="Connector 1194"/>
          <p:cNvCxnSpPr/>
          <p:nvPr/>
        </p:nvCxnSpPr>
        <p:spPr>
          <a:xfrm>
            <a:off x="91211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6" name="Connector 1195"/>
          <p:cNvCxnSpPr/>
          <p:nvPr/>
        </p:nvCxnSpPr>
        <p:spPr>
          <a:xfrm>
            <a:off x="9692639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Connector 1196"/>
          <p:cNvCxnSpPr/>
          <p:nvPr/>
        </p:nvCxnSpPr>
        <p:spPr>
          <a:xfrm>
            <a:off x="102641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8" name="Connector 1197"/>
          <p:cNvCxnSpPr/>
          <p:nvPr/>
        </p:nvCxnSpPr>
        <p:spPr>
          <a:xfrm>
            <a:off x="108356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Connector 1198"/>
          <p:cNvCxnSpPr/>
          <p:nvPr/>
        </p:nvCxnSpPr>
        <p:spPr>
          <a:xfrm>
            <a:off x="9751125" y="5596128"/>
            <a:ext cx="50180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Oval 1199"/>
          <p:cNvSpPr/>
          <p:nvPr/>
        </p:nvSpPr>
        <p:spPr>
          <a:xfrm>
            <a:off x="9956145" y="5536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1" name="TextBox 1200"/>
          <p:cNvSpPr txBox="1"/>
          <p:nvPr/>
        </p:nvSpPr>
        <p:spPr>
          <a:xfrm>
            <a:off x="11018520" y="5303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11018520" y="5486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0.78</a:t>
            </a:r>
          </a:p>
        </p:txBody>
      </p:sp>
      <p:cxnSp>
        <p:nvCxnSpPr>
          <p:cNvPr id="1203" name="Connector 1202"/>
          <p:cNvCxnSpPr/>
          <p:nvPr/>
        </p:nvCxnSpPr>
        <p:spPr>
          <a:xfrm>
            <a:off x="346075" y="57241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4" name="Rectangle 1203"/>
          <p:cNvSpPr/>
          <p:nvPr/>
        </p:nvSpPr>
        <p:spPr>
          <a:xfrm>
            <a:off x="346075" y="5870448"/>
            <a:ext cx="274320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5" name="TextBox 1204"/>
          <p:cNvSpPr txBox="1"/>
          <p:nvPr/>
        </p:nvSpPr>
        <p:spPr>
          <a:xfrm>
            <a:off x="693547" y="58064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было: только измерения, отступы по рисунку 6</a:t>
            </a:r>
          </a:p>
        </p:txBody>
      </p:sp>
      <p:sp>
        <p:nvSpPr>
          <p:cNvPr id="1206" name="Rectangle 1205"/>
          <p:cNvSpPr/>
          <p:nvPr/>
        </p:nvSpPr>
        <p:spPr>
          <a:xfrm>
            <a:off x="4572000" y="5870448"/>
            <a:ext cx="274320" cy="9144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7" name="TextBox 1206"/>
          <p:cNvSpPr txBox="1"/>
          <p:nvPr/>
        </p:nvSpPr>
        <p:spPr>
          <a:xfrm>
            <a:off x="4919472" y="5806440"/>
            <a:ext cx="3383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стало: + нейросеть, отступы как у эксперта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8321040" y="5806440"/>
            <a:ext cx="350215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macro-F1 0.40 → 0.50 · область 252/252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346075" y="6117336"/>
            <a:ext cx="114798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«найдено» — доля нарушений, которые сервис нашёл (чувствительность); «без ложных» — доля нормальных снимков, которые он не тревожил зря (специфичность); F1 — их баланс.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935224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ЭКСПЕРИМЕНТЫ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Нейросеть плюс измерение точнее каждого по отдельности: чем выше и левее кривая, тем лучше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15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 бедра · 36 из 150</a:t>
            </a:r>
          </a:p>
        </p:txBody>
      </p:sp>
      <p:graphicFrame>
        <p:nvGraphicFramePr>
          <p:cNvPr id="904" name="Chart 903"/>
          <p:cNvGraphicFramePr>
            <a:graphicFrameLocks noGrp="1"/>
          </p:cNvGraphicFramePr>
          <p:nvPr/>
        </p:nvGraphicFramePr>
        <p:xfrm>
          <a:off x="254635" y="2194560"/>
          <a:ext cx="3246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5" name="TextBox 904"/>
          <p:cNvSpPr txBox="1"/>
          <p:nvPr/>
        </p:nvSpPr>
        <p:spPr>
          <a:xfrm>
            <a:off x="3500755" y="2084832"/>
            <a:ext cx="2606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ROC-AUC (1.0 — идеал):</a:t>
            </a:r>
          </a:p>
        </p:txBody>
      </p:sp>
      <p:sp>
        <p:nvSpPr>
          <p:cNvPr id="906" name="Rectangle 905"/>
          <p:cNvSpPr/>
          <p:nvPr/>
        </p:nvSpPr>
        <p:spPr>
          <a:xfrm>
            <a:off x="3500755" y="2423160"/>
            <a:ext cx="256032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7" name="TextBox 906"/>
          <p:cNvSpPr txBox="1"/>
          <p:nvPr/>
        </p:nvSpPr>
        <p:spPr>
          <a:xfrm>
            <a:off x="3848227" y="234086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выступ 0.68</a:t>
            </a:r>
          </a:p>
        </p:txBody>
      </p:sp>
      <p:sp>
        <p:nvSpPr>
          <p:cNvPr id="908" name="Rectangle 907"/>
          <p:cNvSpPr/>
          <p:nvPr/>
        </p:nvSpPr>
        <p:spPr>
          <a:xfrm>
            <a:off x="3500755" y="2734056"/>
            <a:ext cx="256032" cy="91440"/>
          </a:xfrm>
          <a:prstGeom prst="rect">
            <a:avLst/>
          </a:prstGeom>
          <a:solidFill>
            <a:srgbClr val="FC3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9" name="TextBox 908"/>
          <p:cNvSpPr txBox="1"/>
          <p:nvPr/>
        </p:nvSpPr>
        <p:spPr>
          <a:xfrm>
            <a:off x="3848227" y="265176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нейросеть 0.80</a:t>
            </a:r>
          </a:p>
        </p:txBody>
      </p:sp>
      <p:sp>
        <p:nvSpPr>
          <p:cNvPr id="910" name="Rectangle 909"/>
          <p:cNvSpPr/>
          <p:nvPr/>
        </p:nvSpPr>
        <p:spPr>
          <a:xfrm>
            <a:off x="3500755" y="3044952"/>
            <a:ext cx="256032" cy="91440"/>
          </a:xfrm>
          <a:prstGeom prst="rect">
            <a:avLst/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1" name="TextBox 910"/>
          <p:cNvSpPr txBox="1"/>
          <p:nvPr/>
        </p:nvSpPr>
        <p:spPr>
          <a:xfrm>
            <a:off x="3848227" y="296265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нейросеть + измерение 0.82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3500755" y="342900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что реально ставит сервис: правило объединения и порог настроены на других снимках, не на проверочных</a:t>
            </a:r>
          </a:p>
        </p:txBody>
      </p:sp>
      <p:graphicFrame>
        <p:nvGraphicFramePr>
          <p:cNvPr id="913" name="Table 912"/>
          <p:cNvGraphicFramePr>
            <a:graphicFrameLocks noGrp="1"/>
          </p:cNvGraphicFramePr>
          <p:nvPr/>
        </p:nvGraphicFramePr>
        <p:xfrm>
          <a:off x="3500755" y="4023360"/>
          <a:ext cx="2606040" cy="89306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НАШЛИ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БЕЗ ЛОЖНЫХ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выступ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0.48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нейросеть + измерение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0.76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14" name="TextBox 913"/>
          <p:cNvSpPr txBox="1"/>
          <p:nvPr/>
        </p:nvSpPr>
        <p:spPr>
          <a:xfrm>
            <a:off x="346075" y="553212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по горизонтали — доля ложных тревог, по вертикали — доля найденных нарушений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6152515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Посторонние предметы · 17 из 99</a:t>
            </a:r>
          </a:p>
        </p:txBody>
      </p:sp>
      <p:graphicFrame>
        <p:nvGraphicFramePr>
          <p:cNvPr id="916" name="Chart 915"/>
          <p:cNvGraphicFramePr>
            <a:graphicFrameLocks noGrp="1"/>
          </p:cNvGraphicFramePr>
          <p:nvPr/>
        </p:nvGraphicFramePr>
        <p:xfrm>
          <a:off x="6061075" y="2194560"/>
          <a:ext cx="3246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17" name="TextBox 916"/>
          <p:cNvSpPr txBox="1"/>
          <p:nvPr/>
        </p:nvSpPr>
        <p:spPr>
          <a:xfrm>
            <a:off x="9307195" y="2084832"/>
            <a:ext cx="2606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ROC-AUC (1.0 — идеал):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9307195" y="2423160"/>
            <a:ext cx="256032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TextBox 918"/>
          <p:cNvSpPr txBox="1"/>
          <p:nvPr/>
        </p:nvSpPr>
        <p:spPr>
          <a:xfrm>
            <a:off x="9654667" y="234086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top-hat 0.79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9307195" y="2734056"/>
            <a:ext cx="256032" cy="91440"/>
          </a:xfrm>
          <a:prstGeom prst="rect">
            <a:avLst/>
          </a:prstGeom>
          <a:solidFill>
            <a:srgbClr val="FC3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1" name="TextBox 920"/>
          <p:cNvSpPr txBox="1"/>
          <p:nvPr/>
        </p:nvSpPr>
        <p:spPr>
          <a:xfrm>
            <a:off x="9654667" y="265176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нейросеть 0.83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9307195" y="3044952"/>
            <a:ext cx="256032" cy="91440"/>
          </a:xfrm>
          <a:prstGeom prst="rect">
            <a:avLst/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TextBox 922"/>
          <p:cNvSpPr txBox="1"/>
          <p:nvPr/>
        </p:nvSpPr>
        <p:spPr>
          <a:xfrm>
            <a:off x="9654667" y="296265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нейросеть + измерение 0.85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9307195" y="342900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что реально ставит сервис: правило объединения и порог настроены на других снимках, не на проверочных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9307195" y="4023360"/>
          <a:ext cx="2606040" cy="89306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НАШЛИ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БЕЗ ЛОЖНЫХ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top-hat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нейросеть + измерение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26" name="TextBox 925"/>
          <p:cNvSpPr txBox="1"/>
          <p:nvPr/>
        </p:nvSpPr>
        <p:spPr>
          <a:xfrm>
            <a:off x="6152515" y="553212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по горизонтали — доля ложных тревог, по вертикали — доля найденных нарушений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247388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СРАВНЕНИЕ ВАРИАНТОВ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Что проверили и что в итоге оставили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16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Два способа найти ось: контур и опорные точки</a:t>
            </a:r>
          </a:p>
        </p:txBody>
      </p:sp>
      <p:graphicFrame>
        <p:nvGraphicFramePr>
          <p:cNvPr id="904" name="Table 903"/>
          <p:cNvGraphicFramePr>
            <a:graphicFrameLocks noGrp="1"/>
          </p:cNvGraphicFramePr>
          <p:nvPr/>
        </p:nvGraphicFramePr>
        <p:xfrm>
          <a:off x="346075" y="2212848"/>
          <a:ext cx="5486399" cy="15575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 СНИМКАХ, КОТОРЫХ МОДЕЛЬ НЕ ВИДЕЛА (ЧАСТИ 1–2)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КОНТУР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ОПОРНЫЕ ТОЧКИ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ось: F1 / ROC-AUC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0.33 / 0.76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0.50 / 0.79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средний F1 по типам нарушений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0.541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0.571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время на снимок (без видеокарты)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28 мс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347 мс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05" name="TextBox 904"/>
          <p:cNvSpPr txBox="1"/>
          <p:nvPr/>
        </p:nvSpPr>
        <p:spPr>
          <a:xfrm>
            <a:off x="346075" y="384048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На этих снимках всего 4 нарушения оси — сравнение неточное. Модель опорных точек обучена пока на двух частях из пяти и в 12 раз медленнее, поэтому по умолчанию выключена.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6172200" y="1828800"/>
            <a:ext cx="5650992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Как объединять две оценки укладки</a:t>
            </a:r>
          </a:p>
        </p:txBody>
      </p:sp>
      <p:graphicFrame>
        <p:nvGraphicFramePr>
          <p:cNvPr id="907" name="Table 906"/>
          <p:cNvGraphicFramePr>
            <a:graphicFrameLocks noGrp="1"/>
          </p:cNvGraphicFramePr>
          <p:nvPr/>
        </p:nvGraphicFramePr>
        <p:xfrm>
          <a:off x="6172200" y="2212848"/>
          <a:ext cx="5650990" cy="1676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7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7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2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 СНИМКАХ, КОТОРЫХ МОДЕЛЬ НЕ ВИДЕЛА; 6 НАРУШЕНИЙ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НАЙДЕНО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ЛИШНИХ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измерение (выбрано)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оценка по виду снимка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0.44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обе оценки согласны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0.29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любая из двух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16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8" name="TextBox 907"/>
          <p:cNvSpPr txBox="1"/>
          <p:nvPr/>
        </p:nvSpPr>
        <p:spPr>
          <a:xfrm>
            <a:off x="6172200" y="3977640"/>
            <a:ext cx="565099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На обучающих снимках лучшим выглядело правило «обе оценки согласны» (F1 0.73), но на новых снимках оно находит лишь одно нарушение из шести — поэтому оставили измерение.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346075" y="4709160"/>
            <a:ext cx="114798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Нейросеть для ротации бедра: какие варианты перебрали (ROC-AUC на снимках, которых модель не видела)</a:t>
            </a:r>
          </a:p>
        </p:txBody>
      </p:sp>
      <p:graphicFrame>
        <p:nvGraphicFramePr>
          <p:cNvPr id="910" name="Table 909"/>
          <p:cNvGraphicFramePr>
            <a:graphicFrameLocks noGrp="1"/>
          </p:cNvGraphicFramePr>
          <p:nvPr/>
        </p:nvGraphicFramePr>
        <p:xfrm>
          <a:off x="346075" y="5093208"/>
          <a:ext cx="11479860" cy="7680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3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RESNET-18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EFFICIENTNET-B0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RESNET-34, СНИМОК 256 PX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RESNET-34, ОДНА НЕЙРОСЕТЬ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ПЕРЕУЧЕНА С МОДЕЛИ ТОЧЕК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RESNET-34, ТРИ НЕЙРОСЕТИ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+ ИЗМЕРЕНИЕ ВЫСТУПА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0.76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0053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122676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АНАЛИЗ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Разбор ошибок показал, как оценивает эксперт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17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571500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620395" y="2029968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ОТСТУПЫ ОБЛАСТИ ИЗМЕРЕНИЯ · ЧТО ДЕЛАЕТ ЭКСПЕРТ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620395" y="22860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Эксперт смотрит на длину поля</a:t>
            </a:r>
          </a:p>
        </p:txBody>
      </p:sp>
      <p:graphicFrame>
        <p:nvGraphicFramePr>
          <p:cNvPr id="906" name="Table 905"/>
          <p:cNvGraphicFramePr>
            <a:graphicFrameLocks noGrp="1"/>
          </p:cNvGraphicFramePr>
          <p:nvPr/>
        </p:nvGraphicFramePr>
        <p:xfrm>
          <a:off x="620395" y="2788920"/>
          <a:ext cx="5166358" cy="12070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ПРАВИЛО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НАШЛИ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ЛИШНИХ ТРЕВОГ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AUC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по схеме из ТЗ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4/7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длина поля ≥ 12.9 см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5/7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7" name="TextBox 906"/>
          <p:cNvSpPr txBox="1"/>
          <p:nvPr/>
        </p:nvSpPr>
        <p:spPr>
          <a:xfrm>
            <a:off x="620395" y="4114800"/>
            <a:ext cx="5166360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Эксперт ставит «норму», даже когда под седалищной костью остаётся 1.7–3.0 см вместо трёх, и «нарушение» на коротких полях. Порог 12.9 см мы не подгоняли под его ответы: 3 см взяты из ТЗ, 6.9 см — типичное расстояние от вертела до седалищной кости. Отступы по схеме из ТЗ сервис тоже считает и показывает; если эталонная разметка сделана строго по схеме, режим меняется одной настройкой. F1 и AUC — доля верных ответов, чем ближе к 1, тем лучше.</a:t>
            </a:r>
          </a:p>
        </p:txBody>
      </p:sp>
      <p:sp>
        <p:nvSpPr>
          <p:cNvPr id="908" name="Rounded Rectangle 907"/>
          <p:cNvSpPr/>
          <p:nvPr/>
        </p:nvSpPr>
        <p:spPr>
          <a:xfrm>
            <a:off x="6263640" y="1828800"/>
            <a:ext cx="555955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9" name="TextBox 908"/>
          <p:cNvSpPr txBox="1"/>
          <p:nvPr/>
        </p:nvSpPr>
        <p:spPr>
          <a:xfrm>
            <a:off x="6483096" y="2011680"/>
            <a:ext cx="51206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Ось: сколиоз — не нарушение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6483096" y="2316480"/>
            <a:ext cx="512064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При сколиозе эксперт не ставит нарушение оси ни в одном из 14 случаев, даже при угле до 8.8°. Это главный источник наших лишних срабатываний: по поясничному отделу сколиоз не отличить от наклона пациента (нейросеть здесь угадывает как монетка — ROC-AUC 0.51).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6263640" y="3639312"/>
            <a:ext cx="555955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6483096" y="3822192"/>
            <a:ext cx="51206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Ротация: нейросеть и измерение расходятся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483096" y="4126992"/>
            <a:ext cx="5120640" cy="563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Разошлись на 41 снимке из 150, и в каждом спорном случае прав ровно один: объединённый вердикт — в 25, одно измерение — в 16. Такие снимки помечены «проверьте глазами».</a:t>
            </a:r>
          </a:p>
        </p:txBody>
      </p:sp>
      <p:sp>
        <p:nvSpPr>
          <p:cNvPr id="914" name="Rounded Rectangle 913"/>
          <p:cNvSpPr/>
          <p:nvPr/>
        </p:nvSpPr>
        <p:spPr>
          <a:xfrm>
            <a:off x="6263640" y="4965192"/>
            <a:ext cx="555955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5" name="TextBox 914"/>
          <p:cNvSpPr txBox="1"/>
          <p:nvPr/>
        </p:nvSpPr>
        <p:spPr>
          <a:xfrm>
            <a:off x="6483096" y="5148072"/>
            <a:ext cx="51206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Укладка: в данных лишь 6 нарушений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6483096" y="5452872"/>
            <a:ext cx="5120640" cy="563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ROC-AUC 0.82, но граница «норма / нарушение», подобранная по одному-двум примерам, неустойчива: F1 на новых снимках 0.32.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623060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Четыре снимка, где сервис и эксперт сошлись: каждое замечание видно на снимке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18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04" name="Picture 903" descr="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75" y="2134318"/>
            <a:ext cx="2753379" cy="2909403"/>
          </a:xfrm>
          <a:prstGeom prst="rect">
            <a:avLst/>
          </a:prstGeom>
        </p:spPr>
      </p:pic>
      <p:sp>
        <p:nvSpPr>
          <p:cNvPr id="905" name="TextBox 904"/>
          <p:cNvSpPr txBox="1"/>
          <p:nvPr/>
        </p:nvSpPr>
        <p:spPr>
          <a:xfrm>
            <a:off x="492379" y="5413248"/>
            <a:ext cx="246077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ось позвоночника отклонена на 8.7° при норме до 5°
проверка spine_axis</a:t>
            </a:r>
          </a:p>
        </p:txBody>
      </p:sp>
      <p:sp>
        <p:nvSpPr>
          <p:cNvPr id="906" name="Rounded Rectangle 905"/>
          <p:cNvSpPr/>
          <p:nvPr/>
        </p:nvSpPr>
        <p:spPr>
          <a:xfrm>
            <a:off x="3254902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07" name="Picture 906" descr="artifa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902" y="2143496"/>
            <a:ext cx="2753379" cy="2891047"/>
          </a:xfrm>
          <a:prstGeom prst="rect">
            <a:avLst/>
          </a:prstGeom>
        </p:spPr>
      </p:pic>
      <p:sp>
        <p:nvSpPr>
          <p:cNvPr id="908" name="TextBox 907"/>
          <p:cNvSpPr txBox="1"/>
          <p:nvPr/>
        </p:nvSpPr>
        <p:spPr>
          <a:xfrm>
            <a:off x="3401206" y="5413248"/>
            <a:ext cx="246077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посторонний предмет; нейросеть уверена на 100 %
проверка spine_artifacts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6163729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0" name="Picture 909" descr="rot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729" y="2433584"/>
            <a:ext cx="2753379" cy="2310871"/>
          </a:xfrm>
          <a:prstGeom prst="rect">
            <a:avLst/>
          </a:prstGeom>
        </p:spPr>
      </p:pic>
      <p:sp>
        <p:nvSpPr>
          <p:cNvPr id="911" name="TextBox 910"/>
          <p:cNvSpPr txBox="1"/>
          <p:nvPr/>
        </p:nvSpPr>
        <p:spPr>
          <a:xfrm>
            <a:off x="6310033" y="5413248"/>
            <a:ext cx="246077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малый вертел 12 мм² при норме 96–272 → бедро повёрнуто
проверка hip_rotation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9072556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3" name="Picture 912" descr="ro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2556" y="2576170"/>
            <a:ext cx="2753379" cy="2025700"/>
          </a:xfrm>
          <a:prstGeom prst="rect">
            <a:avLst/>
          </a:prstGeom>
        </p:spPr>
      </p:pic>
      <p:sp>
        <p:nvSpPr>
          <p:cNvPr id="914" name="TextBox 913"/>
          <p:cNvSpPr txBox="1"/>
          <p:nvPr/>
        </p:nvSpPr>
        <p:spPr>
          <a:xfrm>
            <a:off x="9218860" y="5413248"/>
            <a:ext cx="246077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поле сканирования 12.5 см, нужно не меньше 12.9
проверка hip_roi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46075" y="6080760"/>
            <a:ext cx="114798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Снимки из обучающего набора, но оценку давали модели, которые именно этот снимок не видели. Оранжевым — куда смотрела нейросеть, голубым — найденные ориентиры, зелёным и красным — допустимые границы.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622292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СКОРОСТЬ И ТРЕБОВАНИЯ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Секунды на исследование на обычном процессоре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19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25603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1.6</a:t>
            </a:r>
            <a:r>
              <a:rPr sz="162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 с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346075" y="237744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типичное время на исследование
(максимум 2.3 с)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043555" y="1828800"/>
            <a:ext cx="25603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180</a:t>
            </a:r>
            <a:r>
              <a:rPr sz="162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 с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043555" y="237744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лимит по п. 2.7 ТЗ
на исследование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346075" y="3154680"/>
            <a:ext cx="25603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444</a:t>
            </a:r>
            <a:r>
              <a:rPr sz="162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 мс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346075" y="37033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типичное время на снимок,
одно ядро процессора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3043555" y="3154680"/>
            <a:ext cx="25603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2.4</a:t>
            </a:r>
            <a:r>
              <a:rPr sz="162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 мин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3043555" y="37033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все 100 исследований
подряд, без параллелизма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346075" y="4617720"/>
            <a:ext cx="5303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САМОЕ ДОЛГОЕ ИССЛЕДОВАНИЕ И ЛИМИТ ТЗ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346075" y="4919472"/>
            <a:ext cx="5120640" cy="292608"/>
          </a:xfrm>
          <a:prstGeom prst="roundRect">
            <a:avLst>
              <a:gd name="adj" fmla="val 3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3" name="Rounded Rectangle 912"/>
          <p:cNvSpPr/>
          <p:nvPr/>
        </p:nvSpPr>
        <p:spPr>
          <a:xfrm>
            <a:off x="346075" y="4919472"/>
            <a:ext cx="109728" cy="292608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4" name="TextBox 913"/>
          <p:cNvSpPr txBox="1"/>
          <p:nvPr/>
        </p:nvSpPr>
        <p:spPr>
          <a:xfrm>
            <a:off x="574675" y="4965192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2.3 с — это 1.3 % от лимита в 180 с (розовая полоска слева)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46075" y="5394960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 контейнере (Linux) 100 исследований вместе со снимками с разметкой и заключениями SR — 158 с. Одни измерения без нейросети — около 27 мс на снимок.</a:t>
            </a:r>
          </a:p>
        </p:txBody>
      </p:sp>
      <p:graphicFrame>
        <p:nvGraphicFramePr>
          <p:cNvPr id="916" name="Table 915"/>
          <p:cNvGraphicFramePr>
            <a:graphicFrameLocks noGrp="1"/>
          </p:cNvGraphicFramePr>
          <p:nvPr/>
        </p:nvGraphicFramePr>
        <p:xfrm>
          <a:off x="6217920" y="1828800"/>
          <a:ext cx="560527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02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7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5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МИНИМУМ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РЕКОМЕНДУЕТСЯ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процессор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 ядра обычного ПК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4 ядра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память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 ГБ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4 ГБ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диск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 ГБ (образ 1.4 ГБ)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5 ГБ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видеокарта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 нужна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 нужна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Docker или Windows 10/11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Linux-сервер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17" name="Rounded Rectangle 916"/>
          <p:cNvSpPr/>
          <p:nvPr/>
        </p:nvSpPr>
        <p:spPr>
          <a:xfrm>
            <a:off x="6217920" y="4526280"/>
            <a:ext cx="5605272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8" name="TextBox 917"/>
          <p:cNvSpPr txBox="1"/>
          <p:nvPr/>
        </p:nvSpPr>
        <p:spPr>
          <a:xfrm>
            <a:off x="6437376" y="4709160"/>
            <a:ext cx="516636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Воспроизводимость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6437376" y="5013960"/>
            <a:ext cx="5166360" cy="929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Повторный прогон на тех же данных даёт в точности тот же отчёт: фиксированный порядок обработки, модели на диске, вычисления без параллелизма. Контейнер, приложение для Windows и запуск из кода дают одинаковый результат на всех 252 снимках.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560320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ИНТЕРФЕЙСЫ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Четыре входа в один конвейер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20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644652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Oval 903"/>
          <p:cNvSpPr/>
          <p:nvPr/>
        </p:nvSpPr>
        <p:spPr>
          <a:xfrm>
            <a:off x="519811" y="1956816"/>
            <a:ext cx="109728" cy="10972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5" name="Oval 904"/>
          <p:cNvSpPr/>
          <p:nvPr/>
        </p:nvSpPr>
        <p:spPr>
          <a:xfrm>
            <a:off x="702691" y="1956816"/>
            <a:ext cx="109728" cy="109728"/>
          </a:xfrm>
          <a:prstGeom prst="ellipse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6" name="Oval 905"/>
          <p:cNvSpPr/>
          <p:nvPr/>
        </p:nvSpPr>
        <p:spPr>
          <a:xfrm>
            <a:off x="885571" y="1956816"/>
            <a:ext cx="109728" cy="109728"/>
          </a:xfrm>
          <a:prstGeom prst="ellipse">
            <a:avLst/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7" name="Rounded Rectangle 906"/>
          <p:cNvSpPr/>
          <p:nvPr/>
        </p:nvSpPr>
        <p:spPr>
          <a:xfrm>
            <a:off x="1260475" y="1920240"/>
            <a:ext cx="5349240" cy="201168"/>
          </a:xfrm>
          <a:prstGeom prst="roundRect">
            <a:avLst>
              <a:gd name="adj" fmla="val 5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1397635" y="192938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localhost:8000 — веб-приложение и окно для Windows</a:t>
            </a:r>
          </a:p>
        </p:txBody>
      </p:sp>
      <p:pic>
        <p:nvPicPr>
          <p:cNvPr id="909" name="Picture 908" descr="ui_ro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227" y="2259540"/>
            <a:ext cx="6300216" cy="3701376"/>
          </a:xfrm>
          <a:prstGeom prst="rect">
            <a:avLst/>
          </a:prstGeom>
        </p:spPr>
      </p:pic>
      <p:sp>
        <p:nvSpPr>
          <p:cNvPr id="910" name="Rounded Rectangle 909"/>
          <p:cNvSpPr/>
          <p:nvPr/>
        </p:nvSpPr>
        <p:spPr>
          <a:xfrm>
            <a:off x="6995160" y="1828800"/>
            <a:ext cx="2148840" cy="4251960"/>
          </a:xfrm>
          <a:prstGeom prst="roundRect">
            <a:avLst>
              <a:gd name="adj" fmla="val 12000"/>
            </a:avLst>
          </a:prstGeom>
          <a:solidFill>
            <a:srgbClr val="2D14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1" name="Picture 910" descr="bot_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9460" y="2103120"/>
            <a:ext cx="1920240" cy="3840480"/>
          </a:xfrm>
          <a:prstGeom prst="rect">
            <a:avLst/>
          </a:prstGeom>
        </p:spPr>
      </p:pic>
      <p:sp>
        <p:nvSpPr>
          <p:cNvPr id="912" name="Rounded Rectangle 911"/>
          <p:cNvSpPr/>
          <p:nvPr/>
        </p:nvSpPr>
        <p:spPr>
          <a:xfrm>
            <a:off x="7749540" y="1920240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C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3" name="Rounded Rectangle 912"/>
          <p:cNvSpPr/>
          <p:nvPr/>
        </p:nvSpPr>
        <p:spPr>
          <a:xfrm>
            <a:off x="9326880" y="1828800"/>
            <a:ext cx="2496312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4" name="TextBox 913"/>
          <p:cNvSpPr txBox="1"/>
          <p:nvPr/>
        </p:nvSpPr>
        <p:spPr>
          <a:xfrm>
            <a:off x="9546336" y="2011680"/>
            <a:ext cx="2057400" cy="1752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Веб-приложение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9546336" y="2278380"/>
            <a:ext cx="2057400" cy="437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Загружаете папку или zip — получаете снимки с разметкой. Можно установить из браузера как приложение.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9326880" y="2907792"/>
            <a:ext cx="2496312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7" name="TextBox 916"/>
          <p:cNvSpPr txBox="1"/>
          <p:nvPr/>
        </p:nvSpPr>
        <p:spPr>
          <a:xfrm>
            <a:off x="9546336" y="3090672"/>
            <a:ext cx="2057400" cy="1752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Для Windows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9546336" y="3357372"/>
            <a:ext cx="2057400" cy="437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Работает полностью локально: снимки не покидают компьютер. Обновляется установкой новой версии.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9326880" y="3986784"/>
            <a:ext cx="2496312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9546336" y="4169664"/>
            <a:ext cx="2057400" cy="1752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Telegram-бот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9546336" y="4436364"/>
            <a:ext cx="2057400" cy="437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Тот же анализ прямо в чате: показывает, что сервис легко встроить в другие системы. Только обезличенные снимки.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9326880" y="5065776"/>
            <a:ext cx="2496312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TextBox 922"/>
          <p:cNvSpPr txBox="1"/>
          <p:nvPr/>
        </p:nvSpPr>
        <p:spPr>
          <a:xfrm>
            <a:off x="9546336" y="5248656"/>
            <a:ext cx="2057400" cy="1752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Интеграция: API и PACS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9546336" y="5515356"/>
            <a:ext cx="2057400" cy="4373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Внешняя система присылает снимки — получает отчёт; заключение записывается в то же исследование в архиве.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5934455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ЦЕННОСТЬ ДЛЯ ЗДРАВООХРАНЕНИЯ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Качество исследования — в момент съёмки, а не на повторе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21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565531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ЛАБОРАНТ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65531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Подсказка у аппарата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65531" y="2606040"/>
            <a:ext cx="3310127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Через 1.6 с после съёмки — замечание с измеренным значением и нормой: укладку исправляют, пока пациент на аппарате.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4213987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4433443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ВРАЧ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433443" y="2286000"/>
            <a:ext cx="331012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Снимок, пригодный для заключения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4433443" y="2834640"/>
            <a:ext cx="331012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Заключение о качестве сохраняется в архиве рядом со снимком (DICOM SR); сомнительные снимки помечены «проверьте глазами».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8081899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8301355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МЕДОРГАНИЗАЦИЯ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8301355" y="2286000"/>
            <a:ext cx="331012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Меньше повторов, единый стандарт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8301355" y="2834640"/>
            <a:ext cx="331012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Единые критерии ТЗ для всех аппаратов и смен; доля нарушений видна в мониторинге.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346075" y="4160520"/>
            <a:ext cx="5669280" cy="2011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565531" y="4343400"/>
            <a:ext cx="523036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Как поставляется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565531" y="4663440"/>
            <a:ext cx="5230368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Готовый серверный пакет (контейнер) для медорганизации или облака Департамента.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Приложение для Windows: работает на обычном ноутбуке в кабинете, полностью локально.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Видеокарта и интернет не нужны, снимки не уходят наружу.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6152515" y="4160520"/>
            <a:ext cx="5669280" cy="2011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TextBox 918"/>
          <p:cNvSpPr txBox="1"/>
          <p:nvPr/>
        </p:nvSpPr>
        <p:spPr>
          <a:xfrm>
            <a:off x="6371971" y="4343400"/>
            <a:ext cx="523036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Как измеряем эффект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371971" y="4663440"/>
            <a:ext cx="5230368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Доля повторных исследований из-за неверной укладки — до и после внедрения.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Раз в месяц сверяем вердикты сервиса с экспертом на случайных снимках.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Время, которое врач тратит на контроль качества.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74777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Что сервис не умеет и почему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22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graphicFrame>
        <p:nvGraphicFramePr>
          <p:cNvPr id="903" name="Table 902"/>
          <p:cNvGraphicFramePr>
            <a:graphicFrameLocks noGrp="1"/>
          </p:cNvGraphicFramePr>
          <p:nvPr/>
        </p:nvGraphicFramePr>
        <p:xfrm>
          <a:off x="346075" y="1828800"/>
          <a:ext cx="11479859" cy="43891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87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5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0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ОГРАНИЧЕНИЕ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ПОЧЕМУ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ЧТО НУЖНО, ЧТОБЫ СНЯТЬ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Один аппарат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Все снимки — с одного денситометра GE Lunar Prodigy Advance; размер пикселя в файлах не указан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Снимки второго аппарата: проверить масштаб, дообучить нейросеть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Малая выборка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 6 до 36 нарушений на критерий, поэтому доверительные интервалы широкие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Больше размеченных снимков; отметки операторов из пилота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— как у эксперта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проверяем по длине поля сканирования, как делает эксперт, а не строго по схеме из ТЗ (рис. 6)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Если эталонная разметка сделана строго по схеме из ТЗ, режим меняется одной настройкой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Ось и сколиоз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Для эксперта сколиоз — не ошибка укладки, а сервис по одному углу не отличает сколиоз от наклона пациента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Размеченные случаи сколиоза или снимки грудного отдела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Разметка оператора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Линий и областей, которые оператор ставит на аппарате, в файлах нет — всё оценивается по изображению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Выгрузка снимков вместе с разметкой оператора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Верхняя граница укладки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Позвонок Th12 (12-й грудной) в данных не размечен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Разметить Th12; модель опорных точек уже находит этот уровень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Telegram-бот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Файлы проходят через серверы Telegram, а ТЗ (п. 3.2) запрещает передавать снимки наружу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Бот — демонстрация на обезличенных данных; сам сервис в медорганизации работает без интернета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872483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ВНЕДРЕНИЕ И ПИЛОТ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Сначала параллельно с врачом, затем помощник лаборанта, затем другие медорганизации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23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cxnSp>
        <p:nvCxnSpPr>
          <p:cNvPr id="903" name="Connector 902"/>
          <p:cNvCxnSpPr/>
          <p:nvPr/>
        </p:nvCxnSpPr>
        <p:spPr>
          <a:xfrm>
            <a:off x="556387" y="2039112"/>
            <a:ext cx="7653240" cy="0"/>
          </a:xfrm>
          <a:prstGeom prst="line">
            <a:avLst/>
          </a:prstGeom>
          <a:ln w="15875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Rounded Rectangle 903"/>
          <p:cNvSpPr/>
          <p:nvPr/>
        </p:nvSpPr>
        <p:spPr>
          <a:xfrm>
            <a:off x="34607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4607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1–2 · ПАРАЛЛЕЛЬНО С ВРАЧОМ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4607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1–2 медорганизации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346075" y="2971800"/>
            <a:ext cx="35523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Копии снимков идут в сервис через DICOM-роутер, заключение возвращается в архив с пометкой «не проверено». Считаем согласие с экспертом.</a:t>
            </a:r>
          </a:p>
        </p:txBody>
      </p:sp>
      <p:sp>
        <p:nvSpPr>
          <p:cNvPr id="908" name="Rounded Rectangle 907"/>
          <p:cNvSpPr/>
          <p:nvPr/>
        </p:nvSpPr>
        <p:spPr>
          <a:xfrm>
            <a:off x="417269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17269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3–6 · ПОМОЩНИК ЛАБОРАНТА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417269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Подсказка у аппарата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172695" y="2971800"/>
            <a:ext cx="35523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Результат у лаборанта через 1.6 с (максимум 2.3 с) после снимка. По отметкам лаборантов уточняем границы «норма / нарушение».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799931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799931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6–12 · МАСШТАБИРОВАНИЕ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99931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Другие аппараты и клиники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999315" y="2971800"/>
            <a:ext cx="35523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Подключаем новые аппараты: проверяем размер пикселя, дообучаем нейросеть на их снимках, следим за долей нарушений.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346075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7" name="TextBox 916"/>
          <p:cNvSpPr txBox="1"/>
          <p:nvPr/>
        </p:nvSpPr>
        <p:spPr>
          <a:xfrm>
            <a:off x="565531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КАЧЕСТВО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565531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Согласие с экспертом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565531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Раз в месяц: доля найденных нарушений и доля ложных тревог на снимках, которые врач проверяет вслепую.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4190983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1" name="TextBox 920"/>
          <p:cNvSpPr txBox="1"/>
          <p:nvPr/>
        </p:nvSpPr>
        <p:spPr>
          <a:xfrm>
            <a:off x="4410439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ПАЦИЕНТ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4410439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Повторные исследования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4410439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Доля повторных снимков из-за положения пациента по журналу медорганизации — до и после.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8035891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5" name="TextBox 924"/>
          <p:cNvSpPr txBox="1"/>
          <p:nvPr/>
        </p:nvSpPr>
        <p:spPr>
          <a:xfrm>
            <a:off x="8255347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ВРАЧ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8255347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Время на контроль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8255347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Замер времени на 50 исследованиях; сервису нужно 1.6 с на исследование.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346075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9" name="TextBox 928"/>
          <p:cNvSpPr txBox="1"/>
          <p:nvPr/>
        </p:nvSpPr>
        <p:spPr>
          <a:xfrm>
            <a:off x="510667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ДЕНСИТОМЕТР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510667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снимок DICOM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2693253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2" name="TextBox 931"/>
          <p:cNvSpPr txBox="1"/>
          <p:nvPr/>
        </p:nvSpPr>
        <p:spPr>
          <a:xfrm>
            <a:off x="2857845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АРХИВ PACS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2857845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DICOM-роутер</a:t>
            </a:r>
          </a:p>
        </p:txBody>
      </p:sp>
      <p:cxnSp>
        <p:nvCxnSpPr>
          <p:cNvPr id="934" name="Connector 933"/>
          <p:cNvCxnSpPr/>
          <p:nvPr/>
        </p:nvCxnSpPr>
        <p:spPr>
          <a:xfrm>
            <a:off x="2464653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5" name="Rounded Rectangle 934"/>
          <p:cNvSpPr/>
          <p:nvPr/>
        </p:nvSpPr>
        <p:spPr>
          <a:xfrm>
            <a:off x="5040431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6" name="TextBox 935"/>
          <p:cNvSpPr txBox="1"/>
          <p:nvPr/>
        </p:nvSpPr>
        <p:spPr>
          <a:xfrm>
            <a:off x="5205023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СЕРВИС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5205023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контроль качества</a:t>
            </a:r>
          </a:p>
        </p:txBody>
      </p:sp>
      <p:cxnSp>
        <p:nvCxnSpPr>
          <p:cNvPr id="938" name="Connector 937"/>
          <p:cNvCxnSpPr/>
          <p:nvPr/>
        </p:nvCxnSpPr>
        <p:spPr>
          <a:xfrm>
            <a:off x="4811831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9" name="Rounded Rectangle 938"/>
          <p:cNvSpPr/>
          <p:nvPr/>
        </p:nvSpPr>
        <p:spPr>
          <a:xfrm>
            <a:off x="7387609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0" name="TextBox 939"/>
          <p:cNvSpPr txBox="1"/>
          <p:nvPr/>
        </p:nvSpPr>
        <p:spPr>
          <a:xfrm>
            <a:off x="7552201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НАЗАД В АРХИВ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7552201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заключение SR</a:t>
            </a:r>
          </a:p>
        </p:txBody>
      </p:sp>
      <p:cxnSp>
        <p:nvCxnSpPr>
          <p:cNvPr id="942" name="Connector 941"/>
          <p:cNvCxnSpPr/>
          <p:nvPr/>
        </p:nvCxnSpPr>
        <p:spPr>
          <a:xfrm>
            <a:off x="7159009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3" name="Rounded Rectangle 942"/>
          <p:cNvSpPr/>
          <p:nvPr/>
        </p:nvSpPr>
        <p:spPr>
          <a:xfrm>
            <a:off x="9734787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4" name="TextBox 943"/>
          <p:cNvSpPr txBox="1"/>
          <p:nvPr/>
        </p:nvSpPr>
        <p:spPr>
          <a:xfrm>
            <a:off x="9899379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ЛАБОРАНТ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9899379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веб-интерфейс</a:t>
            </a:r>
          </a:p>
        </p:txBody>
      </p:sp>
      <p:cxnSp>
        <p:nvCxnSpPr>
          <p:cNvPr id="946" name="Connector 945"/>
          <p:cNvCxnSpPr/>
          <p:nvPr/>
        </p:nvCxnSpPr>
        <p:spPr>
          <a:xfrm>
            <a:off x="9506187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310127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ПЛАНЫ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сделаем дальше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24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565531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65531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Пилот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65531" y="260604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Работа параллельно с врачом в 1–2 медорганизациях; по отметкам операторов раз в месяц уточняем границы «норма / нарушение».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4213987" y="182880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4433443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2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433443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Больше примеров нарушений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4433443" y="260604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Разметка ротации и оси: нейросеть уже отличает ротацию (ROC-AUC 0.82), но порог «да / нет» на 36 примерах пока нестабилен (F1 0.55).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8081899" y="182880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8301355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3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8301355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Модель опорных точек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8301355" y="260604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Дообучить на всех данных (сейчас — 2 части из 5). Дальше — 12-й грудной позвонок (Th12) для верхней границы области сканирования.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346075" y="406908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565531" y="425196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4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565531" y="45262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Второй аппарат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565531" y="484632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Аппараты Hologic и другие модели Lunar: проверить размер пикселя, дообучить нейросеть тем же скриптом.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4213987" y="406908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4433443" y="425196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5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4433443" y="45262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Интеграция и обновления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4433443" y="484632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Автоприём снимков с аппарата и запись заключения в архив (PACS), мониторинг доли нарушений; автообновление приложения (сейчас — новым установщиком), встраивание в другие сервисы клиники.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8081899" y="406908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4" name="TextBox 923"/>
          <p:cNvSpPr txBox="1"/>
          <p:nvPr/>
        </p:nvSpPr>
        <p:spPr>
          <a:xfrm>
            <a:off x="8301355" y="425196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СЕЙЧАС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8301355" y="45262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Уже готово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8301355" y="484632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Сервер в Docker, программный интерфейс API, веб-приложение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Установщик для Windows, работает без интернета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Telegram-бот для демонстрации; документация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935224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Сценарий демонстрации, 3 минуты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25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78308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894715" y="184708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Запуск одной командой (Docker) → сервис в браузере, или приложение для Windows</a:t>
            </a:r>
          </a:p>
        </p:txBody>
      </p:sp>
      <p:sp>
        <p:nvSpPr>
          <p:cNvPr id="905" name="Rounded Rectangle 904"/>
          <p:cNvSpPr/>
          <p:nvPr/>
        </p:nvSpPr>
        <p:spPr>
          <a:xfrm>
            <a:off x="346075" y="2295144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894715" y="2359152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Загрузить архив demo.zip: 7 исследований, все типы нарушений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346075" y="2807208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94715" y="2871216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Фильтр «Ротация»: подсветка нейросети, вердикт, выступ вертела в мм²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346075" y="3319272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894715" y="33832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Наклон оси с допуском; отступы: длина поля и линии схемы из ТЗ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346075" y="3831336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894715" y="3895344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Отметить «согласен» / «не согласен» одной клавишей, выгрузить отметки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346075" y="43434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894715" y="440740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Скачать таблицу xlsx (8 колонок ТЗ) и заключения DICOM SR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346075" y="4855464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7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894715" y="4919472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 телефона: Telegram-бот, команда /demo — тот же сценарий в чате</a:t>
            </a:r>
          </a:p>
        </p:txBody>
      </p:sp>
      <p:sp>
        <p:nvSpPr>
          <p:cNvPr id="917" name="Rounded Rectangle 916"/>
          <p:cNvSpPr/>
          <p:nvPr/>
        </p:nvSpPr>
        <p:spPr>
          <a:xfrm>
            <a:off x="6949440" y="1828800"/>
            <a:ext cx="48737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8" name="TextBox 917"/>
          <p:cNvSpPr txBox="1"/>
          <p:nvPr/>
        </p:nvSpPr>
        <p:spPr>
          <a:xfrm>
            <a:off x="7168896" y="2011680"/>
            <a:ext cx="44348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Запасной вариант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7168896" y="2316480"/>
            <a:ext cx="4434840" cy="746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Нет Docker — приложение для Windows; нет интернета — слайды «Кейсы» и «Интерфейсы»; сценарий — docs/DEMO.md.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6949440" y="3337560"/>
            <a:ext cx="48737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1" name="TextBox 920"/>
          <p:cNvSpPr txBox="1"/>
          <p:nvPr/>
        </p:nvSpPr>
        <p:spPr>
          <a:xfrm>
            <a:off x="7168896" y="3520440"/>
            <a:ext cx="44348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Репозиторий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7168896" y="3825240"/>
            <a:ext cx="4434840" cy="838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github.com/theorcos239/LCT_2026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описание (README), обзор для проверяющих (REVIEW), инструкции, пояснительная записка</a:t>
            </a:r>
          </a:p>
        </p:txBody>
      </p:sp>
      <p:cxnSp>
        <p:nvCxnSpPr>
          <p:cNvPr id="923" name="Connector 922"/>
          <p:cNvCxnSpPr/>
          <p:nvPr/>
        </p:nvCxnSpPr>
        <p:spPr>
          <a:xfrm>
            <a:off x="346075" y="5532120"/>
            <a:ext cx="11479860" cy="0"/>
          </a:xfrm>
          <a:prstGeom prst="line">
            <a:avLst/>
          </a:prstGeom>
          <a:ln w="19050">
            <a:solidFill>
              <a:srgbClr val="520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4" name="TextBox 923"/>
          <p:cNvSpPr txBox="1"/>
          <p:nvPr/>
        </p:nvSpPr>
        <p:spPr>
          <a:xfrm>
            <a:off x="346075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Запуск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346075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одна команда (Docker)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2642047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Отчёт (п. 2.5 ТЗ)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2642047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xlsx/csv, 8 колонок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4938019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Визуализация (п. 2.6)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4938019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снимки с разметкой, SR, интерфейс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7233991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Интерфейсы</a:t>
            </a:r>
          </a:p>
        </p:txBody>
      </p:sp>
      <p:sp>
        <p:nvSpPr>
          <p:cNvPr id="931" name="TextBox 930"/>
          <p:cNvSpPr txBox="1"/>
          <p:nvPr/>
        </p:nvSpPr>
        <p:spPr>
          <a:xfrm>
            <a:off x="7233991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веб, Windows, API, бот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9529963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Автотесты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9529963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92: сервис 65, бот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26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1" name="TextBox 900"/>
          <p:cNvSpPr txBox="1"/>
          <p:nvPr/>
        </p:nvSpPr>
        <p:spPr>
          <a:xfrm>
            <a:off x="548640" y="1188720"/>
            <a:ext cx="594360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Спасибо!</a:t>
            </a:r>
          </a:p>
        </p:txBody>
      </p:sp>
      <p:sp>
        <p:nvSpPr>
          <p:cNvPr id="902" name="TextBox 901"/>
          <p:cNvSpPr txBox="1"/>
          <p:nvPr/>
        </p:nvSpPr>
        <p:spPr>
          <a:xfrm>
            <a:off x="548640" y="228600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Готовы ответить на вопросы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548640" y="31546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РЕПОЗИТОРИЙ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548640" y="3392424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github.com/theorcos239/LCT_2026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48640" y="3813048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УСТАНОВЩИК ДЛЯ WINDOWS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48640" y="4050792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файл DXA-QC-Setup-1.0.0.exe в папке release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548640" y="4471416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TELEGRAM-БОТ (ДЕМОНСТРАЦИЯ)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548640" y="470916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@LCT_bone_density_research_bot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548640" y="5129784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ДЛЯ ПРОВЕРЯЮЩИХ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548640" y="5367528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docs/REVIEW.md — запуск за 5 минут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6537960" y="3154680"/>
            <a:ext cx="1600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2" name="Picture 911" descr="qr_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46120"/>
            <a:ext cx="1417320" cy="1417320"/>
          </a:xfrm>
          <a:prstGeom prst="rect">
            <a:avLst/>
          </a:prstGeom>
        </p:spPr>
      </p:pic>
      <p:sp>
        <p:nvSpPr>
          <p:cNvPr id="913" name="TextBox 912"/>
          <p:cNvSpPr txBox="1"/>
          <p:nvPr/>
        </p:nvSpPr>
        <p:spPr>
          <a:xfrm>
            <a:off x="6537960" y="484632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репозиторий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11047</TotalTime>
  <Words>4592</Words>
  <Application>Microsoft Office PowerPoint</Application>
  <PresentationFormat>Широкоэкранный</PresentationFormat>
  <Paragraphs>724</Paragraphs>
  <Slides>26</Slides>
  <Notes>26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1" baseType="lpstr">
      <vt:lpstr>Arial</vt:lpstr>
      <vt:lpstr>Calibri</vt:lpstr>
      <vt:lpstr>Montserrat</vt:lpstr>
      <vt:lpstr>Wingdings</vt:lpstr>
      <vt:lpstr>Для Академия инноваторов 16_9</vt:lpstr>
      <vt:lpstr>Презентация PowerPoint</vt:lpstr>
      <vt:lpstr>Команда 239.Hack</vt:lpstr>
      <vt:lpstr>КОМАНДА</vt:lpstr>
      <vt:lpstr>ИСТОРИЯ И ВЫЗОВЫ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UM</cp:lastModifiedBy>
  <cp:revision>97</cp:revision>
  <dcterms:created xsi:type="dcterms:W3CDTF">2023-05-15T07:36:23Z</dcterms:created>
  <dcterms:modified xsi:type="dcterms:W3CDTF">2026-09-29T19:35:18Z</dcterms:modified>
</cp:coreProperties>
</file>